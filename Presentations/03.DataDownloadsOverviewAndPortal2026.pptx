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1335" r:id="rId2"/>
    <p:sldId id="1337" r:id="rId3"/>
    <p:sldId id="1305" r:id="rId4"/>
    <p:sldId id="1338" r:id="rId5"/>
    <p:sldId id="1339" r:id="rId6"/>
    <p:sldId id="1340" r:id="rId7"/>
    <p:sldId id="1344" r:id="rId8"/>
    <p:sldId id="1341" r:id="rId9"/>
    <p:sldId id="1342" r:id="rId10"/>
    <p:sldId id="1343" r:id="rId11"/>
    <p:sldId id="1323" r:id="rId12"/>
    <p:sldId id="293" r:id="rId13"/>
    <p:sldId id="133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009051"/>
    <a:srgbClr val="CDE8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1"/>
    <p:restoredTop sz="84959"/>
  </p:normalViewPr>
  <p:slideViewPr>
    <p:cSldViewPr snapToGrid="0" snapToObjects="1">
      <p:cViewPr varScale="1">
        <p:scale>
          <a:sx n="108" d="100"/>
          <a:sy n="108" d="100"/>
        </p:scale>
        <p:origin x="1024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0ED0A-8BFD-D54B-9A28-EFBE87F016A4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718C1-BCA2-CC44-A0A9-96C5595E6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56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3D2E8-E5E6-8F4C-92B2-A264A0CA89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62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850AF-4255-7548-94FF-A19690B0F18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953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3D2E8-E5E6-8F4C-92B2-A264A0CA8926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4074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32F86-BE35-8D3C-C9CB-46BF3032F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F6547-89A0-7BBB-F3AC-0F8D44B4F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88A5E-1CD7-AF71-D967-F1DB86EC4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22680-A983-451E-57B7-7BDEFADBA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3D2E8-E5E6-8F4C-92B2-A264A0CA8926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7084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0CDB4-A434-DEF4-9615-1C06A7178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E71194-4C3F-0F33-AE9A-E3F3813B1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D8857-8D0B-011D-326F-1EED78597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7A82A-853F-0275-3371-0D94847426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3D2E8-E5E6-8F4C-92B2-A264A0CA8926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1320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2A58B-371B-EA02-EAF0-72822ED96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07539-E867-C740-CEDB-F21340D42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8A763-DF6F-62FE-7F3C-FD0552A52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9F4E4-2BBA-678D-48CE-543EF66D1A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3D2E8-E5E6-8F4C-92B2-A264A0CA8926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6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2313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39047-A8EA-A492-1154-AD375441E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A15C2D-DB54-7BA6-33D0-4E12C6DB9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9336B7-B127-82FA-D730-C7C76B77A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906C7-1D27-1E29-E8B4-0020973765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3D2E8-E5E6-8F4C-92B2-A264A0CA8926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7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6884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A2FE8-2D38-015C-C52D-A7E0B588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D9B5C-57DE-BB6D-EBC0-F8B0FE5E8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ED27E1-625A-BB70-A6A2-8318DC2B1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0B1E2-41F5-EB14-E7B9-5B11DBFA19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3D2E8-E5E6-8F4C-92B2-A264A0CA8926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6878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B3D69-4BA4-C78B-10F3-DF4B6BB66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C83D3-BC4C-AB8F-6354-AC3C84B36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442634-7198-99A8-8FCA-18FF46E21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CE009-202A-5765-81DB-98753E1DA1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3D2E8-E5E6-8F4C-92B2-A264A0CA8926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9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5751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EB836-0688-64A0-44DB-E8F4B7111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9D357-52A7-CFBC-B1CC-AA36B7CF4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4B8AD3-28DF-8617-B2C7-F500B1C65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427A0-F369-4504-C380-58E1282CC7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3D2E8-E5E6-8F4C-92B2-A264A0CA8926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10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42082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850AF-4255-7548-94FF-A19690B0F18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26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25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478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71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72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90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05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4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002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536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20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83D2-16C1-A947-8B3E-9A14238555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39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383D2-16C1-A947-8B3E-9A1423855515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8DC2B-F8AE-374B-847B-7E1D5B5DF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7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t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969" y="2548689"/>
            <a:ext cx="10603523" cy="1084431"/>
          </a:xfrm>
        </p:spPr>
        <p:txBody>
          <a:bodyPr>
            <a:noAutofit/>
          </a:bodyPr>
          <a:lstStyle/>
          <a:p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 Data Downloads:  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Overview and Portals</a:t>
            </a:r>
            <a:br>
              <a:rPr lang="en-US" dirty="0">
                <a:solidFill>
                  <a:srgbClr val="0070C0"/>
                </a:solidFill>
              </a:rPr>
            </a:b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09800" y="3886200"/>
            <a:ext cx="77724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7" name="Picture 6" descr="ban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29" b="38036"/>
          <a:stretch/>
        </p:blipFill>
        <p:spPr>
          <a:xfrm>
            <a:off x="0" y="0"/>
            <a:ext cx="12192000" cy="16681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3EEA9C-9AD6-7D47-9786-A7CB51B2DD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2912" y="4763171"/>
            <a:ext cx="3558381" cy="6529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215981-E6DB-C840-9AF4-94FB69E865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707" y="4592911"/>
            <a:ext cx="2483157" cy="817625"/>
          </a:xfrm>
          <a:prstGeom prst="rect">
            <a:avLst/>
          </a:prstGeom>
        </p:spPr>
      </p:pic>
      <p:pic>
        <p:nvPicPr>
          <p:cNvPr id="3" name="Picture 6" descr="https://www.idigbio.org/wiki/_media/idigbio_logo_rgb.png">
            <a:extLst>
              <a:ext uri="{FF2B5EF4-FFF2-40B4-BE49-F238E27FC236}">
                <a16:creationId xmlns:a16="http://schemas.microsoft.com/office/drawing/2014/main" id="{E9CBFAC0-021C-F277-23B5-B9A36115D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181" y="5638800"/>
            <a:ext cx="3299215" cy="101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831F1F-5F06-A7D7-450B-675FE46D6670}"/>
              </a:ext>
            </a:extLst>
          </p:cNvPr>
          <p:cNvSpPr txBox="1"/>
          <p:nvPr/>
        </p:nvSpPr>
        <p:spPr>
          <a:xfrm>
            <a:off x="3683714" y="4401558"/>
            <a:ext cx="39473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</a:rPr>
              <a:t>Pam Soltis</a:t>
            </a:r>
          </a:p>
          <a:p>
            <a:pPr algn="ctr"/>
            <a:r>
              <a:rPr lang="en-US" sz="3600" dirty="0">
                <a:solidFill>
                  <a:srgbClr val="0070C0"/>
                </a:solidFill>
              </a:rPr>
              <a:t>University of Florida</a:t>
            </a:r>
          </a:p>
        </p:txBody>
      </p:sp>
      <p:pic>
        <p:nvPicPr>
          <p:cNvPr id="13" name="Picture 12" descr="head.gif">
            <a:extLst>
              <a:ext uri="{FF2B5EF4-FFF2-40B4-BE49-F238E27FC236}">
                <a16:creationId xmlns:a16="http://schemas.microsoft.com/office/drawing/2014/main" id="{8109B0BD-F706-56BA-5619-0B9466949EAF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70" t="7500" r="81158"/>
          <a:stretch/>
        </p:blipFill>
        <p:spPr bwMode="auto">
          <a:xfrm>
            <a:off x="7476839" y="5599391"/>
            <a:ext cx="1185688" cy="1227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11149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339C428-F11C-794C-85B9-7709D9C8AE48}"/>
              </a:ext>
            </a:extLst>
          </p:cNvPr>
          <p:cNvSpPr/>
          <p:nvPr/>
        </p:nvSpPr>
        <p:spPr>
          <a:xfrm>
            <a:off x="0" y="0"/>
            <a:ext cx="12192000" cy="1286359"/>
          </a:xfrm>
          <a:prstGeom prst="rect">
            <a:avLst/>
          </a:prstGeom>
          <a:solidFill>
            <a:srgbClr val="349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dirty="0"/>
              <a:t>   </a:t>
            </a:r>
            <a:r>
              <a:rPr lang="en-US" sz="4800" dirty="0" err="1"/>
              <a:t>iDigBio</a:t>
            </a:r>
            <a:r>
              <a:rPr lang="en-US" sz="4800" dirty="0"/>
              <a:t>:  A Source for Specimen Records</a:t>
            </a:r>
          </a:p>
        </p:txBody>
      </p:sp>
      <p:pic>
        <p:nvPicPr>
          <p:cNvPr id="4" name="Picture 3" descr="A close-up of a flower&#10;&#10;Description automatically generated">
            <a:extLst>
              <a:ext uri="{FF2B5EF4-FFF2-40B4-BE49-F238E27FC236}">
                <a16:creationId xmlns:a16="http://schemas.microsoft.com/office/drawing/2014/main" id="{42F538F6-D4C2-ED4E-B1E3-90FEC7EBE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77" y="1298391"/>
            <a:ext cx="8975816" cy="4741462"/>
          </a:xfrm>
          <a:prstGeom prst="rect">
            <a:avLst/>
          </a:prstGeom>
        </p:spPr>
      </p:pic>
      <p:pic>
        <p:nvPicPr>
          <p:cNvPr id="7" name="Picture 6" descr="A close-up of a green sign&#10;&#10;Description automatically generated">
            <a:extLst>
              <a:ext uri="{FF2B5EF4-FFF2-40B4-BE49-F238E27FC236}">
                <a16:creationId xmlns:a16="http://schemas.microsoft.com/office/drawing/2014/main" id="{48E70EDA-AEDA-1FDC-CAD8-74530AC75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905" y="4574046"/>
            <a:ext cx="6473906" cy="2283954"/>
          </a:xfrm>
          <a:prstGeom prst="rect">
            <a:avLst/>
          </a:prstGeom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ED0DB0C9-1144-4EAC-E7E6-52B08691A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07623" y="1841896"/>
            <a:ext cx="1596162" cy="1587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34970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E54F8E-728C-164C-A6D3-46276315050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368" y="1389606"/>
            <a:ext cx="11768438" cy="52624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EF20923-467E-574A-9785-ABB986BF13F1}"/>
              </a:ext>
            </a:extLst>
          </p:cNvPr>
          <p:cNvSpPr/>
          <p:nvPr/>
        </p:nvSpPr>
        <p:spPr>
          <a:xfrm>
            <a:off x="0" y="0"/>
            <a:ext cx="12192000" cy="1286359"/>
          </a:xfrm>
          <a:prstGeom prst="rect">
            <a:avLst/>
          </a:prstGeom>
          <a:solidFill>
            <a:srgbClr val="349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bg1"/>
                </a:solidFill>
              </a:rPr>
              <a:t>   Search the </a:t>
            </a:r>
            <a:r>
              <a:rPr lang="en-US" sz="4800" dirty="0" err="1">
                <a:solidFill>
                  <a:schemeClr val="bg1"/>
                </a:solidFill>
              </a:rPr>
              <a:t>iDigBio</a:t>
            </a:r>
            <a:r>
              <a:rPr lang="en-US" sz="4800" dirty="0">
                <a:solidFill>
                  <a:schemeClr val="bg1"/>
                </a:solidFill>
              </a:rPr>
              <a:t> Portal</a:t>
            </a:r>
          </a:p>
        </p:txBody>
      </p:sp>
    </p:spTree>
    <p:extLst>
      <p:ext uri="{BB962C8B-B14F-4D97-AF65-F5344CB8AC3E}">
        <p14:creationId xmlns:p14="http://schemas.microsoft.com/office/powerpoint/2010/main" val="1415658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348BF-1133-45EA-B767-83B481CB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00134FF-8843-7B6C-24AC-68585A47127A}"/>
              </a:ext>
            </a:extLst>
          </p:cNvPr>
          <p:cNvSpPr/>
          <p:nvPr/>
        </p:nvSpPr>
        <p:spPr>
          <a:xfrm>
            <a:off x="0" y="0"/>
            <a:ext cx="12192000" cy="1286359"/>
          </a:xfrm>
          <a:prstGeom prst="rect">
            <a:avLst/>
          </a:prstGeom>
          <a:solidFill>
            <a:srgbClr val="349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bg1"/>
                </a:solidFill>
              </a:rPr>
              <a:t>   Search the </a:t>
            </a:r>
            <a:r>
              <a:rPr lang="en-US" sz="4800" dirty="0" err="1">
                <a:solidFill>
                  <a:schemeClr val="bg1"/>
                </a:solidFill>
              </a:rPr>
              <a:t>iDigBio</a:t>
            </a:r>
            <a:r>
              <a:rPr lang="en-US" sz="4800" dirty="0">
                <a:solidFill>
                  <a:schemeClr val="bg1"/>
                </a:solidFill>
              </a:rPr>
              <a:t> GBIF Hosted Portal</a:t>
            </a:r>
          </a:p>
        </p:txBody>
      </p:sp>
      <p:pic>
        <p:nvPicPr>
          <p:cNvPr id="4" name="Picture 3" descr="A screenshot of a website&#10;&#10;Description automatically generated">
            <a:extLst>
              <a:ext uri="{FF2B5EF4-FFF2-40B4-BE49-F238E27FC236}">
                <a16:creationId xmlns:a16="http://schemas.microsoft.com/office/drawing/2014/main" id="{8999BC8E-EC2D-5548-6BAF-A1586BD46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29" y="1386130"/>
            <a:ext cx="11168742" cy="537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718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D14BD-8C0D-85EA-773A-CF0185A70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0B79F2-E9E9-8FFC-D754-F053B703C878}"/>
              </a:ext>
            </a:extLst>
          </p:cNvPr>
          <p:cNvSpPr/>
          <p:nvPr/>
        </p:nvSpPr>
        <p:spPr>
          <a:xfrm>
            <a:off x="0" y="0"/>
            <a:ext cx="12192000" cy="1286359"/>
          </a:xfrm>
          <a:prstGeom prst="rect">
            <a:avLst/>
          </a:prstGeom>
          <a:solidFill>
            <a:srgbClr val="349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bg1"/>
                </a:solidFill>
              </a:rPr>
              <a:t>   Search the </a:t>
            </a:r>
            <a:r>
              <a:rPr lang="en-US" sz="4800" dirty="0" err="1">
                <a:solidFill>
                  <a:schemeClr val="bg1"/>
                </a:solidFill>
              </a:rPr>
              <a:t>iDigBio</a:t>
            </a:r>
            <a:r>
              <a:rPr lang="en-US" sz="4800" dirty="0">
                <a:solidFill>
                  <a:schemeClr val="bg1"/>
                </a:solidFill>
              </a:rPr>
              <a:t> GBIF Hosted Portal</a:t>
            </a:r>
          </a:p>
        </p:txBody>
      </p:sp>
      <p:pic>
        <p:nvPicPr>
          <p:cNvPr id="3" name="Picture 2" descr="A screenshot of a website&#10;&#10;Description automatically generated">
            <a:extLst>
              <a:ext uri="{FF2B5EF4-FFF2-40B4-BE49-F238E27FC236}">
                <a16:creationId xmlns:a16="http://schemas.microsoft.com/office/drawing/2014/main" id="{A10FE2E4-E1AF-6CA1-674B-D7FCC29A7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51" y="1389895"/>
            <a:ext cx="11325498" cy="5468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F475EF-9722-48CF-D4EA-36CB44C48B8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11661" r="46819" b="2844"/>
          <a:stretch/>
        </p:blipFill>
        <p:spPr>
          <a:xfrm>
            <a:off x="9326880" y="1835153"/>
            <a:ext cx="2431869" cy="313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1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32B59-4F8A-FB5F-16BB-54EACB89C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26265A0-3D76-CC0C-6E6B-9066B267DF49}"/>
              </a:ext>
            </a:extLst>
          </p:cNvPr>
          <p:cNvSpPr/>
          <p:nvPr/>
        </p:nvSpPr>
        <p:spPr>
          <a:xfrm>
            <a:off x="0" y="0"/>
            <a:ext cx="12192000" cy="1286359"/>
          </a:xfrm>
          <a:prstGeom prst="rect">
            <a:avLst/>
          </a:prstGeom>
          <a:solidFill>
            <a:srgbClr val="349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bg1"/>
                </a:solidFill>
              </a:rPr>
              <a:t>   Search the </a:t>
            </a:r>
            <a:r>
              <a:rPr lang="en-US" sz="4800" dirty="0" err="1">
                <a:solidFill>
                  <a:schemeClr val="bg1"/>
                </a:solidFill>
              </a:rPr>
              <a:t>iDigBio</a:t>
            </a:r>
            <a:r>
              <a:rPr lang="en-US" sz="4800" dirty="0">
                <a:solidFill>
                  <a:schemeClr val="bg1"/>
                </a:solidFill>
              </a:rPr>
              <a:t> GBIF Hosted Portal: Table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4DDCA6A-1795-2C95-C48B-10F3690A2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48" y="1443113"/>
            <a:ext cx="11945704" cy="527119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4CAE236-E632-7212-537B-8E9FCC568CF1}"/>
              </a:ext>
            </a:extLst>
          </p:cNvPr>
          <p:cNvSpPr/>
          <p:nvPr/>
        </p:nvSpPr>
        <p:spPr>
          <a:xfrm>
            <a:off x="1149532" y="1286359"/>
            <a:ext cx="822960" cy="58162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07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22D3A-DD48-7E6E-132D-58BC4411E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EFECD0-4796-27E3-1FD1-E2C48794CD23}"/>
              </a:ext>
            </a:extLst>
          </p:cNvPr>
          <p:cNvSpPr/>
          <p:nvPr/>
        </p:nvSpPr>
        <p:spPr>
          <a:xfrm>
            <a:off x="0" y="0"/>
            <a:ext cx="12192000" cy="1286359"/>
          </a:xfrm>
          <a:prstGeom prst="rect">
            <a:avLst/>
          </a:prstGeom>
          <a:solidFill>
            <a:srgbClr val="349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bg1"/>
                </a:solidFill>
              </a:rPr>
              <a:t>   Search the </a:t>
            </a:r>
            <a:r>
              <a:rPr lang="en-US" sz="4800" dirty="0" err="1">
                <a:solidFill>
                  <a:schemeClr val="bg1"/>
                </a:solidFill>
              </a:rPr>
              <a:t>iDigBio</a:t>
            </a:r>
            <a:r>
              <a:rPr lang="en-US" sz="4800" dirty="0">
                <a:solidFill>
                  <a:schemeClr val="bg1"/>
                </a:solidFill>
              </a:rPr>
              <a:t> GBIF Hosted Portal: Table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F77987E-789B-C0A1-B2F1-B8C1E721E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48" y="1443113"/>
            <a:ext cx="11945704" cy="527119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7742D64-E094-5C02-CAD0-7CAE1B5CD9BC}"/>
              </a:ext>
            </a:extLst>
          </p:cNvPr>
          <p:cNvSpPr/>
          <p:nvPr/>
        </p:nvSpPr>
        <p:spPr>
          <a:xfrm>
            <a:off x="1790799" y="1286359"/>
            <a:ext cx="822960" cy="58162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457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EFD67-A6BF-600E-718E-791E171AD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E036FAB-17A9-4FA4-5AB2-C60711F2B2E8}"/>
              </a:ext>
            </a:extLst>
          </p:cNvPr>
          <p:cNvSpPr/>
          <p:nvPr/>
        </p:nvSpPr>
        <p:spPr>
          <a:xfrm>
            <a:off x="0" y="0"/>
            <a:ext cx="12192000" cy="1286359"/>
          </a:xfrm>
          <a:prstGeom prst="rect">
            <a:avLst/>
          </a:prstGeom>
          <a:solidFill>
            <a:srgbClr val="349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bg1"/>
                </a:solidFill>
              </a:rPr>
              <a:t>   Search the </a:t>
            </a:r>
            <a:r>
              <a:rPr lang="en-US" sz="4800" dirty="0" err="1">
                <a:solidFill>
                  <a:schemeClr val="bg1"/>
                </a:solidFill>
              </a:rPr>
              <a:t>iDigBio</a:t>
            </a:r>
            <a:r>
              <a:rPr lang="en-US" sz="4800" dirty="0">
                <a:solidFill>
                  <a:schemeClr val="bg1"/>
                </a:solidFill>
              </a:rPr>
              <a:t> GBIF Hosted Portal: Gallery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C5FE431-D841-79CA-8F08-A04635296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41" y="1393661"/>
            <a:ext cx="11776195" cy="529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58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2131-248E-F896-A55B-806B16DD8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8270E9-E01C-9C0D-315A-178B7DA70881}"/>
              </a:ext>
            </a:extLst>
          </p:cNvPr>
          <p:cNvSpPr/>
          <p:nvPr/>
        </p:nvSpPr>
        <p:spPr>
          <a:xfrm>
            <a:off x="0" y="0"/>
            <a:ext cx="12192000" cy="1286359"/>
          </a:xfrm>
          <a:prstGeom prst="rect">
            <a:avLst/>
          </a:prstGeom>
          <a:solidFill>
            <a:srgbClr val="349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bg1"/>
                </a:solidFill>
              </a:rPr>
              <a:t>   Search the </a:t>
            </a:r>
            <a:r>
              <a:rPr lang="en-US" sz="4800" dirty="0" err="1">
                <a:solidFill>
                  <a:schemeClr val="bg1"/>
                </a:solidFill>
              </a:rPr>
              <a:t>iDigBio</a:t>
            </a:r>
            <a:r>
              <a:rPr lang="en-US" sz="4800" dirty="0">
                <a:solidFill>
                  <a:schemeClr val="bg1"/>
                </a:solidFill>
              </a:rPr>
              <a:t> GBIF Hosted Portal: Map</a:t>
            </a:r>
          </a:p>
        </p:txBody>
      </p:sp>
      <p:pic>
        <p:nvPicPr>
          <p:cNvPr id="4" name="Picture 3" descr="A map of the world&#10;&#10;Description automatically generated">
            <a:extLst>
              <a:ext uri="{FF2B5EF4-FFF2-40B4-BE49-F238E27FC236}">
                <a16:creationId xmlns:a16="http://schemas.microsoft.com/office/drawing/2014/main" id="{E5DC4B57-DB59-3202-8C7C-B11E70B6A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82741"/>
            <a:ext cx="11887200" cy="526383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5EE31FB-133E-4253-7B5B-D6EFB1E9AC47}"/>
              </a:ext>
            </a:extLst>
          </p:cNvPr>
          <p:cNvSpPr/>
          <p:nvPr/>
        </p:nvSpPr>
        <p:spPr>
          <a:xfrm>
            <a:off x="2429692" y="1900313"/>
            <a:ext cx="822960" cy="58162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465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94257-C43F-DA26-9204-AFEDD1266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3BF2602-14BC-3ECB-4FF3-CF0B459D1DEF}"/>
              </a:ext>
            </a:extLst>
          </p:cNvPr>
          <p:cNvSpPr/>
          <p:nvPr/>
        </p:nvSpPr>
        <p:spPr>
          <a:xfrm>
            <a:off x="0" y="0"/>
            <a:ext cx="12192000" cy="1286359"/>
          </a:xfrm>
          <a:prstGeom prst="rect">
            <a:avLst/>
          </a:prstGeom>
          <a:solidFill>
            <a:srgbClr val="349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bg1"/>
                </a:solidFill>
              </a:rPr>
              <a:t>   Search the </a:t>
            </a:r>
            <a:r>
              <a:rPr lang="en-US" sz="4800" dirty="0" err="1">
                <a:solidFill>
                  <a:schemeClr val="bg1"/>
                </a:solidFill>
              </a:rPr>
              <a:t>iDigBio</a:t>
            </a:r>
            <a:r>
              <a:rPr lang="en-US" sz="4800" dirty="0">
                <a:solidFill>
                  <a:schemeClr val="bg1"/>
                </a:solidFill>
              </a:rPr>
              <a:t> GBIF Hosted Portal</a:t>
            </a:r>
          </a:p>
        </p:txBody>
      </p:sp>
      <p:pic>
        <p:nvPicPr>
          <p:cNvPr id="4" name="Picture 3" descr="A map of the world&#10;&#10;Description automatically generated">
            <a:extLst>
              <a:ext uri="{FF2B5EF4-FFF2-40B4-BE49-F238E27FC236}">
                <a16:creationId xmlns:a16="http://schemas.microsoft.com/office/drawing/2014/main" id="{043160EA-8A74-27EE-7426-6060F1EC0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82741"/>
            <a:ext cx="11887200" cy="526383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E546C268-3E1F-A901-7D79-436B798EA2F4}"/>
              </a:ext>
            </a:extLst>
          </p:cNvPr>
          <p:cNvSpPr/>
          <p:nvPr/>
        </p:nvSpPr>
        <p:spPr>
          <a:xfrm>
            <a:off x="3944983" y="1874188"/>
            <a:ext cx="914399" cy="58162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57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64F792-3132-0D43-8417-E0FF64135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6551" y="7792351"/>
            <a:ext cx="4466316" cy="13516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F639F1-774E-044C-9B1F-79338353F1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0618" y="1462840"/>
            <a:ext cx="11840568" cy="476993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8E57CD-124C-B04D-8489-B3D7986470C5}"/>
              </a:ext>
            </a:extLst>
          </p:cNvPr>
          <p:cNvSpPr/>
          <p:nvPr/>
        </p:nvSpPr>
        <p:spPr>
          <a:xfrm>
            <a:off x="0" y="-5934"/>
            <a:ext cx="12192000" cy="1286359"/>
          </a:xfrm>
          <a:prstGeom prst="rect">
            <a:avLst/>
          </a:prstGeom>
          <a:solidFill>
            <a:srgbClr val="349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/>
              <a:t>   </a:t>
            </a:r>
            <a:r>
              <a:rPr lang="en-US" sz="4000" dirty="0"/>
              <a:t> 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1B47BA-7A62-CC48-BD63-3226750A582A}"/>
              </a:ext>
            </a:extLst>
          </p:cNvPr>
          <p:cNvSpPr/>
          <p:nvPr/>
        </p:nvSpPr>
        <p:spPr>
          <a:xfrm>
            <a:off x="0" y="176481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455613" algn="l"/>
              </a:tabLst>
            </a:pPr>
            <a:r>
              <a:rPr lang="en-US" sz="4800" dirty="0">
                <a:solidFill>
                  <a:schemeClr val="bg1"/>
                </a:solidFill>
              </a:rPr>
              <a:t>	GBIF: </a:t>
            </a:r>
            <a:r>
              <a:rPr lang="en-US" sz="4800" dirty="0" err="1">
                <a:solidFill>
                  <a:schemeClr val="bg1"/>
                </a:solidFill>
              </a:rPr>
              <a:t>gbif.org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49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ABF41-150B-E744-A05D-19EA062F3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5624"/>
            <a:ext cx="10515600" cy="4351338"/>
          </a:xfrm>
        </p:spPr>
        <p:txBody>
          <a:bodyPr/>
          <a:lstStyle/>
          <a:p>
            <a:r>
              <a:rPr lang="en-US" dirty="0"/>
              <a:t>Allows users to interact with a system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EDD170-DB03-8C42-B8FF-C5ACB64288F2}"/>
              </a:ext>
            </a:extLst>
          </p:cNvPr>
          <p:cNvSpPr txBox="1">
            <a:spLocks/>
          </p:cNvSpPr>
          <p:nvPr/>
        </p:nvSpPr>
        <p:spPr>
          <a:xfrm>
            <a:off x="278258" y="1036749"/>
            <a:ext cx="116354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</a:t>
            </a:r>
            <a:r>
              <a:rPr 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540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pplication </a:t>
            </a:r>
            <a:r>
              <a:rPr lang="en-US" sz="540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rogramming </a:t>
            </a:r>
            <a:r>
              <a:rPr lang="en-US" sz="540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nterface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657272-D3F6-AF48-A8EA-33D4C3B5D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720" y="3184666"/>
            <a:ext cx="2351092" cy="24921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4FD7BF-E218-854C-8989-32320BC8B0C9}"/>
              </a:ext>
            </a:extLst>
          </p:cNvPr>
          <p:cNvSpPr txBox="1"/>
          <p:nvPr/>
        </p:nvSpPr>
        <p:spPr>
          <a:xfrm>
            <a:off x="1540702" y="5598919"/>
            <a:ext cx="1541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Database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C2CEC6-241A-F842-8811-CE29AA147536}"/>
              </a:ext>
            </a:extLst>
          </p:cNvPr>
          <p:cNvSpPr txBox="1"/>
          <p:nvPr/>
        </p:nvSpPr>
        <p:spPr>
          <a:xfrm>
            <a:off x="4606732" y="5734927"/>
            <a:ext cx="1300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Interface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496C69-62B8-1348-A2A6-2C0374A35F74}"/>
              </a:ext>
            </a:extLst>
          </p:cNvPr>
          <p:cNvSpPr/>
          <p:nvPr/>
        </p:nvSpPr>
        <p:spPr>
          <a:xfrm>
            <a:off x="4741633" y="3291020"/>
            <a:ext cx="1013784" cy="23858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D51CABAC-62B5-054F-8E78-1FCC5637F311}"/>
              </a:ext>
            </a:extLst>
          </p:cNvPr>
          <p:cNvSpPr/>
          <p:nvPr/>
        </p:nvSpPr>
        <p:spPr>
          <a:xfrm>
            <a:off x="3486812" y="4162172"/>
            <a:ext cx="934336" cy="35898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3BFB81C3-4C81-C44A-AD91-EB288C737BE0}"/>
              </a:ext>
            </a:extLst>
          </p:cNvPr>
          <p:cNvSpPr/>
          <p:nvPr/>
        </p:nvSpPr>
        <p:spPr>
          <a:xfrm>
            <a:off x="5907666" y="4251255"/>
            <a:ext cx="934336" cy="35898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1599267F-DC74-584F-B38F-A216A71789DD}"/>
              </a:ext>
            </a:extLst>
          </p:cNvPr>
          <p:cNvSpPr/>
          <p:nvPr/>
        </p:nvSpPr>
        <p:spPr>
          <a:xfrm flipH="1">
            <a:off x="5866570" y="4596577"/>
            <a:ext cx="934336" cy="35898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9B03D318-2DD8-2940-B813-168B27387098}"/>
              </a:ext>
            </a:extLst>
          </p:cNvPr>
          <p:cNvSpPr/>
          <p:nvPr/>
        </p:nvSpPr>
        <p:spPr>
          <a:xfrm flipH="1">
            <a:off x="3401064" y="4494265"/>
            <a:ext cx="934336" cy="35898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C492C6C-E87D-A645-803D-0844228C407F}"/>
              </a:ext>
            </a:extLst>
          </p:cNvPr>
          <p:cNvGrpSpPr/>
          <p:nvPr/>
        </p:nvGrpSpPr>
        <p:grpSpPr>
          <a:xfrm>
            <a:off x="7432568" y="4776067"/>
            <a:ext cx="4489382" cy="1998794"/>
            <a:chOff x="7140539" y="4683077"/>
            <a:chExt cx="4489382" cy="199879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7ED0CDC-A2CF-6C4D-B1C5-770E93205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14053" y="4884235"/>
              <a:ext cx="1139747" cy="88330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0166436-3756-2D45-80CD-9657FDE485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7152" r="26015"/>
            <a:stretch/>
          </p:blipFill>
          <p:spPr>
            <a:xfrm>
              <a:off x="8906127" y="5299818"/>
              <a:ext cx="1294536" cy="138205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67F3F0E-9FD1-1640-9289-B4D9EF1C09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41996" y="5040800"/>
              <a:ext cx="1632739" cy="543034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51F8FA-9C8B-0241-9DF0-3B8A442543D0}"/>
                </a:ext>
              </a:extLst>
            </p:cNvPr>
            <p:cNvSpPr/>
            <p:nvPr/>
          </p:nvSpPr>
          <p:spPr>
            <a:xfrm>
              <a:off x="7140539" y="4683077"/>
              <a:ext cx="4489382" cy="198864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E78F38B-95DD-FE47-BD8A-BD59655C84DE}"/>
              </a:ext>
            </a:extLst>
          </p:cNvPr>
          <p:cNvSpPr txBox="1"/>
          <p:nvPr/>
        </p:nvSpPr>
        <p:spPr>
          <a:xfrm>
            <a:off x="4960603" y="4290319"/>
            <a:ext cx="598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API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2D4BC8-247C-864F-BADC-1525A57641CE}"/>
              </a:ext>
            </a:extLst>
          </p:cNvPr>
          <p:cNvSpPr/>
          <p:nvPr/>
        </p:nvSpPr>
        <p:spPr>
          <a:xfrm>
            <a:off x="0" y="-5934"/>
            <a:ext cx="12192000" cy="1286359"/>
          </a:xfrm>
          <a:prstGeom prst="rect">
            <a:avLst/>
          </a:prstGeom>
          <a:solidFill>
            <a:srgbClr val="349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bg1"/>
                </a:solidFill>
              </a:rPr>
              <a:t>   Other Options for Data Downloads</a:t>
            </a:r>
            <a:endParaRPr lang="en-US" sz="4000" dirty="0"/>
          </a:p>
        </p:txBody>
      </p:sp>
      <p:pic>
        <p:nvPicPr>
          <p:cNvPr id="2" name="Picture 1" descr="A close-up of a flower&#10;&#10;Description automatically generated">
            <a:extLst>
              <a:ext uri="{FF2B5EF4-FFF2-40B4-BE49-F238E27FC236}">
                <a16:creationId xmlns:a16="http://schemas.microsoft.com/office/drawing/2014/main" id="{80837EFF-3B0B-EBC5-851C-FA7D633012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9539" y="2771998"/>
            <a:ext cx="3590009" cy="18964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30A1E5-B9B8-2C1A-732A-960F469B1D97}"/>
              </a:ext>
            </a:extLst>
          </p:cNvPr>
          <p:cNvSpPr txBox="1"/>
          <p:nvPr/>
        </p:nvSpPr>
        <p:spPr>
          <a:xfrm>
            <a:off x="8927432" y="2489715"/>
            <a:ext cx="1225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Web Portal</a:t>
            </a:r>
          </a:p>
        </p:txBody>
      </p:sp>
    </p:spTree>
    <p:extLst>
      <p:ext uri="{BB962C8B-B14F-4D97-AF65-F5344CB8AC3E}">
        <p14:creationId xmlns:p14="http://schemas.microsoft.com/office/powerpoint/2010/main" val="212526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F2D4BC8-247C-864F-BADC-1525A57641CE}"/>
              </a:ext>
            </a:extLst>
          </p:cNvPr>
          <p:cNvSpPr/>
          <p:nvPr/>
        </p:nvSpPr>
        <p:spPr>
          <a:xfrm>
            <a:off x="0" y="-5934"/>
            <a:ext cx="12192000" cy="1286359"/>
          </a:xfrm>
          <a:prstGeom prst="rect">
            <a:avLst/>
          </a:prstGeom>
          <a:solidFill>
            <a:srgbClr val="3493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dirty="0">
                <a:solidFill>
                  <a:schemeClr val="bg1"/>
                </a:solidFill>
              </a:rPr>
              <a:t>  Other Options for Data Downloads:  R packages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B9CF2-8090-C146-BFAE-B79536A65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ridigbio</a:t>
            </a:r>
            <a:endParaRPr lang="en-US" sz="3600" dirty="0"/>
          </a:p>
          <a:p>
            <a:r>
              <a:rPr lang="en-US" sz="3600" dirty="0" err="1"/>
              <a:t>rgbif</a:t>
            </a:r>
            <a:endParaRPr lang="en-US" sz="3600" dirty="0"/>
          </a:p>
          <a:p>
            <a:r>
              <a:rPr lang="en-US" sz="3600" dirty="0" err="1"/>
              <a:t>spocc</a:t>
            </a:r>
            <a:r>
              <a:rPr lang="en-US" sz="3600" dirty="0"/>
              <a:t>: Interface to Species Occurrence Data Sources</a:t>
            </a:r>
          </a:p>
          <a:p>
            <a:r>
              <a:rPr lang="en-US" sz="3600" dirty="0" err="1"/>
              <a:t>gatoRs</a:t>
            </a:r>
            <a:r>
              <a:rPr lang="en-US" sz="3600" dirty="0"/>
              <a:t>: </a:t>
            </a:r>
            <a:r>
              <a:rPr lang="en-US" sz="3600" dirty="0">
                <a:solidFill>
                  <a:srgbClr val="0432FF"/>
                </a:solidFill>
              </a:rPr>
              <a:t>g</a:t>
            </a:r>
            <a:r>
              <a:rPr lang="en-US" sz="3600" dirty="0"/>
              <a:t>eographic </a:t>
            </a:r>
            <a:r>
              <a:rPr lang="en-US" sz="3600" dirty="0">
                <a:solidFill>
                  <a:srgbClr val="0432FF"/>
                </a:solidFill>
              </a:rPr>
              <a:t>a</a:t>
            </a:r>
            <a:r>
              <a:rPr lang="en-US" sz="3600" dirty="0"/>
              <a:t>nd </a:t>
            </a:r>
            <a:r>
              <a:rPr lang="en-US" sz="3600" dirty="0">
                <a:solidFill>
                  <a:srgbClr val="0432FF"/>
                </a:solidFill>
              </a:rPr>
              <a:t>t</a:t>
            </a:r>
            <a:r>
              <a:rPr lang="en-US" sz="3600" dirty="0"/>
              <a:t>axonomic </a:t>
            </a:r>
            <a:r>
              <a:rPr lang="en-US" sz="3600" dirty="0">
                <a:solidFill>
                  <a:srgbClr val="0432FF"/>
                </a:solidFill>
              </a:rPr>
              <a:t>o</a:t>
            </a:r>
            <a:r>
              <a:rPr lang="en-US" sz="3600" dirty="0"/>
              <a:t>ccurrence </a:t>
            </a:r>
            <a:r>
              <a:rPr lang="en-US" sz="3600" dirty="0">
                <a:solidFill>
                  <a:srgbClr val="0432FF"/>
                </a:solidFill>
              </a:rPr>
              <a:t>R</a:t>
            </a:r>
            <a:r>
              <a:rPr lang="en-US" sz="3600" dirty="0"/>
              <a:t>-based </a:t>
            </a:r>
            <a:r>
              <a:rPr lang="en-US" sz="3600" dirty="0">
                <a:solidFill>
                  <a:srgbClr val="0432FF"/>
                </a:solidFill>
              </a:rPr>
              <a:t>s</a:t>
            </a:r>
            <a:r>
              <a:rPr lang="en-US" sz="3600" dirty="0"/>
              <a:t>crubbing</a:t>
            </a:r>
          </a:p>
        </p:txBody>
      </p:sp>
      <p:pic>
        <p:nvPicPr>
          <p:cNvPr id="4" name="Picture 3" descr="A blue hexagon with a computer and a plant&#10;&#10;Description automatically generated">
            <a:extLst>
              <a:ext uri="{FF2B5EF4-FFF2-40B4-BE49-F238E27FC236}">
                <a16:creationId xmlns:a16="http://schemas.microsoft.com/office/drawing/2014/main" id="{3D099867-8F4F-3488-96C8-796B667D8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741" y="4282999"/>
            <a:ext cx="2136518" cy="24612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49638C-15AC-F0D0-E4DA-A1FF75A6AE6B}"/>
              </a:ext>
            </a:extLst>
          </p:cNvPr>
          <p:cNvSpPr txBox="1"/>
          <p:nvPr/>
        </p:nvSpPr>
        <p:spPr>
          <a:xfrm>
            <a:off x="7164259" y="6374935"/>
            <a:ext cx="2416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Patten et al. 2024, </a:t>
            </a:r>
            <a:r>
              <a:rPr lang="en-US" i="1" dirty="0"/>
              <a:t>APPS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295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160</Words>
  <Application>Microsoft Macintosh PowerPoint</Application>
  <PresentationFormat>Widescreen</PresentationFormat>
  <Paragraphs>38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  Data Downloads:   Overview and Portals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Biodiversity and Climate Change</dc:title>
  <dc:creator>Pam Soltis</dc:creator>
  <cp:lastModifiedBy>Soltis,Pamela S</cp:lastModifiedBy>
  <cp:revision>256</cp:revision>
  <dcterms:created xsi:type="dcterms:W3CDTF">2014-07-02T03:39:48Z</dcterms:created>
  <dcterms:modified xsi:type="dcterms:W3CDTF">2026-08-02T13:31:16Z</dcterms:modified>
</cp:coreProperties>
</file>
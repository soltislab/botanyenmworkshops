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301" r:id="rId5"/>
    <p:sldId id="265" r:id="rId6"/>
    <p:sldId id="315" r:id="rId7"/>
    <p:sldId id="313" r:id="rId8"/>
    <p:sldId id="314" r:id="rId9"/>
    <p:sldId id="307" r:id="rId10"/>
    <p:sldId id="309" r:id="rId11"/>
    <p:sldId id="335" r:id="rId12"/>
    <p:sldId id="316" r:id="rId13"/>
    <p:sldId id="317" r:id="rId14"/>
    <p:sldId id="325" r:id="rId15"/>
    <p:sldId id="326" r:id="rId16"/>
    <p:sldId id="318" r:id="rId17"/>
    <p:sldId id="319" r:id="rId18"/>
    <p:sldId id="320" r:id="rId19"/>
    <p:sldId id="321" r:id="rId20"/>
    <p:sldId id="322" r:id="rId21"/>
    <p:sldId id="323" r:id="rId22"/>
    <p:sldId id="324" r:id="rId23"/>
    <p:sldId id="327" r:id="rId24"/>
    <p:sldId id="328" r:id="rId25"/>
    <p:sldId id="329" r:id="rId26"/>
    <p:sldId id="331" r:id="rId27"/>
    <p:sldId id="332" r:id="rId28"/>
    <p:sldId id="333" r:id="rId29"/>
    <p:sldId id="334" r:id="rId30"/>
    <p:sldId id="336" r:id="rId31"/>
    <p:sldId id="338" r:id="rId32"/>
    <p:sldId id="339" r:id="rId33"/>
    <p:sldId id="340" r:id="rId34"/>
    <p:sldId id="341" r:id="rId35"/>
    <p:sldId id="342" r:id="rId36"/>
    <p:sldId id="343" r:id="rId37"/>
    <p:sldId id="34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FDE725"/>
    <a:srgbClr val="4401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55" autoAdjust="0"/>
    <p:restoredTop sz="89009" autoAdjust="0"/>
  </p:normalViewPr>
  <p:slideViewPr>
    <p:cSldViewPr snapToGrid="0">
      <p:cViewPr>
        <p:scale>
          <a:sx n="60" d="100"/>
          <a:sy n="60" d="100"/>
        </p:scale>
        <p:origin x="1608"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64C107-847F-4265-BA35-02D4655F8E44}"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98C978-B7DC-4920-AD34-9BC83DC84BB4}" type="slidenum">
              <a:rPr lang="en-US" smtClean="0"/>
              <a:t>‹#›</a:t>
            </a:fld>
            <a:endParaRPr lang="en-US"/>
          </a:p>
        </p:txBody>
      </p:sp>
    </p:spTree>
    <p:extLst>
      <p:ext uri="{BB962C8B-B14F-4D97-AF65-F5344CB8AC3E}">
        <p14:creationId xmlns:p14="http://schemas.microsoft.com/office/powerpoint/2010/main" val="2138842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A73D2E8-E5E6-8F4C-92B2-A264A0CA8926}" type="slidenum">
              <a:rPr lang="en-US" smtClean="0"/>
              <a:t>1</a:t>
            </a:fld>
            <a:endParaRPr lang="en-US"/>
          </a:p>
        </p:txBody>
      </p:sp>
    </p:spTree>
    <p:extLst>
      <p:ext uri="{BB962C8B-B14F-4D97-AF65-F5344CB8AC3E}">
        <p14:creationId xmlns:p14="http://schemas.microsoft.com/office/powerpoint/2010/main" val="364776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98C978-B7DC-4920-AD34-9BC83DC84BB4}" type="slidenum">
              <a:rPr lang="en-US" smtClean="0"/>
              <a:t>5</a:t>
            </a:fld>
            <a:endParaRPr lang="en-US"/>
          </a:p>
        </p:txBody>
      </p:sp>
    </p:spTree>
    <p:extLst>
      <p:ext uri="{BB962C8B-B14F-4D97-AF65-F5344CB8AC3E}">
        <p14:creationId xmlns:p14="http://schemas.microsoft.com/office/powerpoint/2010/main" val="1512239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98C978-B7DC-4920-AD34-9BC83DC84BB4}" type="slidenum">
              <a:rPr lang="en-US" smtClean="0"/>
              <a:t>6</a:t>
            </a:fld>
            <a:endParaRPr lang="en-US"/>
          </a:p>
        </p:txBody>
      </p:sp>
    </p:spTree>
    <p:extLst>
      <p:ext uri="{BB962C8B-B14F-4D97-AF65-F5344CB8AC3E}">
        <p14:creationId xmlns:p14="http://schemas.microsoft.com/office/powerpoint/2010/main" val="3573808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CC58-7F47-B0F2-F260-FED898584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4D728-F8A4-F003-16DC-41FCA0037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F8860-21AC-496C-4E1F-CDFAE8D449EB}"/>
              </a:ext>
            </a:extLst>
          </p:cNvPr>
          <p:cNvSpPr>
            <a:spLocks noGrp="1"/>
          </p:cNvSpPr>
          <p:nvPr>
            <p:ph type="body" idx="1"/>
          </p:nvPr>
        </p:nvSpPr>
        <p:spPr/>
        <p:txBody>
          <a:bodyPr/>
          <a:lstStyle/>
          <a:p>
            <a:r>
              <a:rPr lang="en-US" dirty="0"/>
              <a:t>To give a practical example, in cell one (top left in our area of interest), we can note that both Species A &amp; B are present. If we were to sum up all of the branches leading to these taxa, as is highlighted in red, we can calculate the total PD of this cell = 65. If we were to compare this to a different cell, lets say cell 4 in the top row, we can do the same thing, just with taxa A and E. You’ll notice however that we have to trace more of the tree in order to include both of these taxa, so unsurprisingly this means there is more PD in this cell. </a:t>
            </a:r>
          </a:p>
        </p:txBody>
      </p:sp>
      <p:sp>
        <p:nvSpPr>
          <p:cNvPr id="4" name="Slide Number Placeholder 3">
            <a:extLst>
              <a:ext uri="{FF2B5EF4-FFF2-40B4-BE49-F238E27FC236}">
                <a16:creationId xmlns:a16="http://schemas.microsoft.com/office/drawing/2014/main" id="{7DC91A58-D0B3-122D-0019-9C0F83B6C03E}"/>
              </a:ext>
            </a:extLst>
          </p:cNvPr>
          <p:cNvSpPr>
            <a:spLocks noGrp="1"/>
          </p:cNvSpPr>
          <p:nvPr>
            <p:ph type="sldNum" sz="quarter" idx="5"/>
          </p:nvPr>
        </p:nvSpPr>
        <p:spPr/>
        <p:txBody>
          <a:bodyPr/>
          <a:lstStyle/>
          <a:p>
            <a:fld id="{5E98C978-B7DC-4920-AD34-9BC83DC84BB4}" type="slidenum">
              <a:rPr lang="en-US" smtClean="0"/>
              <a:t>7</a:t>
            </a:fld>
            <a:endParaRPr lang="en-US"/>
          </a:p>
        </p:txBody>
      </p:sp>
    </p:spTree>
    <p:extLst>
      <p:ext uri="{BB962C8B-B14F-4D97-AF65-F5344CB8AC3E}">
        <p14:creationId xmlns:p14="http://schemas.microsoft.com/office/powerpoint/2010/main" val="2227018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07B2C-98B1-9B65-02A9-93A8B0AA8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AB083-72F8-F208-C1E6-F8B609B89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7BE35-5244-F95D-F6F6-6242FB1822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F962B1-27DD-3A74-7661-86D7E338FBA9}"/>
              </a:ext>
            </a:extLst>
          </p:cNvPr>
          <p:cNvSpPr>
            <a:spLocks noGrp="1"/>
          </p:cNvSpPr>
          <p:nvPr>
            <p:ph type="sldNum" sz="quarter" idx="5"/>
          </p:nvPr>
        </p:nvSpPr>
        <p:spPr/>
        <p:txBody>
          <a:bodyPr/>
          <a:lstStyle/>
          <a:p>
            <a:fld id="{5E98C978-B7DC-4920-AD34-9BC83DC84BB4}" type="slidenum">
              <a:rPr lang="en-US" smtClean="0"/>
              <a:t>8</a:t>
            </a:fld>
            <a:endParaRPr lang="en-US"/>
          </a:p>
        </p:txBody>
      </p:sp>
    </p:spTree>
    <p:extLst>
      <p:ext uri="{BB962C8B-B14F-4D97-AF65-F5344CB8AC3E}">
        <p14:creationId xmlns:p14="http://schemas.microsoft.com/office/powerpoint/2010/main" val="480493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You probably have heard the term endemism used in quite a few contexts. E.g. This plant is endemic to Arizona, meaning that it is only found in Arizona. Here, were focused more on quantifying the contributing rarity (in terms of number of cells a taxa is present in) to the overall pattern within our area of interest. </a:t>
            </a:r>
          </a:p>
        </p:txBody>
      </p:sp>
      <p:sp>
        <p:nvSpPr>
          <p:cNvPr id="4" name="Slide Number Placeholder 3"/>
          <p:cNvSpPr>
            <a:spLocks noGrp="1"/>
          </p:cNvSpPr>
          <p:nvPr>
            <p:ph type="sldNum" sz="quarter" idx="5"/>
          </p:nvPr>
        </p:nvSpPr>
        <p:spPr/>
        <p:txBody>
          <a:bodyPr/>
          <a:lstStyle/>
          <a:p>
            <a:fld id="{5E98C978-B7DC-4920-AD34-9BC83DC84BB4}" type="slidenum">
              <a:rPr lang="en-US" smtClean="0"/>
              <a:t>9</a:t>
            </a:fld>
            <a:endParaRPr lang="en-US"/>
          </a:p>
        </p:txBody>
      </p:sp>
    </p:spTree>
    <p:extLst>
      <p:ext uri="{BB962C8B-B14F-4D97-AF65-F5344CB8AC3E}">
        <p14:creationId xmlns:p14="http://schemas.microsoft.com/office/powerpoint/2010/main" val="1682337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A89C9-6F31-768F-7956-7D6B4CBDA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352A7-543C-9ED2-F4E1-0EC31625C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91511-057C-A630-ADF1-6C35BEA9D328}"/>
              </a:ext>
            </a:extLst>
          </p:cNvPr>
          <p:cNvSpPr>
            <a:spLocks noGrp="1"/>
          </p:cNvSpPr>
          <p:nvPr>
            <p:ph type="body" idx="1"/>
          </p:nvPr>
        </p:nvSpPr>
        <p:spPr/>
        <p:txBody>
          <a:bodyPr/>
          <a:lstStyle/>
          <a:p>
            <a:r>
              <a:rPr lang="en-US" dirty="0"/>
              <a:t>* You probably have heard the term endemism used in quite a few contexts. E.g. This plant is endemic to Arizona, meaning that it is only found in Arizona. Here, were focused more on quantifying how range restricted a taxa is, which is 1/its presence cells within our Area of Interest, and using these ratios in sum to find the weighted endemism per cell. </a:t>
            </a:r>
          </a:p>
        </p:txBody>
      </p:sp>
      <p:sp>
        <p:nvSpPr>
          <p:cNvPr id="4" name="Slide Number Placeholder 3">
            <a:extLst>
              <a:ext uri="{FF2B5EF4-FFF2-40B4-BE49-F238E27FC236}">
                <a16:creationId xmlns:a16="http://schemas.microsoft.com/office/drawing/2014/main" id="{AE55A62C-DEA6-9F57-D774-BB9917421081}"/>
              </a:ext>
            </a:extLst>
          </p:cNvPr>
          <p:cNvSpPr>
            <a:spLocks noGrp="1"/>
          </p:cNvSpPr>
          <p:nvPr>
            <p:ph type="sldNum" sz="quarter" idx="5"/>
          </p:nvPr>
        </p:nvSpPr>
        <p:spPr/>
        <p:txBody>
          <a:bodyPr/>
          <a:lstStyle/>
          <a:p>
            <a:fld id="{5E98C978-B7DC-4920-AD34-9BC83DC84BB4}" type="slidenum">
              <a:rPr lang="en-US" smtClean="0"/>
              <a:t>10</a:t>
            </a:fld>
            <a:endParaRPr lang="en-US"/>
          </a:p>
        </p:txBody>
      </p:sp>
    </p:spTree>
    <p:extLst>
      <p:ext uri="{BB962C8B-B14F-4D97-AF65-F5344CB8AC3E}">
        <p14:creationId xmlns:p14="http://schemas.microsoft.com/office/powerpoint/2010/main" val="2044734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8C6D-4D74-AAFA-A9DF-D00559A7B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DC047-BB97-78B6-066D-E2EE2D549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DD5AB-0B5D-E81D-51F9-123724023CBC}"/>
              </a:ext>
            </a:extLst>
          </p:cNvPr>
          <p:cNvSpPr>
            <a:spLocks noGrp="1"/>
          </p:cNvSpPr>
          <p:nvPr>
            <p:ph type="body" idx="1"/>
          </p:nvPr>
        </p:nvSpPr>
        <p:spPr/>
        <p:txBody>
          <a:bodyPr/>
          <a:lstStyle/>
          <a:p>
            <a:r>
              <a:rPr lang="en-US" dirty="0"/>
              <a:t>* You probably have heard the term endemism used in quite a few contexts. E.g. This plant is endemic to Arizona, meaning that it is only found in Arizona. Here, were focused more on quantifying how range restricted a taxa is, which is 1/its presence cells within our Area of Interest, and using these ratios in sum to find the weighted endemism per cell. </a:t>
            </a:r>
          </a:p>
        </p:txBody>
      </p:sp>
      <p:sp>
        <p:nvSpPr>
          <p:cNvPr id="4" name="Slide Number Placeholder 3">
            <a:extLst>
              <a:ext uri="{FF2B5EF4-FFF2-40B4-BE49-F238E27FC236}">
                <a16:creationId xmlns:a16="http://schemas.microsoft.com/office/drawing/2014/main" id="{A5823EB4-6AC4-82E2-4345-F3B23E6467A5}"/>
              </a:ext>
            </a:extLst>
          </p:cNvPr>
          <p:cNvSpPr>
            <a:spLocks noGrp="1"/>
          </p:cNvSpPr>
          <p:nvPr>
            <p:ph type="sldNum" sz="quarter" idx="5"/>
          </p:nvPr>
        </p:nvSpPr>
        <p:spPr/>
        <p:txBody>
          <a:bodyPr/>
          <a:lstStyle/>
          <a:p>
            <a:fld id="{5E98C978-B7DC-4920-AD34-9BC83DC84BB4}" type="slidenum">
              <a:rPr lang="en-US" smtClean="0"/>
              <a:t>11</a:t>
            </a:fld>
            <a:endParaRPr lang="en-US"/>
          </a:p>
        </p:txBody>
      </p:sp>
    </p:spTree>
    <p:extLst>
      <p:ext uri="{BB962C8B-B14F-4D97-AF65-F5344CB8AC3E}">
        <p14:creationId xmlns:p14="http://schemas.microsoft.com/office/powerpoint/2010/main" val="442578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A5DED-EE9A-421A-3E3C-02ACD9FEE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CB262E-4803-EE31-4FF1-AC6A70534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B85FE-CA93-A436-3657-8B74F09F77B3}"/>
              </a:ext>
            </a:extLst>
          </p:cNvPr>
          <p:cNvSpPr>
            <a:spLocks noGrp="1"/>
          </p:cNvSpPr>
          <p:nvPr>
            <p:ph type="body" idx="1"/>
          </p:nvPr>
        </p:nvSpPr>
        <p:spPr/>
        <p:txBody>
          <a:bodyPr/>
          <a:lstStyle/>
          <a:p>
            <a:r>
              <a:rPr lang="en-US" dirty="0"/>
              <a:t>* You probably have heard the term endemism used in quite a few contexts. E.g. This plant is endemic to Arizona, meaning that it is only found in Arizona. Here, were focused more on quantifying how range restricted a taxa is, which is 1/its presence cells within our Area of Interest, and using these ratios in sum to find the weighted endemism per cell. </a:t>
            </a:r>
          </a:p>
        </p:txBody>
      </p:sp>
      <p:sp>
        <p:nvSpPr>
          <p:cNvPr id="4" name="Slide Number Placeholder 3">
            <a:extLst>
              <a:ext uri="{FF2B5EF4-FFF2-40B4-BE49-F238E27FC236}">
                <a16:creationId xmlns:a16="http://schemas.microsoft.com/office/drawing/2014/main" id="{0E8D33A7-C2C7-C224-8993-61C3C2933E16}"/>
              </a:ext>
            </a:extLst>
          </p:cNvPr>
          <p:cNvSpPr>
            <a:spLocks noGrp="1"/>
          </p:cNvSpPr>
          <p:nvPr>
            <p:ph type="sldNum" sz="quarter" idx="5"/>
          </p:nvPr>
        </p:nvSpPr>
        <p:spPr/>
        <p:txBody>
          <a:bodyPr/>
          <a:lstStyle/>
          <a:p>
            <a:fld id="{5E98C978-B7DC-4920-AD34-9BC83DC84BB4}" type="slidenum">
              <a:rPr lang="en-US" smtClean="0"/>
              <a:t>12</a:t>
            </a:fld>
            <a:endParaRPr lang="en-US"/>
          </a:p>
        </p:txBody>
      </p:sp>
    </p:spTree>
    <p:extLst>
      <p:ext uri="{BB962C8B-B14F-4D97-AF65-F5344CB8AC3E}">
        <p14:creationId xmlns:p14="http://schemas.microsoft.com/office/powerpoint/2010/main" val="349752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98C978-B7DC-4920-AD34-9BC83DC84BB4}" type="slidenum">
              <a:rPr lang="en-US" smtClean="0"/>
              <a:t>14</a:t>
            </a:fld>
            <a:endParaRPr lang="en-US"/>
          </a:p>
        </p:txBody>
      </p:sp>
    </p:spTree>
    <p:extLst>
      <p:ext uri="{BB962C8B-B14F-4D97-AF65-F5344CB8AC3E}">
        <p14:creationId xmlns:p14="http://schemas.microsoft.com/office/powerpoint/2010/main" val="2871361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7DC33-4D51-D25D-216F-78A4DE9B9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A0B0D-F06F-B4E5-AEF3-A7CE162DA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30CA4-69FC-4C97-720E-FE21220320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DFF3D4-5B40-344F-1BB0-9DF5EBE4D0A9}"/>
              </a:ext>
            </a:extLst>
          </p:cNvPr>
          <p:cNvSpPr>
            <a:spLocks noGrp="1"/>
          </p:cNvSpPr>
          <p:nvPr>
            <p:ph type="sldNum" sz="quarter" idx="5"/>
          </p:nvPr>
        </p:nvSpPr>
        <p:spPr/>
        <p:txBody>
          <a:bodyPr/>
          <a:lstStyle/>
          <a:p>
            <a:fld id="{5E98C978-B7DC-4920-AD34-9BC83DC84BB4}" type="slidenum">
              <a:rPr lang="en-US" smtClean="0"/>
              <a:t>15</a:t>
            </a:fld>
            <a:endParaRPr lang="en-US"/>
          </a:p>
        </p:txBody>
      </p:sp>
    </p:spTree>
    <p:extLst>
      <p:ext uri="{BB962C8B-B14F-4D97-AF65-F5344CB8AC3E}">
        <p14:creationId xmlns:p14="http://schemas.microsoft.com/office/powerpoint/2010/main" val="3174426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8A7CF-BD08-EB08-3AB4-42D2E6277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116537-76FC-DA46-900D-07FB8A13B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BB9191-A29A-0E34-428F-39F1263F5E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8242B7-4374-5411-FB9A-0990D905723B}"/>
              </a:ext>
            </a:extLst>
          </p:cNvPr>
          <p:cNvSpPr>
            <a:spLocks noGrp="1"/>
          </p:cNvSpPr>
          <p:nvPr>
            <p:ph type="sldNum" sz="quarter" idx="5"/>
          </p:nvPr>
        </p:nvSpPr>
        <p:spPr/>
        <p:txBody>
          <a:bodyPr/>
          <a:lstStyle/>
          <a:p>
            <a:fld id="{5E98C978-B7DC-4920-AD34-9BC83DC84BB4}" type="slidenum">
              <a:rPr lang="en-US" smtClean="0"/>
              <a:t>16</a:t>
            </a:fld>
            <a:endParaRPr lang="en-US"/>
          </a:p>
        </p:txBody>
      </p:sp>
    </p:spTree>
    <p:extLst>
      <p:ext uri="{BB962C8B-B14F-4D97-AF65-F5344CB8AC3E}">
        <p14:creationId xmlns:p14="http://schemas.microsoft.com/office/powerpoint/2010/main" val="1897388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16B22-01FA-0146-D614-5ED908189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24D8-E9EC-A2EA-7F38-65C636DFF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78B31-6BF2-9895-B538-98A69DBE68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75635C-D5E6-9CDE-B41F-9AAD9EC271CA}"/>
              </a:ext>
            </a:extLst>
          </p:cNvPr>
          <p:cNvSpPr>
            <a:spLocks noGrp="1"/>
          </p:cNvSpPr>
          <p:nvPr>
            <p:ph type="sldNum" sz="quarter" idx="5"/>
          </p:nvPr>
        </p:nvSpPr>
        <p:spPr/>
        <p:txBody>
          <a:bodyPr/>
          <a:lstStyle/>
          <a:p>
            <a:fld id="{5E98C978-B7DC-4920-AD34-9BC83DC84BB4}" type="slidenum">
              <a:rPr lang="en-US" smtClean="0"/>
              <a:t>17</a:t>
            </a:fld>
            <a:endParaRPr lang="en-US"/>
          </a:p>
        </p:txBody>
      </p:sp>
    </p:spTree>
    <p:extLst>
      <p:ext uri="{BB962C8B-B14F-4D97-AF65-F5344CB8AC3E}">
        <p14:creationId xmlns:p14="http://schemas.microsoft.com/office/powerpoint/2010/main" val="33769864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268F-8161-9632-F8D4-F0C63960C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5D527-0466-722C-E477-31D9B27A5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94170-127D-2DE6-7E94-500527A5F7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02E204-B67E-AACB-C670-8137E39E1F9C}"/>
              </a:ext>
            </a:extLst>
          </p:cNvPr>
          <p:cNvSpPr>
            <a:spLocks noGrp="1"/>
          </p:cNvSpPr>
          <p:nvPr>
            <p:ph type="sldNum" sz="quarter" idx="5"/>
          </p:nvPr>
        </p:nvSpPr>
        <p:spPr/>
        <p:txBody>
          <a:bodyPr/>
          <a:lstStyle/>
          <a:p>
            <a:fld id="{5E98C978-B7DC-4920-AD34-9BC83DC84BB4}" type="slidenum">
              <a:rPr lang="en-US" smtClean="0"/>
              <a:t>18</a:t>
            </a:fld>
            <a:endParaRPr lang="en-US"/>
          </a:p>
        </p:txBody>
      </p:sp>
    </p:spTree>
    <p:extLst>
      <p:ext uri="{BB962C8B-B14F-4D97-AF65-F5344CB8AC3E}">
        <p14:creationId xmlns:p14="http://schemas.microsoft.com/office/powerpoint/2010/main" val="27175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0B1B7-81BE-EE95-7FB7-72D381ACC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E42F1-2A04-782D-9F0F-B5AFFA784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E9097-5E11-5068-4AB9-B505AE8CB5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D068A1-364E-9B20-05D4-5DCDBA8CB1A8}"/>
              </a:ext>
            </a:extLst>
          </p:cNvPr>
          <p:cNvSpPr>
            <a:spLocks noGrp="1"/>
          </p:cNvSpPr>
          <p:nvPr>
            <p:ph type="sldNum" sz="quarter" idx="5"/>
          </p:nvPr>
        </p:nvSpPr>
        <p:spPr/>
        <p:txBody>
          <a:bodyPr/>
          <a:lstStyle/>
          <a:p>
            <a:fld id="{5E98C978-B7DC-4920-AD34-9BC83DC84BB4}" type="slidenum">
              <a:rPr lang="en-US" smtClean="0"/>
              <a:t>19</a:t>
            </a:fld>
            <a:endParaRPr lang="en-US"/>
          </a:p>
        </p:txBody>
      </p:sp>
    </p:spTree>
    <p:extLst>
      <p:ext uri="{BB962C8B-B14F-4D97-AF65-F5344CB8AC3E}">
        <p14:creationId xmlns:p14="http://schemas.microsoft.com/office/powerpoint/2010/main" val="2183529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7CAD-1A71-D573-D1C0-F2C6A0C09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24367-DE48-7A3B-DA3C-292604647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FED5F-5269-650D-165F-04A052716B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89E957-F88A-E2F9-FAB4-7313036FFB13}"/>
              </a:ext>
            </a:extLst>
          </p:cNvPr>
          <p:cNvSpPr>
            <a:spLocks noGrp="1"/>
          </p:cNvSpPr>
          <p:nvPr>
            <p:ph type="sldNum" sz="quarter" idx="5"/>
          </p:nvPr>
        </p:nvSpPr>
        <p:spPr/>
        <p:txBody>
          <a:bodyPr/>
          <a:lstStyle/>
          <a:p>
            <a:fld id="{5E98C978-B7DC-4920-AD34-9BC83DC84BB4}" type="slidenum">
              <a:rPr lang="en-US" smtClean="0"/>
              <a:t>20</a:t>
            </a:fld>
            <a:endParaRPr lang="en-US"/>
          </a:p>
        </p:txBody>
      </p:sp>
    </p:spTree>
    <p:extLst>
      <p:ext uri="{BB962C8B-B14F-4D97-AF65-F5344CB8AC3E}">
        <p14:creationId xmlns:p14="http://schemas.microsoft.com/office/powerpoint/2010/main" val="3916484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B6C0-9A5B-C7FD-4289-26E6127BF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64DE7-0AD2-61C6-34AD-BFCB76268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C120A-5E0F-C77C-DA59-8881D61B1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E012C-4525-1F56-336A-B7E78A0E91B2}"/>
              </a:ext>
            </a:extLst>
          </p:cNvPr>
          <p:cNvSpPr>
            <a:spLocks noGrp="1"/>
          </p:cNvSpPr>
          <p:nvPr>
            <p:ph type="sldNum" sz="quarter" idx="5"/>
          </p:nvPr>
        </p:nvSpPr>
        <p:spPr/>
        <p:txBody>
          <a:bodyPr/>
          <a:lstStyle/>
          <a:p>
            <a:fld id="{5E98C978-B7DC-4920-AD34-9BC83DC84BB4}" type="slidenum">
              <a:rPr lang="en-US" smtClean="0"/>
              <a:t>21</a:t>
            </a:fld>
            <a:endParaRPr lang="en-US"/>
          </a:p>
        </p:txBody>
      </p:sp>
    </p:spTree>
    <p:extLst>
      <p:ext uri="{BB962C8B-B14F-4D97-AF65-F5344CB8AC3E}">
        <p14:creationId xmlns:p14="http://schemas.microsoft.com/office/powerpoint/2010/main" val="86469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6B71B-4BBC-060E-CDDA-DE17E62E4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E75F3-1DDB-6552-4E08-44B340C54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4B604A-D87C-8DF5-1895-2BC7BF7C86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A23582-801C-BA72-FD72-D64D0C06FA59}"/>
              </a:ext>
            </a:extLst>
          </p:cNvPr>
          <p:cNvSpPr>
            <a:spLocks noGrp="1"/>
          </p:cNvSpPr>
          <p:nvPr>
            <p:ph type="sldNum" sz="quarter" idx="5"/>
          </p:nvPr>
        </p:nvSpPr>
        <p:spPr/>
        <p:txBody>
          <a:bodyPr/>
          <a:lstStyle/>
          <a:p>
            <a:fld id="{5E98C978-B7DC-4920-AD34-9BC83DC84BB4}" type="slidenum">
              <a:rPr lang="en-US" smtClean="0"/>
              <a:t>22</a:t>
            </a:fld>
            <a:endParaRPr lang="en-US"/>
          </a:p>
        </p:txBody>
      </p:sp>
    </p:spTree>
    <p:extLst>
      <p:ext uri="{BB962C8B-B14F-4D97-AF65-F5344CB8AC3E}">
        <p14:creationId xmlns:p14="http://schemas.microsoft.com/office/powerpoint/2010/main" val="1007927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064A2-44C7-2D35-E09C-BC9C1225A0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238FF6-BAC2-FC10-553D-FE300C9A9C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9FB7ED-1DF5-3E98-2F55-855F4672741B}"/>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5" name="Footer Placeholder 4">
            <a:extLst>
              <a:ext uri="{FF2B5EF4-FFF2-40B4-BE49-F238E27FC236}">
                <a16:creationId xmlns:a16="http://schemas.microsoft.com/office/drawing/2014/main" id="{2A37EC74-9B02-0860-306F-4FC68778A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6DFC8-0AE7-651B-C3CB-60C2CC4862ED}"/>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302496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EE68-4831-C753-8737-E4D3528CF9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D9983-E221-7F72-1673-31A6ED617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CE89BC-EDD6-A2E1-279B-C3D845C961EA}"/>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5" name="Footer Placeholder 4">
            <a:extLst>
              <a:ext uri="{FF2B5EF4-FFF2-40B4-BE49-F238E27FC236}">
                <a16:creationId xmlns:a16="http://schemas.microsoft.com/office/drawing/2014/main" id="{F48691F6-1BE9-6D3C-77A5-A5CE2E571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AD6E6-C0D3-4718-65D2-E589148A8960}"/>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1722270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FD27B-7D7F-5922-E890-ED5BCB47A0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94DCEB-73AC-1087-4045-258F080208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FF4102-6089-F4F6-2E2C-46264C81D2A6}"/>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5" name="Footer Placeholder 4">
            <a:extLst>
              <a:ext uri="{FF2B5EF4-FFF2-40B4-BE49-F238E27FC236}">
                <a16:creationId xmlns:a16="http://schemas.microsoft.com/office/drawing/2014/main" id="{A18B9252-AC6D-F194-1579-4DF2ED3E8A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FBD6F0-B2FC-5898-656E-DEC4A7117AE4}"/>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3258263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AE1E5-A177-3605-0A4D-22062810CE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E6751F-2CEB-B3F6-C7D0-BC4AF4164A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BF9A51-7214-36E2-24B3-1CD0666893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1A9C5E-FDB3-1521-8B60-BB31721712BF}"/>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6" name="Footer Placeholder 5">
            <a:extLst>
              <a:ext uri="{FF2B5EF4-FFF2-40B4-BE49-F238E27FC236}">
                <a16:creationId xmlns:a16="http://schemas.microsoft.com/office/drawing/2014/main" id="{DB46A64D-6EE7-243D-F537-955B718214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E5E7D-CFE0-F463-1AD8-09B5FA997F17}"/>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2270689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1226-6F4E-F4D5-B0AB-CD4EB95E1B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C35179-45B9-FCAC-7FEA-4F584952C2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F4CE7D-83C0-3510-1E6B-A2D04B0C19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6A913D-681B-7B29-BF00-51092DB0C6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7ACF82-A808-3B8B-2168-88191E47C3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12EF27-ADCB-E12B-F1BC-2947A19A93FE}"/>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8" name="Footer Placeholder 7">
            <a:extLst>
              <a:ext uri="{FF2B5EF4-FFF2-40B4-BE49-F238E27FC236}">
                <a16:creationId xmlns:a16="http://schemas.microsoft.com/office/drawing/2014/main" id="{411444EB-1DC4-5A65-621A-35ABEA0A0C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2DD12B-4F08-9044-2872-6E2164AB7239}"/>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2655975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6A211-7848-3FC3-B073-B1AE09F8D2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C5B998-C25F-3D78-4BC5-9529A25EF21F}"/>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4" name="Footer Placeholder 3">
            <a:extLst>
              <a:ext uri="{FF2B5EF4-FFF2-40B4-BE49-F238E27FC236}">
                <a16:creationId xmlns:a16="http://schemas.microsoft.com/office/drawing/2014/main" id="{0B9171D0-043E-806B-BA04-369BCA8890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E72541-1B11-850C-639A-EB3E2C525677}"/>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304344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C1B59-3A7B-21C6-820B-CEA64C9E4D21}"/>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3" name="Footer Placeholder 2">
            <a:extLst>
              <a:ext uri="{FF2B5EF4-FFF2-40B4-BE49-F238E27FC236}">
                <a16:creationId xmlns:a16="http://schemas.microsoft.com/office/drawing/2014/main" id="{B2C9C336-3FD8-3D94-175D-DB62BB55E9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A288C0-2D9D-8B48-9598-11EB24C0B28C}"/>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285688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B2D3C-610C-B71D-533C-BC8969C7A3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ED2AD0-3315-9A1E-7B88-F3A2E304CB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424223-0190-73D6-1082-F3B653ECC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903889-51DC-E1C2-F23F-EF00B107E13F}"/>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6" name="Footer Placeholder 5">
            <a:extLst>
              <a:ext uri="{FF2B5EF4-FFF2-40B4-BE49-F238E27FC236}">
                <a16:creationId xmlns:a16="http://schemas.microsoft.com/office/drawing/2014/main" id="{8A0391A8-7DF6-4AF3-F051-0B0B61310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A00129-0DEB-B239-A413-042FF4E2912A}"/>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1486043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E6396-CE63-0BCC-4833-DD8831759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5EEFF9-DCAA-9BE8-6BFD-B30CBD3AF8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76F667-B126-F984-8542-DCDFC12CDC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57818F-3F4A-81CF-4928-1474FA733758}"/>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6" name="Footer Placeholder 5">
            <a:extLst>
              <a:ext uri="{FF2B5EF4-FFF2-40B4-BE49-F238E27FC236}">
                <a16:creationId xmlns:a16="http://schemas.microsoft.com/office/drawing/2014/main" id="{DB032C7C-9EB9-B3E7-8BED-3F864F1BB6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BB0A71-473D-02AA-54C4-338C33F2D12A}"/>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3241552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FDA06-65C4-AB65-1F10-2F2F678E8A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502E97-40D2-9A65-432B-9A485E5FDF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10603-6240-9C73-79DA-BBDD81B1D788}"/>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5" name="Footer Placeholder 4">
            <a:extLst>
              <a:ext uri="{FF2B5EF4-FFF2-40B4-BE49-F238E27FC236}">
                <a16:creationId xmlns:a16="http://schemas.microsoft.com/office/drawing/2014/main" id="{457E0299-64D8-2DD8-42EA-B509470F2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4831C-E18E-63A7-B37D-88AC13945670}"/>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1542674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AC471E-F4D2-8EE7-1D22-CB890B5940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5A43BA-CB24-D3FE-ADB0-981907EFC9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F8DDCB-B9F1-4A32-5A9C-4EA8B4119ED2}"/>
              </a:ext>
            </a:extLst>
          </p:cNvPr>
          <p:cNvSpPr>
            <a:spLocks noGrp="1"/>
          </p:cNvSpPr>
          <p:nvPr>
            <p:ph type="dt" sz="half" idx="10"/>
          </p:nvPr>
        </p:nvSpPr>
        <p:spPr/>
        <p:txBody>
          <a:bodyPr/>
          <a:lstStyle/>
          <a:p>
            <a:fld id="{2736F182-9628-40EC-8D5D-77FFB2A61DB3}" type="datetimeFigureOut">
              <a:rPr lang="en-US" smtClean="0"/>
              <a:t>7/31/2026</a:t>
            </a:fld>
            <a:endParaRPr lang="en-US"/>
          </a:p>
        </p:txBody>
      </p:sp>
      <p:sp>
        <p:nvSpPr>
          <p:cNvPr id="5" name="Footer Placeholder 4">
            <a:extLst>
              <a:ext uri="{FF2B5EF4-FFF2-40B4-BE49-F238E27FC236}">
                <a16:creationId xmlns:a16="http://schemas.microsoft.com/office/drawing/2014/main" id="{26416623-3DFD-ABA5-4895-E4C2032095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2611A2-6A90-B22C-6965-7965343E12C4}"/>
              </a:ext>
            </a:extLst>
          </p:cNvPr>
          <p:cNvSpPr>
            <a:spLocks noGrp="1"/>
          </p:cNvSpPr>
          <p:nvPr>
            <p:ph type="sldNum" sz="quarter" idx="12"/>
          </p:nvPr>
        </p:nvSpPr>
        <p:spPr/>
        <p:txBody>
          <a:bodyPr/>
          <a:lstStyle/>
          <a:p>
            <a:fld id="{963E48C1-C5E0-4BC4-A833-831FA2F0B2DA}" type="slidenum">
              <a:rPr lang="en-US" smtClean="0"/>
              <a:t>‹#›</a:t>
            </a:fld>
            <a:endParaRPr lang="en-US"/>
          </a:p>
        </p:txBody>
      </p:sp>
    </p:spTree>
    <p:extLst>
      <p:ext uri="{BB962C8B-B14F-4D97-AF65-F5344CB8AC3E}">
        <p14:creationId xmlns:p14="http://schemas.microsoft.com/office/powerpoint/2010/main" val="1232275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058D4B-E381-3B48-C636-FE39F54402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28887C-C35C-0C8A-3930-73C7DD6A26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299035-7969-2C53-8EB1-1A7FFDF55B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36F182-9628-40EC-8D5D-77FFB2A61DB3}" type="datetimeFigureOut">
              <a:rPr lang="en-US" smtClean="0"/>
              <a:t>7/31/2026</a:t>
            </a:fld>
            <a:endParaRPr lang="en-US"/>
          </a:p>
        </p:txBody>
      </p:sp>
      <p:sp>
        <p:nvSpPr>
          <p:cNvPr id="5" name="Footer Placeholder 4">
            <a:extLst>
              <a:ext uri="{FF2B5EF4-FFF2-40B4-BE49-F238E27FC236}">
                <a16:creationId xmlns:a16="http://schemas.microsoft.com/office/drawing/2014/main" id="{99ECE1D2-3F08-77C6-7155-E667C836BE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058111-FE7B-26BC-8568-ECDB6F4A0D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3E48C1-C5E0-4BC4-A833-831FA2F0B2DA}" type="slidenum">
              <a:rPr lang="en-US" smtClean="0"/>
              <a:t>‹#›</a:t>
            </a:fld>
            <a:endParaRPr lang="en-US"/>
          </a:p>
        </p:txBody>
      </p:sp>
    </p:spTree>
    <p:extLst>
      <p:ext uri="{BB962C8B-B14F-4D97-AF65-F5344CB8AC3E}">
        <p14:creationId xmlns:p14="http://schemas.microsoft.com/office/powerpoint/2010/main" val="4229132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if"/><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8.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2.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3.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3.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7.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5.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8.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8.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8.png"/><Relationship Id="rId7" Type="http://schemas.openxmlformats.org/officeDocument/2006/relationships/image" Target="../media/image9.png"/><Relationship Id="rId12"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 Id="rId14"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9.png"/><Relationship Id="rId12"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 Id="rId1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9.png"/><Relationship Id="rId12" Type="http://schemas.openxmlformats.org/officeDocument/2006/relationships/image" Target="../media/image32.png"/><Relationship Id="rId17" Type="http://schemas.openxmlformats.org/officeDocument/2006/relationships/image" Target="../media/image27.png"/><Relationship Id="rId2" Type="http://schemas.openxmlformats.org/officeDocument/2006/relationships/notesSlide" Target="../notesSlides/notesSlide16.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 Id="rId14"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9.png"/><Relationship Id="rId12" Type="http://schemas.openxmlformats.org/officeDocument/2006/relationships/image" Target="../media/image32.png"/><Relationship Id="rId17" Type="http://schemas.openxmlformats.org/officeDocument/2006/relationships/image" Target="../media/image27.png"/><Relationship Id="rId2" Type="http://schemas.openxmlformats.org/officeDocument/2006/relationships/notesSlide" Target="../notesSlides/notesSlide17.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 Id="rId14" Type="http://schemas.openxmlformats.org/officeDocument/2006/relationships/image" Target="../media/image34.png"/></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9.png"/><Relationship Id="rId12" Type="http://schemas.openxmlformats.org/officeDocument/2006/relationships/image" Target="../media/image32.png"/><Relationship Id="rId17" Type="http://schemas.openxmlformats.org/officeDocument/2006/relationships/image" Target="../media/image27.png"/><Relationship Id="rId2" Type="http://schemas.openxmlformats.org/officeDocument/2006/relationships/notesSlide" Target="../notesSlides/notesSlide18.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3.png"/><Relationship Id="rId1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18.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3.png"/><Relationship Id="rId1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18.png"/><Relationship Id="rId12" Type="http://schemas.openxmlformats.org/officeDocument/2006/relationships/image" Target="../media/image8.png"/><Relationship Id="rId17" Type="http://schemas.openxmlformats.org/officeDocument/2006/relationships/image" Target="../media/image34.png"/><Relationship Id="rId2" Type="http://schemas.openxmlformats.org/officeDocument/2006/relationships/image" Target="../media/image40.png"/><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9.png"/><Relationship Id="rId5" Type="http://schemas.openxmlformats.org/officeDocument/2006/relationships/image" Target="../media/image37.png"/><Relationship Id="rId15" Type="http://schemas.openxmlformats.org/officeDocument/2006/relationships/image" Target="../media/image32.png"/><Relationship Id="rId10" Type="http://schemas.openxmlformats.org/officeDocument/2006/relationships/image" Target="../media/image10.png"/><Relationship Id="rId4" Type="http://schemas.openxmlformats.org/officeDocument/2006/relationships/image" Target="../media/image36.png"/><Relationship Id="rId9" Type="http://schemas.openxmlformats.org/officeDocument/2006/relationships/image" Target="../media/image11.png"/><Relationship Id="rId14" Type="http://schemas.openxmlformats.org/officeDocument/2006/relationships/image" Target="../media/image30.png"/></Relationships>
</file>

<file path=ppt/slides/_rels/slide2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8.png"/><Relationship Id="rId7" Type="http://schemas.openxmlformats.org/officeDocument/2006/relationships/image" Target="../media/image39.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 y="1445741"/>
            <a:ext cx="12196118" cy="2266159"/>
          </a:xfrm>
        </p:spPr>
        <p:txBody>
          <a:bodyPr>
            <a:noAutofit/>
          </a:bodyPr>
          <a:lstStyle/>
          <a:p>
            <a:r>
              <a:rPr lang="en-US" sz="4400" b="1" dirty="0">
                <a:solidFill>
                  <a:srgbClr val="0070C0"/>
                </a:solidFill>
              </a:rPr>
              <a:t>Spatial Phylodiversity &amp; </a:t>
            </a:r>
            <a:r>
              <a:rPr lang="en-US" sz="4400" b="1" dirty="0" err="1">
                <a:solidFill>
                  <a:srgbClr val="0070C0"/>
                </a:solidFill>
              </a:rPr>
              <a:t>Phyloendemism</a:t>
            </a:r>
            <a:r>
              <a:rPr lang="en-US" sz="4400" b="1" dirty="0">
                <a:solidFill>
                  <a:srgbClr val="0070C0"/>
                </a:solidFill>
              </a:rPr>
              <a:t> </a:t>
            </a:r>
          </a:p>
        </p:txBody>
      </p:sp>
      <p:sp>
        <p:nvSpPr>
          <p:cNvPr id="5" name="Subtitle 2"/>
          <p:cNvSpPr txBox="1">
            <a:spLocks/>
          </p:cNvSpPr>
          <p:nvPr/>
        </p:nvSpPr>
        <p:spPr>
          <a:xfrm>
            <a:off x="2209800" y="3886200"/>
            <a:ext cx="77724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dirty="0"/>
          </a:p>
        </p:txBody>
      </p:sp>
      <p:pic>
        <p:nvPicPr>
          <p:cNvPr id="7" name="Picture 6" descr="band.jpg"/>
          <p:cNvPicPr>
            <a:picLocks noChangeAspect="1"/>
          </p:cNvPicPr>
          <p:nvPr/>
        </p:nvPicPr>
        <p:blipFill rotWithShape="1">
          <a:blip r:embed="rId3">
            <a:extLst>
              <a:ext uri="{28A0092B-C50C-407E-A947-70E740481C1C}">
                <a14:useLocalDpi xmlns:a14="http://schemas.microsoft.com/office/drawing/2010/main" val="0"/>
              </a:ext>
            </a:extLst>
          </a:blip>
          <a:srcRect t="15229" b="45767"/>
          <a:stretch/>
        </p:blipFill>
        <p:spPr>
          <a:xfrm>
            <a:off x="0" y="0"/>
            <a:ext cx="12336163" cy="1408671"/>
          </a:xfrm>
          <a:prstGeom prst="rect">
            <a:avLst/>
          </a:prstGeom>
        </p:spPr>
      </p:pic>
      <p:sp>
        <p:nvSpPr>
          <p:cNvPr id="8" name="TextBox 7">
            <a:extLst>
              <a:ext uri="{FF2B5EF4-FFF2-40B4-BE49-F238E27FC236}">
                <a16:creationId xmlns:a16="http://schemas.microsoft.com/office/drawing/2014/main" id="{7A9DCAD4-64A3-1E43-917A-4CCCD7A1036E}"/>
              </a:ext>
            </a:extLst>
          </p:cNvPr>
          <p:cNvSpPr txBox="1"/>
          <p:nvPr/>
        </p:nvSpPr>
        <p:spPr>
          <a:xfrm>
            <a:off x="3526525" y="3723688"/>
            <a:ext cx="4367542" cy="1323439"/>
          </a:xfrm>
          <a:prstGeom prst="rect">
            <a:avLst/>
          </a:prstGeom>
          <a:noFill/>
        </p:spPr>
        <p:txBody>
          <a:bodyPr wrap="none" rtlCol="0">
            <a:spAutoFit/>
          </a:bodyPr>
          <a:lstStyle/>
          <a:p>
            <a:pPr algn="ctr"/>
            <a:r>
              <a:rPr lang="en-US" sz="4000" dirty="0">
                <a:solidFill>
                  <a:srgbClr val="0070C0"/>
                </a:solidFill>
                <a:latin typeface="Calibri" panose="020F0502020204030204" pitchFamily="34" charset="0"/>
                <a:cs typeface="Calibri" panose="020F0502020204030204" pitchFamily="34" charset="0"/>
              </a:rPr>
              <a:t>JT Miller</a:t>
            </a:r>
          </a:p>
          <a:p>
            <a:pPr algn="ctr"/>
            <a:r>
              <a:rPr lang="en-US" sz="4000" dirty="0">
                <a:solidFill>
                  <a:srgbClr val="0070C0"/>
                </a:solidFill>
                <a:latin typeface="Calibri" panose="020F0502020204030204" pitchFamily="34" charset="0"/>
                <a:cs typeface="Calibri" panose="020F0502020204030204" pitchFamily="34" charset="0"/>
              </a:rPr>
              <a:t>University of Florida</a:t>
            </a:r>
          </a:p>
        </p:txBody>
      </p:sp>
      <p:pic>
        <p:nvPicPr>
          <p:cNvPr id="3" name="Picture 2">
            <a:extLst>
              <a:ext uri="{FF2B5EF4-FFF2-40B4-BE49-F238E27FC236}">
                <a16:creationId xmlns:a16="http://schemas.microsoft.com/office/drawing/2014/main" id="{4FEC7408-C1F6-46A3-0BA7-03115BF2474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76918" y="5650588"/>
            <a:ext cx="3299215" cy="1019420"/>
          </a:xfrm>
          <a:prstGeom prst="rect">
            <a:avLst/>
          </a:prstGeom>
          <a:noFill/>
          <a:extLst>
            <a:ext uri="{909E8E84-426E-40dd-AFC4-6F175D3DCCD1}">
              <a14:hiddenFill xmlns:a14="http://schemas.microsoft.com/office/drawing/2010/main" xmlns="" xmlns:lc="http://schemas.openxmlformats.org/drawingml/2006/lockedCanvas">
                <a:solidFill>
                  <a:srgbClr val="FFFFFF"/>
                </a:solidFill>
              </a14:hiddenFill>
            </a:ext>
          </a:extLst>
        </p:spPr>
      </p:pic>
      <p:pic>
        <p:nvPicPr>
          <p:cNvPr id="6" name="Picture 5">
            <a:extLst>
              <a:ext uri="{FF2B5EF4-FFF2-40B4-BE49-F238E27FC236}">
                <a16:creationId xmlns:a16="http://schemas.microsoft.com/office/drawing/2014/main" id="{258D8F59-B652-89A6-6B9F-A107125DB36F}"/>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l="1570" t="7500" r="81158"/>
          <a:stretch/>
        </p:blipFill>
        <p:spPr bwMode="auto">
          <a:xfrm>
            <a:off x="7015869" y="5546506"/>
            <a:ext cx="1185688" cy="1227584"/>
          </a:xfrm>
          <a:prstGeom prst="rect">
            <a:avLst/>
          </a:prstGeom>
          <a:noFill/>
          <a:ln w="9525">
            <a:noFill/>
            <a:miter lim="800000"/>
            <a:headEnd/>
            <a:tailEnd/>
          </a:ln>
        </p:spPr>
      </p:pic>
      <p:pic>
        <p:nvPicPr>
          <p:cNvPr id="9" name="Picture 8">
            <a:extLst>
              <a:ext uri="{FF2B5EF4-FFF2-40B4-BE49-F238E27FC236}">
                <a16:creationId xmlns:a16="http://schemas.microsoft.com/office/drawing/2014/main" id="{9B27E6AF-14B3-BC51-5B30-4552DEBF1D6F}"/>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362912" y="4763171"/>
            <a:ext cx="3558381" cy="652954"/>
          </a:xfrm>
          <a:prstGeom prst="rect">
            <a:avLst/>
          </a:prstGeom>
        </p:spPr>
      </p:pic>
      <p:pic>
        <p:nvPicPr>
          <p:cNvPr id="11" name="Picture 10">
            <a:extLst>
              <a:ext uri="{FF2B5EF4-FFF2-40B4-BE49-F238E27FC236}">
                <a16:creationId xmlns:a16="http://schemas.microsoft.com/office/drawing/2014/main" id="{A09C00C2-EC9D-2805-D815-558AB692FA01}"/>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70707" y="4592911"/>
            <a:ext cx="2483157" cy="817625"/>
          </a:xfrm>
          <a:prstGeom prst="rect">
            <a:avLst/>
          </a:prstGeom>
        </p:spPr>
      </p:pic>
    </p:spTree>
    <p:extLst>
      <p:ext uri="{BB962C8B-B14F-4D97-AF65-F5344CB8AC3E}">
        <p14:creationId xmlns:p14="http://schemas.microsoft.com/office/powerpoint/2010/main" val="2362936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8F67-743D-E5C2-E225-E362E23F277E}"/>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971904B0-12D5-E3D6-48F6-4A877A7BC112}"/>
              </a:ext>
            </a:extLst>
          </p:cNvPr>
          <p:cNvSpPr txBox="1"/>
          <p:nvPr/>
        </p:nvSpPr>
        <p:spPr>
          <a:xfrm>
            <a:off x="136044" y="1369719"/>
            <a:ext cx="4724400" cy="954107"/>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dirty="0"/>
              <a:t>Species Richness (SR)</a:t>
            </a:r>
          </a:p>
        </p:txBody>
      </p:sp>
      <p:pic>
        <p:nvPicPr>
          <p:cNvPr id="4" name="Picture 3">
            <a:extLst>
              <a:ext uri="{FF2B5EF4-FFF2-40B4-BE49-F238E27FC236}">
                <a16:creationId xmlns:a16="http://schemas.microsoft.com/office/drawing/2014/main" id="{70DBAD06-687D-EC07-99C7-9EC973CA3809}"/>
              </a:ext>
            </a:extLst>
          </p:cNvPr>
          <p:cNvPicPr>
            <a:picLocks noChangeAspect="1"/>
          </p:cNvPicPr>
          <p:nvPr/>
        </p:nvPicPr>
        <p:blipFill>
          <a:blip r:embed="rId2"/>
          <a:stretch>
            <a:fillRect/>
          </a:stretch>
        </p:blipFill>
        <p:spPr>
          <a:xfrm>
            <a:off x="7043715" y="2273520"/>
            <a:ext cx="2673487" cy="2724290"/>
          </a:xfrm>
          <a:prstGeom prst="rect">
            <a:avLst/>
          </a:prstGeom>
        </p:spPr>
      </p:pic>
      <p:sp>
        <p:nvSpPr>
          <p:cNvPr id="6" name="TextBox 5">
            <a:extLst>
              <a:ext uri="{FF2B5EF4-FFF2-40B4-BE49-F238E27FC236}">
                <a16:creationId xmlns:a16="http://schemas.microsoft.com/office/drawing/2014/main" id="{695E8C05-67FE-2C35-5FBE-BB04E285EB59}"/>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sp>
        <p:nvSpPr>
          <p:cNvPr id="7" name="TextBox 6">
            <a:extLst>
              <a:ext uri="{FF2B5EF4-FFF2-40B4-BE49-F238E27FC236}">
                <a16:creationId xmlns:a16="http://schemas.microsoft.com/office/drawing/2014/main" id="{386A519A-2F2E-B06B-DD38-9352CF088586}"/>
              </a:ext>
            </a:extLst>
          </p:cNvPr>
          <p:cNvSpPr txBox="1"/>
          <p:nvPr/>
        </p:nvSpPr>
        <p:spPr>
          <a:xfrm>
            <a:off x="130708" y="3120919"/>
            <a:ext cx="4724400" cy="2246769"/>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	</a:t>
            </a:r>
            <a:r>
              <a:rPr lang="en-US" sz="2400" dirty="0"/>
              <a:t>Yellow = Presence</a:t>
            </a:r>
          </a:p>
          <a:p>
            <a:pPr lvl="1"/>
            <a:r>
              <a:rPr lang="en-US" sz="2400" dirty="0"/>
              <a:t>	Purple = Absence</a:t>
            </a:r>
          </a:p>
        </p:txBody>
      </p:sp>
      <p:pic>
        <p:nvPicPr>
          <p:cNvPr id="9" name="Picture 8">
            <a:extLst>
              <a:ext uri="{FF2B5EF4-FFF2-40B4-BE49-F238E27FC236}">
                <a16:creationId xmlns:a16="http://schemas.microsoft.com/office/drawing/2014/main" id="{AF79EA30-83EB-D1FB-2734-2E5327599A9F}"/>
              </a:ext>
            </a:extLst>
          </p:cNvPr>
          <p:cNvPicPr>
            <a:picLocks noChangeAspect="1"/>
          </p:cNvPicPr>
          <p:nvPr/>
        </p:nvPicPr>
        <p:blipFill>
          <a:blip r:embed="rId3"/>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3E5CEAA7-C999-DB9C-4DAB-79556A12EB15}"/>
              </a:ext>
            </a:extLst>
          </p:cNvPr>
          <p:cNvSpPr txBox="1"/>
          <p:nvPr/>
        </p:nvSpPr>
        <p:spPr>
          <a:xfrm>
            <a:off x="5130432" y="1907000"/>
            <a:ext cx="690362" cy="369332"/>
          </a:xfrm>
          <a:prstGeom prst="rect">
            <a:avLst/>
          </a:prstGeom>
          <a:noFill/>
        </p:spPr>
        <p:txBody>
          <a:bodyPr wrap="square" rtlCol="0">
            <a:spAutoFit/>
          </a:bodyPr>
          <a:lstStyle/>
          <a:p>
            <a:r>
              <a:rPr lang="en-US" dirty="0"/>
              <a:t>Sp. A </a:t>
            </a:r>
          </a:p>
        </p:txBody>
      </p:sp>
      <p:pic>
        <p:nvPicPr>
          <p:cNvPr id="12" name="Picture 11">
            <a:extLst>
              <a:ext uri="{FF2B5EF4-FFF2-40B4-BE49-F238E27FC236}">
                <a16:creationId xmlns:a16="http://schemas.microsoft.com/office/drawing/2014/main" id="{C5224AD6-6723-1CFB-3D55-BEC928DA5180}"/>
              </a:ext>
            </a:extLst>
          </p:cNvPr>
          <p:cNvPicPr>
            <a:picLocks noChangeAspect="1"/>
          </p:cNvPicPr>
          <p:nvPr/>
        </p:nvPicPr>
        <p:blipFill>
          <a:blip r:embed="rId4"/>
          <a:stretch>
            <a:fillRect/>
          </a:stretch>
        </p:blipFill>
        <p:spPr>
          <a:xfrm>
            <a:off x="4755563" y="3740510"/>
            <a:ext cx="1441524" cy="1362145"/>
          </a:xfrm>
          <a:prstGeom prst="rect">
            <a:avLst/>
          </a:prstGeom>
        </p:spPr>
      </p:pic>
      <p:sp>
        <p:nvSpPr>
          <p:cNvPr id="18" name="TextBox 17">
            <a:extLst>
              <a:ext uri="{FF2B5EF4-FFF2-40B4-BE49-F238E27FC236}">
                <a16:creationId xmlns:a16="http://schemas.microsoft.com/office/drawing/2014/main" id="{97FD6FE1-A62E-20DB-3CC8-9E148C6ABF0F}"/>
              </a:ext>
            </a:extLst>
          </p:cNvPr>
          <p:cNvSpPr txBox="1"/>
          <p:nvPr/>
        </p:nvSpPr>
        <p:spPr>
          <a:xfrm>
            <a:off x="5125608" y="3453598"/>
            <a:ext cx="690362" cy="369332"/>
          </a:xfrm>
          <a:prstGeom prst="rect">
            <a:avLst/>
          </a:prstGeom>
          <a:noFill/>
        </p:spPr>
        <p:txBody>
          <a:bodyPr wrap="square" rtlCol="0">
            <a:spAutoFit/>
          </a:bodyPr>
          <a:lstStyle/>
          <a:p>
            <a:r>
              <a:rPr lang="en-US" dirty="0"/>
              <a:t>Sp. B </a:t>
            </a:r>
          </a:p>
        </p:txBody>
      </p:sp>
      <p:pic>
        <p:nvPicPr>
          <p:cNvPr id="21" name="Picture 20">
            <a:extLst>
              <a:ext uri="{FF2B5EF4-FFF2-40B4-BE49-F238E27FC236}">
                <a16:creationId xmlns:a16="http://schemas.microsoft.com/office/drawing/2014/main" id="{DEB21CD3-FEC2-D26A-A7AF-866E76EC0064}"/>
              </a:ext>
            </a:extLst>
          </p:cNvPr>
          <p:cNvPicPr>
            <a:picLocks noChangeAspect="1"/>
          </p:cNvPicPr>
          <p:nvPr/>
        </p:nvPicPr>
        <p:blipFill>
          <a:blip r:embed="rId5"/>
          <a:stretch>
            <a:fillRect/>
          </a:stretch>
        </p:blipFill>
        <p:spPr>
          <a:xfrm>
            <a:off x="4821165" y="5289305"/>
            <a:ext cx="1299247" cy="1274141"/>
          </a:xfrm>
          <a:prstGeom prst="rect">
            <a:avLst/>
          </a:prstGeom>
        </p:spPr>
      </p:pic>
      <p:sp>
        <p:nvSpPr>
          <p:cNvPr id="23" name="TextBox 22">
            <a:extLst>
              <a:ext uri="{FF2B5EF4-FFF2-40B4-BE49-F238E27FC236}">
                <a16:creationId xmlns:a16="http://schemas.microsoft.com/office/drawing/2014/main" id="{7A116E22-92B3-2F80-D1BE-7869B35D9FC3}"/>
              </a:ext>
            </a:extLst>
          </p:cNvPr>
          <p:cNvSpPr txBox="1"/>
          <p:nvPr/>
        </p:nvSpPr>
        <p:spPr>
          <a:xfrm>
            <a:off x="5125608" y="4997810"/>
            <a:ext cx="690362" cy="369332"/>
          </a:xfrm>
          <a:prstGeom prst="rect">
            <a:avLst/>
          </a:prstGeom>
          <a:noFill/>
        </p:spPr>
        <p:txBody>
          <a:bodyPr wrap="square" rtlCol="0">
            <a:spAutoFit/>
          </a:bodyPr>
          <a:lstStyle/>
          <a:p>
            <a:r>
              <a:rPr lang="en-US" dirty="0"/>
              <a:t>Sp. C </a:t>
            </a:r>
          </a:p>
        </p:txBody>
      </p:sp>
      <p:pic>
        <p:nvPicPr>
          <p:cNvPr id="25" name="Picture 24">
            <a:extLst>
              <a:ext uri="{FF2B5EF4-FFF2-40B4-BE49-F238E27FC236}">
                <a16:creationId xmlns:a16="http://schemas.microsoft.com/office/drawing/2014/main" id="{F15FA5A9-729A-114F-8B32-2B60FFAD9D69}"/>
              </a:ext>
            </a:extLst>
          </p:cNvPr>
          <p:cNvPicPr>
            <a:picLocks noChangeAspect="1"/>
          </p:cNvPicPr>
          <p:nvPr/>
        </p:nvPicPr>
        <p:blipFill>
          <a:blip r:embed="rId6"/>
          <a:stretch>
            <a:fillRect/>
          </a:stretch>
        </p:blipFill>
        <p:spPr>
          <a:xfrm>
            <a:off x="6463302" y="5275389"/>
            <a:ext cx="1300411" cy="1272141"/>
          </a:xfrm>
          <a:prstGeom prst="rect">
            <a:avLst/>
          </a:prstGeom>
        </p:spPr>
      </p:pic>
      <p:sp>
        <p:nvSpPr>
          <p:cNvPr id="27" name="TextBox 26">
            <a:extLst>
              <a:ext uri="{FF2B5EF4-FFF2-40B4-BE49-F238E27FC236}">
                <a16:creationId xmlns:a16="http://schemas.microsoft.com/office/drawing/2014/main" id="{86ECD01E-4EE4-6AD7-0FE7-F06F4DA7E710}"/>
              </a:ext>
            </a:extLst>
          </p:cNvPr>
          <p:cNvSpPr txBox="1"/>
          <p:nvPr/>
        </p:nvSpPr>
        <p:spPr>
          <a:xfrm>
            <a:off x="6782610" y="4966281"/>
            <a:ext cx="769076" cy="369332"/>
          </a:xfrm>
          <a:prstGeom prst="rect">
            <a:avLst/>
          </a:prstGeom>
          <a:noFill/>
        </p:spPr>
        <p:txBody>
          <a:bodyPr wrap="square" rtlCol="0">
            <a:spAutoFit/>
          </a:bodyPr>
          <a:lstStyle/>
          <a:p>
            <a:r>
              <a:rPr lang="en-US" dirty="0"/>
              <a:t>Sp. D</a:t>
            </a:r>
          </a:p>
        </p:txBody>
      </p:sp>
      <p:pic>
        <p:nvPicPr>
          <p:cNvPr id="29" name="Picture 28">
            <a:extLst>
              <a:ext uri="{FF2B5EF4-FFF2-40B4-BE49-F238E27FC236}">
                <a16:creationId xmlns:a16="http://schemas.microsoft.com/office/drawing/2014/main" id="{C20755B0-120D-0E6C-5F14-196A5BE6BFE2}"/>
              </a:ext>
            </a:extLst>
          </p:cNvPr>
          <p:cNvPicPr>
            <a:picLocks noChangeAspect="1"/>
          </p:cNvPicPr>
          <p:nvPr/>
        </p:nvPicPr>
        <p:blipFill>
          <a:blip r:embed="rId7"/>
          <a:stretch>
            <a:fillRect/>
          </a:stretch>
        </p:blipFill>
        <p:spPr>
          <a:xfrm>
            <a:off x="8160477" y="5273389"/>
            <a:ext cx="1239081" cy="1257855"/>
          </a:xfrm>
          <a:prstGeom prst="rect">
            <a:avLst/>
          </a:prstGeom>
        </p:spPr>
      </p:pic>
      <p:sp>
        <p:nvSpPr>
          <p:cNvPr id="31" name="TextBox 30">
            <a:extLst>
              <a:ext uri="{FF2B5EF4-FFF2-40B4-BE49-F238E27FC236}">
                <a16:creationId xmlns:a16="http://schemas.microsoft.com/office/drawing/2014/main" id="{71637E6F-A2B1-36DF-672B-ED869F988FBF}"/>
              </a:ext>
            </a:extLst>
          </p:cNvPr>
          <p:cNvSpPr txBox="1"/>
          <p:nvPr/>
        </p:nvSpPr>
        <p:spPr>
          <a:xfrm>
            <a:off x="8437311" y="4952870"/>
            <a:ext cx="657803" cy="369332"/>
          </a:xfrm>
          <a:prstGeom prst="rect">
            <a:avLst/>
          </a:prstGeom>
          <a:noFill/>
        </p:spPr>
        <p:txBody>
          <a:bodyPr wrap="square" rtlCol="0">
            <a:spAutoFit/>
          </a:bodyPr>
          <a:lstStyle/>
          <a:p>
            <a:r>
              <a:rPr lang="en-US" dirty="0"/>
              <a:t>Sp. E</a:t>
            </a:r>
          </a:p>
        </p:txBody>
      </p:sp>
      <p:pic>
        <p:nvPicPr>
          <p:cNvPr id="41" name="Picture 40">
            <a:extLst>
              <a:ext uri="{FF2B5EF4-FFF2-40B4-BE49-F238E27FC236}">
                <a16:creationId xmlns:a16="http://schemas.microsoft.com/office/drawing/2014/main" id="{EE2E7FEF-4A36-C76E-C360-D0F27E3AB56D}"/>
              </a:ext>
            </a:extLst>
          </p:cNvPr>
          <p:cNvPicPr>
            <a:picLocks noChangeAspect="1"/>
          </p:cNvPicPr>
          <p:nvPr/>
        </p:nvPicPr>
        <p:blipFill>
          <a:blip r:embed="rId8"/>
          <a:stretch>
            <a:fillRect/>
          </a:stretch>
        </p:blipFill>
        <p:spPr>
          <a:xfrm>
            <a:off x="9766983" y="5275390"/>
            <a:ext cx="1300411" cy="1288056"/>
          </a:xfrm>
          <a:prstGeom prst="rect">
            <a:avLst/>
          </a:prstGeom>
        </p:spPr>
      </p:pic>
      <p:sp>
        <p:nvSpPr>
          <p:cNvPr id="43" name="TextBox 42">
            <a:extLst>
              <a:ext uri="{FF2B5EF4-FFF2-40B4-BE49-F238E27FC236}">
                <a16:creationId xmlns:a16="http://schemas.microsoft.com/office/drawing/2014/main" id="{E15470AB-4F9B-8E06-9138-C5F8177A09CF}"/>
              </a:ext>
            </a:extLst>
          </p:cNvPr>
          <p:cNvSpPr txBox="1"/>
          <p:nvPr/>
        </p:nvSpPr>
        <p:spPr>
          <a:xfrm>
            <a:off x="10064570" y="4966281"/>
            <a:ext cx="657803" cy="369332"/>
          </a:xfrm>
          <a:prstGeom prst="rect">
            <a:avLst/>
          </a:prstGeom>
          <a:noFill/>
        </p:spPr>
        <p:txBody>
          <a:bodyPr wrap="square" rtlCol="0">
            <a:spAutoFit/>
          </a:bodyPr>
          <a:lstStyle/>
          <a:p>
            <a:r>
              <a:rPr lang="en-US" dirty="0"/>
              <a:t>Sp. F</a:t>
            </a:r>
          </a:p>
        </p:txBody>
      </p:sp>
      <p:pic>
        <p:nvPicPr>
          <p:cNvPr id="47" name="Picture 46">
            <a:extLst>
              <a:ext uri="{FF2B5EF4-FFF2-40B4-BE49-F238E27FC236}">
                <a16:creationId xmlns:a16="http://schemas.microsoft.com/office/drawing/2014/main" id="{B2429011-64DB-2222-D556-6BFBB2F091C3}"/>
              </a:ext>
            </a:extLst>
          </p:cNvPr>
          <p:cNvPicPr>
            <a:picLocks noChangeAspect="1"/>
          </p:cNvPicPr>
          <p:nvPr/>
        </p:nvPicPr>
        <p:blipFill>
          <a:blip r:embed="rId9"/>
          <a:stretch>
            <a:fillRect/>
          </a:stretch>
        </p:blipFill>
        <p:spPr>
          <a:xfrm>
            <a:off x="4835460" y="2305978"/>
            <a:ext cx="1242569" cy="1242569"/>
          </a:xfrm>
          <a:prstGeom prst="rect">
            <a:avLst/>
          </a:prstGeom>
        </p:spPr>
      </p:pic>
    </p:spTree>
    <p:extLst>
      <p:ext uri="{BB962C8B-B14F-4D97-AF65-F5344CB8AC3E}">
        <p14:creationId xmlns:p14="http://schemas.microsoft.com/office/powerpoint/2010/main" val="413389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2E44F-6008-C295-CF79-0EF4E401F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BDFDD-A201-7EF6-6BEE-CAB553275EF2}"/>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F701DB4A-020F-E65B-266A-2C9CDC68E370}"/>
              </a:ext>
            </a:extLst>
          </p:cNvPr>
          <p:cNvSpPr txBox="1"/>
          <p:nvPr/>
        </p:nvSpPr>
        <p:spPr>
          <a:xfrm>
            <a:off x="136044" y="1369719"/>
            <a:ext cx="4724400" cy="954107"/>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Species Richness (SR)</a:t>
            </a:r>
          </a:p>
        </p:txBody>
      </p:sp>
      <p:pic>
        <p:nvPicPr>
          <p:cNvPr id="4" name="Picture 3">
            <a:extLst>
              <a:ext uri="{FF2B5EF4-FFF2-40B4-BE49-F238E27FC236}">
                <a16:creationId xmlns:a16="http://schemas.microsoft.com/office/drawing/2014/main" id="{40EB1482-3793-3BE2-7C08-C436549A5F9A}"/>
              </a:ext>
            </a:extLst>
          </p:cNvPr>
          <p:cNvPicPr>
            <a:picLocks noChangeAspect="1"/>
          </p:cNvPicPr>
          <p:nvPr/>
        </p:nvPicPr>
        <p:blipFill>
          <a:blip r:embed="rId2"/>
          <a:stretch>
            <a:fillRect/>
          </a:stretch>
        </p:blipFill>
        <p:spPr>
          <a:xfrm>
            <a:off x="7043715" y="2273520"/>
            <a:ext cx="2673487" cy="2724290"/>
          </a:xfrm>
          <a:prstGeom prst="rect">
            <a:avLst/>
          </a:prstGeom>
        </p:spPr>
      </p:pic>
      <p:sp>
        <p:nvSpPr>
          <p:cNvPr id="7" name="TextBox 6">
            <a:extLst>
              <a:ext uri="{FF2B5EF4-FFF2-40B4-BE49-F238E27FC236}">
                <a16:creationId xmlns:a16="http://schemas.microsoft.com/office/drawing/2014/main" id="{178381E8-7990-4173-6910-7486A6CC6C55}"/>
              </a:ext>
            </a:extLst>
          </p:cNvPr>
          <p:cNvSpPr txBox="1"/>
          <p:nvPr/>
        </p:nvSpPr>
        <p:spPr>
          <a:xfrm>
            <a:off x="130708" y="3120919"/>
            <a:ext cx="4724400" cy="2246769"/>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	</a:t>
            </a:r>
            <a:r>
              <a:rPr lang="en-US" sz="2400" dirty="0"/>
              <a:t>Yellow = Presence</a:t>
            </a:r>
          </a:p>
          <a:p>
            <a:pPr lvl="1"/>
            <a:r>
              <a:rPr lang="en-US" sz="2400" dirty="0"/>
              <a:t>	Purple = Absence</a:t>
            </a:r>
          </a:p>
        </p:txBody>
      </p:sp>
      <p:pic>
        <p:nvPicPr>
          <p:cNvPr id="9" name="Picture 8">
            <a:extLst>
              <a:ext uri="{FF2B5EF4-FFF2-40B4-BE49-F238E27FC236}">
                <a16:creationId xmlns:a16="http://schemas.microsoft.com/office/drawing/2014/main" id="{DB6F625F-F32F-9811-AD80-5AD0D7D47756}"/>
              </a:ext>
            </a:extLst>
          </p:cNvPr>
          <p:cNvPicPr>
            <a:picLocks noChangeAspect="1"/>
          </p:cNvPicPr>
          <p:nvPr/>
        </p:nvPicPr>
        <p:blipFill>
          <a:blip r:embed="rId3"/>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9BEDD98D-509D-84BD-12A5-B85DE3E2C60E}"/>
              </a:ext>
            </a:extLst>
          </p:cNvPr>
          <p:cNvSpPr txBox="1"/>
          <p:nvPr/>
        </p:nvSpPr>
        <p:spPr>
          <a:xfrm>
            <a:off x="5130432" y="1907000"/>
            <a:ext cx="690362" cy="369332"/>
          </a:xfrm>
          <a:prstGeom prst="rect">
            <a:avLst/>
          </a:prstGeom>
          <a:noFill/>
        </p:spPr>
        <p:txBody>
          <a:bodyPr wrap="square" rtlCol="0">
            <a:spAutoFit/>
          </a:bodyPr>
          <a:lstStyle/>
          <a:p>
            <a:r>
              <a:rPr lang="en-US" dirty="0"/>
              <a:t>Sp. A </a:t>
            </a:r>
          </a:p>
        </p:txBody>
      </p:sp>
      <p:pic>
        <p:nvPicPr>
          <p:cNvPr id="12" name="Picture 11">
            <a:extLst>
              <a:ext uri="{FF2B5EF4-FFF2-40B4-BE49-F238E27FC236}">
                <a16:creationId xmlns:a16="http://schemas.microsoft.com/office/drawing/2014/main" id="{48757FF0-B38D-CA85-D2C5-61CFEF45FBAF}"/>
              </a:ext>
            </a:extLst>
          </p:cNvPr>
          <p:cNvPicPr>
            <a:picLocks noChangeAspect="1"/>
          </p:cNvPicPr>
          <p:nvPr/>
        </p:nvPicPr>
        <p:blipFill>
          <a:blip r:embed="rId4"/>
          <a:stretch>
            <a:fillRect/>
          </a:stretch>
        </p:blipFill>
        <p:spPr>
          <a:xfrm>
            <a:off x="4755563" y="3740510"/>
            <a:ext cx="1441524" cy="1362145"/>
          </a:xfrm>
          <a:prstGeom prst="rect">
            <a:avLst/>
          </a:prstGeom>
        </p:spPr>
      </p:pic>
      <p:sp>
        <p:nvSpPr>
          <p:cNvPr id="18" name="TextBox 17">
            <a:extLst>
              <a:ext uri="{FF2B5EF4-FFF2-40B4-BE49-F238E27FC236}">
                <a16:creationId xmlns:a16="http://schemas.microsoft.com/office/drawing/2014/main" id="{660FDAF4-14A8-2198-FA37-EC6A68B39D4E}"/>
              </a:ext>
            </a:extLst>
          </p:cNvPr>
          <p:cNvSpPr txBox="1"/>
          <p:nvPr/>
        </p:nvSpPr>
        <p:spPr>
          <a:xfrm>
            <a:off x="5125608" y="3453598"/>
            <a:ext cx="690362" cy="369332"/>
          </a:xfrm>
          <a:prstGeom prst="rect">
            <a:avLst/>
          </a:prstGeom>
          <a:noFill/>
        </p:spPr>
        <p:txBody>
          <a:bodyPr wrap="square" rtlCol="0">
            <a:spAutoFit/>
          </a:bodyPr>
          <a:lstStyle/>
          <a:p>
            <a:r>
              <a:rPr lang="en-US" dirty="0"/>
              <a:t>Sp. B </a:t>
            </a:r>
          </a:p>
        </p:txBody>
      </p:sp>
      <p:pic>
        <p:nvPicPr>
          <p:cNvPr id="21" name="Picture 20">
            <a:extLst>
              <a:ext uri="{FF2B5EF4-FFF2-40B4-BE49-F238E27FC236}">
                <a16:creationId xmlns:a16="http://schemas.microsoft.com/office/drawing/2014/main" id="{2A6FE892-E3A3-4E63-EE36-908CBC97B365}"/>
              </a:ext>
            </a:extLst>
          </p:cNvPr>
          <p:cNvPicPr>
            <a:picLocks noChangeAspect="1"/>
          </p:cNvPicPr>
          <p:nvPr/>
        </p:nvPicPr>
        <p:blipFill>
          <a:blip r:embed="rId5"/>
          <a:stretch>
            <a:fillRect/>
          </a:stretch>
        </p:blipFill>
        <p:spPr>
          <a:xfrm>
            <a:off x="4821165" y="5289305"/>
            <a:ext cx="1299247" cy="1274141"/>
          </a:xfrm>
          <a:prstGeom prst="rect">
            <a:avLst/>
          </a:prstGeom>
        </p:spPr>
      </p:pic>
      <p:sp>
        <p:nvSpPr>
          <p:cNvPr id="23" name="TextBox 22">
            <a:extLst>
              <a:ext uri="{FF2B5EF4-FFF2-40B4-BE49-F238E27FC236}">
                <a16:creationId xmlns:a16="http://schemas.microsoft.com/office/drawing/2014/main" id="{918CAAA7-93E2-5F19-6D9D-C7A3D73CB893}"/>
              </a:ext>
            </a:extLst>
          </p:cNvPr>
          <p:cNvSpPr txBox="1"/>
          <p:nvPr/>
        </p:nvSpPr>
        <p:spPr>
          <a:xfrm>
            <a:off x="5125608" y="4997810"/>
            <a:ext cx="690362" cy="369332"/>
          </a:xfrm>
          <a:prstGeom prst="rect">
            <a:avLst/>
          </a:prstGeom>
          <a:noFill/>
        </p:spPr>
        <p:txBody>
          <a:bodyPr wrap="square" rtlCol="0">
            <a:spAutoFit/>
          </a:bodyPr>
          <a:lstStyle/>
          <a:p>
            <a:r>
              <a:rPr lang="en-US" dirty="0"/>
              <a:t>Sp. C </a:t>
            </a:r>
          </a:p>
        </p:txBody>
      </p:sp>
      <p:pic>
        <p:nvPicPr>
          <p:cNvPr id="25" name="Picture 24">
            <a:extLst>
              <a:ext uri="{FF2B5EF4-FFF2-40B4-BE49-F238E27FC236}">
                <a16:creationId xmlns:a16="http://schemas.microsoft.com/office/drawing/2014/main" id="{775720B2-14DA-1A07-342F-F2BBC8578108}"/>
              </a:ext>
            </a:extLst>
          </p:cNvPr>
          <p:cNvPicPr>
            <a:picLocks noChangeAspect="1"/>
          </p:cNvPicPr>
          <p:nvPr/>
        </p:nvPicPr>
        <p:blipFill>
          <a:blip r:embed="rId6"/>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36BCD9AF-2A3D-21AC-603C-A21247977DB0}"/>
              </a:ext>
            </a:extLst>
          </p:cNvPr>
          <p:cNvPicPr>
            <a:picLocks noChangeAspect="1"/>
          </p:cNvPicPr>
          <p:nvPr/>
        </p:nvPicPr>
        <p:blipFill>
          <a:blip r:embed="rId7"/>
          <a:stretch>
            <a:fillRect/>
          </a:stretch>
        </p:blipFill>
        <p:spPr>
          <a:xfrm>
            <a:off x="8160477" y="5273389"/>
            <a:ext cx="1239081" cy="1257855"/>
          </a:xfrm>
          <a:prstGeom prst="rect">
            <a:avLst/>
          </a:prstGeom>
        </p:spPr>
      </p:pic>
      <p:sp>
        <p:nvSpPr>
          <p:cNvPr id="31" name="TextBox 30">
            <a:extLst>
              <a:ext uri="{FF2B5EF4-FFF2-40B4-BE49-F238E27FC236}">
                <a16:creationId xmlns:a16="http://schemas.microsoft.com/office/drawing/2014/main" id="{3702E088-16E2-0C3B-0574-BF903F138F31}"/>
              </a:ext>
            </a:extLst>
          </p:cNvPr>
          <p:cNvSpPr txBox="1"/>
          <p:nvPr/>
        </p:nvSpPr>
        <p:spPr>
          <a:xfrm>
            <a:off x="8437311" y="4952870"/>
            <a:ext cx="657803" cy="369332"/>
          </a:xfrm>
          <a:prstGeom prst="rect">
            <a:avLst/>
          </a:prstGeom>
          <a:noFill/>
        </p:spPr>
        <p:txBody>
          <a:bodyPr wrap="square" rtlCol="0">
            <a:spAutoFit/>
          </a:bodyPr>
          <a:lstStyle/>
          <a:p>
            <a:r>
              <a:rPr lang="en-US" dirty="0"/>
              <a:t>Sp. E</a:t>
            </a:r>
          </a:p>
        </p:txBody>
      </p:sp>
      <p:pic>
        <p:nvPicPr>
          <p:cNvPr id="41" name="Picture 40">
            <a:extLst>
              <a:ext uri="{FF2B5EF4-FFF2-40B4-BE49-F238E27FC236}">
                <a16:creationId xmlns:a16="http://schemas.microsoft.com/office/drawing/2014/main" id="{6C4E90B1-ACCA-B574-F0C4-05DD83956731}"/>
              </a:ext>
            </a:extLst>
          </p:cNvPr>
          <p:cNvPicPr>
            <a:picLocks noChangeAspect="1"/>
          </p:cNvPicPr>
          <p:nvPr/>
        </p:nvPicPr>
        <p:blipFill>
          <a:blip r:embed="rId8"/>
          <a:stretch>
            <a:fillRect/>
          </a:stretch>
        </p:blipFill>
        <p:spPr>
          <a:xfrm>
            <a:off x="9766983" y="5275390"/>
            <a:ext cx="1300411" cy="1288056"/>
          </a:xfrm>
          <a:prstGeom prst="rect">
            <a:avLst/>
          </a:prstGeom>
        </p:spPr>
      </p:pic>
      <p:sp>
        <p:nvSpPr>
          <p:cNvPr id="43" name="TextBox 42">
            <a:extLst>
              <a:ext uri="{FF2B5EF4-FFF2-40B4-BE49-F238E27FC236}">
                <a16:creationId xmlns:a16="http://schemas.microsoft.com/office/drawing/2014/main" id="{FB237359-442F-A5C6-832A-C6FBE52E01B6}"/>
              </a:ext>
            </a:extLst>
          </p:cNvPr>
          <p:cNvSpPr txBox="1"/>
          <p:nvPr/>
        </p:nvSpPr>
        <p:spPr>
          <a:xfrm>
            <a:off x="10064570" y="4966281"/>
            <a:ext cx="657803" cy="369332"/>
          </a:xfrm>
          <a:prstGeom prst="rect">
            <a:avLst/>
          </a:prstGeom>
          <a:noFill/>
        </p:spPr>
        <p:txBody>
          <a:bodyPr wrap="square" rtlCol="0">
            <a:spAutoFit/>
          </a:bodyPr>
          <a:lstStyle/>
          <a:p>
            <a:r>
              <a:rPr lang="en-US" dirty="0"/>
              <a:t>Sp. F</a:t>
            </a:r>
          </a:p>
        </p:txBody>
      </p:sp>
      <p:pic>
        <p:nvPicPr>
          <p:cNvPr id="5" name="Picture 4">
            <a:extLst>
              <a:ext uri="{FF2B5EF4-FFF2-40B4-BE49-F238E27FC236}">
                <a16:creationId xmlns:a16="http://schemas.microsoft.com/office/drawing/2014/main" id="{B744E9C5-F75E-4F47-A399-10257756168A}"/>
              </a:ext>
            </a:extLst>
          </p:cNvPr>
          <p:cNvPicPr>
            <a:picLocks noChangeAspect="1"/>
          </p:cNvPicPr>
          <p:nvPr/>
        </p:nvPicPr>
        <p:blipFill>
          <a:blip r:embed="rId9"/>
          <a:stretch>
            <a:fillRect/>
          </a:stretch>
        </p:blipFill>
        <p:spPr>
          <a:xfrm>
            <a:off x="9884912" y="2490267"/>
            <a:ext cx="1022425" cy="1869579"/>
          </a:xfrm>
          <a:prstGeom prst="rect">
            <a:avLst/>
          </a:prstGeom>
        </p:spPr>
      </p:pic>
      <p:sp>
        <p:nvSpPr>
          <p:cNvPr id="14" name="TextBox 13">
            <a:extLst>
              <a:ext uri="{FF2B5EF4-FFF2-40B4-BE49-F238E27FC236}">
                <a16:creationId xmlns:a16="http://schemas.microsoft.com/office/drawing/2014/main" id="{ECAEF1CE-8637-9939-589A-8FB83EF3977B}"/>
              </a:ext>
            </a:extLst>
          </p:cNvPr>
          <p:cNvSpPr txBox="1"/>
          <p:nvPr/>
        </p:nvSpPr>
        <p:spPr>
          <a:xfrm>
            <a:off x="6782610" y="4966281"/>
            <a:ext cx="769076" cy="369332"/>
          </a:xfrm>
          <a:prstGeom prst="rect">
            <a:avLst/>
          </a:prstGeom>
          <a:noFill/>
        </p:spPr>
        <p:txBody>
          <a:bodyPr wrap="square" rtlCol="0">
            <a:spAutoFit/>
          </a:bodyPr>
          <a:lstStyle/>
          <a:p>
            <a:r>
              <a:rPr lang="en-US" dirty="0"/>
              <a:t>Sp. D</a:t>
            </a:r>
          </a:p>
        </p:txBody>
      </p:sp>
      <p:sp>
        <p:nvSpPr>
          <p:cNvPr id="16" name="TextBox 15">
            <a:extLst>
              <a:ext uri="{FF2B5EF4-FFF2-40B4-BE49-F238E27FC236}">
                <a16:creationId xmlns:a16="http://schemas.microsoft.com/office/drawing/2014/main" id="{A77BEC9F-60DC-5D47-4B7D-50A6DA8F1E62}"/>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04FC61B1-CC39-2A59-6454-489D3FF7356D}"/>
              </a:ext>
            </a:extLst>
          </p:cNvPr>
          <p:cNvPicPr>
            <a:picLocks noChangeAspect="1"/>
          </p:cNvPicPr>
          <p:nvPr/>
        </p:nvPicPr>
        <p:blipFill>
          <a:blip r:embed="rId10"/>
          <a:stretch>
            <a:fillRect/>
          </a:stretch>
        </p:blipFill>
        <p:spPr>
          <a:xfrm>
            <a:off x="4835460" y="2305978"/>
            <a:ext cx="1242569" cy="1242569"/>
          </a:xfrm>
          <a:prstGeom prst="rect">
            <a:avLst/>
          </a:prstGeom>
        </p:spPr>
      </p:pic>
      <p:pic>
        <p:nvPicPr>
          <p:cNvPr id="24" name="Picture 23">
            <a:extLst>
              <a:ext uri="{FF2B5EF4-FFF2-40B4-BE49-F238E27FC236}">
                <a16:creationId xmlns:a16="http://schemas.microsoft.com/office/drawing/2014/main" id="{3DBEAEE4-727F-C06A-D93E-D5F13126DA43}"/>
              </a:ext>
            </a:extLst>
          </p:cNvPr>
          <p:cNvPicPr>
            <a:picLocks noChangeAspect="1"/>
          </p:cNvPicPr>
          <p:nvPr/>
        </p:nvPicPr>
        <p:blipFill>
          <a:blip r:embed="rId11"/>
          <a:stretch>
            <a:fillRect/>
          </a:stretch>
        </p:blipFill>
        <p:spPr>
          <a:xfrm>
            <a:off x="7141106" y="2384650"/>
            <a:ext cx="2533780" cy="2502029"/>
          </a:xfrm>
          <a:prstGeom prst="rect">
            <a:avLst/>
          </a:prstGeom>
        </p:spPr>
      </p:pic>
    </p:spTree>
    <p:extLst>
      <p:ext uri="{BB962C8B-B14F-4D97-AF65-F5344CB8AC3E}">
        <p14:creationId xmlns:p14="http://schemas.microsoft.com/office/powerpoint/2010/main" val="394566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BF07-F66F-B67C-5DD7-06955EB71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6E7C9-EFC1-A1FD-0C63-4CBD01C36613}"/>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B17AC645-A820-35D4-0E42-670DEAA404DD}"/>
              </a:ext>
            </a:extLst>
          </p:cNvPr>
          <p:cNvSpPr txBox="1"/>
          <p:nvPr/>
        </p:nvSpPr>
        <p:spPr>
          <a:xfrm>
            <a:off x="136044" y="1369719"/>
            <a:ext cx="4724400" cy="954107"/>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Species Richness (SR)</a:t>
            </a:r>
          </a:p>
        </p:txBody>
      </p:sp>
      <p:pic>
        <p:nvPicPr>
          <p:cNvPr id="4" name="Picture 3">
            <a:extLst>
              <a:ext uri="{FF2B5EF4-FFF2-40B4-BE49-F238E27FC236}">
                <a16:creationId xmlns:a16="http://schemas.microsoft.com/office/drawing/2014/main" id="{0611AC17-2E8B-E341-B4D1-D76A0AF89B9A}"/>
              </a:ext>
            </a:extLst>
          </p:cNvPr>
          <p:cNvPicPr>
            <a:picLocks noChangeAspect="1"/>
          </p:cNvPicPr>
          <p:nvPr/>
        </p:nvPicPr>
        <p:blipFill>
          <a:blip r:embed="rId2"/>
          <a:stretch>
            <a:fillRect/>
          </a:stretch>
        </p:blipFill>
        <p:spPr>
          <a:xfrm>
            <a:off x="7043715" y="2273520"/>
            <a:ext cx="2673487" cy="2724290"/>
          </a:xfrm>
          <a:prstGeom prst="rect">
            <a:avLst/>
          </a:prstGeom>
        </p:spPr>
      </p:pic>
      <p:sp>
        <p:nvSpPr>
          <p:cNvPr id="7" name="TextBox 6">
            <a:extLst>
              <a:ext uri="{FF2B5EF4-FFF2-40B4-BE49-F238E27FC236}">
                <a16:creationId xmlns:a16="http://schemas.microsoft.com/office/drawing/2014/main" id="{30D8FC83-38D1-B2A8-4195-6F0D392BF450}"/>
              </a:ext>
            </a:extLst>
          </p:cNvPr>
          <p:cNvSpPr txBox="1"/>
          <p:nvPr/>
        </p:nvSpPr>
        <p:spPr>
          <a:xfrm>
            <a:off x="130708" y="3120919"/>
            <a:ext cx="4724400" cy="2246769"/>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	</a:t>
            </a:r>
            <a:r>
              <a:rPr lang="en-US" sz="2400" dirty="0"/>
              <a:t>Yellow = Presence</a:t>
            </a:r>
          </a:p>
          <a:p>
            <a:pPr lvl="1"/>
            <a:r>
              <a:rPr lang="en-US" sz="2400" dirty="0"/>
              <a:t>	Purple = Absence</a:t>
            </a:r>
          </a:p>
        </p:txBody>
      </p:sp>
      <p:pic>
        <p:nvPicPr>
          <p:cNvPr id="9" name="Picture 8">
            <a:extLst>
              <a:ext uri="{FF2B5EF4-FFF2-40B4-BE49-F238E27FC236}">
                <a16:creationId xmlns:a16="http://schemas.microsoft.com/office/drawing/2014/main" id="{CC592F05-9D8F-B6A2-DA37-CB7A0B26BA0B}"/>
              </a:ext>
            </a:extLst>
          </p:cNvPr>
          <p:cNvPicPr>
            <a:picLocks noChangeAspect="1"/>
          </p:cNvPicPr>
          <p:nvPr/>
        </p:nvPicPr>
        <p:blipFill>
          <a:blip r:embed="rId3"/>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053EBC9C-D893-E0FB-DC2D-F50D1AAF5BEF}"/>
              </a:ext>
            </a:extLst>
          </p:cNvPr>
          <p:cNvSpPr txBox="1"/>
          <p:nvPr/>
        </p:nvSpPr>
        <p:spPr>
          <a:xfrm>
            <a:off x="5130432" y="1907000"/>
            <a:ext cx="690362" cy="369332"/>
          </a:xfrm>
          <a:prstGeom prst="rect">
            <a:avLst/>
          </a:prstGeom>
          <a:noFill/>
        </p:spPr>
        <p:txBody>
          <a:bodyPr wrap="square" rtlCol="0">
            <a:spAutoFit/>
          </a:bodyPr>
          <a:lstStyle/>
          <a:p>
            <a:r>
              <a:rPr lang="en-US" dirty="0"/>
              <a:t>Sp. A </a:t>
            </a:r>
          </a:p>
        </p:txBody>
      </p:sp>
      <p:pic>
        <p:nvPicPr>
          <p:cNvPr id="12" name="Picture 11">
            <a:extLst>
              <a:ext uri="{FF2B5EF4-FFF2-40B4-BE49-F238E27FC236}">
                <a16:creationId xmlns:a16="http://schemas.microsoft.com/office/drawing/2014/main" id="{52805919-2D13-9E60-BE30-409A6592D7E4}"/>
              </a:ext>
            </a:extLst>
          </p:cNvPr>
          <p:cNvPicPr>
            <a:picLocks noChangeAspect="1"/>
          </p:cNvPicPr>
          <p:nvPr/>
        </p:nvPicPr>
        <p:blipFill>
          <a:blip r:embed="rId4"/>
          <a:stretch>
            <a:fillRect/>
          </a:stretch>
        </p:blipFill>
        <p:spPr>
          <a:xfrm>
            <a:off x="4755563" y="3740510"/>
            <a:ext cx="1441524" cy="1362145"/>
          </a:xfrm>
          <a:prstGeom prst="rect">
            <a:avLst/>
          </a:prstGeom>
        </p:spPr>
      </p:pic>
      <p:sp>
        <p:nvSpPr>
          <p:cNvPr id="18" name="TextBox 17">
            <a:extLst>
              <a:ext uri="{FF2B5EF4-FFF2-40B4-BE49-F238E27FC236}">
                <a16:creationId xmlns:a16="http://schemas.microsoft.com/office/drawing/2014/main" id="{64F300F1-8238-AB7B-EA50-486DCD4B778F}"/>
              </a:ext>
            </a:extLst>
          </p:cNvPr>
          <p:cNvSpPr txBox="1"/>
          <p:nvPr/>
        </p:nvSpPr>
        <p:spPr>
          <a:xfrm>
            <a:off x="5125608" y="3453598"/>
            <a:ext cx="690362" cy="369332"/>
          </a:xfrm>
          <a:prstGeom prst="rect">
            <a:avLst/>
          </a:prstGeom>
          <a:noFill/>
        </p:spPr>
        <p:txBody>
          <a:bodyPr wrap="square" rtlCol="0">
            <a:spAutoFit/>
          </a:bodyPr>
          <a:lstStyle/>
          <a:p>
            <a:r>
              <a:rPr lang="en-US" dirty="0"/>
              <a:t>Sp. B </a:t>
            </a:r>
          </a:p>
        </p:txBody>
      </p:sp>
      <p:pic>
        <p:nvPicPr>
          <p:cNvPr id="21" name="Picture 20">
            <a:extLst>
              <a:ext uri="{FF2B5EF4-FFF2-40B4-BE49-F238E27FC236}">
                <a16:creationId xmlns:a16="http://schemas.microsoft.com/office/drawing/2014/main" id="{61354594-0C07-CF08-BFF9-BED414005C03}"/>
              </a:ext>
            </a:extLst>
          </p:cNvPr>
          <p:cNvPicPr>
            <a:picLocks noChangeAspect="1"/>
          </p:cNvPicPr>
          <p:nvPr/>
        </p:nvPicPr>
        <p:blipFill>
          <a:blip r:embed="rId5"/>
          <a:stretch>
            <a:fillRect/>
          </a:stretch>
        </p:blipFill>
        <p:spPr>
          <a:xfrm>
            <a:off x="4821165" y="5289305"/>
            <a:ext cx="1299247" cy="1274141"/>
          </a:xfrm>
          <a:prstGeom prst="rect">
            <a:avLst/>
          </a:prstGeom>
        </p:spPr>
      </p:pic>
      <p:sp>
        <p:nvSpPr>
          <p:cNvPr id="23" name="TextBox 22">
            <a:extLst>
              <a:ext uri="{FF2B5EF4-FFF2-40B4-BE49-F238E27FC236}">
                <a16:creationId xmlns:a16="http://schemas.microsoft.com/office/drawing/2014/main" id="{270FF1B9-38A5-0320-B8D2-0AE7607F53CE}"/>
              </a:ext>
            </a:extLst>
          </p:cNvPr>
          <p:cNvSpPr txBox="1"/>
          <p:nvPr/>
        </p:nvSpPr>
        <p:spPr>
          <a:xfrm>
            <a:off x="5125608" y="4997810"/>
            <a:ext cx="690362" cy="369332"/>
          </a:xfrm>
          <a:prstGeom prst="rect">
            <a:avLst/>
          </a:prstGeom>
          <a:noFill/>
        </p:spPr>
        <p:txBody>
          <a:bodyPr wrap="square" rtlCol="0">
            <a:spAutoFit/>
          </a:bodyPr>
          <a:lstStyle/>
          <a:p>
            <a:r>
              <a:rPr lang="en-US" dirty="0"/>
              <a:t>Sp. C </a:t>
            </a:r>
          </a:p>
        </p:txBody>
      </p:sp>
      <p:pic>
        <p:nvPicPr>
          <p:cNvPr id="25" name="Picture 24">
            <a:extLst>
              <a:ext uri="{FF2B5EF4-FFF2-40B4-BE49-F238E27FC236}">
                <a16:creationId xmlns:a16="http://schemas.microsoft.com/office/drawing/2014/main" id="{6276366F-52BD-E8DF-9519-28E69E0D17AA}"/>
              </a:ext>
            </a:extLst>
          </p:cNvPr>
          <p:cNvPicPr>
            <a:picLocks noChangeAspect="1"/>
          </p:cNvPicPr>
          <p:nvPr/>
        </p:nvPicPr>
        <p:blipFill>
          <a:blip r:embed="rId6"/>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781AAE3B-FB46-CF88-5A2D-5B0387FAEF16}"/>
              </a:ext>
            </a:extLst>
          </p:cNvPr>
          <p:cNvPicPr>
            <a:picLocks noChangeAspect="1"/>
          </p:cNvPicPr>
          <p:nvPr/>
        </p:nvPicPr>
        <p:blipFill>
          <a:blip r:embed="rId7"/>
          <a:stretch>
            <a:fillRect/>
          </a:stretch>
        </p:blipFill>
        <p:spPr>
          <a:xfrm>
            <a:off x="8160477" y="5273389"/>
            <a:ext cx="1239081" cy="1257855"/>
          </a:xfrm>
          <a:prstGeom prst="rect">
            <a:avLst/>
          </a:prstGeom>
        </p:spPr>
      </p:pic>
      <p:sp>
        <p:nvSpPr>
          <p:cNvPr id="31" name="TextBox 30">
            <a:extLst>
              <a:ext uri="{FF2B5EF4-FFF2-40B4-BE49-F238E27FC236}">
                <a16:creationId xmlns:a16="http://schemas.microsoft.com/office/drawing/2014/main" id="{823AD48E-89A4-28AA-CEEB-7F71B73A3C8E}"/>
              </a:ext>
            </a:extLst>
          </p:cNvPr>
          <p:cNvSpPr txBox="1"/>
          <p:nvPr/>
        </p:nvSpPr>
        <p:spPr>
          <a:xfrm>
            <a:off x="8437311" y="4952870"/>
            <a:ext cx="657803" cy="369332"/>
          </a:xfrm>
          <a:prstGeom prst="rect">
            <a:avLst/>
          </a:prstGeom>
          <a:noFill/>
        </p:spPr>
        <p:txBody>
          <a:bodyPr wrap="square" rtlCol="0">
            <a:spAutoFit/>
          </a:bodyPr>
          <a:lstStyle/>
          <a:p>
            <a:r>
              <a:rPr lang="en-US" dirty="0"/>
              <a:t>Sp. E</a:t>
            </a:r>
          </a:p>
        </p:txBody>
      </p:sp>
      <p:pic>
        <p:nvPicPr>
          <p:cNvPr id="41" name="Picture 40">
            <a:extLst>
              <a:ext uri="{FF2B5EF4-FFF2-40B4-BE49-F238E27FC236}">
                <a16:creationId xmlns:a16="http://schemas.microsoft.com/office/drawing/2014/main" id="{7D33E856-A72A-ED8B-2A78-8C7D66404968}"/>
              </a:ext>
            </a:extLst>
          </p:cNvPr>
          <p:cNvPicPr>
            <a:picLocks noChangeAspect="1"/>
          </p:cNvPicPr>
          <p:nvPr/>
        </p:nvPicPr>
        <p:blipFill>
          <a:blip r:embed="rId8"/>
          <a:stretch>
            <a:fillRect/>
          </a:stretch>
        </p:blipFill>
        <p:spPr>
          <a:xfrm>
            <a:off x="9766983" y="5275390"/>
            <a:ext cx="1300411" cy="1288056"/>
          </a:xfrm>
          <a:prstGeom prst="rect">
            <a:avLst/>
          </a:prstGeom>
        </p:spPr>
      </p:pic>
      <p:sp>
        <p:nvSpPr>
          <p:cNvPr id="43" name="TextBox 42">
            <a:extLst>
              <a:ext uri="{FF2B5EF4-FFF2-40B4-BE49-F238E27FC236}">
                <a16:creationId xmlns:a16="http://schemas.microsoft.com/office/drawing/2014/main" id="{ABD5FCB6-5395-3FC6-CC79-2ADF7F1F987A}"/>
              </a:ext>
            </a:extLst>
          </p:cNvPr>
          <p:cNvSpPr txBox="1"/>
          <p:nvPr/>
        </p:nvSpPr>
        <p:spPr>
          <a:xfrm>
            <a:off x="10064570" y="4966281"/>
            <a:ext cx="657803" cy="369332"/>
          </a:xfrm>
          <a:prstGeom prst="rect">
            <a:avLst/>
          </a:prstGeom>
          <a:noFill/>
        </p:spPr>
        <p:txBody>
          <a:bodyPr wrap="square" rtlCol="0">
            <a:spAutoFit/>
          </a:bodyPr>
          <a:lstStyle/>
          <a:p>
            <a:r>
              <a:rPr lang="en-US" dirty="0"/>
              <a:t>Sp. F</a:t>
            </a:r>
          </a:p>
        </p:txBody>
      </p:sp>
      <p:pic>
        <p:nvPicPr>
          <p:cNvPr id="5" name="Picture 4">
            <a:extLst>
              <a:ext uri="{FF2B5EF4-FFF2-40B4-BE49-F238E27FC236}">
                <a16:creationId xmlns:a16="http://schemas.microsoft.com/office/drawing/2014/main" id="{5D1067B1-8233-34C8-A1A5-69CDAC35812D}"/>
              </a:ext>
            </a:extLst>
          </p:cNvPr>
          <p:cNvPicPr>
            <a:picLocks noChangeAspect="1"/>
          </p:cNvPicPr>
          <p:nvPr/>
        </p:nvPicPr>
        <p:blipFill>
          <a:blip r:embed="rId9"/>
          <a:stretch>
            <a:fillRect/>
          </a:stretch>
        </p:blipFill>
        <p:spPr>
          <a:xfrm>
            <a:off x="9884912" y="2490267"/>
            <a:ext cx="1022425" cy="1869579"/>
          </a:xfrm>
          <a:prstGeom prst="rect">
            <a:avLst/>
          </a:prstGeom>
        </p:spPr>
      </p:pic>
      <p:sp>
        <p:nvSpPr>
          <p:cNvPr id="14" name="TextBox 13">
            <a:extLst>
              <a:ext uri="{FF2B5EF4-FFF2-40B4-BE49-F238E27FC236}">
                <a16:creationId xmlns:a16="http://schemas.microsoft.com/office/drawing/2014/main" id="{2C72B462-E94A-C12D-27C9-7BDAC3BE73E8}"/>
              </a:ext>
            </a:extLst>
          </p:cNvPr>
          <p:cNvSpPr txBox="1"/>
          <p:nvPr/>
        </p:nvSpPr>
        <p:spPr>
          <a:xfrm>
            <a:off x="6782610" y="4966281"/>
            <a:ext cx="769076" cy="369332"/>
          </a:xfrm>
          <a:prstGeom prst="rect">
            <a:avLst/>
          </a:prstGeom>
          <a:noFill/>
        </p:spPr>
        <p:txBody>
          <a:bodyPr wrap="square" rtlCol="0">
            <a:spAutoFit/>
          </a:bodyPr>
          <a:lstStyle/>
          <a:p>
            <a:r>
              <a:rPr lang="en-US" dirty="0"/>
              <a:t>Sp. D</a:t>
            </a:r>
          </a:p>
        </p:txBody>
      </p:sp>
      <p:sp>
        <p:nvSpPr>
          <p:cNvPr id="16" name="TextBox 15">
            <a:extLst>
              <a:ext uri="{FF2B5EF4-FFF2-40B4-BE49-F238E27FC236}">
                <a16:creationId xmlns:a16="http://schemas.microsoft.com/office/drawing/2014/main" id="{852EFAF9-6758-CE47-7340-84979F628405}"/>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B597C4BA-B110-E191-C9B6-0C5A771CE21C}"/>
              </a:ext>
            </a:extLst>
          </p:cNvPr>
          <p:cNvPicPr>
            <a:picLocks noChangeAspect="1"/>
          </p:cNvPicPr>
          <p:nvPr/>
        </p:nvPicPr>
        <p:blipFill>
          <a:blip r:embed="rId10"/>
          <a:stretch>
            <a:fillRect/>
          </a:stretch>
        </p:blipFill>
        <p:spPr>
          <a:xfrm>
            <a:off x="4835460" y="2305978"/>
            <a:ext cx="1242569" cy="1242569"/>
          </a:xfrm>
          <a:prstGeom prst="rect">
            <a:avLst/>
          </a:prstGeom>
        </p:spPr>
      </p:pic>
      <p:pic>
        <p:nvPicPr>
          <p:cNvPr id="24" name="Picture 23">
            <a:extLst>
              <a:ext uri="{FF2B5EF4-FFF2-40B4-BE49-F238E27FC236}">
                <a16:creationId xmlns:a16="http://schemas.microsoft.com/office/drawing/2014/main" id="{1637D5BB-D1BE-5328-28FA-14E1AC795D02}"/>
              </a:ext>
            </a:extLst>
          </p:cNvPr>
          <p:cNvPicPr>
            <a:picLocks noChangeAspect="1"/>
          </p:cNvPicPr>
          <p:nvPr/>
        </p:nvPicPr>
        <p:blipFill>
          <a:blip r:embed="rId11"/>
          <a:stretch>
            <a:fillRect/>
          </a:stretch>
        </p:blipFill>
        <p:spPr>
          <a:xfrm>
            <a:off x="7141106" y="2384650"/>
            <a:ext cx="2533780" cy="2502029"/>
          </a:xfrm>
          <a:prstGeom prst="rect">
            <a:avLst/>
          </a:prstGeom>
        </p:spPr>
      </p:pic>
      <p:cxnSp>
        <p:nvCxnSpPr>
          <p:cNvPr id="33" name="Straight Arrow Connector 32">
            <a:extLst>
              <a:ext uri="{FF2B5EF4-FFF2-40B4-BE49-F238E27FC236}">
                <a16:creationId xmlns:a16="http://schemas.microsoft.com/office/drawing/2014/main" id="{B4D68402-E5B6-FC24-9E8B-C9D1DC461E82}"/>
              </a:ext>
            </a:extLst>
          </p:cNvPr>
          <p:cNvCxnSpPr>
            <a:cxnSpLocks/>
          </p:cNvCxnSpPr>
          <p:nvPr/>
        </p:nvCxnSpPr>
        <p:spPr>
          <a:xfrm flipH="1">
            <a:off x="8926286" y="2160829"/>
            <a:ext cx="1888897" cy="48878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7F218E05-1358-01AA-6495-4DD2535B1ADB}"/>
              </a:ext>
            </a:extLst>
          </p:cNvPr>
          <p:cNvCxnSpPr>
            <a:cxnSpLocks/>
          </p:cNvCxnSpPr>
          <p:nvPr/>
        </p:nvCxnSpPr>
        <p:spPr>
          <a:xfrm>
            <a:off x="6393485" y="1532266"/>
            <a:ext cx="980055" cy="111735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9" name="TextBox 38">
            <a:extLst>
              <a:ext uri="{FF2B5EF4-FFF2-40B4-BE49-F238E27FC236}">
                <a16:creationId xmlns:a16="http://schemas.microsoft.com/office/drawing/2014/main" id="{3CB0CD3F-7180-E19D-1036-CCF1C1FDAAB4}"/>
              </a:ext>
            </a:extLst>
          </p:cNvPr>
          <p:cNvSpPr txBox="1"/>
          <p:nvPr/>
        </p:nvSpPr>
        <p:spPr>
          <a:xfrm>
            <a:off x="10803831" y="1904188"/>
            <a:ext cx="1148619" cy="369332"/>
          </a:xfrm>
          <a:prstGeom prst="rect">
            <a:avLst/>
          </a:prstGeom>
          <a:noFill/>
        </p:spPr>
        <p:txBody>
          <a:bodyPr wrap="square" rtlCol="0">
            <a:spAutoFit/>
          </a:bodyPr>
          <a:lstStyle/>
          <a:p>
            <a:r>
              <a:rPr lang="en-US" b="1" dirty="0"/>
              <a:t>SR = 2</a:t>
            </a:r>
          </a:p>
        </p:txBody>
      </p:sp>
      <p:sp>
        <p:nvSpPr>
          <p:cNvPr id="42" name="TextBox 41">
            <a:extLst>
              <a:ext uri="{FF2B5EF4-FFF2-40B4-BE49-F238E27FC236}">
                <a16:creationId xmlns:a16="http://schemas.microsoft.com/office/drawing/2014/main" id="{B8D24B71-6496-DA9D-F81D-F49FD73DD26C}"/>
              </a:ext>
            </a:extLst>
          </p:cNvPr>
          <p:cNvSpPr txBox="1"/>
          <p:nvPr/>
        </p:nvSpPr>
        <p:spPr>
          <a:xfrm>
            <a:off x="5873412" y="1128612"/>
            <a:ext cx="1148619" cy="369332"/>
          </a:xfrm>
          <a:prstGeom prst="rect">
            <a:avLst/>
          </a:prstGeom>
          <a:noFill/>
        </p:spPr>
        <p:txBody>
          <a:bodyPr wrap="square" rtlCol="0">
            <a:spAutoFit/>
          </a:bodyPr>
          <a:lstStyle/>
          <a:p>
            <a:r>
              <a:rPr lang="en-US" b="1" dirty="0"/>
              <a:t>SR = 2</a:t>
            </a:r>
          </a:p>
        </p:txBody>
      </p:sp>
    </p:spTree>
    <p:extLst>
      <p:ext uri="{BB962C8B-B14F-4D97-AF65-F5344CB8AC3E}">
        <p14:creationId xmlns:p14="http://schemas.microsoft.com/office/powerpoint/2010/main" val="199379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79544-0C52-22B6-F1D6-B46883521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4759-F03A-1475-9341-07989F60E3C0}"/>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FA1FD00A-E830-D6D2-3BC4-51945B574A6C}"/>
              </a:ext>
            </a:extLst>
          </p:cNvPr>
          <p:cNvSpPr txBox="1"/>
          <p:nvPr/>
        </p:nvSpPr>
        <p:spPr>
          <a:xfrm>
            <a:off x="136044" y="1369719"/>
            <a:ext cx="4724400" cy="1384995"/>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Phylogenetic Diversity (PD)</a:t>
            </a:r>
          </a:p>
        </p:txBody>
      </p:sp>
      <p:pic>
        <p:nvPicPr>
          <p:cNvPr id="4" name="Picture 3">
            <a:extLst>
              <a:ext uri="{FF2B5EF4-FFF2-40B4-BE49-F238E27FC236}">
                <a16:creationId xmlns:a16="http://schemas.microsoft.com/office/drawing/2014/main" id="{B469BE90-EDDA-7D47-AE25-B982F17B972A}"/>
              </a:ext>
            </a:extLst>
          </p:cNvPr>
          <p:cNvPicPr>
            <a:picLocks noChangeAspect="1"/>
          </p:cNvPicPr>
          <p:nvPr/>
        </p:nvPicPr>
        <p:blipFill>
          <a:blip r:embed="rId3"/>
          <a:stretch>
            <a:fillRect/>
          </a:stretch>
        </p:blipFill>
        <p:spPr>
          <a:xfrm>
            <a:off x="7043715" y="2273520"/>
            <a:ext cx="2673487" cy="2724290"/>
          </a:xfrm>
          <a:prstGeom prst="rect">
            <a:avLst/>
          </a:prstGeom>
        </p:spPr>
      </p:pic>
      <p:sp>
        <p:nvSpPr>
          <p:cNvPr id="7" name="TextBox 6">
            <a:extLst>
              <a:ext uri="{FF2B5EF4-FFF2-40B4-BE49-F238E27FC236}">
                <a16:creationId xmlns:a16="http://schemas.microsoft.com/office/drawing/2014/main" id="{BB687274-1D00-6F2D-AF0F-7663AC8058B8}"/>
              </a:ext>
            </a:extLst>
          </p:cNvPr>
          <p:cNvSpPr txBox="1"/>
          <p:nvPr/>
        </p:nvSpPr>
        <p:spPr>
          <a:xfrm>
            <a:off x="111060" y="2782164"/>
            <a:ext cx="4724400" cy="2185214"/>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3. A phylogeny</a:t>
            </a:r>
          </a:p>
          <a:p>
            <a:pPr lvl="1"/>
            <a:endParaRPr lang="en-US" sz="2400" dirty="0"/>
          </a:p>
        </p:txBody>
      </p:sp>
      <p:pic>
        <p:nvPicPr>
          <p:cNvPr id="9" name="Picture 8">
            <a:extLst>
              <a:ext uri="{FF2B5EF4-FFF2-40B4-BE49-F238E27FC236}">
                <a16:creationId xmlns:a16="http://schemas.microsoft.com/office/drawing/2014/main" id="{ED58C96F-2391-19EA-369E-0EBE1C4F687C}"/>
              </a:ext>
            </a:extLst>
          </p:cNvPr>
          <p:cNvPicPr>
            <a:picLocks noChangeAspect="1"/>
          </p:cNvPicPr>
          <p:nvPr/>
        </p:nvPicPr>
        <p:blipFill>
          <a:blip r:embed="rId4"/>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E7AB470C-64A4-D276-F081-693154C36866}"/>
              </a:ext>
            </a:extLst>
          </p:cNvPr>
          <p:cNvSpPr txBox="1"/>
          <p:nvPr/>
        </p:nvSpPr>
        <p:spPr>
          <a:xfrm>
            <a:off x="5130432" y="1907000"/>
            <a:ext cx="690362" cy="369332"/>
          </a:xfrm>
          <a:prstGeom prst="rect">
            <a:avLst/>
          </a:prstGeom>
          <a:noFill/>
        </p:spPr>
        <p:txBody>
          <a:bodyPr wrap="square" rtlCol="0">
            <a:spAutoFit/>
          </a:bodyPr>
          <a:lstStyle/>
          <a:p>
            <a:r>
              <a:rPr lang="en-US" dirty="0"/>
              <a:t>Sp. A </a:t>
            </a:r>
          </a:p>
        </p:txBody>
      </p:sp>
      <p:pic>
        <p:nvPicPr>
          <p:cNvPr id="12" name="Picture 11">
            <a:extLst>
              <a:ext uri="{FF2B5EF4-FFF2-40B4-BE49-F238E27FC236}">
                <a16:creationId xmlns:a16="http://schemas.microsoft.com/office/drawing/2014/main" id="{603FB825-4AE1-E785-48CE-16314143C582}"/>
              </a:ext>
            </a:extLst>
          </p:cNvPr>
          <p:cNvPicPr>
            <a:picLocks noChangeAspect="1"/>
          </p:cNvPicPr>
          <p:nvPr/>
        </p:nvPicPr>
        <p:blipFill>
          <a:blip r:embed="rId5"/>
          <a:stretch>
            <a:fillRect/>
          </a:stretch>
        </p:blipFill>
        <p:spPr>
          <a:xfrm>
            <a:off x="4755563" y="3740510"/>
            <a:ext cx="1441524" cy="1362145"/>
          </a:xfrm>
          <a:prstGeom prst="rect">
            <a:avLst/>
          </a:prstGeom>
        </p:spPr>
      </p:pic>
      <p:sp>
        <p:nvSpPr>
          <p:cNvPr id="18" name="TextBox 17">
            <a:extLst>
              <a:ext uri="{FF2B5EF4-FFF2-40B4-BE49-F238E27FC236}">
                <a16:creationId xmlns:a16="http://schemas.microsoft.com/office/drawing/2014/main" id="{E989E374-1103-29A7-2BCE-0811D8501CCC}"/>
              </a:ext>
            </a:extLst>
          </p:cNvPr>
          <p:cNvSpPr txBox="1"/>
          <p:nvPr/>
        </p:nvSpPr>
        <p:spPr>
          <a:xfrm>
            <a:off x="5125608" y="3453598"/>
            <a:ext cx="690362" cy="369332"/>
          </a:xfrm>
          <a:prstGeom prst="rect">
            <a:avLst/>
          </a:prstGeom>
          <a:noFill/>
        </p:spPr>
        <p:txBody>
          <a:bodyPr wrap="square" rtlCol="0">
            <a:spAutoFit/>
          </a:bodyPr>
          <a:lstStyle/>
          <a:p>
            <a:r>
              <a:rPr lang="en-US" dirty="0"/>
              <a:t>Sp. B </a:t>
            </a:r>
          </a:p>
        </p:txBody>
      </p:sp>
      <p:pic>
        <p:nvPicPr>
          <p:cNvPr id="21" name="Picture 20">
            <a:extLst>
              <a:ext uri="{FF2B5EF4-FFF2-40B4-BE49-F238E27FC236}">
                <a16:creationId xmlns:a16="http://schemas.microsoft.com/office/drawing/2014/main" id="{5622CC15-39CD-2399-A806-384DA5C049DE}"/>
              </a:ext>
            </a:extLst>
          </p:cNvPr>
          <p:cNvPicPr>
            <a:picLocks noChangeAspect="1"/>
          </p:cNvPicPr>
          <p:nvPr/>
        </p:nvPicPr>
        <p:blipFill>
          <a:blip r:embed="rId6"/>
          <a:stretch>
            <a:fillRect/>
          </a:stretch>
        </p:blipFill>
        <p:spPr>
          <a:xfrm>
            <a:off x="4821165" y="5289305"/>
            <a:ext cx="1299247" cy="1274141"/>
          </a:xfrm>
          <a:prstGeom prst="rect">
            <a:avLst/>
          </a:prstGeom>
        </p:spPr>
      </p:pic>
      <p:sp>
        <p:nvSpPr>
          <p:cNvPr id="23" name="TextBox 22">
            <a:extLst>
              <a:ext uri="{FF2B5EF4-FFF2-40B4-BE49-F238E27FC236}">
                <a16:creationId xmlns:a16="http://schemas.microsoft.com/office/drawing/2014/main" id="{C7A70A85-A315-7346-A6E3-56135F936FF0}"/>
              </a:ext>
            </a:extLst>
          </p:cNvPr>
          <p:cNvSpPr txBox="1"/>
          <p:nvPr/>
        </p:nvSpPr>
        <p:spPr>
          <a:xfrm>
            <a:off x="5125608" y="4997810"/>
            <a:ext cx="690362" cy="369332"/>
          </a:xfrm>
          <a:prstGeom prst="rect">
            <a:avLst/>
          </a:prstGeom>
          <a:noFill/>
        </p:spPr>
        <p:txBody>
          <a:bodyPr wrap="square" rtlCol="0">
            <a:spAutoFit/>
          </a:bodyPr>
          <a:lstStyle/>
          <a:p>
            <a:r>
              <a:rPr lang="en-US" dirty="0"/>
              <a:t>Sp. C </a:t>
            </a:r>
          </a:p>
        </p:txBody>
      </p:sp>
      <p:pic>
        <p:nvPicPr>
          <p:cNvPr id="25" name="Picture 24">
            <a:extLst>
              <a:ext uri="{FF2B5EF4-FFF2-40B4-BE49-F238E27FC236}">
                <a16:creationId xmlns:a16="http://schemas.microsoft.com/office/drawing/2014/main" id="{035E2860-4B8A-12C6-625E-D2E63E34A322}"/>
              </a:ext>
            </a:extLst>
          </p:cNvPr>
          <p:cNvPicPr>
            <a:picLocks noChangeAspect="1"/>
          </p:cNvPicPr>
          <p:nvPr/>
        </p:nvPicPr>
        <p:blipFill>
          <a:blip r:embed="rId7"/>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119049EA-BEBB-E767-8C2F-8DD1CF5AEC43}"/>
              </a:ext>
            </a:extLst>
          </p:cNvPr>
          <p:cNvPicPr>
            <a:picLocks noChangeAspect="1"/>
          </p:cNvPicPr>
          <p:nvPr/>
        </p:nvPicPr>
        <p:blipFill>
          <a:blip r:embed="rId8"/>
          <a:stretch>
            <a:fillRect/>
          </a:stretch>
        </p:blipFill>
        <p:spPr>
          <a:xfrm>
            <a:off x="8160477" y="5273389"/>
            <a:ext cx="1239081" cy="1257855"/>
          </a:xfrm>
          <a:prstGeom prst="rect">
            <a:avLst/>
          </a:prstGeom>
        </p:spPr>
      </p:pic>
      <p:sp>
        <p:nvSpPr>
          <p:cNvPr id="31" name="TextBox 30">
            <a:extLst>
              <a:ext uri="{FF2B5EF4-FFF2-40B4-BE49-F238E27FC236}">
                <a16:creationId xmlns:a16="http://schemas.microsoft.com/office/drawing/2014/main" id="{3983594F-5061-B63B-A456-47386CFE7975}"/>
              </a:ext>
            </a:extLst>
          </p:cNvPr>
          <p:cNvSpPr txBox="1"/>
          <p:nvPr/>
        </p:nvSpPr>
        <p:spPr>
          <a:xfrm>
            <a:off x="8437311" y="4952870"/>
            <a:ext cx="657803" cy="369332"/>
          </a:xfrm>
          <a:prstGeom prst="rect">
            <a:avLst/>
          </a:prstGeom>
          <a:noFill/>
        </p:spPr>
        <p:txBody>
          <a:bodyPr wrap="square" rtlCol="0">
            <a:spAutoFit/>
          </a:bodyPr>
          <a:lstStyle/>
          <a:p>
            <a:r>
              <a:rPr lang="en-US" dirty="0"/>
              <a:t>Sp. E</a:t>
            </a:r>
          </a:p>
        </p:txBody>
      </p:sp>
      <p:pic>
        <p:nvPicPr>
          <p:cNvPr id="41" name="Picture 40">
            <a:extLst>
              <a:ext uri="{FF2B5EF4-FFF2-40B4-BE49-F238E27FC236}">
                <a16:creationId xmlns:a16="http://schemas.microsoft.com/office/drawing/2014/main" id="{B3918E2B-C1BD-232E-4312-CCECBEE05561}"/>
              </a:ext>
            </a:extLst>
          </p:cNvPr>
          <p:cNvPicPr>
            <a:picLocks noChangeAspect="1"/>
          </p:cNvPicPr>
          <p:nvPr/>
        </p:nvPicPr>
        <p:blipFill>
          <a:blip r:embed="rId9"/>
          <a:stretch>
            <a:fillRect/>
          </a:stretch>
        </p:blipFill>
        <p:spPr>
          <a:xfrm>
            <a:off x="9766983" y="5275390"/>
            <a:ext cx="1300411" cy="1288056"/>
          </a:xfrm>
          <a:prstGeom prst="rect">
            <a:avLst/>
          </a:prstGeom>
        </p:spPr>
      </p:pic>
      <p:sp>
        <p:nvSpPr>
          <p:cNvPr id="43" name="TextBox 42">
            <a:extLst>
              <a:ext uri="{FF2B5EF4-FFF2-40B4-BE49-F238E27FC236}">
                <a16:creationId xmlns:a16="http://schemas.microsoft.com/office/drawing/2014/main" id="{B331A7D3-B11E-F967-4326-3BEA85603B25}"/>
              </a:ext>
            </a:extLst>
          </p:cNvPr>
          <p:cNvSpPr txBox="1"/>
          <p:nvPr/>
        </p:nvSpPr>
        <p:spPr>
          <a:xfrm>
            <a:off x="10064570" y="4966281"/>
            <a:ext cx="657803" cy="369332"/>
          </a:xfrm>
          <a:prstGeom prst="rect">
            <a:avLst/>
          </a:prstGeom>
          <a:noFill/>
        </p:spPr>
        <p:txBody>
          <a:bodyPr wrap="square" rtlCol="0">
            <a:spAutoFit/>
          </a:bodyPr>
          <a:lstStyle/>
          <a:p>
            <a:r>
              <a:rPr lang="en-US" dirty="0"/>
              <a:t>Sp. F</a:t>
            </a:r>
          </a:p>
        </p:txBody>
      </p:sp>
      <p:sp>
        <p:nvSpPr>
          <p:cNvPr id="14" name="TextBox 13">
            <a:extLst>
              <a:ext uri="{FF2B5EF4-FFF2-40B4-BE49-F238E27FC236}">
                <a16:creationId xmlns:a16="http://schemas.microsoft.com/office/drawing/2014/main" id="{61B4E86C-25D1-0876-4232-5833E0CF24B5}"/>
              </a:ext>
            </a:extLst>
          </p:cNvPr>
          <p:cNvSpPr txBox="1"/>
          <p:nvPr/>
        </p:nvSpPr>
        <p:spPr>
          <a:xfrm>
            <a:off x="6782610" y="4966281"/>
            <a:ext cx="769076" cy="369332"/>
          </a:xfrm>
          <a:prstGeom prst="rect">
            <a:avLst/>
          </a:prstGeom>
          <a:noFill/>
        </p:spPr>
        <p:txBody>
          <a:bodyPr wrap="square" rtlCol="0">
            <a:spAutoFit/>
          </a:bodyPr>
          <a:lstStyle/>
          <a:p>
            <a:r>
              <a:rPr lang="en-US" dirty="0"/>
              <a:t>Sp. D</a:t>
            </a:r>
          </a:p>
        </p:txBody>
      </p:sp>
      <p:sp>
        <p:nvSpPr>
          <p:cNvPr id="16" name="TextBox 15">
            <a:extLst>
              <a:ext uri="{FF2B5EF4-FFF2-40B4-BE49-F238E27FC236}">
                <a16:creationId xmlns:a16="http://schemas.microsoft.com/office/drawing/2014/main" id="{42659F91-3D9B-8E28-8739-15EF759054C4}"/>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78968CCD-8B3A-27F4-D0DE-6BFCD6E1BD4F}"/>
              </a:ext>
            </a:extLst>
          </p:cNvPr>
          <p:cNvPicPr>
            <a:picLocks noChangeAspect="1"/>
          </p:cNvPicPr>
          <p:nvPr/>
        </p:nvPicPr>
        <p:blipFill>
          <a:blip r:embed="rId10"/>
          <a:stretch>
            <a:fillRect/>
          </a:stretch>
        </p:blipFill>
        <p:spPr>
          <a:xfrm>
            <a:off x="4835460" y="2305978"/>
            <a:ext cx="1242569" cy="1242569"/>
          </a:xfrm>
          <a:prstGeom prst="rect">
            <a:avLst/>
          </a:prstGeom>
        </p:spPr>
      </p:pic>
      <p:pic>
        <p:nvPicPr>
          <p:cNvPr id="15" name="Picture 14">
            <a:extLst>
              <a:ext uri="{FF2B5EF4-FFF2-40B4-BE49-F238E27FC236}">
                <a16:creationId xmlns:a16="http://schemas.microsoft.com/office/drawing/2014/main" id="{613D9243-0D9E-8502-4BEE-A61A9DC77038}"/>
              </a:ext>
            </a:extLst>
          </p:cNvPr>
          <p:cNvPicPr>
            <a:picLocks noChangeAspect="1"/>
          </p:cNvPicPr>
          <p:nvPr/>
        </p:nvPicPr>
        <p:blipFill>
          <a:blip r:embed="rId11"/>
          <a:stretch>
            <a:fillRect/>
          </a:stretch>
        </p:blipFill>
        <p:spPr>
          <a:xfrm>
            <a:off x="34546" y="4660787"/>
            <a:ext cx="4743694" cy="2197213"/>
          </a:xfrm>
          <a:prstGeom prst="rect">
            <a:avLst/>
          </a:prstGeom>
        </p:spPr>
      </p:pic>
      <p:pic>
        <p:nvPicPr>
          <p:cNvPr id="22" name="Picture 21">
            <a:extLst>
              <a:ext uri="{FF2B5EF4-FFF2-40B4-BE49-F238E27FC236}">
                <a16:creationId xmlns:a16="http://schemas.microsoft.com/office/drawing/2014/main" id="{3E10CCA7-3509-91C5-0DF7-2CA496A4137B}"/>
              </a:ext>
            </a:extLst>
          </p:cNvPr>
          <p:cNvPicPr>
            <a:picLocks noChangeAspect="1"/>
          </p:cNvPicPr>
          <p:nvPr/>
        </p:nvPicPr>
        <p:blipFill>
          <a:blip r:embed="rId12"/>
          <a:stretch>
            <a:fillRect/>
          </a:stretch>
        </p:blipFill>
        <p:spPr>
          <a:xfrm>
            <a:off x="9814593" y="2500371"/>
            <a:ext cx="749237" cy="2096351"/>
          </a:xfrm>
          <a:prstGeom prst="rect">
            <a:avLst/>
          </a:prstGeom>
        </p:spPr>
      </p:pic>
      <p:pic>
        <p:nvPicPr>
          <p:cNvPr id="27" name="Picture 26">
            <a:extLst>
              <a:ext uri="{FF2B5EF4-FFF2-40B4-BE49-F238E27FC236}">
                <a16:creationId xmlns:a16="http://schemas.microsoft.com/office/drawing/2014/main" id="{72A31126-8BD0-C663-AF4F-DAB8C2A27641}"/>
              </a:ext>
            </a:extLst>
          </p:cNvPr>
          <p:cNvPicPr>
            <a:picLocks noChangeAspect="1"/>
          </p:cNvPicPr>
          <p:nvPr/>
        </p:nvPicPr>
        <p:blipFill>
          <a:blip r:embed="rId13"/>
          <a:stretch>
            <a:fillRect/>
          </a:stretch>
        </p:blipFill>
        <p:spPr>
          <a:xfrm>
            <a:off x="7151570" y="2363188"/>
            <a:ext cx="2457576" cy="2559182"/>
          </a:xfrm>
          <a:prstGeom prst="rect">
            <a:avLst/>
          </a:prstGeom>
        </p:spPr>
      </p:pic>
      <p:cxnSp>
        <p:nvCxnSpPr>
          <p:cNvPr id="28" name="Straight Arrow Connector 27">
            <a:extLst>
              <a:ext uri="{FF2B5EF4-FFF2-40B4-BE49-F238E27FC236}">
                <a16:creationId xmlns:a16="http://schemas.microsoft.com/office/drawing/2014/main" id="{EA9EED75-FC9F-E11D-49C8-8E22294C3572}"/>
              </a:ext>
            </a:extLst>
          </p:cNvPr>
          <p:cNvCxnSpPr>
            <a:cxnSpLocks/>
          </p:cNvCxnSpPr>
          <p:nvPr/>
        </p:nvCxnSpPr>
        <p:spPr>
          <a:xfrm>
            <a:off x="6393485" y="1532266"/>
            <a:ext cx="980055" cy="111735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E6BF37EE-10C8-260B-7D04-D3B8D004959D}"/>
              </a:ext>
            </a:extLst>
          </p:cNvPr>
          <p:cNvCxnSpPr>
            <a:cxnSpLocks/>
          </p:cNvCxnSpPr>
          <p:nvPr/>
        </p:nvCxnSpPr>
        <p:spPr>
          <a:xfrm flipH="1">
            <a:off x="8926286" y="2160829"/>
            <a:ext cx="1888897" cy="48878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1CC4836D-5664-1700-0EA7-0AEB75D6A67C}"/>
              </a:ext>
            </a:extLst>
          </p:cNvPr>
          <p:cNvSpPr txBox="1"/>
          <p:nvPr/>
        </p:nvSpPr>
        <p:spPr>
          <a:xfrm>
            <a:off x="5873412" y="1128612"/>
            <a:ext cx="1148619" cy="369332"/>
          </a:xfrm>
          <a:prstGeom prst="rect">
            <a:avLst/>
          </a:prstGeom>
          <a:noFill/>
        </p:spPr>
        <p:txBody>
          <a:bodyPr wrap="square" rtlCol="0">
            <a:spAutoFit/>
          </a:bodyPr>
          <a:lstStyle/>
          <a:p>
            <a:r>
              <a:rPr lang="en-US" b="1" dirty="0"/>
              <a:t>PD = 65</a:t>
            </a:r>
          </a:p>
        </p:txBody>
      </p:sp>
      <p:sp>
        <p:nvSpPr>
          <p:cNvPr id="37" name="TextBox 36">
            <a:extLst>
              <a:ext uri="{FF2B5EF4-FFF2-40B4-BE49-F238E27FC236}">
                <a16:creationId xmlns:a16="http://schemas.microsoft.com/office/drawing/2014/main" id="{8D9B9CBC-6B9F-1DBC-4093-1F811E56B03A}"/>
              </a:ext>
            </a:extLst>
          </p:cNvPr>
          <p:cNvSpPr txBox="1"/>
          <p:nvPr/>
        </p:nvSpPr>
        <p:spPr>
          <a:xfrm>
            <a:off x="10803831" y="1904188"/>
            <a:ext cx="1148619" cy="369332"/>
          </a:xfrm>
          <a:prstGeom prst="rect">
            <a:avLst/>
          </a:prstGeom>
          <a:noFill/>
        </p:spPr>
        <p:txBody>
          <a:bodyPr wrap="square" rtlCol="0">
            <a:spAutoFit/>
          </a:bodyPr>
          <a:lstStyle/>
          <a:p>
            <a:r>
              <a:rPr lang="en-US" b="1" dirty="0"/>
              <a:t>PD = 120</a:t>
            </a:r>
          </a:p>
        </p:txBody>
      </p:sp>
    </p:spTree>
    <p:extLst>
      <p:ext uri="{BB962C8B-B14F-4D97-AF65-F5344CB8AC3E}">
        <p14:creationId xmlns:p14="http://schemas.microsoft.com/office/powerpoint/2010/main" val="3305213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06982-324A-3F10-03BD-B567635B7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2ECAF-0EF4-9829-ED58-C84CC27BE19C}"/>
              </a:ext>
            </a:extLst>
          </p:cNvPr>
          <p:cNvSpPr>
            <a:spLocks noGrp="1"/>
          </p:cNvSpPr>
          <p:nvPr>
            <p:ph type="title"/>
          </p:nvPr>
        </p:nvSpPr>
        <p:spPr>
          <a:xfrm>
            <a:off x="514350" y="365125"/>
            <a:ext cx="11163300" cy="1325563"/>
          </a:xfrm>
        </p:spPr>
        <p:txBody>
          <a:bodyPr/>
          <a:lstStyle/>
          <a:p>
            <a:r>
              <a:rPr lang="en-US" dirty="0"/>
              <a:t>Background: What is Phylodiversity?</a:t>
            </a:r>
          </a:p>
        </p:txBody>
      </p:sp>
      <p:pic>
        <p:nvPicPr>
          <p:cNvPr id="4" name="Picture 3">
            <a:extLst>
              <a:ext uri="{FF2B5EF4-FFF2-40B4-BE49-F238E27FC236}">
                <a16:creationId xmlns:a16="http://schemas.microsoft.com/office/drawing/2014/main" id="{92256D25-6B25-0351-AAFF-BE2B8AAB7E42}"/>
              </a:ext>
            </a:extLst>
          </p:cNvPr>
          <p:cNvPicPr>
            <a:picLocks noChangeAspect="1"/>
          </p:cNvPicPr>
          <p:nvPr/>
        </p:nvPicPr>
        <p:blipFill>
          <a:blip r:embed="rId3"/>
          <a:stretch>
            <a:fillRect/>
          </a:stretch>
        </p:blipFill>
        <p:spPr>
          <a:xfrm>
            <a:off x="6268455" y="1416312"/>
            <a:ext cx="5409195" cy="2164912"/>
          </a:xfrm>
          <a:prstGeom prst="rect">
            <a:avLst/>
          </a:prstGeom>
        </p:spPr>
      </p:pic>
      <p:sp>
        <p:nvSpPr>
          <p:cNvPr id="6" name="TextBox 5">
            <a:extLst>
              <a:ext uri="{FF2B5EF4-FFF2-40B4-BE49-F238E27FC236}">
                <a16:creationId xmlns:a16="http://schemas.microsoft.com/office/drawing/2014/main" id="{3B620B88-E1A7-D28A-72A9-1402ED02C6C5}"/>
              </a:ext>
            </a:extLst>
          </p:cNvPr>
          <p:cNvSpPr txBox="1"/>
          <p:nvPr/>
        </p:nvSpPr>
        <p:spPr>
          <a:xfrm>
            <a:off x="330200" y="1590827"/>
            <a:ext cx="576580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How much of the phylogenetic tree/evolutionary history  is represented in my sample? </a:t>
            </a:r>
          </a:p>
          <a:p>
            <a:pPr marL="742950" lvl="1" indent="-285750">
              <a:buFont typeface="Arial" panose="020B0604020202020204" pitchFamily="34" charset="0"/>
              <a:buChar char="•"/>
            </a:pPr>
            <a:r>
              <a:rPr lang="en-US" sz="2800" dirty="0"/>
              <a:t>Uses phylogenetic distance (PD) </a:t>
            </a:r>
          </a:p>
        </p:txBody>
      </p:sp>
      <p:pic>
        <p:nvPicPr>
          <p:cNvPr id="8" name="Picture 7">
            <a:extLst>
              <a:ext uri="{FF2B5EF4-FFF2-40B4-BE49-F238E27FC236}">
                <a16:creationId xmlns:a16="http://schemas.microsoft.com/office/drawing/2014/main" id="{100184E6-A947-17C8-16CA-D15128A98DB9}"/>
              </a:ext>
            </a:extLst>
          </p:cNvPr>
          <p:cNvPicPr>
            <a:picLocks noChangeAspect="1"/>
          </p:cNvPicPr>
          <p:nvPr/>
        </p:nvPicPr>
        <p:blipFill>
          <a:blip r:embed="rId4"/>
          <a:stretch>
            <a:fillRect/>
          </a:stretch>
        </p:blipFill>
        <p:spPr>
          <a:xfrm>
            <a:off x="7061200" y="3429000"/>
            <a:ext cx="3592797" cy="3090309"/>
          </a:xfrm>
          <a:prstGeom prst="rect">
            <a:avLst/>
          </a:prstGeom>
        </p:spPr>
      </p:pic>
      <p:pic>
        <p:nvPicPr>
          <p:cNvPr id="9" name="Picture 8">
            <a:extLst>
              <a:ext uri="{FF2B5EF4-FFF2-40B4-BE49-F238E27FC236}">
                <a16:creationId xmlns:a16="http://schemas.microsoft.com/office/drawing/2014/main" id="{925ACE50-3921-22B3-DA18-00A427699DC3}"/>
              </a:ext>
            </a:extLst>
          </p:cNvPr>
          <p:cNvPicPr>
            <a:picLocks noChangeAspect="1"/>
          </p:cNvPicPr>
          <p:nvPr/>
        </p:nvPicPr>
        <p:blipFill>
          <a:blip r:embed="rId5"/>
          <a:stretch>
            <a:fillRect/>
          </a:stretch>
        </p:blipFill>
        <p:spPr>
          <a:xfrm>
            <a:off x="1347503" y="3833875"/>
            <a:ext cx="3592796" cy="2463030"/>
          </a:xfrm>
          <a:prstGeom prst="rect">
            <a:avLst/>
          </a:prstGeom>
        </p:spPr>
      </p:pic>
      <p:sp>
        <p:nvSpPr>
          <p:cNvPr id="10" name="TextBox 9">
            <a:extLst>
              <a:ext uri="{FF2B5EF4-FFF2-40B4-BE49-F238E27FC236}">
                <a16:creationId xmlns:a16="http://schemas.microsoft.com/office/drawing/2014/main" id="{EB3D5920-5457-3BBE-9DF4-0C764F6ADC0D}"/>
              </a:ext>
            </a:extLst>
          </p:cNvPr>
          <p:cNvSpPr txBox="1"/>
          <p:nvPr/>
        </p:nvSpPr>
        <p:spPr>
          <a:xfrm>
            <a:off x="1123950" y="6149977"/>
            <a:ext cx="3251200" cy="369332"/>
          </a:xfrm>
          <a:prstGeom prst="rect">
            <a:avLst/>
          </a:prstGeom>
          <a:noFill/>
        </p:spPr>
        <p:txBody>
          <a:bodyPr wrap="square" rtlCol="0">
            <a:spAutoFit/>
          </a:bodyPr>
          <a:lstStyle/>
          <a:p>
            <a:r>
              <a:rPr lang="en-US" dirty="0"/>
              <a:t>Faith &amp; Richards 2012</a:t>
            </a:r>
          </a:p>
        </p:txBody>
      </p:sp>
    </p:spTree>
    <p:extLst>
      <p:ext uri="{BB962C8B-B14F-4D97-AF65-F5344CB8AC3E}">
        <p14:creationId xmlns:p14="http://schemas.microsoft.com/office/powerpoint/2010/main" val="414212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017A-2F65-D1C9-4C4C-3C39F56CE87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B57A5E9-B297-47FA-9028-878265F8B9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6187" y="890234"/>
            <a:ext cx="9643353" cy="4132866"/>
          </a:xfrm>
          <a:prstGeom prst="rect">
            <a:avLst/>
          </a:prstGeom>
        </p:spPr>
      </p:pic>
      <p:sp>
        <p:nvSpPr>
          <p:cNvPr id="2" name="Title 1">
            <a:extLst>
              <a:ext uri="{FF2B5EF4-FFF2-40B4-BE49-F238E27FC236}">
                <a16:creationId xmlns:a16="http://schemas.microsoft.com/office/drawing/2014/main" id="{5A7AC3E9-8D41-C8D5-E7DC-42D68A44D996}"/>
              </a:ext>
            </a:extLst>
          </p:cNvPr>
          <p:cNvSpPr>
            <a:spLocks noGrp="1"/>
          </p:cNvSpPr>
          <p:nvPr>
            <p:ph type="title"/>
          </p:nvPr>
        </p:nvSpPr>
        <p:spPr>
          <a:xfrm>
            <a:off x="-31761" y="-337134"/>
            <a:ext cx="11163300" cy="1325563"/>
          </a:xfrm>
        </p:spPr>
        <p:txBody>
          <a:bodyPr/>
          <a:lstStyle/>
          <a:p>
            <a:r>
              <a:rPr lang="en-US" dirty="0"/>
              <a:t>PD Calculation</a:t>
            </a:r>
          </a:p>
        </p:txBody>
      </p:sp>
      <p:sp>
        <p:nvSpPr>
          <p:cNvPr id="31" name="TextBox 30">
            <a:extLst>
              <a:ext uri="{FF2B5EF4-FFF2-40B4-BE49-F238E27FC236}">
                <a16:creationId xmlns:a16="http://schemas.microsoft.com/office/drawing/2014/main" id="{081FDB04-C82C-EA95-1CDA-C643D1BAD42B}"/>
              </a:ext>
            </a:extLst>
          </p:cNvPr>
          <p:cNvSpPr txBox="1"/>
          <p:nvPr/>
        </p:nvSpPr>
        <p:spPr>
          <a:xfrm>
            <a:off x="363689" y="724022"/>
            <a:ext cx="690362" cy="369332"/>
          </a:xfrm>
          <a:prstGeom prst="rect">
            <a:avLst/>
          </a:prstGeom>
          <a:noFill/>
        </p:spPr>
        <p:txBody>
          <a:bodyPr wrap="square" rtlCol="0">
            <a:spAutoFit/>
          </a:bodyPr>
          <a:lstStyle/>
          <a:p>
            <a:r>
              <a:rPr lang="en-US" dirty="0"/>
              <a:t>Sp. A </a:t>
            </a:r>
          </a:p>
        </p:txBody>
      </p:sp>
      <p:pic>
        <p:nvPicPr>
          <p:cNvPr id="33" name="Picture 32">
            <a:extLst>
              <a:ext uri="{FF2B5EF4-FFF2-40B4-BE49-F238E27FC236}">
                <a16:creationId xmlns:a16="http://schemas.microsoft.com/office/drawing/2014/main" id="{93ED5287-7843-ACD3-6693-0B345E0EAD4B}"/>
              </a:ext>
            </a:extLst>
          </p:cNvPr>
          <p:cNvPicPr>
            <a:picLocks noChangeAspect="1"/>
          </p:cNvPicPr>
          <p:nvPr/>
        </p:nvPicPr>
        <p:blipFill>
          <a:blip r:embed="rId4"/>
          <a:stretch>
            <a:fillRect/>
          </a:stretch>
        </p:blipFill>
        <p:spPr>
          <a:xfrm>
            <a:off x="-11180" y="2557532"/>
            <a:ext cx="1441524" cy="1362145"/>
          </a:xfrm>
          <a:prstGeom prst="rect">
            <a:avLst/>
          </a:prstGeom>
        </p:spPr>
      </p:pic>
      <p:sp>
        <p:nvSpPr>
          <p:cNvPr id="35" name="TextBox 34">
            <a:extLst>
              <a:ext uri="{FF2B5EF4-FFF2-40B4-BE49-F238E27FC236}">
                <a16:creationId xmlns:a16="http://schemas.microsoft.com/office/drawing/2014/main" id="{0B3C64D3-5614-17A0-FFEA-863035BC27B6}"/>
              </a:ext>
            </a:extLst>
          </p:cNvPr>
          <p:cNvSpPr txBox="1"/>
          <p:nvPr/>
        </p:nvSpPr>
        <p:spPr>
          <a:xfrm>
            <a:off x="358865" y="2270620"/>
            <a:ext cx="690362" cy="369332"/>
          </a:xfrm>
          <a:prstGeom prst="rect">
            <a:avLst/>
          </a:prstGeom>
          <a:noFill/>
        </p:spPr>
        <p:txBody>
          <a:bodyPr wrap="square" rtlCol="0">
            <a:spAutoFit/>
          </a:bodyPr>
          <a:lstStyle/>
          <a:p>
            <a:r>
              <a:rPr lang="en-US" dirty="0"/>
              <a:t>Sp. B </a:t>
            </a:r>
          </a:p>
        </p:txBody>
      </p:sp>
      <p:pic>
        <p:nvPicPr>
          <p:cNvPr id="37" name="Picture 36">
            <a:extLst>
              <a:ext uri="{FF2B5EF4-FFF2-40B4-BE49-F238E27FC236}">
                <a16:creationId xmlns:a16="http://schemas.microsoft.com/office/drawing/2014/main" id="{D20BA8A0-39E0-D406-9784-F38640E5A85C}"/>
              </a:ext>
            </a:extLst>
          </p:cNvPr>
          <p:cNvPicPr>
            <a:picLocks noChangeAspect="1"/>
          </p:cNvPicPr>
          <p:nvPr/>
        </p:nvPicPr>
        <p:blipFill>
          <a:blip r:embed="rId5"/>
          <a:stretch>
            <a:fillRect/>
          </a:stretch>
        </p:blipFill>
        <p:spPr>
          <a:xfrm>
            <a:off x="54422" y="4106327"/>
            <a:ext cx="1299247" cy="1274141"/>
          </a:xfrm>
          <a:prstGeom prst="rect">
            <a:avLst/>
          </a:prstGeom>
        </p:spPr>
      </p:pic>
      <p:sp>
        <p:nvSpPr>
          <p:cNvPr id="39" name="TextBox 38">
            <a:extLst>
              <a:ext uri="{FF2B5EF4-FFF2-40B4-BE49-F238E27FC236}">
                <a16:creationId xmlns:a16="http://schemas.microsoft.com/office/drawing/2014/main" id="{C29E5510-48F3-9FF4-F225-2DC0D36655CB}"/>
              </a:ext>
            </a:extLst>
          </p:cNvPr>
          <p:cNvSpPr txBox="1"/>
          <p:nvPr/>
        </p:nvSpPr>
        <p:spPr>
          <a:xfrm>
            <a:off x="358865" y="3814832"/>
            <a:ext cx="690362" cy="369332"/>
          </a:xfrm>
          <a:prstGeom prst="rect">
            <a:avLst/>
          </a:prstGeom>
          <a:noFill/>
        </p:spPr>
        <p:txBody>
          <a:bodyPr wrap="square" rtlCol="0">
            <a:spAutoFit/>
          </a:bodyPr>
          <a:lstStyle/>
          <a:p>
            <a:r>
              <a:rPr lang="en-US" dirty="0"/>
              <a:t>Sp. C </a:t>
            </a:r>
          </a:p>
        </p:txBody>
      </p:sp>
      <p:pic>
        <p:nvPicPr>
          <p:cNvPr id="41" name="Picture 40">
            <a:extLst>
              <a:ext uri="{FF2B5EF4-FFF2-40B4-BE49-F238E27FC236}">
                <a16:creationId xmlns:a16="http://schemas.microsoft.com/office/drawing/2014/main" id="{60D8A62E-9EDF-0A1D-72B4-33798A1EE120}"/>
              </a:ext>
            </a:extLst>
          </p:cNvPr>
          <p:cNvPicPr>
            <a:picLocks noChangeAspect="1"/>
          </p:cNvPicPr>
          <p:nvPr/>
        </p:nvPicPr>
        <p:blipFill>
          <a:blip r:embed="rId6"/>
          <a:stretch>
            <a:fillRect/>
          </a:stretch>
        </p:blipFill>
        <p:spPr>
          <a:xfrm>
            <a:off x="82760" y="1113475"/>
            <a:ext cx="1242569" cy="1242569"/>
          </a:xfrm>
          <a:prstGeom prst="rect">
            <a:avLst/>
          </a:prstGeom>
        </p:spPr>
      </p:pic>
      <p:pic>
        <p:nvPicPr>
          <p:cNvPr id="43" name="Picture 42">
            <a:extLst>
              <a:ext uri="{FF2B5EF4-FFF2-40B4-BE49-F238E27FC236}">
                <a16:creationId xmlns:a16="http://schemas.microsoft.com/office/drawing/2014/main" id="{54F41F5D-A148-BD6F-F684-AC4E1674D12C}"/>
              </a:ext>
            </a:extLst>
          </p:cNvPr>
          <p:cNvPicPr>
            <a:picLocks noChangeAspect="1"/>
          </p:cNvPicPr>
          <p:nvPr/>
        </p:nvPicPr>
        <p:blipFill>
          <a:blip r:embed="rId7"/>
          <a:stretch>
            <a:fillRect/>
          </a:stretch>
        </p:blipFill>
        <p:spPr>
          <a:xfrm>
            <a:off x="82760" y="5585859"/>
            <a:ext cx="1300411" cy="1272141"/>
          </a:xfrm>
          <a:prstGeom prst="rect">
            <a:avLst/>
          </a:prstGeom>
        </p:spPr>
      </p:pic>
      <p:pic>
        <p:nvPicPr>
          <p:cNvPr id="45" name="Picture 44">
            <a:extLst>
              <a:ext uri="{FF2B5EF4-FFF2-40B4-BE49-F238E27FC236}">
                <a16:creationId xmlns:a16="http://schemas.microsoft.com/office/drawing/2014/main" id="{82A5EB74-2206-6427-6514-E18D1E459FCB}"/>
              </a:ext>
            </a:extLst>
          </p:cNvPr>
          <p:cNvPicPr>
            <a:picLocks noChangeAspect="1"/>
          </p:cNvPicPr>
          <p:nvPr/>
        </p:nvPicPr>
        <p:blipFill>
          <a:blip r:embed="rId8"/>
          <a:stretch>
            <a:fillRect/>
          </a:stretch>
        </p:blipFill>
        <p:spPr>
          <a:xfrm>
            <a:off x="1490452" y="5567943"/>
            <a:ext cx="1239081" cy="1257855"/>
          </a:xfrm>
          <a:prstGeom prst="rect">
            <a:avLst/>
          </a:prstGeom>
        </p:spPr>
      </p:pic>
      <p:sp>
        <p:nvSpPr>
          <p:cNvPr id="47" name="TextBox 46">
            <a:extLst>
              <a:ext uri="{FF2B5EF4-FFF2-40B4-BE49-F238E27FC236}">
                <a16:creationId xmlns:a16="http://schemas.microsoft.com/office/drawing/2014/main" id="{851515E6-AD8E-0996-D6A0-E1982E10E769}"/>
              </a:ext>
            </a:extLst>
          </p:cNvPr>
          <p:cNvSpPr txBox="1"/>
          <p:nvPr/>
        </p:nvSpPr>
        <p:spPr>
          <a:xfrm>
            <a:off x="1767286" y="5247424"/>
            <a:ext cx="657803" cy="369332"/>
          </a:xfrm>
          <a:prstGeom prst="rect">
            <a:avLst/>
          </a:prstGeom>
          <a:noFill/>
        </p:spPr>
        <p:txBody>
          <a:bodyPr wrap="square" rtlCol="0">
            <a:spAutoFit/>
          </a:bodyPr>
          <a:lstStyle/>
          <a:p>
            <a:r>
              <a:rPr lang="en-US" dirty="0"/>
              <a:t>Sp. E</a:t>
            </a:r>
          </a:p>
        </p:txBody>
      </p:sp>
      <p:pic>
        <p:nvPicPr>
          <p:cNvPr id="49" name="Picture 48">
            <a:extLst>
              <a:ext uri="{FF2B5EF4-FFF2-40B4-BE49-F238E27FC236}">
                <a16:creationId xmlns:a16="http://schemas.microsoft.com/office/drawing/2014/main" id="{EC34470B-130C-FAFB-CCDB-79DD29309266}"/>
              </a:ext>
            </a:extLst>
          </p:cNvPr>
          <p:cNvPicPr>
            <a:picLocks noChangeAspect="1"/>
          </p:cNvPicPr>
          <p:nvPr/>
        </p:nvPicPr>
        <p:blipFill>
          <a:blip r:embed="rId9"/>
          <a:stretch>
            <a:fillRect/>
          </a:stretch>
        </p:blipFill>
        <p:spPr>
          <a:xfrm>
            <a:off x="3096958" y="5569944"/>
            <a:ext cx="1300411" cy="1288056"/>
          </a:xfrm>
          <a:prstGeom prst="rect">
            <a:avLst/>
          </a:prstGeom>
        </p:spPr>
      </p:pic>
      <p:sp>
        <p:nvSpPr>
          <p:cNvPr id="51" name="TextBox 50">
            <a:extLst>
              <a:ext uri="{FF2B5EF4-FFF2-40B4-BE49-F238E27FC236}">
                <a16:creationId xmlns:a16="http://schemas.microsoft.com/office/drawing/2014/main" id="{7A9BE561-33FC-D589-E76D-8E8CEBE404FC}"/>
              </a:ext>
            </a:extLst>
          </p:cNvPr>
          <p:cNvSpPr txBox="1"/>
          <p:nvPr/>
        </p:nvSpPr>
        <p:spPr>
          <a:xfrm>
            <a:off x="3394545" y="5260835"/>
            <a:ext cx="657803" cy="369332"/>
          </a:xfrm>
          <a:prstGeom prst="rect">
            <a:avLst/>
          </a:prstGeom>
          <a:noFill/>
        </p:spPr>
        <p:txBody>
          <a:bodyPr wrap="square" rtlCol="0">
            <a:spAutoFit/>
          </a:bodyPr>
          <a:lstStyle/>
          <a:p>
            <a:r>
              <a:rPr lang="en-US" dirty="0"/>
              <a:t>Sp. F</a:t>
            </a:r>
          </a:p>
        </p:txBody>
      </p:sp>
      <p:sp>
        <p:nvSpPr>
          <p:cNvPr id="53" name="TextBox 52">
            <a:extLst>
              <a:ext uri="{FF2B5EF4-FFF2-40B4-BE49-F238E27FC236}">
                <a16:creationId xmlns:a16="http://schemas.microsoft.com/office/drawing/2014/main" id="{15B0445A-D060-08A8-42BE-50328C675022}"/>
              </a:ext>
            </a:extLst>
          </p:cNvPr>
          <p:cNvSpPr txBox="1"/>
          <p:nvPr/>
        </p:nvSpPr>
        <p:spPr>
          <a:xfrm>
            <a:off x="402068" y="5276751"/>
            <a:ext cx="769076" cy="369332"/>
          </a:xfrm>
          <a:prstGeom prst="rect">
            <a:avLst/>
          </a:prstGeom>
          <a:noFill/>
        </p:spPr>
        <p:txBody>
          <a:bodyPr wrap="square" rtlCol="0">
            <a:spAutoFit/>
          </a:bodyPr>
          <a:lstStyle/>
          <a:p>
            <a:r>
              <a:rPr lang="en-US" dirty="0"/>
              <a:t>Sp. D</a:t>
            </a:r>
          </a:p>
        </p:txBody>
      </p:sp>
      <p:sp>
        <p:nvSpPr>
          <p:cNvPr id="54" name="TextBox 53">
            <a:extLst>
              <a:ext uri="{FF2B5EF4-FFF2-40B4-BE49-F238E27FC236}">
                <a16:creationId xmlns:a16="http://schemas.microsoft.com/office/drawing/2014/main" id="{FC42346E-B3CE-606E-70D0-778C5FB78E4B}"/>
              </a:ext>
            </a:extLst>
          </p:cNvPr>
          <p:cNvSpPr txBox="1"/>
          <p:nvPr/>
        </p:nvSpPr>
        <p:spPr>
          <a:xfrm>
            <a:off x="6462711" y="4733416"/>
            <a:ext cx="3306524" cy="369332"/>
          </a:xfrm>
          <a:prstGeom prst="rect">
            <a:avLst/>
          </a:prstGeom>
          <a:noFill/>
        </p:spPr>
        <p:txBody>
          <a:bodyPr wrap="square" rtlCol="0">
            <a:spAutoFit/>
          </a:bodyPr>
          <a:lstStyle/>
          <a:p>
            <a:r>
              <a:rPr lang="en-US" dirty="0"/>
              <a:t>Area of Interest (AOI)</a:t>
            </a:r>
          </a:p>
        </p:txBody>
      </p:sp>
      <p:pic>
        <p:nvPicPr>
          <p:cNvPr id="55" name="Picture 54">
            <a:extLst>
              <a:ext uri="{FF2B5EF4-FFF2-40B4-BE49-F238E27FC236}">
                <a16:creationId xmlns:a16="http://schemas.microsoft.com/office/drawing/2014/main" id="{D81A78B1-0312-596A-845A-657C7BC11F42}"/>
              </a:ext>
            </a:extLst>
          </p:cNvPr>
          <p:cNvPicPr>
            <a:picLocks noChangeAspect="1"/>
          </p:cNvPicPr>
          <p:nvPr/>
        </p:nvPicPr>
        <p:blipFill>
          <a:blip r:embed="rId10"/>
          <a:stretch>
            <a:fillRect/>
          </a:stretch>
        </p:blipFill>
        <p:spPr>
          <a:xfrm>
            <a:off x="8446598" y="5211081"/>
            <a:ext cx="535458" cy="1498202"/>
          </a:xfrm>
          <a:prstGeom prst="rect">
            <a:avLst/>
          </a:prstGeom>
        </p:spPr>
      </p:pic>
      <p:pic>
        <p:nvPicPr>
          <p:cNvPr id="56" name="Picture 55">
            <a:extLst>
              <a:ext uri="{FF2B5EF4-FFF2-40B4-BE49-F238E27FC236}">
                <a16:creationId xmlns:a16="http://schemas.microsoft.com/office/drawing/2014/main" id="{E81156A5-567A-632F-DDF4-9A129A00F8F2}"/>
              </a:ext>
            </a:extLst>
          </p:cNvPr>
          <p:cNvPicPr>
            <a:picLocks noChangeAspect="1"/>
          </p:cNvPicPr>
          <p:nvPr/>
        </p:nvPicPr>
        <p:blipFill>
          <a:blip r:embed="rId11"/>
          <a:stretch>
            <a:fillRect/>
          </a:stretch>
        </p:blipFill>
        <p:spPr>
          <a:xfrm>
            <a:off x="6576475" y="5023191"/>
            <a:ext cx="1756359" cy="1828974"/>
          </a:xfrm>
          <a:prstGeom prst="rect">
            <a:avLst/>
          </a:prstGeom>
        </p:spPr>
      </p:pic>
      <p:cxnSp>
        <p:nvCxnSpPr>
          <p:cNvPr id="57" name="Straight Arrow Connector 56">
            <a:extLst>
              <a:ext uri="{FF2B5EF4-FFF2-40B4-BE49-F238E27FC236}">
                <a16:creationId xmlns:a16="http://schemas.microsoft.com/office/drawing/2014/main" id="{3831C506-E731-50D7-E0AA-90D3D10C3EDE}"/>
              </a:ext>
            </a:extLst>
          </p:cNvPr>
          <p:cNvCxnSpPr>
            <a:cxnSpLocks/>
          </p:cNvCxnSpPr>
          <p:nvPr/>
        </p:nvCxnSpPr>
        <p:spPr>
          <a:xfrm>
            <a:off x="5615526" y="5023100"/>
            <a:ext cx="1150227" cy="23546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a:extLst>
              <a:ext uri="{FF2B5EF4-FFF2-40B4-BE49-F238E27FC236}">
                <a16:creationId xmlns:a16="http://schemas.microsoft.com/office/drawing/2014/main" id="{64A98755-FD05-5EA0-77A0-D1B0768EEB0E}"/>
              </a:ext>
            </a:extLst>
          </p:cNvPr>
          <p:cNvCxnSpPr>
            <a:cxnSpLocks/>
          </p:cNvCxnSpPr>
          <p:nvPr/>
        </p:nvCxnSpPr>
        <p:spPr>
          <a:xfrm flipH="1">
            <a:off x="7832527" y="5023100"/>
            <a:ext cx="1068282" cy="29352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59" name="TextBox 58">
            <a:extLst>
              <a:ext uri="{FF2B5EF4-FFF2-40B4-BE49-F238E27FC236}">
                <a16:creationId xmlns:a16="http://schemas.microsoft.com/office/drawing/2014/main" id="{BF772CC6-6423-0F4C-025A-829244EB3688}"/>
              </a:ext>
            </a:extLst>
          </p:cNvPr>
          <p:cNvSpPr txBox="1"/>
          <p:nvPr/>
        </p:nvSpPr>
        <p:spPr>
          <a:xfrm>
            <a:off x="4650079" y="4776208"/>
            <a:ext cx="965447" cy="369332"/>
          </a:xfrm>
          <a:prstGeom prst="rect">
            <a:avLst/>
          </a:prstGeom>
          <a:noFill/>
        </p:spPr>
        <p:txBody>
          <a:bodyPr wrap="square" rtlCol="0">
            <a:spAutoFit/>
          </a:bodyPr>
          <a:lstStyle/>
          <a:p>
            <a:r>
              <a:rPr lang="en-US" b="1" dirty="0">
                <a:solidFill>
                  <a:srgbClr val="FF0000"/>
                </a:solidFill>
              </a:rPr>
              <a:t>PD = 65</a:t>
            </a:r>
          </a:p>
        </p:txBody>
      </p:sp>
      <p:sp>
        <p:nvSpPr>
          <p:cNvPr id="60" name="TextBox 59">
            <a:extLst>
              <a:ext uri="{FF2B5EF4-FFF2-40B4-BE49-F238E27FC236}">
                <a16:creationId xmlns:a16="http://schemas.microsoft.com/office/drawing/2014/main" id="{D362C76F-2643-DE2D-31D6-6B72F00419E7}"/>
              </a:ext>
            </a:extLst>
          </p:cNvPr>
          <p:cNvSpPr txBox="1"/>
          <p:nvPr/>
        </p:nvSpPr>
        <p:spPr>
          <a:xfrm>
            <a:off x="8949015" y="4754101"/>
            <a:ext cx="1068281" cy="369332"/>
          </a:xfrm>
          <a:prstGeom prst="rect">
            <a:avLst/>
          </a:prstGeom>
          <a:noFill/>
        </p:spPr>
        <p:txBody>
          <a:bodyPr wrap="square" rtlCol="0">
            <a:spAutoFit/>
          </a:bodyPr>
          <a:lstStyle/>
          <a:p>
            <a:r>
              <a:rPr lang="en-US" b="1" dirty="0">
                <a:solidFill>
                  <a:srgbClr val="0000FF"/>
                </a:solidFill>
              </a:rPr>
              <a:t>PD = 120</a:t>
            </a:r>
          </a:p>
        </p:txBody>
      </p:sp>
    </p:spTree>
    <p:extLst>
      <p:ext uri="{BB962C8B-B14F-4D97-AF65-F5344CB8AC3E}">
        <p14:creationId xmlns:p14="http://schemas.microsoft.com/office/powerpoint/2010/main" val="359051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D4D2-3DB5-C496-23F1-8E274C1FDF3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745EACD-30B4-1B97-4968-5F50C993E5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6187" y="890234"/>
            <a:ext cx="9643353" cy="4132866"/>
          </a:xfrm>
          <a:prstGeom prst="rect">
            <a:avLst/>
          </a:prstGeom>
        </p:spPr>
      </p:pic>
      <p:sp>
        <p:nvSpPr>
          <p:cNvPr id="2" name="Title 1">
            <a:extLst>
              <a:ext uri="{FF2B5EF4-FFF2-40B4-BE49-F238E27FC236}">
                <a16:creationId xmlns:a16="http://schemas.microsoft.com/office/drawing/2014/main" id="{3CFEC3D0-AE60-1550-1F8F-41BB511C40D7}"/>
              </a:ext>
            </a:extLst>
          </p:cNvPr>
          <p:cNvSpPr>
            <a:spLocks noGrp="1"/>
          </p:cNvSpPr>
          <p:nvPr>
            <p:ph type="title"/>
          </p:nvPr>
        </p:nvSpPr>
        <p:spPr>
          <a:xfrm>
            <a:off x="-31761" y="-337134"/>
            <a:ext cx="11163300" cy="1325563"/>
          </a:xfrm>
        </p:spPr>
        <p:txBody>
          <a:bodyPr/>
          <a:lstStyle/>
          <a:p>
            <a:r>
              <a:rPr lang="en-US" dirty="0"/>
              <a:t>PD Calculation</a:t>
            </a:r>
          </a:p>
        </p:txBody>
      </p:sp>
      <p:sp>
        <p:nvSpPr>
          <p:cNvPr id="31" name="TextBox 30">
            <a:extLst>
              <a:ext uri="{FF2B5EF4-FFF2-40B4-BE49-F238E27FC236}">
                <a16:creationId xmlns:a16="http://schemas.microsoft.com/office/drawing/2014/main" id="{E266E72F-865C-AED0-1E2D-275AB398A05B}"/>
              </a:ext>
            </a:extLst>
          </p:cNvPr>
          <p:cNvSpPr txBox="1"/>
          <p:nvPr/>
        </p:nvSpPr>
        <p:spPr>
          <a:xfrm>
            <a:off x="363689" y="724022"/>
            <a:ext cx="690362" cy="369332"/>
          </a:xfrm>
          <a:prstGeom prst="rect">
            <a:avLst/>
          </a:prstGeom>
          <a:noFill/>
        </p:spPr>
        <p:txBody>
          <a:bodyPr wrap="square" rtlCol="0">
            <a:spAutoFit/>
          </a:bodyPr>
          <a:lstStyle/>
          <a:p>
            <a:r>
              <a:rPr lang="en-US" dirty="0"/>
              <a:t>Sp. A </a:t>
            </a:r>
          </a:p>
        </p:txBody>
      </p:sp>
      <p:pic>
        <p:nvPicPr>
          <p:cNvPr id="33" name="Picture 32">
            <a:extLst>
              <a:ext uri="{FF2B5EF4-FFF2-40B4-BE49-F238E27FC236}">
                <a16:creationId xmlns:a16="http://schemas.microsoft.com/office/drawing/2014/main" id="{B89731EB-B7EF-F6CD-02B6-A390D14F4DFC}"/>
              </a:ext>
            </a:extLst>
          </p:cNvPr>
          <p:cNvPicPr>
            <a:picLocks noChangeAspect="1"/>
          </p:cNvPicPr>
          <p:nvPr/>
        </p:nvPicPr>
        <p:blipFill>
          <a:blip r:embed="rId4"/>
          <a:stretch>
            <a:fillRect/>
          </a:stretch>
        </p:blipFill>
        <p:spPr>
          <a:xfrm>
            <a:off x="-11180" y="2557532"/>
            <a:ext cx="1441524" cy="1362145"/>
          </a:xfrm>
          <a:prstGeom prst="rect">
            <a:avLst/>
          </a:prstGeom>
        </p:spPr>
      </p:pic>
      <p:sp>
        <p:nvSpPr>
          <p:cNvPr id="35" name="TextBox 34">
            <a:extLst>
              <a:ext uri="{FF2B5EF4-FFF2-40B4-BE49-F238E27FC236}">
                <a16:creationId xmlns:a16="http://schemas.microsoft.com/office/drawing/2014/main" id="{B3DD93C2-0DC9-5FB4-685F-262297F5EA51}"/>
              </a:ext>
            </a:extLst>
          </p:cNvPr>
          <p:cNvSpPr txBox="1"/>
          <p:nvPr/>
        </p:nvSpPr>
        <p:spPr>
          <a:xfrm>
            <a:off x="358865" y="2270620"/>
            <a:ext cx="690362" cy="369332"/>
          </a:xfrm>
          <a:prstGeom prst="rect">
            <a:avLst/>
          </a:prstGeom>
          <a:noFill/>
        </p:spPr>
        <p:txBody>
          <a:bodyPr wrap="square" rtlCol="0">
            <a:spAutoFit/>
          </a:bodyPr>
          <a:lstStyle/>
          <a:p>
            <a:r>
              <a:rPr lang="en-US" dirty="0"/>
              <a:t>Sp. B </a:t>
            </a:r>
          </a:p>
        </p:txBody>
      </p:sp>
      <p:pic>
        <p:nvPicPr>
          <p:cNvPr id="37" name="Picture 36">
            <a:extLst>
              <a:ext uri="{FF2B5EF4-FFF2-40B4-BE49-F238E27FC236}">
                <a16:creationId xmlns:a16="http://schemas.microsoft.com/office/drawing/2014/main" id="{3B55DCDD-DCFB-4005-2B7F-18783B2DF700}"/>
              </a:ext>
            </a:extLst>
          </p:cNvPr>
          <p:cNvPicPr>
            <a:picLocks noChangeAspect="1"/>
          </p:cNvPicPr>
          <p:nvPr/>
        </p:nvPicPr>
        <p:blipFill>
          <a:blip r:embed="rId5"/>
          <a:stretch>
            <a:fillRect/>
          </a:stretch>
        </p:blipFill>
        <p:spPr>
          <a:xfrm>
            <a:off x="54422" y="4106327"/>
            <a:ext cx="1299247" cy="1274141"/>
          </a:xfrm>
          <a:prstGeom prst="rect">
            <a:avLst/>
          </a:prstGeom>
        </p:spPr>
      </p:pic>
      <p:sp>
        <p:nvSpPr>
          <p:cNvPr id="39" name="TextBox 38">
            <a:extLst>
              <a:ext uri="{FF2B5EF4-FFF2-40B4-BE49-F238E27FC236}">
                <a16:creationId xmlns:a16="http://schemas.microsoft.com/office/drawing/2014/main" id="{C8AF15BE-9A52-74AB-6A65-DD67CF7159F8}"/>
              </a:ext>
            </a:extLst>
          </p:cNvPr>
          <p:cNvSpPr txBox="1"/>
          <p:nvPr/>
        </p:nvSpPr>
        <p:spPr>
          <a:xfrm>
            <a:off x="358865" y="3814832"/>
            <a:ext cx="690362" cy="369332"/>
          </a:xfrm>
          <a:prstGeom prst="rect">
            <a:avLst/>
          </a:prstGeom>
          <a:noFill/>
        </p:spPr>
        <p:txBody>
          <a:bodyPr wrap="square" rtlCol="0">
            <a:spAutoFit/>
          </a:bodyPr>
          <a:lstStyle/>
          <a:p>
            <a:r>
              <a:rPr lang="en-US" dirty="0"/>
              <a:t>Sp. C </a:t>
            </a:r>
          </a:p>
        </p:txBody>
      </p:sp>
      <p:pic>
        <p:nvPicPr>
          <p:cNvPr id="41" name="Picture 40">
            <a:extLst>
              <a:ext uri="{FF2B5EF4-FFF2-40B4-BE49-F238E27FC236}">
                <a16:creationId xmlns:a16="http://schemas.microsoft.com/office/drawing/2014/main" id="{D10D3CEA-B24F-B674-D458-5F0F5AACFED3}"/>
              </a:ext>
            </a:extLst>
          </p:cNvPr>
          <p:cNvPicPr>
            <a:picLocks noChangeAspect="1"/>
          </p:cNvPicPr>
          <p:nvPr/>
        </p:nvPicPr>
        <p:blipFill>
          <a:blip r:embed="rId6"/>
          <a:stretch>
            <a:fillRect/>
          </a:stretch>
        </p:blipFill>
        <p:spPr>
          <a:xfrm>
            <a:off x="82760" y="1113475"/>
            <a:ext cx="1242569" cy="1242569"/>
          </a:xfrm>
          <a:prstGeom prst="rect">
            <a:avLst/>
          </a:prstGeom>
        </p:spPr>
      </p:pic>
      <p:pic>
        <p:nvPicPr>
          <p:cNvPr id="43" name="Picture 42">
            <a:extLst>
              <a:ext uri="{FF2B5EF4-FFF2-40B4-BE49-F238E27FC236}">
                <a16:creationId xmlns:a16="http://schemas.microsoft.com/office/drawing/2014/main" id="{D52EBF23-1905-DFEF-65F5-15EFFD1201F0}"/>
              </a:ext>
            </a:extLst>
          </p:cNvPr>
          <p:cNvPicPr>
            <a:picLocks noChangeAspect="1"/>
          </p:cNvPicPr>
          <p:nvPr/>
        </p:nvPicPr>
        <p:blipFill>
          <a:blip r:embed="rId7"/>
          <a:stretch>
            <a:fillRect/>
          </a:stretch>
        </p:blipFill>
        <p:spPr>
          <a:xfrm>
            <a:off x="82760" y="5585859"/>
            <a:ext cx="1300411" cy="1272141"/>
          </a:xfrm>
          <a:prstGeom prst="rect">
            <a:avLst/>
          </a:prstGeom>
        </p:spPr>
      </p:pic>
      <p:pic>
        <p:nvPicPr>
          <p:cNvPr id="45" name="Picture 44">
            <a:extLst>
              <a:ext uri="{FF2B5EF4-FFF2-40B4-BE49-F238E27FC236}">
                <a16:creationId xmlns:a16="http://schemas.microsoft.com/office/drawing/2014/main" id="{CE4545E5-FCEA-E0EC-2B15-D94416D77745}"/>
              </a:ext>
            </a:extLst>
          </p:cNvPr>
          <p:cNvPicPr>
            <a:picLocks noChangeAspect="1"/>
          </p:cNvPicPr>
          <p:nvPr/>
        </p:nvPicPr>
        <p:blipFill>
          <a:blip r:embed="rId8"/>
          <a:stretch>
            <a:fillRect/>
          </a:stretch>
        </p:blipFill>
        <p:spPr>
          <a:xfrm>
            <a:off x="1490452" y="5567943"/>
            <a:ext cx="1239081" cy="1257855"/>
          </a:xfrm>
          <a:prstGeom prst="rect">
            <a:avLst/>
          </a:prstGeom>
        </p:spPr>
      </p:pic>
      <p:sp>
        <p:nvSpPr>
          <p:cNvPr id="47" name="TextBox 46">
            <a:extLst>
              <a:ext uri="{FF2B5EF4-FFF2-40B4-BE49-F238E27FC236}">
                <a16:creationId xmlns:a16="http://schemas.microsoft.com/office/drawing/2014/main" id="{BD297309-6D70-2045-DEDE-E5DF436605D8}"/>
              </a:ext>
            </a:extLst>
          </p:cNvPr>
          <p:cNvSpPr txBox="1"/>
          <p:nvPr/>
        </p:nvSpPr>
        <p:spPr>
          <a:xfrm>
            <a:off x="1767286" y="5247424"/>
            <a:ext cx="657803" cy="369332"/>
          </a:xfrm>
          <a:prstGeom prst="rect">
            <a:avLst/>
          </a:prstGeom>
          <a:noFill/>
        </p:spPr>
        <p:txBody>
          <a:bodyPr wrap="square" rtlCol="0">
            <a:spAutoFit/>
          </a:bodyPr>
          <a:lstStyle/>
          <a:p>
            <a:r>
              <a:rPr lang="en-US" dirty="0"/>
              <a:t>Sp. E</a:t>
            </a:r>
          </a:p>
        </p:txBody>
      </p:sp>
      <p:pic>
        <p:nvPicPr>
          <p:cNvPr id="49" name="Picture 48">
            <a:extLst>
              <a:ext uri="{FF2B5EF4-FFF2-40B4-BE49-F238E27FC236}">
                <a16:creationId xmlns:a16="http://schemas.microsoft.com/office/drawing/2014/main" id="{C356303A-7CCE-5A84-3F47-3B48D6807BFF}"/>
              </a:ext>
            </a:extLst>
          </p:cNvPr>
          <p:cNvPicPr>
            <a:picLocks noChangeAspect="1"/>
          </p:cNvPicPr>
          <p:nvPr/>
        </p:nvPicPr>
        <p:blipFill>
          <a:blip r:embed="rId9"/>
          <a:stretch>
            <a:fillRect/>
          </a:stretch>
        </p:blipFill>
        <p:spPr>
          <a:xfrm>
            <a:off x="3096958" y="5569944"/>
            <a:ext cx="1300411" cy="1288056"/>
          </a:xfrm>
          <a:prstGeom prst="rect">
            <a:avLst/>
          </a:prstGeom>
        </p:spPr>
      </p:pic>
      <p:sp>
        <p:nvSpPr>
          <p:cNvPr id="51" name="TextBox 50">
            <a:extLst>
              <a:ext uri="{FF2B5EF4-FFF2-40B4-BE49-F238E27FC236}">
                <a16:creationId xmlns:a16="http://schemas.microsoft.com/office/drawing/2014/main" id="{062412FB-42D6-6961-6427-09C36228308D}"/>
              </a:ext>
            </a:extLst>
          </p:cNvPr>
          <p:cNvSpPr txBox="1"/>
          <p:nvPr/>
        </p:nvSpPr>
        <p:spPr>
          <a:xfrm>
            <a:off x="3394545" y="5260835"/>
            <a:ext cx="657803" cy="369332"/>
          </a:xfrm>
          <a:prstGeom prst="rect">
            <a:avLst/>
          </a:prstGeom>
          <a:noFill/>
        </p:spPr>
        <p:txBody>
          <a:bodyPr wrap="square" rtlCol="0">
            <a:spAutoFit/>
          </a:bodyPr>
          <a:lstStyle/>
          <a:p>
            <a:r>
              <a:rPr lang="en-US" dirty="0"/>
              <a:t>Sp. F</a:t>
            </a:r>
          </a:p>
        </p:txBody>
      </p:sp>
      <p:sp>
        <p:nvSpPr>
          <p:cNvPr id="53" name="TextBox 52">
            <a:extLst>
              <a:ext uri="{FF2B5EF4-FFF2-40B4-BE49-F238E27FC236}">
                <a16:creationId xmlns:a16="http://schemas.microsoft.com/office/drawing/2014/main" id="{655C814F-F555-C959-CB6B-FA23E359759D}"/>
              </a:ext>
            </a:extLst>
          </p:cNvPr>
          <p:cNvSpPr txBox="1"/>
          <p:nvPr/>
        </p:nvSpPr>
        <p:spPr>
          <a:xfrm>
            <a:off x="402068" y="5276751"/>
            <a:ext cx="769076" cy="369332"/>
          </a:xfrm>
          <a:prstGeom prst="rect">
            <a:avLst/>
          </a:prstGeom>
          <a:noFill/>
        </p:spPr>
        <p:txBody>
          <a:bodyPr wrap="square" rtlCol="0">
            <a:spAutoFit/>
          </a:bodyPr>
          <a:lstStyle/>
          <a:p>
            <a:r>
              <a:rPr lang="en-US" dirty="0"/>
              <a:t>Sp. D</a:t>
            </a:r>
          </a:p>
        </p:txBody>
      </p:sp>
      <p:sp>
        <p:nvSpPr>
          <p:cNvPr id="54" name="TextBox 53">
            <a:extLst>
              <a:ext uri="{FF2B5EF4-FFF2-40B4-BE49-F238E27FC236}">
                <a16:creationId xmlns:a16="http://schemas.microsoft.com/office/drawing/2014/main" id="{5266BB29-B9A2-E5A2-08F7-6777D677FBFA}"/>
              </a:ext>
            </a:extLst>
          </p:cNvPr>
          <p:cNvSpPr txBox="1"/>
          <p:nvPr/>
        </p:nvSpPr>
        <p:spPr>
          <a:xfrm>
            <a:off x="6462711" y="4733416"/>
            <a:ext cx="3306524" cy="369332"/>
          </a:xfrm>
          <a:prstGeom prst="rect">
            <a:avLst/>
          </a:prstGeom>
          <a:noFill/>
        </p:spPr>
        <p:txBody>
          <a:bodyPr wrap="square" rtlCol="0">
            <a:spAutoFit/>
          </a:bodyPr>
          <a:lstStyle/>
          <a:p>
            <a:r>
              <a:rPr lang="en-US" dirty="0"/>
              <a:t>Area of Interest (AOI)</a:t>
            </a:r>
          </a:p>
        </p:txBody>
      </p:sp>
      <p:pic>
        <p:nvPicPr>
          <p:cNvPr id="55" name="Picture 54">
            <a:extLst>
              <a:ext uri="{FF2B5EF4-FFF2-40B4-BE49-F238E27FC236}">
                <a16:creationId xmlns:a16="http://schemas.microsoft.com/office/drawing/2014/main" id="{908F0EA7-7004-87ED-5EEC-1EAF1F0C23CE}"/>
              </a:ext>
            </a:extLst>
          </p:cNvPr>
          <p:cNvPicPr>
            <a:picLocks noChangeAspect="1"/>
          </p:cNvPicPr>
          <p:nvPr/>
        </p:nvPicPr>
        <p:blipFill>
          <a:blip r:embed="rId10"/>
          <a:stretch>
            <a:fillRect/>
          </a:stretch>
        </p:blipFill>
        <p:spPr>
          <a:xfrm>
            <a:off x="8446598" y="5211081"/>
            <a:ext cx="535458" cy="1498202"/>
          </a:xfrm>
          <a:prstGeom prst="rect">
            <a:avLst/>
          </a:prstGeom>
        </p:spPr>
      </p:pic>
      <p:pic>
        <p:nvPicPr>
          <p:cNvPr id="56" name="Picture 55">
            <a:extLst>
              <a:ext uri="{FF2B5EF4-FFF2-40B4-BE49-F238E27FC236}">
                <a16:creationId xmlns:a16="http://schemas.microsoft.com/office/drawing/2014/main" id="{E47612B4-3852-2596-FFD7-81C91448F3F8}"/>
              </a:ext>
            </a:extLst>
          </p:cNvPr>
          <p:cNvPicPr>
            <a:picLocks noChangeAspect="1"/>
          </p:cNvPicPr>
          <p:nvPr/>
        </p:nvPicPr>
        <p:blipFill>
          <a:blip r:embed="rId11"/>
          <a:stretch>
            <a:fillRect/>
          </a:stretch>
        </p:blipFill>
        <p:spPr>
          <a:xfrm>
            <a:off x="6576475" y="5023191"/>
            <a:ext cx="1756359" cy="1828974"/>
          </a:xfrm>
          <a:prstGeom prst="rect">
            <a:avLst/>
          </a:prstGeom>
        </p:spPr>
      </p:pic>
      <p:cxnSp>
        <p:nvCxnSpPr>
          <p:cNvPr id="57" name="Straight Arrow Connector 56">
            <a:extLst>
              <a:ext uri="{FF2B5EF4-FFF2-40B4-BE49-F238E27FC236}">
                <a16:creationId xmlns:a16="http://schemas.microsoft.com/office/drawing/2014/main" id="{055ACE90-D87E-17F7-9883-FD99905D171C}"/>
              </a:ext>
            </a:extLst>
          </p:cNvPr>
          <p:cNvCxnSpPr>
            <a:cxnSpLocks/>
          </p:cNvCxnSpPr>
          <p:nvPr/>
        </p:nvCxnSpPr>
        <p:spPr>
          <a:xfrm>
            <a:off x="5615526" y="5023100"/>
            <a:ext cx="1150227" cy="23546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a:extLst>
              <a:ext uri="{FF2B5EF4-FFF2-40B4-BE49-F238E27FC236}">
                <a16:creationId xmlns:a16="http://schemas.microsoft.com/office/drawing/2014/main" id="{2543ED0C-111C-109C-4989-46B65B7360DF}"/>
              </a:ext>
            </a:extLst>
          </p:cNvPr>
          <p:cNvCxnSpPr>
            <a:cxnSpLocks/>
          </p:cNvCxnSpPr>
          <p:nvPr/>
        </p:nvCxnSpPr>
        <p:spPr>
          <a:xfrm flipH="1">
            <a:off x="7832527" y="5023100"/>
            <a:ext cx="1068282" cy="29352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59" name="TextBox 58">
            <a:extLst>
              <a:ext uri="{FF2B5EF4-FFF2-40B4-BE49-F238E27FC236}">
                <a16:creationId xmlns:a16="http://schemas.microsoft.com/office/drawing/2014/main" id="{9D3BF95A-6499-7B50-ECCD-FF8BD0633874}"/>
              </a:ext>
            </a:extLst>
          </p:cNvPr>
          <p:cNvSpPr txBox="1"/>
          <p:nvPr/>
        </p:nvSpPr>
        <p:spPr>
          <a:xfrm>
            <a:off x="4650079" y="4776208"/>
            <a:ext cx="965447" cy="369332"/>
          </a:xfrm>
          <a:prstGeom prst="rect">
            <a:avLst/>
          </a:prstGeom>
          <a:noFill/>
        </p:spPr>
        <p:txBody>
          <a:bodyPr wrap="square" rtlCol="0">
            <a:spAutoFit/>
          </a:bodyPr>
          <a:lstStyle/>
          <a:p>
            <a:r>
              <a:rPr lang="en-US" b="1" dirty="0">
                <a:solidFill>
                  <a:srgbClr val="FF0000"/>
                </a:solidFill>
              </a:rPr>
              <a:t>PD = 65</a:t>
            </a:r>
          </a:p>
        </p:txBody>
      </p:sp>
      <p:sp>
        <p:nvSpPr>
          <p:cNvPr id="60" name="TextBox 59">
            <a:extLst>
              <a:ext uri="{FF2B5EF4-FFF2-40B4-BE49-F238E27FC236}">
                <a16:creationId xmlns:a16="http://schemas.microsoft.com/office/drawing/2014/main" id="{99174766-1A6D-E773-1F4D-204F71C3AC88}"/>
              </a:ext>
            </a:extLst>
          </p:cNvPr>
          <p:cNvSpPr txBox="1"/>
          <p:nvPr/>
        </p:nvSpPr>
        <p:spPr>
          <a:xfrm>
            <a:off x="8949015" y="4754101"/>
            <a:ext cx="1068281" cy="369332"/>
          </a:xfrm>
          <a:prstGeom prst="rect">
            <a:avLst/>
          </a:prstGeom>
          <a:noFill/>
        </p:spPr>
        <p:txBody>
          <a:bodyPr wrap="square" rtlCol="0">
            <a:spAutoFit/>
          </a:bodyPr>
          <a:lstStyle/>
          <a:p>
            <a:r>
              <a:rPr lang="en-US" b="1" dirty="0">
                <a:solidFill>
                  <a:srgbClr val="0000FF"/>
                </a:solidFill>
              </a:rPr>
              <a:t>PD = 120</a:t>
            </a:r>
          </a:p>
        </p:txBody>
      </p:sp>
      <p:cxnSp>
        <p:nvCxnSpPr>
          <p:cNvPr id="3" name="Straight Arrow Connector 2">
            <a:extLst>
              <a:ext uri="{FF2B5EF4-FFF2-40B4-BE49-F238E27FC236}">
                <a16:creationId xmlns:a16="http://schemas.microsoft.com/office/drawing/2014/main" id="{D126F8C7-249B-3E93-2D3A-5DDC7E4BC9BD}"/>
              </a:ext>
            </a:extLst>
          </p:cNvPr>
          <p:cNvCxnSpPr>
            <a:cxnSpLocks/>
          </p:cNvCxnSpPr>
          <p:nvPr/>
        </p:nvCxnSpPr>
        <p:spPr>
          <a:xfrm>
            <a:off x="2729533" y="2125570"/>
            <a:ext cx="502489" cy="431962"/>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C149E709-A07D-B5EC-9E62-4E1F08A005E1}"/>
              </a:ext>
            </a:extLst>
          </p:cNvPr>
          <p:cNvSpPr txBox="1"/>
          <p:nvPr/>
        </p:nvSpPr>
        <p:spPr>
          <a:xfrm>
            <a:off x="1736758" y="1775314"/>
            <a:ext cx="2913321" cy="369332"/>
          </a:xfrm>
          <a:prstGeom prst="rect">
            <a:avLst/>
          </a:prstGeom>
          <a:noFill/>
        </p:spPr>
        <p:txBody>
          <a:bodyPr wrap="square" rtlCol="0">
            <a:spAutoFit/>
          </a:bodyPr>
          <a:lstStyle/>
          <a:p>
            <a:r>
              <a:rPr lang="en-US" dirty="0"/>
              <a:t>Phylogenetic Clustering</a:t>
            </a:r>
          </a:p>
        </p:txBody>
      </p:sp>
      <p:sp>
        <p:nvSpPr>
          <p:cNvPr id="7" name="TextBox 6">
            <a:extLst>
              <a:ext uri="{FF2B5EF4-FFF2-40B4-BE49-F238E27FC236}">
                <a16:creationId xmlns:a16="http://schemas.microsoft.com/office/drawing/2014/main" id="{2F955BC8-B2C9-8D96-2F8E-E998AF2FBD01}"/>
              </a:ext>
            </a:extLst>
          </p:cNvPr>
          <p:cNvSpPr txBox="1"/>
          <p:nvPr/>
        </p:nvSpPr>
        <p:spPr>
          <a:xfrm>
            <a:off x="9289880" y="5248283"/>
            <a:ext cx="2913321" cy="369332"/>
          </a:xfrm>
          <a:prstGeom prst="rect">
            <a:avLst/>
          </a:prstGeom>
          <a:noFill/>
        </p:spPr>
        <p:txBody>
          <a:bodyPr wrap="square" rtlCol="0">
            <a:spAutoFit/>
          </a:bodyPr>
          <a:lstStyle/>
          <a:p>
            <a:r>
              <a:rPr lang="en-US" dirty="0"/>
              <a:t>Phylogenetic overdispersion</a:t>
            </a:r>
          </a:p>
        </p:txBody>
      </p:sp>
      <p:cxnSp>
        <p:nvCxnSpPr>
          <p:cNvPr id="8" name="Straight Arrow Connector 7">
            <a:extLst>
              <a:ext uri="{FF2B5EF4-FFF2-40B4-BE49-F238E27FC236}">
                <a16:creationId xmlns:a16="http://schemas.microsoft.com/office/drawing/2014/main" id="{2FBBF357-74B9-17F6-D2F7-21DD227F3DB9}"/>
              </a:ext>
            </a:extLst>
          </p:cNvPr>
          <p:cNvCxnSpPr>
            <a:cxnSpLocks/>
            <a:stCxn id="7" idx="0"/>
          </p:cNvCxnSpPr>
          <p:nvPr/>
        </p:nvCxnSpPr>
        <p:spPr>
          <a:xfrm flipH="1" flipV="1">
            <a:off x="10017296" y="4754101"/>
            <a:ext cx="729245" cy="494182"/>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2306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705D1-F6D7-2189-3B3F-7AF4D5DA8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A78C7-92AE-0E46-2826-7980AC2089D3}"/>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F9803BA2-19F4-FB65-C3B0-8D3FDCB91985}"/>
              </a:ext>
            </a:extLst>
          </p:cNvPr>
          <p:cNvSpPr txBox="1"/>
          <p:nvPr/>
        </p:nvSpPr>
        <p:spPr>
          <a:xfrm>
            <a:off x="136044" y="1369719"/>
            <a:ext cx="4724400" cy="1323439"/>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Weighted Endemism*</a:t>
            </a:r>
          </a:p>
          <a:p>
            <a:pPr marL="1371600" lvl="2" indent="-457200">
              <a:buFont typeface="Wingdings" panose="05000000000000000000" pitchFamily="2" charset="2"/>
              <a:buChar char="Ø"/>
            </a:pPr>
            <a:r>
              <a:rPr lang="en-US" sz="2400" b="1" dirty="0"/>
              <a:t>(1/Presence Cells)</a:t>
            </a:r>
          </a:p>
        </p:txBody>
      </p:sp>
      <p:pic>
        <p:nvPicPr>
          <p:cNvPr id="4" name="Picture 3">
            <a:extLst>
              <a:ext uri="{FF2B5EF4-FFF2-40B4-BE49-F238E27FC236}">
                <a16:creationId xmlns:a16="http://schemas.microsoft.com/office/drawing/2014/main" id="{0EED6D24-48E5-CA25-DA9C-BABB6540F92B}"/>
              </a:ext>
            </a:extLst>
          </p:cNvPr>
          <p:cNvPicPr>
            <a:picLocks noChangeAspect="1"/>
          </p:cNvPicPr>
          <p:nvPr/>
        </p:nvPicPr>
        <p:blipFill>
          <a:blip r:embed="rId3"/>
          <a:stretch>
            <a:fillRect/>
          </a:stretch>
        </p:blipFill>
        <p:spPr>
          <a:xfrm>
            <a:off x="7043715" y="2273520"/>
            <a:ext cx="2673487" cy="2724290"/>
          </a:xfrm>
          <a:prstGeom prst="rect">
            <a:avLst/>
          </a:prstGeom>
        </p:spPr>
      </p:pic>
      <p:sp>
        <p:nvSpPr>
          <p:cNvPr id="7" name="TextBox 6">
            <a:extLst>
              <a:ext uri="{FF2B5EF4-FFF2-40B4-BE49-F238E27FC236}">
                <a16:creationId xmlns:a16="http://schemas.microsoft.com/office/drawing/2014/main" id="{6D1977DB-69B9-BCEE-3853-550EF849CB31}"/>
              </a:ext>
            </a:extLst>
          </p:cNvPr>
          <p:cNvSpPr txBox="1"/>
          <p:nvPr/>
        </p:nvSpPr>
        <p:spPr>
          <a:xfrm>
            <a:off x="130708" y="3120919"/>
            <a:ext cx="4724400" cy="2246769"/>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	</a:t>
            </a:r>
            <a:r>
              <a:rPr lang="en-US" sz="2400" dirty="0"/>
              <a:t>Yellow = Presence</a:t>
            </a:r>
          </a:p>
          <a:p>
            <a:pPr lvl="1"/>
            <a:r>
              <a:rPr lang="en-US" sz="2400" dirty="0"/>
              <a:t>	Purple = Absence</a:t>
            </a:r>
          </a:p>
        </p:txBody>
      </p:sp>
      <p:pic>
        <p:nvPicPr>
          <p:cNvPr id="9" name="Picture 8">
            <a:extLst>
              <a:ext uri="{FF2B5EF4-FFF2-40B4-BE49-F238E27FC236}">
                <a16:creationId xmlns:a16="http://schemas.microsoft.com/office/drawing/2014/main" id="{6E47F684-785F-B05E-3595-1CE3A5852F03}"/>
              </a:ext>
            </a:extLst>
          </p:cNvPr>
          <p:cNvPicPr>
            <a:picLocks noChangeAspect="1"/>
          </p:cNvPicPr>
          <p:nvPr/>
        </p:nvPicPr>
        <p:blipFill>
          <a:blip r:embed="rId4"/>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252AFF5B-01C5-44C7-3568-309A13BF578A}"/>
              </a:ext>
            </a:extLst>
          </p:cNvPr>
          <p:cNvSpPr txBox="1"/>
          <p:nvPr/>
        </p:nvSpPr>
        <p:spPr>
          <a:xfrm>
            <a:off x="5130432" y="1907000"/>
            <a:ext cx="690362" cy="369332"/>
          </a:xfrm>
          <a:prstGeom prst="rect">
            <a:avLst/>
          </a:prstGeom>
          <a:noFill/>
        </p:spPr>
        <p:txBody>
          <a:bodyPr wrap="square" rtlCol="0">
            <a:spAutoFit/>
          </a:bodyPr>
          <a:lstStyle/>
          <a:p>
            <a:r>
              <a:rPr lang="en-US" dirty="0"/>
              <a:t>Sp. A </a:t>
            </a:r>
          </a:p>
        </p:txBody>
      </p:sp>
      <p:pic>
        <p:nvPicPr>
          <p:cNvPr id="12" name="Picture 11">
            <a:extLst>
              <a:ext uri="{FF2B5EF4-FFF2-40B4-BE49-F238E27FC236}">
                <a16:creationId xmlns:a16="http://schemas.microsoft.com/office/drawing/2014/main" id="{1778C406-547F-6E45-CBD6-F0A6D92B1654}"/>
              </a:ext>
            </a:extLst>
          </p:cNvPr>
          <p:cNvPicPr>
            <a:picLocks noChangeAspect="1"/>
          </p:cNvPicPr>
          <p:nvPr/>
        </p:nvPicPr>
        <p:blipFill>
          <a:blip r:embed="rId5"/>
          <a:stretch>
            <a:fillRect/>
          </a:stretch>
        </p:blipFill>
        <p:spPr>
          <a:xfrm>
            <a:off x="4755563" y="3740510"/>
            <a:ext cx="1441524" cy="1362145"/>
          </a:xfrm>
          <a:prstGeom prst="rect">
            <a:avLst/>
          </a:prstGeom>
        </p:spPr>
      </p:pic>
      <p:sp>
        <p:nvSpPr>
          <p:cNvPr id="18" name="TextBox 17">
            <a:extLst>
              <a:ext uri="{FF2B5EF4-FFF2-40B4-BE49-F238E27FC236}">
                <a16:creationId xmlns:a16="http://schemas.microsoft.com/office/drawing/2014/main" id="{6AD55E53-358B-0489-9D8C-6A566A1D16F8}"/>
              </a:ext>
            </a:extLst>
          </p:cNvPr>
          <p:cNvSpPr txBox="1"/>
          <p:nvPr/>
        </p:nvSpPr>
        <p:spPr>
          <a:xfrm>
            <a:off x="5125608" y="3453598"/>
            <a:ext cx="690362" cy="369332"/>
          </a:xfrm>
          <a:prstGeom prst="rect">
            <a:avLst/>
          </a:prstGeom>
          <a:noFill/>
        </p:spPr>
        <p:txBody>
          <a:bodyPr wrap="square" rtlCol="0">
            <a:spAutoFit/>
          </a:bodyPr>
          <a:lstStyle/>
          <a:p>
            <a:r>
              <a:rPr lang="en-US" dirty="0"/>
              <a:t>Sp. B </a:t>
            </a:r>
          </a:p>
        </p:txBody>
      </p:sp>
      <p:pic>
        <p:nvPicPr>
          <p:cNvPr id="21" name="Picture 20">
            <a:extLst>
              <a:ext uri="{FF2B5EF4-FFF2-40B4-BE49-F238E27FC236}">
                <a16:creationId xmlns:a16="http://schemas.microsoft.com/office/drawing/2014/main" id="{4CEF1682-5F42-017F-58D0-93B225AF404D}"/>
              </a:ext>
            </a:extLst>
          </p:cNvPr>
          <p:cNvPicPr>
            <a:picLocks noChangeAspect="1"/>
          </p:cNvPicPr>
          <p:nvPr/>
        </p:nvPicPr>
        <p:blipFill>
          <a:blip r:embed="rId6"/>
          <a:stretch>
            <a:fillRect/>
          </a:stretch>
        </p:blipFill>
        <p:spPr>
          <a:xfrm>
            <a:off x="4821165" y="5289305"/>
            <a:ext cx="1299247" cy="1274141"/>
          </a:xfrm>
          <a:prstGeom prst="rect">
            <a:avLst/>
          </a:prstGeom>
        </p:spPr>
      </p:pic>
      <p:sp>
        <p:nvSpPr>
          <p:cNvPr id="23" name="TextBox 22">
            <a:extLst>
              <a:ext uri="{FF2B5EF4-FFF2-40B4-BE49-F238E27FC236}">
                <a16:creationId xmlns:a16="http://schemas.microsoft.com/office/drawing/2014/main" id="{F87278B1-53B7-8C61-7226-1387B7675D85}"/>
              </a:ext>
            </a:extLst>
          </p:cNvPr>
          <p:cNvSpPr txBox="1"/>
          <p:nvPr/>
        </p:nvSpPr>
        <p:spPr>
          <a:xfrm>
            <a:off x="5125608" y="4997810"/>
            <a:ext cx="690362" cy="369332"/>
          </a:xfrm>
          <a:prstGeom prst="rect">
            <a:avLst/>
          </a:prstGeom>
          <a:noFill/>
        </p:spPr>
        <p:txBody>
          <a:bodyPr wrap="square" rtlCol="0">
            <a:spAutoFit/>
          </a:bodyPr>
          <a:lstStyle/>
          <a:p>
            <a:r>
              <a:rPr lang="en-US" dirty="0"/>
              <a:t>Sp. C </a:t>
            </a:r>
          </a:p>
        </p:txBody>
      </p:sp>
      <p:pic>
        <p:nvPicPr>
          <p:cNvPr id="25" name="Picture 24">
            <a:extLst>
              <a:ext uri="{FF2B5EF4-FFF2-40B4-BE49-F238E27FC236}">
                <a16:creationId xmlns:a16="http://schemas.microsoft.com/office/drawing/2014/main" id="{EB6F9312-090A-4EF5-00AE-E9701FFC7095}"/>
              </a:ext>
            </a:extLst>
          </p:cNvPr>
          <p:cNvPicPr>
            <a:picLocks noChangeAspect="1"/>
          </p:cNvPicPr>
          <p:nvPr/>
        </p:nvPicPr>
        <p:blipFill>
          <a:blip r:embed="rId7"/>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0BD9FCF6-00E2-A5CF-EEF3-4A3783A0B746}"/>
              </a:ext>
            </a:extLst>
          </p:cNvPr>
          <p:cNvPicPr>
            <a:picLocks noChangeAspect="1"/>
          </p:cNvPicPr>
          <p:nvPr/>
        </p:nvPicPr>
        <p:blipFill>
          <a:blip r:embed="rId8"/>
          <a:stretch>
            <a:fillRect/>
          </a:stretch>
        </p:blipFill>
        <p:spPr>
          <a:xfrm>
            <a:off x="8160477" y="5273389"/>
            <a:ext cx="1239081" cy="1257855"/>
          </a:xfrm>
          <a:prstGeom prst="rect">
            <a:avLst/>
          </a:prstGeom>
        </p:spPr>
      </p:pic>
      <p:sp>
        <p:nvSpPr>
          <p:cNvPr id="31" name="TextBox 30">
            <a:extLst>
              <a:ext uri="{FF2B5EF4-FFF2-40B4-BE49-F238E27FC236}">
                <a16:creationId xmlns:a16="http://schemas.microsoft.com/office/drawing/2014/main" id="{B4BD608A-4186-67C1-F99C-55C3688F004F}"/>
              </a:ext>
            </a:extLst>
          </p:cNvPr>
          <p:cNvSpPr txBox="1"/>
          <p:nvPr/>
        </p:nvSpPr>
        <p:spPr>
          <a:xfrm>
            <a:off x="8437311" y="4952870"/>
            <a:ext cx="657803" cy="369332"/>
          </a:xfrm>
          <a:prstGeom prst="rect">
            <a:avLst/>
          </a:prstGeom>
          <a:noFill/>
        </p:spPr>
        <p:txBody>
          <a:bodyPr wrap="square" rtlCol="0">
            <a:spAutoFit/>
          </a:bodyPr>
          <a:lstStyle/>
          <a:p>
            <a:r>
              <a:rPr lang="en-US" dirty="0"/>
              <a:t>Sp. E</a:t>
            </a:r>
          </a:p>
        </p:txBody>
      </p:sp>
      <p:pic>
        <p:nvPicPr>
          <p:cNvPr id="41" name="Picture 40">
            <a:extLst>
              <a:ext uri="{FF2B5EF4-FFF2-40B4-BE49-F238E27FC236}">
                <a16:creationId xmlns:a16="http://schemas.microsoft.com/office/drawing/2014/main" id="{7262D848-F429-1C37-1701-F86127321906}"/>
              </a:ext>
            </a:extLst>
          </p:cNvPr>
          <p:cNvPicPr>
            <a:picLocks noChangeAspect="1"/>
          </p:cNvPicPr>
          <p:nvPr/>
        </p:nvPicPr>
        <p:blipFill>
          <a:blip r:embed="rId9"/>
          <a:stretch>
            <a:fillRect/>
          </a:stretch>
        </p:blipFill>
        <p:spPr>
          <a:xfrm>
            <a:off x="9766983" y="5275390"/>
            <a:ext cx="1300411" cy="1288056"/>
          </a:xfrm>
          <a:prstGeom prst="rect">
            <a:avLst/>
          </a:prstGeom>
        </p:spPr>
      </p:pic>
      <p:sp>
        <p:nvSpPr>
          <p:cNvPr id="43" name="TextBox 42">
            <a:extLst>
              <a:ext uri="{FF2B5EF4-FFF2-40B4-BE49-F238E27FC236}">
                <a16:creationId xmlns:a16="http://schemas.microsoft.com/office/drawing/2014/main" id="{A39BCC39-1403-1AD1-C00A-3BBC9B2824CC}"/>
              </a:ext>
            </a:extLst>
          </p:cNvPr>
          <p:cNvSpPr txBox="1"/>
          <p:nvPr/>
        </p:nvSpPr>
        <p:spPr>
          <a:xfrm>
            <a:off x="10064570" y="4966281"/>
            <a:ext cx="657803" cy="369332"/>
          </a:xfrm>
          <a:prstGeom prst="rect">
            <a:avLst/>
          </a:prstGeom>
          <a:noFill/>
        </p:spPr>
        <p:txBody>
          <a:bodyPr wrap="square" rtlCol="0">
            <a:spAutoFit/>
          </a:bodyPr>
          <a:lstStyle/>
          <a:p>
            <a:r>
              <a:rPr lang="en-US" dirty="0"/>
              <a:t>Sp. F</a:t>
            </a:r>
          </a:p>
        </p:txBody>
      </p:sp>
      <p:pic>
        <p:nvPicPr>
          <p:cNvPr id="5" name="Picture 4">
            <a:extLst>
              <a:ext uri="{FF2B5EF4-FFF2-40B4-BE49-F238E27FC236}">
                <a16:creationId xmlns:a16="http://schemas.microsoft.com/office/drawing/2014/main" id="{F01B6FAA-744E-8B91-B57A-CAB191F3AEBB}"/>
              </a:ext>
            </a:extLst>
          </p:cNvPr>
          <p:cNvPicPr>
            <a:picLocks noChangeAspect="1"/>
          </p:cNvPicPr>
          <p:nvPr/>
        </p:nvPicPr>
        <p:blipFill>
          <a:blip r:embed="rId10"/>
          <a:stretch>
            <a:fillRect/>
          </a:stretch>
        </p:blipFill>
        <p:spPr>
          <a:xfrm>
            <a:off x="9884912" y="2490267"/>
            <a:ext cx="1022425" cy="1869579"/>
          </a:xfrm>
          <a:prstGeom prst="rect">
            <a:avLst/>
          </a:prstGeom>
        </p:spPr>
      </p:pic>
      <p:sp>
        <p:nvSpPr>
          <p:cNvPr id="14" name="TextBox 13">
            <a:extLst>
              <a:ext uri="{FF2B5EF4-FFF2-40B4-BE49-F238E27FC236}">
                <a16:creationId xmlns:a16="http://schemas.microsoft.com/office/drawing/2014/main" id="{AB7F90E4-8A1A-B1A6-2F28-36A03FA6E0A0}"/>
              </a:ext>
            </a:extLst>
          </p:cNvPr>
          <p:cNvSpPr txBox="1"/>
          <p:nvPr/>
        </p:nvSpPr>
        <p:spPr>
          <a:xfrm>
            <a:off x="6782610" y="4966281"/>
            <a:ext cx="769076" cy="369332"/>
          </a:xfrm>
          <a:prstGeom prst="rect">
            <a:avLst/>
          </a:prstGeom>
          <a:noFill/>
        </p:spPr>
        <p:txBody>
          <a:bodyPr wrap="square" rtlCol="0">
            <a:spAutoFit/>
          </a:bodyPr>
          <a:lstStyle/>
          <a:p>
            <a:r>
              <a:rPr lang="en-US" dirty="0"/>
              <a:t>Sp. D</a:t>
            </a:r>
          </a:p>
        </p:txBody>
      </p:sp>
      <p:sp>
        <p:nvSpPr>
          <p:cNvPr id="16" name="TextBox 15">
            <a:extLst>
              <a:ext uri="{FF2B5EF4-FFF2-40B4-BE49-F238E27FC236}">
                <a16:creationId xmlns:a16="http://schemas.microsoft.com/office/drawing/2014/main" id="{242C7C81-B1D7-F32A-F06C-AB19FC5C3B36}"/>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CA26815F-64B7-039C-95C1-2D027B13D616}"/>
              </a:ext>
            </a:extLst>
          </p:cNvPr>
          <p:cNvPicPr>
            <a:picLocks noChangeAspect="1"/>
          </p:cNvPicPr>
          <p:nvPr/>
        </p:nvPicPr>
        <p:blipFill>
          <a:blip r:embed="rId11"/>
          <a:stretch>
            <a:fillRect/>
          </a:stretch>
        </p:blipFill>
        <p:spPr>
          <a:xfrm>
            <a:off x="4835460" y="2305978"/>
            <a:ext cx="1242569" cy="1242569"/>
          </a:xfrm>
          <a:prstGeom prst="rect">
            <a:avLst/>
          </a:prstGeom>
        </p:spPr>
      </p:pic>
      <p:pic>
        <p:nvPicPr>
          <p:cNvPr id="24" name="Picture 23">
            <a:extLst>
              <a:ext uri="{FF2B5EF4-FFF2-40B4-BE49-F238E27FC236}">
                <a16:creationId xmlns:a16="http://schemas.microsoft.com/office/drawing/2014/main" id="{CA540274-273D-F540-5523-EFBC2ED4E572}"/>
              </a:ext>
            </a:extLst>
          </p:cNvPr>
          <p:cNvPicPr>
            <a:picLocks noChangeAspect="1"/>
          </p:cNvPicPr>
          <p:nvPr/>
        </p:nvPicPr>
        <p:blipFill>
          <a:blip r:embed="rId12"/>
          <a:stretch>
            <a:fillRect/>
          </a:stretch>
        </p:blipFill>
        <p:spPr>
          <a:xfrm>
            <a:off x="7141106" y="2384650"/>
            <a:ext cx="2533780" cy="2502029"/>
          </a:xfrm>
          <a:prstGeom prst="rect">
            <a:avLst/>
          </a:prstGeom>
        </p:spPr>
      </p:pic>
    </p:spTree>
    <p:extLst>
      <p:ext uri="{BB962C8B-B14F-4D97-AF65-F5344CB8AC3E}">
        <p14:creationId xmlns:p14="http://schemas.microsoft.com/office/powerpoint/2010/main" val="3166153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5BD21-0001-051F-DBAB-CA8B84033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F2C9D-2358-AD47-4E4D-4E574482D106}"/>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58997B76-63BE-87B1-7C58-7124796B4D70}"/>
              </a:ext>
            </a:extLst>
          </p:cNvPr>
          <p:cNvSpPr txBox="1"/>
          <p:nvPr/>
        </p:nvSpPr>
        <p:spPr>
          <a:xfrm>
            <a:off x="136044" y="1369719"/>
            <a:ext cx="4724400" cy="1323439"/>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Weighted Endemism*</a:t>
            </a:r>
          </a:p>
          <a:p>
            <a:pPr marL="1371600" lvl="2" indent="-457200">
              <a:buFont typeface="Wingdings" panose="05000000000000000000" pitchFamily="2" charset="2"/>
              <a:buChar char="Ø"/>
            </a:pPr>
            <a:r>
              <a:rPr lang="en-US" sz="2400" b="1" dirty="0"/>
              <a:t>(1/Presence Cells)</a:t>
            </a:r>
          </a:p>
        </p:txBody>
      </p:sp>
      <p:pic>
        <p:nvPicPr>
          <p:cNvPr id="4" name="Picture 3">
            <a:extLst>
              <a:ext uri="{FF2B5EF4-FFF2-40B4-BE49-F238E27FC236}">
                <a16:creationId xmlns:a16="http://schemas.microsoft.com/office/drawing/2014/main" id="{84A4494D-6F63-2559-4790-9DE6537A921F}"/>
              </a:ext>
            </a:extLst>
          </p:cNvPr>
          <p:cNvPicPr>
            <a:picLocks noChangeAspect="1"/>
          </p:cNvPicPr>
          <p:nvPr/>
        </p:nvPicPr>
        <p:blipFill>
          <a:blip r:embed="rId3"/>
          <a:stretch>
            <a:fillRect/>
          </a:stretch>
        </p:blipFill>
        <p:spPr>
          <a:xfrm>
            <a:off x="7043715" y="2273520"/>
            <a:ext cx="2673487" cy="2724290"/>
          </a:xfrm>
          <a:prstGeom prst="rect">
            <a:avLst/>
          </a:prstGeom>
        </p:spPr>
      </p:pic>
      <p:sp>
        <p:nvSpPr>
          <p:cNvPr id="7" name="TextBox 6">
            <a:extLst>
              <a:ext uri="{FF2B5EF4-FFF2-40B4-BE49-F238E27FC236}">
                <a16:creationId xmlns:a16="http://schemas.microsoft.com/office/drawing/2014/main" id="{458FF82F-E523-C387-7B75-3C4A9364B9E6}"/>
              </a:ext>
            </a:extLst>
          </p:cNvPr>
          <p:cNvSpPr txBox="1"/>
          <p:nvPr/>
        </p:nvSpPr>
        <p:spPr>
          <a:xfrm>
            <a:off x="130708" y="3120919"/>
            <a:ext cx="4724400" cy="2246769"/>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	</a:t>
            </a:r>
            <a:r>
              <a:rPr lang="en-US" sz="2400" dirty="0"/>
              <a:t>Yellow = Presence</a:t>
            </a:r>
          </a:p>
          <a:p>
            <a:pPr lvl="1"/>
            <a:r>
              <a:rPr lang="en-US" sz="2400" dirty="0"/>
              <a:t>	Purple = Absence</a:t>
            </a:r>
          </a:p>
        </p:txBody>
      </p:sp>
      <p:pic>
        <p:nvPicPr>
          <p:cNvPr id="9" name="Picture 8">
            <a:extLst>
              <a:ext uri="{FF2B5EF4-FFF2-40B4-BE49-F238E27FC236}">
                <a16:creationId xmlns:a16="http://schemas.microsoft.com/office/drawing/2014/main" id="{3F240705-7A6F-4C10-C222-CD70169FE24F}"/>
              </a:ext>
            </a:extLst>
          </p:cNvPr>
          <p:cNvPicPr>
            <a:picLocks noChangeAspect="1"/>
          </p:cNvPicPr>
          <p:nvPr/>
        </p:nvPicPr>
        <p:blipFill>
          <a:blip r:embed="rId4"/>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B676FBB3-068B-1897-2C15-D01A3EE243A1}"/>
              </a:ext>
            </a:extLst>
          </p:cNvPr>
          <p:cNvSpPr txBox="1"/>
          <p:nvPr/>
        </p:nvSpPr>
        <p:spPr>
          <a:xfrm>
            <a:off x="4673092" y="1916820"/>
            <a:ext cx="1710062" cy="369332"/>
          </a:xfrm>
          <a:prstGeom prst="rect">
            <a:avLst/>
          </a:prstGeom>
          <a:noFill/>
        </p:spPr>
        <p:txBody>
          <a:bodyPr wrap="square" rtlCol="0">
            <a:spAutoFit/>
          </a:bodyPr>
          <a:lstStyle/>
          <a:p>
            <a:r>
              <a:rPr lang="en-US" b="1" dirty="0"/>
              <a:t>Sp. A =  1/5 WE</a:t>
            </a:r>
          </a:p>
        </p:txBody>
      </p:sp>
      <p:pic>
        <p:nvPicPr>
          <p:cNvPr id="12" name="Picture 11">
            <a:extLst>
              <a:ext uri="{FF2B5EF4-FFF2-40B4-BE49-F238E27FC236}">
                <a16:creationId xmlns:a16="http://schemas.microsoft.com/office/drawing/2014/main" id="{859C94D9-20E3-B6FE-0E6C-C7DE41011306}"/>
              </a:ext>
            </a:extLst>
          </p:cNvPr>
          <p:cNvPicPr>
            <a:picLocks noChangeAspect="1"/>
          </p:cNvPicPr>
          <p:nvPr/>
        </p:nvPicPr>
        <p:blipFill>
          <a:blip r:embed="rId5"/>
          <a:stretch>
            <a:fillRect/>
          </a:stretch>
        </p:blipFill>
        <p:spPr>
          <a:xfrm>
            <a:off x="4755563" y="3740510"/>
            <a:ext cx="1441524" cy="1362145"/>
          </a:xfrm>
          <a:prstGeom prst="rect">
            <a:avLst/>
          </a:prstGeom>
        </p:spPr>
      </p:pic>
      <p:pic>
        <p:nvPicPr>
          <p:cNvPr id="21" name="Picture 20">
            <a:extLst>
              <a:ext uri="{FF2B5EF4-FFF2-40B4-BE49-F238E27FC236}">
                <a16:creationId xmlns:a16="http://schemas.microsoft.com/office/drawing/2014/main" id="{A23C82DC-0273-D648-8335-A7D8AB113B33}"/>
              </a:ext>
            </a:extLst>
          </p:cNvPr>
          <p:cNvPicPr>
            <a:picLocks noChangeAspect="1"/>
          </p:cNvPicPr>
          <p:nvPr/>
        </p:nvPicPr>
        <p:blipFill>
          <a:blip r:embed="rId6"/>
          <a:stretch>
            <a:fillRect/>
          </a:stretch>
        </p:blipFill>
        <p:spPr>
          <a:xfrm>
            <a:off x="4821165" y="5289305"/>
            <a:ext cx="1299247" cy="1274141"/>
          </a:xfrm>
          <a:prstGeom prst="rect">
            <a:avLst/>
          </a:prstGeom>
        </p:spPr>
      </p:pic>
      <p:pic>
        <p:nvPicPr>
          <p:cNvPr id="25" name="Picture 24">
            <a:extLst>
              <a:ext uri="{FF2B5EF4-FFF2-40B4-BE49-F238E27FC236}">
                <a16:creationId xmlns:a16="http://schemas.microsoft.com/office/drawing/2014/main" id="{818B1057-459C-F486-9675-5164965EB0B6}"/>
              </a:ext>
            </a:extLst>
          </p:cNvPr>
          <p:cNvPicPr>
            <a:picLocks noChangeAspect="1"/>
          </p:cNvPicPr>
          <p:nvPr/>
        </p:nvPicPr>
        <p:blipFill>
          <a:blip r:embed="rId7"/>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46003601-3661-87A2-DC93-1E5E9C2D0C1B}"/>
              </a:ext>
            </a:extLst>
          </p:cNvPr>
          <p:cNvPicPr>
            <a:picLocks noChangeAspect="1"/>
          </p:cNvPicPr>
          <p:nvPr/>
        </p:nvPicPr>
        <p:blipFill>
          <a:blip r:embed="rId8"/>
          <a:stretch>
            <a:fillRect/>
          </a:stretch>
        </p:blipFill>
        <p:spPr>
          <a:xfrm>
            <a:off x="8160477" y="5273389"/>
            <a:ext cx="1239081" cy="1257855"/>
          </a:xfrm>
          <a:prstGeom prst="rect">
            <a:avLst/>
          </a:prstGeom>
        </p:spPr>
      </p:pic>
      <p:pic>
        <p:nvPicPr>
          <p:cNvPr id="41" name="Picture 40">
            <a:extLst>
              <a:ext uri="{FF2B5EF4-FFF2-40B4-BE49-F238E27FC236}">
                <a16:creationId xmlns:a16="http://schemas.microsoft.com/office/drawing/2014/main" id="{C5E71AA5-CC76-AF4F-93FB-E2768E8AB1DF}"/>
              </a:ext>
            </a:extLst>
          </p:cNvPr>
          <p:cNvPicPr>
            <a:picLocks noChangeAspect="1"/>
          </p:cNvPicPr>
          <p:nvPr/>
        </p:nvPicPr>
        <p:blipFill>
          <a:blip r:embed="rId9"/>
          <a:stretch>
            <a:fillRect/>
          </a:stretch>
        </p:blipFill>
        <p:spPr>
          <a:xfrm>
            <a:off x="9766983" y="5275390"/>
            <a:ext cx="1300411" cy="1288056"/>
          </a:xfrm>
          <a:prstGeom prst="rect">
            <a:avLst/>
          </a:prstGeom>
        </p:spPr>
      </p:pic>
      <p:sp>
        <p:nvSpPr>
          <p:cNvPr id="16" name="TextBox 15">
            <a:extLst>
              <a:ext uri="{FF2B5EF4-FFF2-40B4-BE49-F238E27FC236}">
                <a16:creationId xmlns:a16="http://schemas.microsoft.com/office/drawing/2014/main" id="{85D69F17-601F-9A26-225B-F0D00766D965}"/>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3D094069-C7D4-4536-DC99-97F2348EB5D2}"/>
              </a:ext>
            </a:extLst>
          </p:cNvPr>
          <p:cNvPicPr>
            <a:picLocks noChangeAspect="1"/>
          </p:cNvPicPr>
          <p:nvPr/>
        </p:nvPicPr>
        <p:blipFill>
          <a:blip r:embed="rId10"/>
          <a:stretch>
            <a:fillRect/>
          </a:stretch>
        </p:blipFill>
        <p:spPr>
          <a:xfrm>
            <a:off x="4835460" y="2305978"/>
            <a:ext cx="1242569" cy="1242569"/>
          </a:xfrm>
          <a:prstGeom prst="rect">
            <a:avLst/>
          </a:prstGeom>
        </p:spPr>
      </p:pic>
      <p:sp>
        <p:nvSpPr>
          <p:cNvPr id="6" name="TextBox 5">
            <a:extLst>
              <a:ext uri="{FF2B5EF4-FFF2-40B4-BE49-F238E27FC236}">
                <a16:creationId xmlns:a16="http://schemas.microsoft.com/office/drawing/2014/main" id="{D9EDE86C-FAE8-B2D1-43FA-DFFB5B5B8AF1}"/>
              </a:ext>
            </a:extLst>
          </p:cNvPr>
          <p:cNvSpPr txBox="1"/>
          <p:nvPr/>
        </p:nvSpPr>
        <p:spPr>
          <a:xfrm>
            <a:off x="4673092" y="3496398"/>
            <a:ext cx="1627842" cy="369332"/>
          </a:xfrm>
          <a:prstGeom prst="rect">
            <a:avLst/>
          </a:prstGeom>
          <a:noFill/>
        </p:spPr>
        <p:txBody>
          <a:bodyPr wrap="square" rtlCol="0">
            <a:spAutoFit/>
          </a:bodyPr>
          <a:lstStyle/>
          <a:p>
            <a:r>
              <a:rPr lang="en-US" b="1" dirty="0"/>
              <a:t>Sp. B =  1/4 WE</a:t>
            </a:r>
          </a:p>
        </p:txBody>
      </p:sp>
      <p:sp>
        <p:nvSpPr>
          <p:cNvPr id="11" name="TextBox 10">
            <a:extLst>
              <a:ext uri="{FF2B5EF4-FFF2-40B4-BE49-F238E27FC236}">
                <a16:creationId xmlns:a16="http://schemas.microsoft.com/office/drawing/2014/main" id="{53F91AF0-B944-EAB6-AE9D-EF0DA3F594CC}"/>
              </a:ext>
            </a:extLst>
          </p:cNvPr>
          <p:cNvSpPr txBox="1"/>
          <p:nvPr/>
        </p:nvSpPr>
        <p:spPr>
          <a:xfrm>
            <a:off x="4667750" y="4998356"/>
            <a:ext cx="1627842" cy="369332"/>
          </a:xfrm>
          <a:prstGeom prst="rect">
            <a:avLst/>
          </a:prstGeom>
          <a:noFill/>
        </p:spPr>
        <p:txBody>
          <a:bodyPr wrap="square" rtlCol="0">
            <a:spAutoFit/>
          </a:bodyPr>
          <a:lstStyle/>
          <a:p>
            <a:r>
              <a:rPr lang="en-US" dirty="0"/>
              <a:t>Sp. C =  1/5 WE</a:t>
            </a:r>
          </a:p>
        </p:txBody>
      </p:sp>
      <p:sp>
        <p:nvSpPr>
          <p:cNvPr id="15" name="TextBox 14">
            <a:extLst>
              <a:ext uri="{FF2B5EF4-FFF2-40B4-BE49-F238E27FC236}">
                <a16:creationId xmlns:a16="http://schemas.microsoft.com/office/drawing/2014/main" id="{6C2CA424-A6F0-8A58-49FD-A54A541D269C}"/>
              </a:ext>
            </a:extLst>
          </p:cNvPr>
          <p:cNvSpPr txBox="1"/>
          <p:nvPr/>
        </p:nvSpPr>
        <p:spPr>
          <a:xfrm>
            <a:off x="6307220" y="4989132"/>
            <a:ext cx="1790357" cy="369332"/>
          </a:xfrm>
          <a:prstGeom prst="rect">
            <a:avLst/>
          </a:prstGeom>
          <a:noFill/>
        </p:spPr>
        <p:txBody>
          <a:bodyPr wrap="square" rtlCol="0">
            <a:spAutoFit/>
          </a:bodyPr>
          <a:lstStyle/>
          <a:p>
            <a:r>
              <a:rPr lang="en-US" dirty="0"/>
              <a:t>Sp. D =  1/11 WE</a:t>
            </a:r>
          </a:p>
        </p:txBody>
      </p:sp>
      <p:sp>
        <p:nvSpPr>
          <p:cNvPr id="22" name="TextBox 21">
            <a:extLst>
              <a:ext uri="{FF2B5EF4-FFF2-40B4-BE49-F238E27FC236}">
                <a16:creationId xmlns:a16="http://schemas.microsoft.com/office/drawing/2014/main" id="{FAEE09F4-D672-ACA8-E65D-A87B7CF29679}"/>
              </a:ext>
            </a:extLst>
          </p:cNvPr>
          <p:cNvSpPr txBox="1"/>
          <p:nvPr/>
        </p:nvSpPr>
        <p:spPr>
          <a:xfrm>
            <a:off x="8010700" y="4997809"/>
            <a:ext cx="1790357" cy="369332"/>
          </a:xfrm>
          <a:prstGeom prst="rect">
            <a:avLst/>
          </a:prstGeom>
          <a:noFill/>
        </p:spPr>
        <p:txBody>
          <a:bodyPr wrap="square" rtlCol="0">
            <a:spAutoFit/>
          </a:bodyPr>
          <a:lstStyle/>
          <a:p>
            <a:r>
              <a:rPr lang="en-US" b="1" dirty="0"/>
              <a:t>Sp. E =  1/3 WE</a:t>
            </a:r>
          </a:p>
        </p:txBody>
      </p:sp>
      <p:sp>
        <p:nvSpPr>
          <p:cNvPr id="27" name="TextBox 26">
            <a:extLst>
              <a:ext uri="{FF2B5EF4-FFF2-40B4-BE49-F238E27FC236}">
                <a16:creationId xmlns:a16="http://schemas.microsoft.com/office/drawing/2014/main" id="{B87DA548-9BF2-56EA-8545-416091B12E78}"/>
              </a:ext>
            </a:extLst>
          </p:cNvPr>
          <p:cNvSpPr txBox="1"/>
          <p:nvPr/>
        </p:nvSpPr>
        <p:spPr>
          <a:xfrm>
            <a:off x="9637960" y="4975119"/>
            <a:ext cx="1790357" cy="369332"/>
          </a:xfrm>
          <a:prstGeom prst="rect">
            <a:avLst/>
          </a:prstGeom>
          <a:noFill/>
        </p:spPr>
        <p:txBody>
          <a:bodyPr wrap="square" rtlCol="0">
            <a:spAutoFit/>
          </a:bodyPr>
          <a:lstStyle/>
          <a:p>
            <a:r>
              <a:rPr lang="en-US" dirty="0"/>
              <a:t>Sp. F =  1/3 WE</a:t>
            </a:r>
          </a:p>
        </p:txBody>
      </p:sp>
      <p:pic>
        <p:nvPicPr>
          <p:cNvPr id="30" name="Picture 29">
            <a:extLst>
              <a:ext uri="{FF2B5EF4-FFF2-40B4-BE49-F238E27FC236}">
                <a16:creationId xmlns:a16="http://schemas.microsoft.com/office/drawing/2014/main" id="{994B1CBA-8A81-4755-7A8F-869D1B8866B7}"/>
              </a:ext>
            </a:extLst>
          </p:cNvPr>
          <p:cNvPicPr>
            <a:picLocks noChangeAspect="1"/>
          </p:cNvPicPr>
          <p:nvPr/>
        </p:nvPicPr>
        <p:blipFill>
          <a:blip r:embed="rId11"/>
          <a:stretch>
            <a:fillRect/>
          </a:stretch>
        </p:blipFill>
        <p:spPr>
          <a:xfrm>
            <a:off x="7132243" y="2373962"/>
            <a:ext cx="2933851" cy="2514729"/>
          </a:xfrm>
          <a:prstGeom prst="rect">
            <a:avLst/>
          </a:prstGeom>
        </p:spPr>
      </p:pic>
      <p:pic>
        <p:nvPicPr>
          <p:cNvPr id="33" name="Picture 32">
            <a:extLst>
              <a:ext uri="{FF2B5EF4-FFF2-40B4-BE49-F238E27FC236}">
                <a16:creationId xmlns:a16="http://schemas.microsoft.com/office/drawing/2014/main" id="{F5961C6A-87CB-29B9-11F9-7F31E5B1E7EB}"/>
              </a:ext>
            </a:extLst>
          </p:cNvPr>
          <p:cNvPicPr>
            <a:picLocks noChangeAspect="1"/>
          </p:cNvPicPr>
          <p:nvPr/>
        </p:nvPicPr>
        <p:blipFill>
          <a:blip r:embed="rId12"/>
          <a:stretch>
            <a:fillRect/>
          </a:stretch>
        </p:blipFill>
        <p:spPr>
          <a:xfrm>
            <a:off x="10099953" y="3437610"/>
            <a:ext cx="1428823" cy="171459"/>
          </a:xfrm>
          <a:prstGeom prst="rect">
            <a:avLst/>
          </a:prstGeom>
        </p:spPr>
      </p:pic>
      <p:cxnSp>
        <p:nvCxnSpPr>
          <p:cNvPr id="34" name="Straight Arrow Connector 33">
            <a:extLst>
              <a:ext uri="{FF2B5EF4-FFF2-40B4-BE49-F238E27FC236}">
                <a16:creationId xmlns:a16="http://schemas.microsoft.com/office/drawing/2014/main" id="{8787F799-E262-942C-2313-C521C31C026B}"/>
              </a:ext>
            </a:extLst>
          </p:cNvPr>
          <p:cNvCxnSpPr>
            <a:cxnSpLocks/>
          </p:cNvCxnSpPr>
          <p:nvPr/>
        </p:nvCxnSpPr>
        <p:spPr>
          <a:xfrm>
            <a:off x="6393485" y="1532266"/>
            <a:ext cx="980055" cy="111735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025BE6EC-A888-6DCD-5376-5E1503E94F8A}"/>
              </a:ext>
            </a:extLst>
          </p:cNvPr>
          <p:cNvCxnSpPr>
            <a:cxnSpLocks/>
          </p:cNvCxnSpPr>
          <p:nvPr/>
        </p:nvCxnSpPr>
        <p:spPr>
          <a:xfrm flipH="1">
            <a:off x="8926286" y="2160829"/>
            <a:ext cx="1888897" cy="48878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9840D30F-2526-BF33-8748-8F52232F15A7}"/>
              </a:ext>
            </a:extLst>
          </p:cNvPr>
          <p:cNvSpPr txBox="1"/>
          <p:nvPr/>
        </p:nvSpPr>
        <p:spPr>
          <a:xfrm>
            <a:off x="5873411" y="1128612"/>
            <a:ext cx="2793934" cy="369332"/>
          </a:xfrm>
          <a:prstGeom prst="rect">
            <a:avLst/>
          </a:prstGeom>
          <a:noFill/>
        </p:spPr>
        <p:txBody>
          <a:bodyPr wrap="square" rtlCol="0">
            <a:spAutoFit/>
          </a:bodyPr>
          <a:lstStyle/>
          <a:p>
            <a:r>
              <a:rPr lang="en-US" b="1" dirty="0"/>
              <a:t>WE = (1/5) + (1/4) = 0.45</a:t>
            </a:r>
          </a:p>
        </p:txBody>
      </p:sp>
      <p:sp>
        <p:nvSpPr>
          <p:cNvPr id="39" name="TextBox 38">
            <a:extLst>
              <a:ext uri="{FF2B5EF4-FFF2-40B4-BE49-F238E27FC236}">
                <a16:creationId xmlns:a16="http://schemas.microsoft.com/office/drawing/2014/main" id="{94FE3FFB-1E78-8380-98D6-049B8BF8967A}"/>
              </a:ext>
            </a:extLst>
          </p:cNvPr>
          <p:cNvSpPr txBox="1"/>
          <p:nvPr/>
        </p:nvSpPr>
        <p:spPr>
          <a:xfrm>
            <a:off x="10794184" y="1767775"/>
            <a:ext cx="1649312" cy="646331"/>
          </a:xfrm>
          <a:prstGeom prst="rect">
            <a:avLst/>
          </a:prstGeom>
          <a:noFill/>
        </p:spPr>
        <p:txBody>
          <a:bodyPr wrap="square" rtlCol="0">
            <a:spAutoFit/>
          </a:bodyPr>
          <a:lstStyle/>
          <a:p>
            <a:r>
              <a:rPr lang="en-US" b="1" dirty="0"/>
              <a:t>WE = (1/5) + (1/3) </a:t>
            </a:r>
            <a:r>
              <a:rPr lang="en-US" b="1" dirty="0">
                <a:latin typeface="Cambria Math" panose="02040503050406030204" pitchFamily="18" charset="0"/>
                <a:ea typeface="Cambria Math" panose="02040503050406030204" pitchFamily="18" charset="0"/>
              </a:rPr>
              <a:t>≈</a:t>
            </a:r>
            <a:r>
              <a:rPr lang="en-US" b="1" dirty="0"/>
              <a:t> .53</a:t>
            </a:r>
          </a:p>
        </p:txBody>
      </p:sp>
    </p:spTree>
    <p:extLst>
      <p:ext uri="{BB962C8B-B14F-4D97-AF65-F5344CB8AC3E}">
        <p14:creationId xmlns:p14="http://schemas.microsoft.com/office/powerpoint/2010/main" val="4222747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C68FA-6BEF-FE2A-C452-372444B38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53C27-CCCC-43DB-F9E4-B764A4E3E1B2}"/>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53A727B0-DB44-9BF9-1305-BE2DB29FA7D5}"/>
              </a:ext>
            </a:extLst>
          </p:cNvPr>
          <p:cNvSpPr txBox="1"/>
          <p:nvPr/>
        </p:nvSpPr>
        <p:spPr>
          <a:xfrm>
            <a:off x="136044" y="1369719"/>
            <a:ext cx="4724400" cy="1323439"/>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Weighted Endemism*</a:t>
            </a:r>
          </a:p>
          <a:p>
            <a:pPr marL="1371600" lvl="2" indent="-457200">
              <a:buFont typeface="Wingdings" panose="05000000000000000000" pitchFamily="2" charset="2"/>
              <a:buChar char="Ø"/>
            </a:pPr>
            <a:r>
              <a:rPr lang="en-US" sz="2400" b="1" dirty="0"/>
              <a:t>(1/Presence Cells)</a:t>
            </a:r>
          </a:p>
        </p:txBody>
      </p:sp>
      <p:pic>
        <p:nvPicPr>
          <p:cNvPr id="4" name="Picture 3">
            <a:extLst>
              <a:ext uri="{FF2B5EF4-FFF2-40B4-BE49-F238E27FC236}">
                <a16:creationId xmlns:a16="http://schemas.microsoft.com/office/drawing/2014/main" id="{1B0BF778-EEB4-94CF-C722-36CFB649035C}"/>
              </a:ext>
            </a:extLst>
          </p:cNvPr>
          <p:cNvPicPr>
            <a:picLocks noChangeAspect="1"/>
          </p:cNvPicPr>
          <p:nvPr/>
        </p:nvPicPr>
        <p:blipFill>
          <a:blip r:embed="rId3"/>
          <a:stretch>
            <a:fillRect/>
          </a:stretch>
        </p:blipFill>
        <p:spPr>
          <a:xfrm>
            <a:off x="7043715" y="2273520"/>
            <a:ext cx="2673487" cy="2724290"/>
          </a:xfrm>
          <a:prstGeom prst="rect">
            <a:avLst/>
          </a:prstGeom>
        </p:spPr>
      </p:pic>
      <p:sp>
        <p:nvSpPr>
          <p:cNvPr id="7" name="TextBox 6">
            <a:extLst>
              <a:ext uri="{FF2B5EF4-FFF2-40B4-BE49-F238E27FC236}">
                <a16:creationId xmlns:a16="http://schemas.microsoft.com/office/drawing/2014/main" id="{DB7A74DF-F654-1AAD-BA45-68AA4327B58F}"/>
              </a:ext>
            </a:extLst>
          </p:cNvPr>
          <p:cNvSpPr txBox="1"/>
          <p:nvPr/>
        </p:nvSpPr>
        <p:spPr>
          <a:xfrm>
            <a:off x="130708" y="3120919"/>
            <a:ext cx="4724400" cy="2246769"/>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	</a:t>
            </a:r>
            <a:r>
              <a:rPr lang="en-US" sz="2400" dirty="0"/>
              <a:t>Yellow = Presence</a:t>
            </a:r>
          </a:p>
          <a:p>
            <a:pPr lvl="1"/>
            <a:r>
              <a:rPr lang="en-US" sz="2400" dirty="0"/>
              <a:t>	Purple = Absence</a:t>
            </a:r>
          </a:p>
        </p:txBody>
      </p:sp>
      <p:pic>
        <p:nvPicPr>
          <p:cNvPr id="9" name="Picture 8">
            <a:extLst>
              <a:ext uri="{FF2B5EF4-FFF2-40B4-BE49-F238E27FC236}">
                <a16:creationId xmlns:a16="http://schemas.microsoft.com/office/drawing/2014/main" id="{353B4F90-5B7F-DBDF-1FC6-460E456AE5A8}"/>
              </a:ext>
            </a:extLst>
          </p:cNvPr>
          <p:cNvPicPr>
            <a:picLocks noChangeAspect="1"/>
          </p:cNvPicPr>
          <p:nvPr/>
        </p:nvPicPr>
        <p:blipFill>
          <a:blip r:embed="rId4"/>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445A1AC2-4773-6B86-EED1-57C1B46C89E0}"/>
              </a:ext>
            </a:extLst>
          </p:cNvPr>
          <p:cNvSpPr txBox="1"/>
          <p:nvPr/>
        </p:nvSpPr>
        <p:spPr>
          <a:xfrm>
            <a:off x="4673092" y="1916820"/>
            <a:ext cx="1710062" cy="369332"/>
          </a:xfrm>
          <a:prstGeom prst="rect">
            <a:avLst/>
          </a:prstGeom>
          <a:noFill/>
        </p:spPr>
        <p:txBody>
          <a:bodyPr wrap="square" rtlCol="0">
            <a:spAutoFit/>
          </a:bodyPr>
          <a:lstStyle/>
          <a:p>
            <a:r>
              <a:rPr lang="en-US" b="1" dirty="0"/>
              <a:t>Sp. A =  1/5 WE</a:t>
            </a:r>
          </a:p>
        </p:txBody>
      </p:sp>
      <p:pic>
        <p:nvPicPr>
          <p:cNvPr id="12" name="Picture 11">
            <a:extLst>
              <a:ext uri="{FF2B5EF4-FFF2-40B4-BE49-F238E27FC236}">
                <a16:creationId xmlns:a16="http://schemas.microsoft.com/office/drawing/2014/main" id="{F5DF3FA0-1AFB-64F0-CE13-E8B027DEC7C4}"/>
              </a:ext>
            </a:extLst>
          </p:cNvPr>
          <p:cNvPicPr>
            <a:picLocks noChangeAspect="1"/>
          </p:cNvPicPr>
          <p:nvPr/>
        </p:nvPicPr>
        <p:blipFill>
          <a:blip r:embed="rId5"/>
          <a:stretch>
            <a:fillRect/>
          </a:stretch>
        </p:blipFill>
        <p:spPr>
          <a:xfrm>
            <a:off x="4755563" y="3740510"/>
            <a:ext cx="1441524" cy="1362145"/>
          </a:xfrm>
          <a:prstGeom prst="rect">
            <a:avLst/>
          </a:prstGeom>
        </p:spPr>
      </p:pic>
      <p:pic>
        <p:nvPicPr>
          <p:cNvPr id="21" name="Picture 20">
            <a:extLst>
              <a:ext uri="{FF2B5EF4-FFF2-40B4-BE49-F238E27FC236}">
                <a16:creationId xmlns:a16="http://schemas.microsoft.com/office/drawing/2014/main" id="{6BF7B557-D58B-C1AE-F6CF-4840AC97A3F7}"/>
              </a:ext>
            </a:extLst>
          </p:cNvPr>
          <p:cNvPicPr>
            <a:picLocks noChangeAspect="1"/>
          </p:cNvPicPr>
          <p:nvPr/>
        </p:nvPicPr>
        <p:blipFill>
          <a:blip r:embed="rId6"/>
          <a:stretch>
            <a:fillRect/>
          </a:stretch>
        </p:blipFill>
        <p:spPr>
          <a:xfrm>
            <a:off x="4821165" y="5289305"/>
            <a:ext cx="1299247" cy="1274141"/>
          </a:xfrm>
          <a:prstGeom prst="rect">
            <a:avLst/>
          </a:prstGeom>
        </p:spPr>
      </p:pic>
      <p:pic>
        <p:nvPicPr>
          <p:cNvPr id="25" name="Picture 24">
            <a:extLst>
              <a:ext uri="{FF2B5EF4-FFF2-40B4-BE49-F238E27FC236}">
                <a16:creationId xmlns:a16="http://schemas.microsoft.com/office/drawing/2014/main" id="{8D28FA65-F2B7-9883-D3D6-7FE6C3D8A52A}"/>
              </a:ext>
            </a:extLst>
          </p:cNvPr>
          <p:cNvPicPr>
            <a:picLocks noChangeAspect="1"/>
          </p:cNvPicPr>
          <p:nvPr/>
        </p:nvPicPr>
        <p:blipFill>
          <a:blip r:embed="rId7"/>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DCFB843F-F53E-4172-37D0-CADEBA2E9B37}"/>
              </a:ext>
            </a:extLst>
          </p:cNvPr>
          <p:cNvPicPr>
            <a:picLocks noChangeAspect="1"/>
          </p:cNvPicPr>
          <p:nvPr/>
        </p:nvPicPr>
        <p:blipFill>
          <a:blip r:embed="rId8"/>
          <a:stretch>
            <a:fillRect/>
          </a:stretch>
        </p:blipFill>
        <p:spPr>
          <a:xfrm>
            <a:off x="8160477" y="5273389"/>
            <a:ext cx="1239081" cy="1257855"/>
          </a:xfrm>
          <a:prstGeom prst="rect">
            <a:avLst/>
          </a:prstGeom>
        </p:spPr>
      </p:pic>
      <p:pic>
        <p:nvPicPr>
          <p:cNvPr id="41" name="Picture 40">
            <a:extLst>
              <a:ext uri="{FF2B5EF4-FFF2-40B4-BE49-F238E27FC236}">
                <a16:creationId xmlns:a16="http://schemas.microsoft.com/office/drawing/2014/main" id="{6251406E-CD7E-4E6E-3A4D-9EFA39B365B4}"/>
              </a:ext>
            </a:extLst>
          </p:cNvPr>
          <p:cNvPicPr>
            <a:picLocks noChangeAspect="1"/>
          </p:cNvPicPr>
          <p:nvPr/>
        </p:nvPicPr>
        <p:blipFill>
          <a:blip r:embed="rId9"/>
          <a:stretch>
            <a:fillRect/>
          </a:stretch>
        </p:blipFill>
        <p:spPr>
          <a:xfrm>
            <a:off x="9766983" y="5275390"/>
            <a:ext cx="1300411" cy="1288056"/>
          </a:xfrm>
          <a:prstGeom prst="rect">
            <a:avLst/>
          </a:prstGeom>
        </p:spPr>
      </p:pic>
      <p:sp>
        <p:nvSpPr>
          <p:cNvPr id="16" name="TextBox 15">
            <a:extLst>
              <a:ext uri="{FF2B5EF4-FFF2-40B4-BE49-F238E27FC236}">
                <a16:creationId xmlns:a16="http://schemas.microsoft.com/office/drawing/2014/main" id="{4F898D2C-D080-9E13-6D5B-E9189BE81C74}"/>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8900F45C-369C-3D4A-7155-AA165C3DB9EF}"/>
              </a:ext>
            </a:extLst>
          </p:cNvPr>
          <p:cNvPicPr>
            <a:picLocks noChangeAspect="1"/>
          </p:cNvPicPr>
          <p:nvPr/>
        </p:nvPicPr>
        <p:blipFill>
          <a:blip r:embed="rId10"/>
          <a:stretch>
            <a:fillRect/>
          </a:stretch>
        </p:blipFill>
        <p:spPr>
          <a:xfrm>
            <a:off x="4835460" y="2305978"/>
            <a:ext cx="1242569" cy="1242569"/>
          </a:xfrm>
          <a:prstGeom prst="rect">
            <a:avLst/>
          </a:prstGeom>
        </p:spPr>
      </p:pic>
      <p:sp>
        <p:nvSpPr>
          <p:cNvPr id="6" name="TextBox 5">
            <a:extLst>
              <a:ext uri="{FF2B5EF4-FFF2-40B4-BE49-F238E27FC236}">
                <a16:creationId xmlns:a16="http://schemas.microsoft.com/office/drawing/2014/main" id="{1732F03C-BE58-FF7F-969D-1AF7202A410E}"/>
              </a:ext>
            </a:extLst>
          </p:cNvPr>
          <p:cNvSpPr txBox="1"/>
          <p:nvPr/>
        </p:nvSpPr>
        <p:spPr>
          <a:xfrm>
            <a:off x="4673092" y="3496398"/>
            <a:ext cx="1627842" cy="369332"/>
          </a:xfrm>
          <a:prstGeom prst="rect">
            <a:avLst/>
          </a:prstGeom>
          <a:noFill/>
        </p:spPr>
        <p:txBody>
          <a:bodyPr wrap="square" rtlCol="0">
            <a:spAutoFit/>
          </a:bodyPr>
          <a:lstStyle/>
          <a:p>
            <a:r>
              <a:rPr lang="en-US" b="1" dirty="0"/>
              <a:t>Sp. B =  1/4 WE</a:t>
            </a:r>
          </a:p>
        </p:txBody>
      </p:sp>
      <p:sp>
        <p:nvSpPr>
          <p:cNvPr id="11" name="TextBox 10">
            <a:extLst>
              <a:ext uri="{FF2B5EF4-FFF2-40B4-BE49-F238E27FC236}">
                <a16:creationId xmlns:a16="http://schemas.microsoft.com/office/drawing/2014/main" id="{82A1BE41-1FC3-27C4-6766-FF2FA8F44021}"/>
              </a:ext>
            </a:extLst>
          </p:cNvPr>
          <p:cNvSpPr txBox="1"/>
          <p:nvPr/>
        </p:nvSpPr>
        <p:spPr>
          <a:xfrm>
            <a:off x="4667750" y="4998356"/>
            <a:ext cx="1627842" cy="369332"/>
          </a:xfrm>
          <a:prstGeom prst="rect">
            <a:avLst/>
          </a:prstGeom>
          <a:noFill/>
        </p:spPr>
        <p:txBody>
          <a:bodyPr wrap="square" rtlCol="0">
            <a:spAutoFit/>
          </a:bodyPr>
          <a:lstStyle/>
          <a:p>
            <a:r>
              <a:rPr lang="en-US" dirty="0"/>
              <a:t>Sp. C =  1/5 WE</a:t>
            </a:r>
          </a:p>
        </p:txBody>
      </p:sp>
      <p:sp>
        <p:nvSpPr>
          <p:cNvPr id="15" name="TextBox 14">
            <a:extLst>
              <a:ext uri="{FF2B5EF4-FFF2-40B4-BE49-F238E27FC236}">
                <a16:creationId xmlns:a16="http://schemas.microsoft.com/office/drawing/2014/main" id="{4F7A55BB-6A83-A04B-055E-4F774246D03A}"/>
              </a:ext>
            </a:extLst>
          </p:cNvPr>
          <p:cNvSpPr txBox="1"/>
          <p:nvPr/>
        </p:nvSpPr>
        <p:spPr>
          <a:xfrm>
            <a:off x="6307220" y="4989132"/>
            <a:ext cx="1790357" cy="369332"/>
          </a:xfrm>
          <a:prstGeom prst="rect">
            <a:avLst/>
          </a:prstGeom>
          <a:noFill/>
        </p:spPr>
        <p:txBody>
          <a:bodyPr wrap="square" rtlCol="0">
            <a:spAutoFit/>
          </a:bodyPr>
          <a:lstStyle/>
          <a:p>
            <a:r>
              <a:rPr lang="en-US" dirty="0"/>
              <a:t>Sp. D =  1/11 WE</a:t>
            </a:r>
          </a:p>
        </p:txBody>
      </p:sp>
      <p:sp>
        <p:nvSpPr>
          <p:cNvPr id="22" name="TextBox 21">
            <a:extLst>
              <a:ext uri="{FF2B5EF4-FFF2-40B4-BE49-F238E27FC236}">
                <a16:creationId xmlns:a16="http://schemas.microsoft.com/office/drawing/2014/main" id="{79B7CB79-F646-3B69-B10F-B6BC8267C6A0}"/>
              </a:ext>
            </a:extLst>
          </p:cNvPr>
          <p:cNvSpPr txBox="1"/>
          <p:nvPr/>
        </p:nvSpPr>
        <p:spPr>
          <a:xfrm>
            <a:off x="8010700" y="4997809"/>
            <a:ext cx="1790357" cy="369332"/>
          </a:xfrm>
          <a:prstGeom prst="rect">
            <a:avLst/>
          </a:prstGeom>
          <a:noFill/>
        </p:spPr>
        <p:txBody>
          <a:bodyPr wrap="square" rtlCol="0">
            <a:spAutoFit/>
          </a:bodyPr>
          <a:lstStyle/>
          <a:p>
            <a:r>
              <a:rPr lang="en-US" b="1" dirty="0"/>
              <a:t>Sp. E =  1/3 WE</a:t>
            </a:r>
          </a:p>
        </p:txBody>
      </p:sp>
      <p:sp>
        <p:nvSpPr>
          <p:cNvPr id="27" name="TextBox 26">
            <a:extLst>
              <a:ext uri="{FF2B5EF4-FFF2-40B4-BE49-F238E27FC236}">
                <a16:creationId xmlns:a16="http://schemas.microsoft.com/office/drawing/2014/main" id="{9AF187F4-178E-51F1-9F9E-4716070952A4}"/>
              </a:ext>
            </a:extLst>
          </p:cNvPr>
          <p:cNvSpPr txBox="1"/>
          <p:nvPr/>
        </p:nvSpPr>
        <p:spPr>
          <a:xfrm>
            <a:off x="9637960" y="4975119"/>
            <a:ext cx="1790357" cy="369332"/>
          </a:xfrm>
          <a:prstGeom prst="rect">
            <a:avLst/>
          </a:prstGeom>
          <a:noFill/>
        </p:spPr>
        <p:txBody>
          <a:bodyPr wrap="square" rtlCol="0">
            <a:spAutoFit/>
          </a:bodyPr>
          <a:lstStyle/>
          <a:p>
            <a:r>
              <a:rPr lang="en-US" dirty="0"/>
              <a:t>Sp. F =  1/3 WE</a:t>
            </a:r>
          </a:p>
        </p:txBody>
      </p:sp>
      <p:pic>
        <p:nvPicPr>
          <p:cNvPr id="30" name="Picture 29">
            <a:extLst>
              <a:ext uri="{FF2B5EF4-FFF2-40B4-BE49-F238E27FC236}">
                <a16:creationId xmlns:a16="http://schemas.microsoft.com/office/drawing/2014/main" id="{0E8EB27E-3778-E44E-97FD-F5FC164353C6}"/>
              </a:ext>
            </a:extLst>
          </p:cNvPr>
          <p:cNvPicPr>
            <a:picLocks noChangeAspect="1"/>
          </p:cNvPicPr>
          <p:nvPr/>
        </p:nvPicPr>
        <p:blipFill>
          <a:blip r:embed="rId11"/>
          <a:stretch>
            <a:fillRect/>
          </a:stretch>
        </p:blipFill>
        <p:spPr>
          <a:xfrm>
            <a:off x="7132243" y="2373962"/>
            <a:ext cx="2933851" cy="2514729"/>
          </a:xfrm>
          <a:prstGeom prst="rect">
            <a:avLst/>
          </a:prstGeom>
        </p:spPr>
      </p:pic>
      <p:pic>
        <p:nvPicPr>
          <p:cNvPr id="33" name="Picture 32">
            <a:extLst>
              <a:ext uri="{FF2B5EF4-FFF2-40B4-BE49-F238E27FC236}">
                <a16:creationId xmlns:a16="http://schemas.microsoft.com/office/drawing/2014/main" id="{63F16608-0427-3D1F-76E8-E451E5B48BE5}"/>
              </a:ext>
            </a:extLst>
          </p:cNvPr>
          <p:cNvPicPr>
            <a:picLocks noChangeAspect="1"/>
          </p:cNvPicPr>
          <p:nvPr/>
        </p:nvPicPr>
        <p:blipFill>
          <a:blip r:embed="rId12"/>
          <a:stretch>
            <a:fillRect/>
          </a:stretch>
        </p:blipFill>
        <p:spPr>
          <a:xfrm>
            <a:off x="10099953" y="3437610"/>
            <a:ext cx="1428823" cy="171459"/>
          </a:xfrm>
          <a:prstGeom prst="rect">
            <a:avLst/>
          </a:prstGeom>
        </p:spPr>
      </p:pic>
      <p:cxnSp>
        <p:nvCxnSpPr>
          <p:cNvPr id="34" name="Straight Arrow Connector 33">
            <a:extLst>
              <a:ext uri="{FF2B5EF4-FFF2-40B4-BE49-F238E27FC236}">
                <a16:creationId xmlns:a16="http://schemas.microsoft.com/office/drawing/2014/main" id="{486517A5-F3A7-AB6B-E8F4-1B2E73EEE546}"/>
              </a:ext>
            </a:extLst>
          </p:cNvPr>
          <p:cNvCxnSpPr>
            <a:cxnSpLocks/>
          </p:cNvCxnSpPr>
          <p:nvPr/>
        </p:nvCxnSpPr>
        <p:spPr>
          <a:xfrm>
            <a:off x="6393485" y="1532266"/>
            <a:ext cx="980055" cy="111735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AAD0E6FA-94E3-CDFD-8F4E-4DB4C5C6E7BB}"/>
              </a:ext>
            </a:extLst>
          </p:cNvPr>
          <p:cNvCxnSpPr>
            <a:cxnSpLocks/>
          </p:cNvCxnSpPr>
          <p:nvPr/>
        </p:nvCxnSpPr>
        <p:spPr>
          <a:xfrm flipH="1">
            <a:off x="8926286" y="2160829"/>
            <a:ext cx="1888897" cy="48878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8ABC6BA5-6190-E948-978E-C6019109F853}"/>
              </a:ext>
            </a:extLst>
          </p:cNvPr>
          <p:cNvSpPr txBox="1"/>
          <p:nvPr/>
        </p:nvSpPr>
        <p:spPr>
          <a:xfrm>
            <a:off x="5873411" y="1128612"/>
            <a:ext cx="2793934" cy="369332"/>
          </a:xfrm>
          <a:prstGeom prst="rect">
            <a:avLst/>
          </a:prstGeom>
          <a:noFill/>
        </p:spPr>
        <p:txBody>
          <a:bodyPr wrap="square" rtlCol="0">
            <a:spAutoFit/>
          </a:bodyPr>
          <a:lstStyle/>
          <a:p>
            <a:r>
              <a:rPr lang="en-US" b="1" dirty="0"/>
              <a:t>WE = (1/5) + (1/4) = 0.45</a:t>
            </a:r>
          </a:p>
        </p:txBody>
      </p:sp>
      <p:sp>
        <p:nvSpPr>
          <p:cNvPr id="39" name="TextBox 38">
            <a:extLst>
              <a:ext uri="{FF2B5EF4-FFF2-40B4-BE49-F238E27FC236}">
                <a16:creationId xmlns:a16="http://schemas.microsoft.com/office/drawing/2014/main" id="{D37D0DA0-757E-0C1D-8323-453525ECA6D5}"/>
              </a:ext>
            </a:extLst>
          </p:cNvPr>
          <p:cNvSpPr txBox="1"/>
          <p:nvPr/>
        </p:nvSpPr>
        <p:spPr>
          <a:xfrm>
            <a:off x="10794184" y="1767775"/>
            <a:ext cx="1649312" cy="646331"/>
          </a:xfrm>
          <a:prstGeom prst="rect">
            <a:avLst/>
          </a:prstGeom>
          <a:noFill/>
        </p:spPr>
        <p:txBody>
          <a:bodyPr wrap="square" rtlCol="0">
            <a:spAutoFit/>
          </a:bodyPr>
          <a:lstStyle/>
          <a:p>
            <a:r>
              <a:rPr lang="en-US" b="1" dirty="0"/>
              <a:t>WE = (1/5) + (1/3) </a:t>
            </a:r>
            <a:r>
              <a:rPr lang="en-US" b="1" dirty="0">
                <a:latin typeface="Cambria Math" panose="02040503050406030204" pitchFamily="18" charset="0"/>
                <a:ea typeface="Cambria Math" panose="02040503050406030204" pitchFamily="18" charset="0"/>
              </a:rPr>
              <a:t>≈</a:t>
            </a:r>
            <a:r>
              <a:rPr lang="en-US" b="1" dirty="0"/>
              <a:t> .53</a:t>
            </a:r>
          </a:p>
        </p:txBody>
      </p:sp>
    </p:spTree>
    <p:extLst>
      <p:ext uri="{BB962C8B-B14F-4D97-AF65-F5344CB8AC3E}">
        <p14:creationId xmlns:p14="http://schemas.microsoft.com/office/powerpoint/2010/main" val="650788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9C8B-7790-9455-5D69-EB3454D07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71706-BCB7-3AEA-5BDB-9CD2215A90A2}"/>
              </a:ext>
            </a:extLst>
          </p:cNvPr>
          <p:cNvSpPr>
            <a:spLocks noGrp="1"/>
          </p:cNvSpPr>
          <p:nvPr>
            <p:ph type="title"/>
          </p:nvPr>
        </p:nvSpPr>
        <p:spPr>
          <a:xfrm>
            <a:off x="0" y="-12360"/>
            <a:ext cx="11163300" cy="1325563"/>
          </a:xfrm>
        </p:spPr>
        <p:txBody>
          <a:bodyPr/>
          <a:lstStyle/>
          <a:p>
            <a:r>
              <a:rPr lang="en-US" dirty="0"/>
              <a:t>Background: How can we measure Biodiversity?</a:t>
            </a:r>
          </a:p>
        </p:txBody>
      </p:sp>
      <p:sp>
        <p:nvSpPr>
          <p:cNvPr id="19" name="TextBox 18">
            <a:extLst>
              <a:ext uri="{FF2B5EF4-FFF2-40B4-BE49-F238E27FC236}">
                <a16:creationId xmlns:a16="http://schemas.microsoft.com/office/drawing/2014/main" id="{20111C06-54C7-5120-9C45-3A40A6732BF3}"/>
              </a:ext>
            </a:extLst>
          </p:cNvPr>
          <p:cNvSpPr txBox="1"/>
          <p:nvPr/>
        </p:nvSpPr>
        <p:spPr>
          <a:xfrm>
            <a:off x="90567" y="1379225"/>
            <a:ext cx="4724400" cy="1323439"/>
          </a:xfrm>
          <a:prstGeom prst="rect">
            <a:avLst/>
          </a:prstGeom>
          <a:noFill/>
        </p:spPr>
        <p:txBody>
          <a:bodyPr wrap="square" rtlCol="0">
            <a:spAutoFit/>
          </a:bodyPr>
          <a:lstStyle/>
          <a:p>
            <a:r>
              <a:rPr lang="en-US" sz="2800" dirty="0"/>
              <a:t>Presence/Absence Data</a:t>
            </a:r>
          </a:p>
          <a:p>
            <a:pPr marL="914400" lvl="1" indent="-457200">
              <a:buFont typeface="Wingdings" panose="05000000000000000000" pitchFamily="2" charset="2"/>
              <a:buChar char="Ø"/>
            </a:pPr>
            <a:r>
              <a:rPr lang="en-US" sz="2800" b="1" dirty="0"/>
              <a:t>Phylogenetic Endemism</a:t>
            </a:r>
          </a:p>
          <a:p>
            <a:pPr lvl="2"/>
            <a:endParaRPr lang="en-US" sz="2400" b="1" dirty="0"/>
          </a:p>
        </p:txBody>
      </p:sp>
      <p:pic>
        <p:nvPicPr>
          <p:cNvPr id="4" name="Picture 3">
            <a:extLst>
              <a:ext uri="{FF2B5EF4-FFF2-40B4-BE49-F238E27FC236}">
                <a16:creationId xmlns:a16="http://schemas.microsoft.com/office/drawing/2014/main" id="{713873F1-3D3E-D30B-D1BE-DA26F93409A4}"/>
              </a:ext>
            </a:extLst>
          </p:cNvPr>
          <p:cNvPicPr>
            <a:picLocks noChangeAspect="1"/>
          </p:cNvPicPr>
          <p:nvPr/>
        </p:nvPicPr>
        <p:blipFill>
          <a:blip r:embed="rId3"/>
          <a:stretch>
            <a:fillRect/>
          </a:stretch>
        </p:blipFill>
        <p:spPr>
          <a:xfrm>
            <a:off x="7043715" y="2273520"/>
            <a:ext cx="2673487" cy="2724290"/>
          </a:xfrm>
          <a:prstGeom prst="rect">
            <a:avLst/>
          </a:prstGeom>
        </p:spPr>
      </p:pic>
      <p:pic>
        <p:nvPicPr>
          <p:cNvPr id="9" name="Picture 8">
            <a:extLst>
              <a:ext uri="{FF2B5EF4-FFF2-40B4-BE49-F238E27FC236}">
                <a16:creationId xmlns:a16="http://schemas.microsoft.com/office/drawing/2014/main" id="{389BBB71-20AD-662C-29FC-523AC2E58F7D}"/>
              </a:ext>
            </a:extLst>
          </p:cNvPr>
          <p:cNvPicPr>
            <a:picLocks noChangeAspect="1"/>
          </p:cNvPicPr>
          <p:nvPr/>
        </p:nvPicPr>
        <p:blipFill>
          <a:blip r:embed="rId4"/>
          <a:stretch>
            <a:fillRect/>
          </a:stretch>
        </p:blipFill>
        <p:spPr>
          <a:xfrm>
            <a:off x="4837645" y="2278528"/>
            <a:ext cx="1275937" cy="1257490"/>
          </a:xfrm>
          <a:prstGeom prst="rect">
            <a:avLst/>
          </a:prstGeom>
        </p:spPr>
      </p:pic>
      <p:sp>
        <p:nvSpPr>
          <p:cNvPr id="10" name="TextBox 9">
            <a:extLst>
              <a:ext uri="{FF2B5EF4-FFF2-40B4-BE49-F238E27FC236}">
                <a16:creationId xmlns:a16="http://schemas.microsoft.com/office/drawing/2014/main" id="{7ABE9E95-2BE3-C9C1-FFCE-82B1432E6BDD}"/>
              </a:ext>
            </a:extLst>
          </p:cNvPr>
          <p:cNvSpPr txBox="1"/>
          <p:nvPr/>
        </p:nvSpPr>
        <p:spPr>
          <a:xfrm>
            <a:off x="5094870" y="1925217"/>
            <a:ext cx="1710062" cy="369332"/>
          </a:xfrm>
          <a:prstGeom prst="rect">
            <a:avLst/>
          </a:prstGeom>
          <a:noFill/>
        </p:spPr>
        <p:txBody>
          <a:bodyPr wrap="square" rtlCol="0">
            <a:spAutoFit/>
          </a:bodyPr>
          <a:lstStyle/>
          <a:p>
            <a:r>
              <a:rPr lang="en-US" b="1" dirty="0"/>
              <a:t>Sp. A</a:t>
            </a:r>
          </a:p>
        </p:txBody>
      </p:sp>
      <p:pic>
        <p:nvPicPr>
          <p:cNvPr id="12" name="Picture 11">
            <a:extLst>
              <a:ext uri="{FF2B5EF4-FFF2-40B4-BE49-F238E27FC236}">
                <a16:creationId xmlns:a16="http://schemas.microsoft.com/office/drawing/2014/main" id="{BA79ABF4-7BFD-9BEA-A52E-6002B017D62C}"/>
              </a:ext>
            </a:extLst>
          </p:cNvPr>
          <p:cNvPicPr>
            <a:picLocks noChangeAspect="1"/>
          </p:cNvPicPr>
          <p:nvPr/>
        </p:nvPicPr>
        <p:blipFill>
          <a:blip r:embed="rId5"/>
          <a:stretch>
            <a:fillRect/>
          </a:stretch>
        </p:blipFill>
        <p:spPr>
          <a:xfrm>
            <a:off x="4755563" y="3740510"/>
            <a:ext cx="1441524" cy="1362145"/>
          </a:xfrm>
          <a:prstGeom prst="rect">
            <a:avLst/>
          </a:prstGeom>
        </p:spPr>
      </p:pic>
      <p:pic>
        <p:nvPicPr>
          <p:cNvPr id="21" name="Picture 20">
            <a:extLst>
              <a:ext uri="{FF2B5EF4-FFF2-40B4-BE49-F238E27FC236}">
                <a16:creationId xmlns:a16="http://schemas.microsoft.com/office/drawing/2014/main" id="{6960F35F-4750-A949-8B05-9B437F2C9C27}"/>
              </a:ext>
            </a:extLst>
          </p:cNvPr>
          <p:cNvPicPr>
            <a:picLocks noChangeAspect="1"/>
          </p:cNvPicPr>
          <p:nvPr/>
        </p:nvPicPr>
        <p:blipFill>
          <a:blip r:embed="rId6"/>
          <a:stretch>
            <a:fillRect/>
          </a:stretch>
        </p:blipFill>
        <p:spPr>
          <a:xfrm>
            <a:off x="4821165" y="5289305"/>
            <a:ext cx="1299247" cy="1274141"/>
          </a:xfrm>
          <a:prstGeom prst="rect">
            <a:avLst/>
          </a:prstGeom>
        </p:spPr>
      </p:pic>
      <p:pic>
        <p:nvPicPr>
          <p:cNvPr id="25" name="Picture 24">
            <a:extLst>
              <a:ext uri="{FF2B5EF4-FFF2-40B4-BE49-F238E27FC236}">
                <a16:creationId xmlns:a16="http://schemas.microsoft.com/office/drawing/2014/main" id="{FAA7A276-5141-9E01-0FD1-4360D6228A18}"/>
              </a:ext>
            </a:extLst>
          </p:cNvPr>
          <p:cNvPicPr>
            <a:picLocks noChangeAspect="1"/>
          </p:cNvPicPr>
          <p:nvPr/>
        </p:nvPicPr>
        <p:blipFill>
          <a:blip r:embed="rId7"/>
          <a:stretch>
            <a:fillRect/>
          </a:stretch>
        </p:blipFill>
        <p:spPr>
          <a:xfrm>
            <a:off x="6463302" y="5275389"/>
            <a:ext cx="1300411" cy="1272141"/>
          </a:xfrm>
          <a:prstGeom prst="rect">
            <a:avLst/>
          </a:prstGeom>
        </p:spPr>
      </p:pic>
      <p:pic>
        <p:nvPicPr>
          <p:cNvPr id="29" name="Picture 28">
            <a:extLst>
              <a:ext uri="{FF2B5EF4-FFF2-40B4-BE49-F238E27FC236}">
                <a16:creationId xmlns:a16="http://schemas.microsoft.com/office/drawing/2014/main" id="{E9CCB3D4-773E-BE6B-FE55-D407DBCC796F}"/>
              </a:ext>
            </a:extLst>
          </p:cNvPr>
          <p:cNvPicPr>
            <a:picLocks noChangeAspect="1"/>
          </p:cNvPicPr>
          <p:nvPr/>
        </p:nvPicPr>
        <p:blipFill>
          <a:blip r:embed="rId8"/>
          <a:stretch>
            <a:fillRect/>
          </a:stretch>
        </p:blipFill>
        <p:spPr>
          <a:xfrm>
            <a:off x="8160477" y="5273389"/>
            <a:ext cx="1239081" cy="1257855"/>
          </a:xfrm>
          <a:prstGeom prst="rect">
            <a:avLst/>
          </a:prstGeom>
        </p:spPr>
      </p:pic>
      <p:pic>
        <p:nvPicPr>
          <p:cNvPr id="41" name="Picture 40">
            <a:extLst>
              <a:ext uri="{FF2B5EF4-FFF2-40B4-BE49-F238E27FC236}">
                <a16:creationId xmlns:a16="http://schemas.microsoft.com/office/drawing/2014/main" id="{8A35EEE5-E5E6-5C75-907D-D7036E34C158}"/>
              </a:ext>
            </a:extLst>
          </p:cNvPr>
          <p:cNvPicPr>
            <a:picLocks noChangeAspect="1"/>
          </p:cNvPicPr>
          <p:nvPr/>
        </p:nvPicPr>
        <p:blipFill>
          <a:blip r:embed="rId9"/>
          <a:stretch>
            <a:fillRect/>
          </a:stretch>
        </p:blipFill>
        <p:spPr>
          <a:xfrm>
            <a:off x="9766983" y="5275390"/>
            <a:ext cx="1300411" cy="1288056"/>
          </a:xfrm>
          <a:prstGeom prst="rect">
            <a:avLst/>
          </a:prstGeom>
        </p:spPr>
      </p:pic>
      <p:sp>
        <p:nvSpPr>
          <p:cNvPr id="16" name="TextBox 15">
            <a:extLst>
              <a:ext uri="{FF2B5EF4-FFF2-40B4-BE49-F238E27FC236}">
                <a16:creationId xmlns:a16="http://schemas.microsoft.com/office/drawing/2014/main" id="{8660EAFB-3843-C247-29B5-8EF75D610753}"/>
              </a:ext>
            </a:extLst>
          </p:cNvPr>
          <p:cNvSpPr txBox="1"/>
          <p:nvPr/>
        </p:nvSpPr>
        <p:spPr>
          <a:xfrm>
            <a:off x="6966945" y="1719800"/>
            <a:ext cx="4724400" cy="523220"/>
          </a:xfrm>
          <a:prstGeom prst="rect">
            <a:avLst/>
          </a:prstGeom>
          <a:noFill/>
        </p:spPr>
        <p:txBody>
          <a:bodyPr wrap="square" rtlCol="0">
            <a:spAutoFit/>
          </a:bodyPr>
          <a:lstStyle/>
          <a:p>
            <a:r>
              <a:rPr lang="en-US" sz="2800" dirty="0"/>
              <a:t>Area of Interest (AOI)</a:t>
            </a:r>
          </a:p>
        </p:txBody>
      </p:sp>
      <p:pic>
        <p:nvPicPr>
          <p:cNvPr id="20" name="Picture 19">
            <a:extLst>
              <a:ext uri="{FF2B5EF4-FFF2-40B4-BE49-F238E27FC236}">
                <a16:creationId xmlns:a16="http://schemas.microsoft.com/office/drawing/2014/main" id="{BD4DDFC1-743D-29D3-DA81-EAD969A48375}"/>
              </a:ext>
            </a:extLst>
          </p:cNvPr>
          <p:cNvPicPr>
            <a:picLocks noChangeAspect="1"/>
          </p:cNvPicPr>
          <p:nvPr/>
        </p:nvPicPr>
        <p:blipFill>
          <a:blip r:embed="rId10"/>
          <a:stretch>
            <a:fillRect/>
          </a:stretch>
        </p:blipFill>
        <p:spPr>
          <a:xfrm>
            <a:off x="4835460" y="2305978"/>
            <a:ext cx="1242569" cy="1242569"/>
          </a:xfrm>
          <a:prstGeom prst="rect">
            <a:avLst/>
          </a:prstGeom>
        </p:spPr>
      </p:pic>
      <p:sp>
        <p:nvSpPr>
          <p:cNvPr id="6" name="TextBox 5">
            <a:extLst>
              <a:ext uri="{FF2B5EF4-FFF2-40B4-BE49-F238E27FC236}">
                <a16:creationId xmlns:a16="http://schemas.microsoft.com/office/drawing/2014/main" id="{298C5F57-FA14-AFE3-E368-19227072E10D}"/>
              </a:ext>
            </a:extLst>
          </p:cNvPr>
          <p:cNvSpPr txBox="1"/>
          <p:nvPr/>
        </p:nvSpPr>
        <p:spPr>
          <a:xfrm>
            <a:off x="5091778" y="3467830"/>
            <a:ext cx="1627842" cy="369332"/>
          </a:xfrm>
          <a:prstGeom prst="rect">
            <a:avLst/>
          </a:prstGeom>
          <a:noFill/>
        </p:spPr>
        <p:txBody>
          <a:bodyPr wrap="square" rtlCol="0">
            <a:spAutoFit/>
          </a:bodyPr>
          <a:lstStyle/>
          <a:p>
            <a:r>
              <a:rPr lang="en-US" b="1" dirty="0"/>
              <a:t>Sp. B</a:t>
            </a:r>
          </a:p>
        </p:txBody>
      </p:sp>
      <p:sp>
        <p:nvSpPr>
          <p:cNvPr id="11" name="TextBox 10">
            <a:extLst>
              <a:ext uri="{FF2B5EF4-FFF2-40B4-BE49-F238E27FC236}">
                <a16:creationId xmlns:a16="http://schemas.microsoft.com/office/drawing/2014/main" id="{FAD320CB-33F9-E9BB-1176-04FB0BC2D5AE}"/>
              </a:ext>
            </a:extLst>
          </p:cNvPr>
          <p:cNvSpPr txBox="1"/>
          <p:nvPr/>
        </p:nvSpPr>
        <p:spPr>
          <a:xfrm>
            <a:off x="5114279" y="4989132"/>
            <a:ext cx="1627842" cy="369332"/>
          </a:xfrm>
          <a:prstGeom prst="rect">
            <a:avLst/>
          </a:prstGeom>
          <a:noFill/>
        </p:spPr>
        <p:txBody>
          <a:bodyPr wrap="square" rtlCol="0">
            <a:spAutoFit/>
          </a:bodyPr>
          <a:lstStyle/>
          <a:p>
            <a:r>
              <a:rPr lang="en-US" dirty="0"/>
              <a:t>Sp. C</a:t>
            </a:r>
          </a:p>
        </p:txBody>
      </p:sp>
      <p:sp>
        <p:nvSpPr>
          <p:cNvPr id="15" name="TextBox 14">
            <a:extLst>
              <a:ext uri="{FF2B5EF4-FFF2-40B4-BE49-F238E27FC236}">
                <a16:creationId xmlns:a16="http://schemas.microsoft.com/office/drawing/2014/main" id="{B041F9B2-9BBD-745F-EF8C-DB763457D5A4}"/>
              </a:ext>
            </a:extLst>
          </p:cNvPr>
          <p:cNvSpPr txBox="1"/>
          <p:nvPr/>
        </p:nvSpPr>
        <p:spPr>
          <a:xfrm>
            <a:off x="6755950" y="4979404"/>
            <a:ext cx="1790357" cy="369332"/>
          </a:xfrm>
          <a:prstGeom prst="rect">
            <a:avLst/>
          </a:prstGeom>
          <a:noFill/>
        </p:spPr>
        <p:txBody>
          <a:bodyPr wrap="square" rtlCol="0">
            <a:spAutoFit/>
          </a:bodyPr>
          <a:lstStyle/>
          <a:p>
            <a:r>
              <a:rPr lang="en-US" dirty="0"/>
              <a:t>Sp. D </a:t>
            </a:r>
          </a:p>
        </p:txBody>
      </p:sp>
      <p:sp>
        <p:nvSpPr>
          <p:cNvPr id="22" name="TextBox 21">
            <a:extLst>
              <a:ext uri="{FF2B5EF4-FFF2-40B4-BE49-F238E27FC236}">
                <a16:creationId xmlns:a16="http://schemas.microsoft.com/office/drawing/2014/main" id="{6A67CD7B-D04C-A7C0-D073-E49BA9BF36F4}"/>
              </a:ext>
            </a:extLst>
          </p:cNvPr>
          <p:cNvSpPr txBox="1"/>
          <p:nvPr/>
        </p:nvSpPr>
        <p:spPr>
          <a:xfrm>
            <a:off x="8433966" y="4997809"/>
            <a:ext cx="1790357" cy="369332"/>
          </a:xfrm>
          <a:prstGeom prst="rect">
            <a:avLst/>
          </a:prstGeom>
          <a:noFill/>
        </p:spPr>
        <p:txBody>
          <a:bodyPr wrap="square" rtlCol="0">
            <a:spAutoFit/>
          </a:bodyPr>
          <a:lstStyle/>
          <a:p>
            <a:r>
              <a:rPr lang="en-US" b="1" dirty="0"/>
              <a:t>Sp. E</a:t>
            </a:r>
          </a:p>
        </p:txBody>
      </p:sp>
      <p:sp>
        <p:nvSpPr>
          <p:cNvPr id="27" name="TextBox 26">
            <a:extLst>
              <a:ext uri="{FF2B5EF4-FFF2-40B4-BE49-F238E27FC236}">
                <a16:creationId xmlns:a16="http://schemas.microsoft.com/office/drawing/2014/main" id="{E4CF85B2-F3B6-7BBD-7729-D815E945331F}"/>
              </a:ext>
            </a:extLst>
          </p:cNvPr>
          <p:cNvSpPr txBox="1"/>
          <p:nvPr/>
        </p:nvSpPr>
        <p:spPr>
          <a:xfrm>
            <a:off x="10069811" y="4941810"/>
            <a:ext cx="1790357" cy="369332"/>
          </a:xfrm>
          <a:prstGeom prst="rect">
            <a:avLst/>
          </a:prstGeom>
          <a:noFill/>
        </p:spPr>
        <p:txBody>
          <a:bodyPr wrap="square" rtlCol="0">
            <a:spAutoFit/>
          </a:bodyPr>
          <a:lstStyle/>
          <a:p>
            <a:r>
              <a:rPr lang="en-US" dirty="0"/>
              <a:t>Sp. F</a:t>
            </a:r>
          </a:p>
        </p:txBody>
      </p:sp>
      <p:sp>
        <p:nvSpPr>
          <p:cNvPr id="5" name="TextBox 4">
            <a:extLst>
              <a:ext uri="{FF2B5EF4-FFF2-40B4-BE49-F238E27FC236}">
                <a16:creationId xmlns:a16="http://schemas.microsoft.com/office/drawing/2014/main" id="{7D7F0E31-4ACF-389C-6C1F-A5B8D44A6652}"/>
              </a:ext>
            </a:extLst>
          </p:cNvPr>
          <p:cNvSpPr txBox="1"/>
          <p:nvPr/>
        </p:nvSpPr>
        <p:spPr>
          <a:xfrm>
            <a:off x="151477" y="3181927"/>
            <a:ext cx="4724400" cy="2185214"/>
          </a:xfrm>
          <a:prstGeom prst="rect">
            <a:avLst/>
          </a:prstGeom>
          <a:noFill/>
        </p:spPr>
        <p:txBody>
          <a:bodyPr wrap="square" rtlCol="0">
            <a:spAutoFit/>
          </a:bodyPr>
          <a:lstStyle/>
          <a:p>
            <a:r>
              <a:rPr lang="en-US" sz="2800" dirty="0"/>
              <a:t>What do you need?</a:t>
            </a:r>
          </a:p>
          <a:p>
            <a:pPr lvl="1"/>
            <a:r>
              <a:rPr lang="en-US" sz="2800" dirty="0"/>
              <a:t>1. A study area / (AOI)</a:t>
            </a:r>
          </a:p>
          <a:p>
            <a:pPr lvl="1"/>
            <a:r>
              <a:rPr lang="en-US" sz="2800" dirty="0"/>
              <a:t>2. Community P/A data</a:t>
            </a:r>
          </a:p>
          <a:p>
            <a:pPr lvl="1"/>
            <a:r>
              <a:rPr lang="en-US" sz="2800" dirty="0"/>
              <a:t>3. A phylogeny</a:t>
            </a:r>
          </a:p>
          <a:p>
            <a:pPr lvl="1"/>
            <a:endParaRPr lang="en-US" sz="2400" dirty="0"/>
          </a:p>
        </p:txBody>
      </p:sp>
      <p:pic>
        <p:nvPicPr>
          <p:cNvPr id="13" name="Picture 12">
            <a:extLst>
              <a:ext uri="{FF2B5EF4-FFF2-40B4-BE49-F238E27FC236}">
                <a16:creationId xmlns:a16="http://schemas.microsoft.com/office/drawing/2014/main" id="{8A974572-E362-9FE2-10D3-6FC159B84081}"/>
              </a:ext>
            </a:extLst>
          </p:cNvPr>
          <p:cNvPicPr>
            <a:picLocks noChangeAspect="1"/>
          </p:cNvPicPr>
          <p:nvPr/>
        </p:nvPicPr>
        <p:blipFill>
          <a:blip r:embed="rId11"/>
          <a:stretch>
            <a:fillRect/>
          </a:stretch>
        </p:blipFill>
        <p:spPr>
          <a:xfrm>
            <a:off x="7176719" y="2405223"/>
            <a:ext cx="2425825" cy="2425825"/>
          </a:xfrm>
          <a:prstGeom prst="rect">
            <a:avLst/>
          </a:prstGeom>
        </p:spPr>
      </p:pic>
      <p:cxnSp>
        <p:nvCxnSpPr>
          <p:cNvPr id="34" name="Straight Arrow Connector 33">
            <a:extLst>
              <a:ext uri="{FF2B5EF4-FFF2-40B4-BE49-F238E27FC236}">
                <a16:creationId xmlns:a16="http://schemas.microsoft.com/office/drawing/2014/main" id="{73DED4D1-FDAC-FE14-2D80-798016D051C0}"/>
              </a:ext>
            </a:extLst>
          </p:cNvPr>
          <p:cNvCxnSpPr>
            <a:cxnSpLocks/>
          </p:cNvCxnSpPr>
          <p:nvPr/>
        </p:nvCxnSpPr>
        <p:spPr>
          <a:xfrm>
            <a:off x="6393485" y="1532266"/>
            <a:ext cx="980055" cy="111735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17" name="Picture 16">
            <a:extLst>
              <a:ext uri="{FF2B5EF4-FFF2-40B4-BE49-F238E27FC236}">
                <a16:creationId xmlns:a16="http://schemas.microsoft.com/office/drawing/2014/main" id="{EC21F4F7-5495-C58E-8775-99FC6CF626BD}"/>
              </a:ext>
            </a:extLst>
          </p:cNvPr>
          <p:cNvPicPr>
            <a:picLocks noChangeAspect="1"/>
          </p:cNvPicPr>
          <p:nvPr/>
        </p:nvPicPr>
        <p:blipFill>
          <a:blip r:embed="rId12"/>
          <a:stretch>
            <a:fillRect/>
          </a:stretch>
        </p:blipFill>
        <p:spPr>
          <a:xfrm>
            <a:off x="9715428" y="2305978"/>
            <a:ext cx="368319" cy="2578233"/>
          </a:xfrm>
          <a:prstGeom prst="rect">
            <a:avLst/>
          </a:prstGeom>
        </p:spPr>
      </p:pic>
      <p:cxnSp>
        <p:nvCxnSpPr>
          <p:cNvPr id="35" name="Straight Arrow Connector 34">
            <a:extLst>
              <a:ext uri="{FF2B5EF4-FFF2-40B4-BE49-F238E27FC236}">
                <a16:creationId xmlns:a16="http://schemas.microsoft.com/office/drawing/2014/main" id="{C5D970AA-E698-9C31-0675-8E2A3282BFD7}"/>
              </a:ext>
            </a:extLst>
          </p:cNvPr>
          <p:cNvCxnSpPr>
            <a:cxnSpLocks/>
          </p:cNvCxnSpPr>
          <p:nvPr/>
        </p:nvCxnSpPr>
        <p:spPr>
          <a:xfrm flipH="1">
            <a:off x="8926286" y="2058582"/>
            <a:ext cx="1753240" cy="59103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6" name="Picture 25">
            <a:extLst>
              <a:ext uri="{FF2B5EF4-FFF2-40B4-BE49-F238E27FC236}">
                <a16:creationId xmlns:a16="http://schemas.microsoft.com/office/drawing/2014/main" id="{B5687225-6A58-FE80-7D22-D2EA341B5AD7}"/>
              </a:ext>
            </a:extLst>
          </p:cNvPr>
          <p:cNvPicPr>
            <a:picLocks noChangeAspect="1"/>
          </p:cNvPicPr>
          <p:nvPr/>
        </p:nvPicPr>
        <p:blipFill>
          <a:blip r:embed="rId13"/>
          <a:stretch>
            <a:fillRect/>
          </a:stretch>
        </p:blipFill>
        <p:spPr>
          <a:xfrm>
            <a:off x="10088623" y="3391626"/>
            <a:ext cx="1568531" cy="152408"/>
          </a:xfrm>
          <a:prstGeom prst="rect">
            <a:avLst/>
          </a:prstGeom>
        </p:spPr>
      </p:pic>
      <p:sp>
        <p:nvSpPr>
          <p:cNvPr id="31" name="TextBox 30">
            <a:extLst>
              <a:ext uri="{FF2B5EF4-FFF2-40B4-BE49-F238E27FC236}">
                <a16:creationId xmlns:a16="http://schemas.microsoft.com/office/drawing/2014/main" id="{E8E6CBA5-8908-1213-A4D5-3C599D56D682}"/>
              </a:ext>
            </a:extLst>
          </p:cNvPr>
          <p:cNvSpPr txBox="1"/>
          <p:nvPr/>
        </p:nvSpPr>
        <p:spPr>
          <a:xfrm>
            <a:off x="5873411" y="1128612"/>
            <a:ext cx="2793934" cy="369332"/>
          </a:xfrm>
          <a:prstGeom prst="rect">
            <a:avLst/>
          </a:prstGeom>
          <a:noFill/>
        </p:spPr>
        <p:txBody>
          <a:bodyPr wrap="square" rtlCol="0">
            <a:spAutoFit/>
          </a:bodyPr>
          <a:lstStyle/>
          <a:p>
            <a:r>
              <a:rPr lang="en-US" b="1" dirty="0"/>
              <a:t>PE = 8.18</a:t>
            </a:r>
          </a:p>
        </p:txBody>
      </p:sp>
      <p:sp>
        <p:nvSpPr>
          <p:cNvPr id="36" name="TextBox 35">
            <a:extLst>
              <a:ext uri="{FF2B5EF4-FFF2-40B4-BE49-F238E27FC236}">
                <a16:creationId xmlns:a16="http://schemas.microsoft.com/office/drawing/2014/main" id="{1A366804-0622-A443-CE54-A13ED5969844}"/>
              </a:ext>
            </a:extLst>
          </p:cNvPr>
          <p:cNvSpPr txBox="1"/>
          <p:nvPr/>
        </p:nvSpPr>
        <p:spPr>
          <a:xfrm>
            <a:off x="10294378" y="1642759"/>
            <a:ext cx="2793934" cy="369332"/>
          </a:xfrm>
          <a:prstGeom prst="rect">
            <a:avLst/>
          </a:prstGeom>
          <a:noFill/>
        </p:spPr>
        <p:txBody>
          <a:bodyPr wrap="square" rtlCol="0">
            <a:spAutoFit/>
          </a:bodyPr>
          <a:lstStyle/>
          <a:p>
            <a:r>
              <a:rPr lang="en-US" b="1" dirty="0"/>
              <a:t>PE = 26.48</a:t>
            </a:r>
          </a:p>
        </p:txBody>
      </p:sp>
    </p:spTree>
    <p:extLst>
      <p:ext uri="{BB962C8B-B14F-4D97-AF65-F5344CB8AC3E}">
        <p14:creationId xmlns:p14="http://schemas.microsoft.com/office/powerpoint/2010/main" val="512178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CA8E-2022-62B4-CC7B-727D61CF0377}"/>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54193E90-1867-E6A6-287B-5EA82D6CF50A}"/>
              </a:ext>
            </a:extLst>
          </p:cNvPr>
          <p:cNvPicPr>
            <a:picLocks noChangeAspect="1"/>
          </p:cNvPicPr>
          <p:nvPr/>
        </p:nvPicPr>
        <p:blipFill>
          <a:blip r:embed="rId2"/>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B93257CB-5554-05DB-E56C-F1381C6A5BBD}"/>
              </a:ext>
            </a:extLst>
          </p:cNvPr>
          <p:cNvSpPr txBox="1"/>
          <p:nvPr/>
        </p:nvSpPr>
        <p:spPr>
          <a:xfrm>
            <a:off x="10233995" y="143637"/>
            <a:ext cx="1958005" cy="1815882"/>
          </a:xfrm>
          <a:prstGeom prst="rect">
            <a:avLst/>
          </a:prstGeom>
          <a:noFill/>
        </p:spPr>
        <p:txBody>
          <a:bodyPr wrap="square" rtlCol="0">
            <a:spAutoFit/>
          </a:bodyPr>
          <a:lstStyle/>
          <a:p>
            <a:r>
              <a:rPr lang="en-US" sz="2800" dirty="0"/>
              <a:t>PE is PD on a range weighted tree</a:t>
            </a:r>
          </a:p>
        </p:txBody>
      </p:sp>
      <p:pic>
        <p:nvPicPr>
          <p:cNvPr id="13" name="Picture 12">
            <a:extLst>
              <a:ext uri="{FF2B5EF4-FFF2-40B4-BE49-F238E27FC236}">
                <a16:creationId xmlns:a16="http://schemas.microsoft.com/office/drawing/2014/main" id="{1AD42467-22BA-7133-C9F4-B2173C80F90B}"/>
              </a:ext>
            </a:extLst>
          </p:cNvPr>
          <p:cNvPicPr>
            <a:picLocks noChangeAspect="1"/>
          </p:cNvPicPr>
          <p:nvPr/>
        </p:nvPicPr>
        <p:blipFill>
          <a:blip r:embed="rId3"/>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097B4C2B-A195-CB76-8647-AA83A7873C45}"/>
              </a:ext>
            </a:extLst>
          </p:cNvPr>
          <p:cNvPicPr>
            <a:picLocks noChangeAspect="1"/>
          </p:cNvPicPr>
          <p:nvPr/>
        </p:nvPicPr>
        <p:blipFill>
          <a:blip r:embed="rId4"/>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1C1E32DF-6AFD-8D13-4EB0-C4C289E23A8D}"/>
              </a:ext>
            </a:extLst>
          </p:cNvPr>
          <p:cNvPicPr>
            <a:picLocks noChangeAspect="1"/>
          </p:cNvPicPr>
          <p:nvPr/>
        </p:nvPicPr>
        <p:blipFill>
          <a:blip r:embed="rId5"/>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6BABF80C-4D9D-08B7-CC40-42286D0323A4}"/>
              </a:ext>
            </a:extLst>
          </p:cNvPr>
          <p:cNvPicPr>
            <a:picLocks noChangeAspect="1"/>
          </p:cNvPicPr>
          <p:nvPr/>
        </p:nvPicPr>
        <p:blipFill>
          <a:blip r:embed="rId6"/>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E0931B40-3C3C-D06F-9C45-804517CE6997}"/>
              </a:ext>
            </a:extLst>
          </p:cNvPr>
          <p:cNvPicPr>
            <a:picLocks noChangeAspect="1"/>
          </p:cNvPicPr>
          <p:nvPr/>
        </p:nvPicPr>
        <p:blipFill>
          <a:blip r:embed="rId7"/>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A8FCF188-D3BB-F5A5-FC59-8E7F38ECA9F1}"/>
              </a:ext>
            </a:extLst>
          </p:cNvPr>
          <p:cNvPicPr>
            <a:picLocks noChangeAspect="1"/>
          </p:cNvPicPr>
          <p:nvPr/>
        </p:nvPicPr>
        <p:blipFill>
          <a:blip r:embed="rId8"/>
          <a:stretch>
            <a:fillRect/>
          </a:stretch>
        </p:blipFill>
        <p:spPr>
          <a:xfrm>
            <a:off x="8634945" y="5797774"/>
            <a:ext cx="771674" cy="771674"/>
          </a:xfrm>
          <a:prstGeom prst="rect">
            <a:avLst/>
          </a:prstGeom>
        </p:spPr>
      </p:pic>
    </p:spTree>
    <p:extLst>
      <p:ext uri="{BB962C8B-B14F-4D97-AF65-F5344CB8AC3E}">
        <p14:creationId xmlns:p14="http://schemas.microsoft.com/office/powerpoint/2010/main" val="72674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B2F8-3127-15BB-CCA2-D9048AD73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B8534-9DE8-F743-3E75-423C1ED3FD0C}"/>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B3EB652B-C3D8-F8A7-730C-41F6EE22F160}"/>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4BBB5AD3-F808-3742-B91E-F340DC81D103}"/>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B838DE61-ACA0-8777-5E77-9B5A2B267E40}"/>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B827422C-42D0-8E87-B7CC-C9EE1D8B9CAF}"/>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0D7BB809-07CD-BE7A-FE67-383FE71B1233}"/>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D2A035D9-F721-50C5-4032-E673C400497A}"/>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0583CCA8-F49E-EC37-29B9-A4B83A23FF42}"/>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EE6B1D6A-BA50-050E-3A36-C77EC8B21208}"/>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CA7AAA1B-CE45-A551-1624-DA48D5D8250D}"/>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3C35FDC2-9EBF-40D5-0CDF-94A75F930162}"/>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BAA8C2D6-F180-C903-AEE4-DE39CDA07458}"/>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3AC7F73B-76CC-3D53-19FB-D8DF4A997CD0}"/>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0747CEF0-6B02-FBD2-B372-EA0BA7DF94BC}"/>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D289C4C0-35EB-559F-4AAD-AC6EDF6331C1}"/>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58181DF-8C2F-F813-AFA2-DCA75FBB223B}"/>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558181DF-8C2F-F813-AFA2-DCA75FBB223B}"/>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spTree>
    <p:extLst>
      <p:ext uri="{BB962C8B-B14F-4D97-AF65-F5344CB8AC3E}">
        <p14:creationId xmlns:p14="http://schemas.microsoft.com/office/powerpoint/2010/main" val="2259404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D436C-0A07-E11E-8E48-0474FCF1B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0B3C5-FDFC-F506-B6CD-0CAEB49F185E}"/>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59488F07-D9C4-E032-F14E-D109087BA24D}"/>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63F192BA-81AA-CD17-10EF-DDD78147A6C9}"/>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90EC22F7-0DC5-49A5-5203-4A50D290FA7D}"/>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D1527C72-4C32-B718-AF07-A1411355A95E}"/>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C3ADBA87-6FA6-E8A6-D700-4EA9100FC109}"/>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81D53E01-BCED-E4C2-23FF-43D958BC4ADA}"/>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3895070E-079B-D7ED-A934-D3248BD03DDB}"/>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DEFF05CD-E1DA-2D85-28FA-A8A6C0356EF0}"/>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34623579-E712-018C-2A67-4C5138305CF2}"/>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3A1FFC93-B1E9-F73F-BB56-7B7A175AFC0A}"/>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71BAD9C5-43EE-2241-9B3A-C8EEF8285C21}"/>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1494A9A0-FC0A-32E9-0B20-276072FC5AD5}"/>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E8EA7376-D263-D655-794C-C377E36B2998}"/>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13AEDD09-FA22-ABE5-457A-875C4420AED4}"/>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1261A39-F027-4B2F-712C-664F1A45413F}"/>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B1261A39-F027-4B2F-712C-664F1A45413F}"/>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4EEEBB74-59C3-0183-38D6-78B9FE095E33}"/>
              </a:ext>
            </a:extLst>
          </p:cNvPr>
          <p:cNvCxnSpPr>
            <a:cxnSpLocks/>
          </p:cNvCxnSpPr>
          <p:nvPr/>
        </p:nvCxnSpPr>
        <p:spPr>
          <a:xfrm>
            <a:off x="5866028" y="3533106"/>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204316EF-4DFC-3931-7CF5-D07391039650}"/>
              </a:ext>
            </a:extLst>
          </p:cNvPr>
          <p:cNvCxnSpPr>
            <a:cxnSpLocks/>
          </p:cNvCxnSpPr>
          <p:nvPr/>
        </p:nvCxnSpPr>
        <p:spPr>
          <a:xfrm>
            <a:off x="7087754" y="5265172"/>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ED4F81B5-D61A-99D5-DFAF-6141ED5FBB32}"/>
              </a:ext>
            </a:extLst>
          </p:cNvPr>
          <p:cNvCxnSpPr>
            <a:cxnSpLocks/>
          </p:cNvCxnSpPr>
          <p:nvPr/>
        </p:nvCxnSpPr>
        <p:spPr>
          <a:xfrm>
            <a:off x="4035274" y="4401944"/>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6AC3DD09-9634-9465-2581-336EED6325E7}"/>
              </a:ext>
            </a:extLst>
          </p:cNvPr>
          <p:cNvCxnSpPr>
            <a:cxnSpLocks/>
          </p:cNvCxnSpPr>
          <p:nvPr/>
        </p:nvCxnSpPr>
        <p:spPr>
          <a:xfrm>
            <a:off x="987273" y="1818803"/>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F8842B26-CC61-3CA9-2E2F-6FCC2122E655}"/>
              </a:ext>
            </a:extLst>
          </p:cNvPr>
          <p:cNvSpPr txBox="1"/>
          <p:nvPr/>
        </p:nvSpPr>
        <p:spPr>
          <a:xfrm>
            <a:off x="756833" y="1478678"/>
            <a:ext cx="426900" cy="369332"/>
          </a:xfrm>
          <a:prstGeom prst="rect">
            <a:avLst/>
          </a:prstGeom>
          <a:noFill/>
        </p:spPr>
        <p:txBody>
          <a:bodyPr wrap="square" rtlCol="0">
            <a:spAutoFit/>
          </a:bodyPr>
          <a:lstStyle/>
          <a:p>
            <a:r>
              <a:rPr lang="en-US" b="1" dirty="0"/>
              <a:t>?</a:t>
            </a:r>
          </a:p>
        </p:txBody>
      </p:sp>
      <p:sp>
        <p:nvSpPr>
          <p:cNvPr id="29" name="TextBox 28">
            <a:extLst>
              <a:ext uri="{FF2B5EF4-FFF2-40B4-BE49-F238E27FC236}">
                <a16:creationId xmlns:a16="http://schemas.microsoft.com/office/drawing/2014/main" id="{B02C18D1-CB8E-AF25-8A1B-A926585CC997}"/>
              </a:ext>
            </a:extLst>
          </p:cNvPr>
          <p:cNvSpPr txBox="1"/>
          <p:nvPr/>
        </p:nvSpPr>
        <p:spPr>
          <a:xfrm>
            <a:off x="5622902" y="3277302"/>
            <a:ext cx="426900" cy="369332"/>
          </a:xfrm>
          <a:prstGeom prst="rect">
            <a:avLst/>
          </a:prstGeom>
          <a:noFill/>
        </p:spPr>
        <p:txBody>
          <a:bodyPr wrap="square" rtlCol="0">
            <a:spAutoFit/>
          </a:bodyPr>
          <a:lstStyle/>
          <a:p>
            <a:r>
              <a:rPr lang="en-US" b="1" dirty="0"/>
              <a:t>?</a:t>
            </a:r>
          </a:p>
        </p:txBody>
      </p:sp>
      <p:sp>
        <p:nvSpPr>
          <p:cNvPr id="31" name="TextBox 30">
            <a:extLst>
              <a:ext uri="{FF2B5EF4-FFF2-40B4-BE49-F238E27FC236}">
                <a16:creationId xmlns:a16="http://schemas.microsoft.com/office/drawing/2014/main" id="{B4076BEB-0396-C054-D946-FADE002B9887}"/>
              </a:ext>
            </a:extLst>
          </p:cNvPr>
          <p:cNvSpPr txBox="1"/>
          <p:nvPr/>
        </p:nvSpPr>
        <p:spPr>
          <a:xfrm>
            <a:off x="3830821" y="4097410"/>
            <a:ext cx="426900" cy="369332"/>
          </a:xfrm>
          <a:prstGeom prst="rect">
            <a:avLst/>
          </a:prstGeom>
          <a:noFill/>
        </p:spPr>
        <p:txBody>
          <a:bodyPr wrap="square" rtlCol="0">
            <a:spAutoFit/>
          </a:bodyPr>
          <a:lstStyle/>
          <a:p>
            <a:r>
              <a:rPr lang="en-US" b="1" dirty="0"/>
              <a:t>?</a:t>
            </a:r>
          </a:p>
        </p:txBody>
      </p:sp>
      <p:sp>
        <p:nvSpPr>
          <p:cNvPr id="33" name="TextBox 32">
            <a:extLst>
              <a:ext uri="{FF2B5EF4-FFF2-40B4-BE49-F238E27FC236}">
                <a16:creationId xmlns:a16="http://schemas.microsoft.com/office/drawing/2014/main" id="{114EF14E-8388-060C-6C46-A347B7C608AC}"/>
              </a:ext>
            </a:extLst>
          </p:cNvPr>
          <p:cNvSpPr txBox="1"/>
          <p:nvPr/>
        </p:nvSpPr>
        <p:spPr>
          <a:xfrm>
            <a:off x="6830466" y="4953880"/>
            <a:ext cx="426900" cy="369332"/>
          </a:xfrm>
          <a:prstGeom prst="rect">
            <a:avLst/>
          </a:prstGeom>
          <a:noFill/>
        </p:spPr>
        <p:txBody>
          <a:bodyPr wrap="square" rtlCol="0">
            <a:spAutoFit/>
          </a:bodyPr>
          <a:lstStyle/>
          <a:p>
            <a:r>
              <a:rPr lang="en-US" b="1" dirty="0"/>
              <a:t>?</a:t>
            </a:r>
          </a:p>
        </p:txBody>
      </p:sp>
    </p:spTree>
    <p:extLst>
      <p:ext uri="{BB962C8B-B14F-4D97-AF65-F5344CB8AC3E}">
        <p14:creationId xmlns:p14="http://schemas.microsoft.com/office/powerpoint/2010/main" val="363191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BFE0F-3AED-6CA9-DA26-2A0B0E727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4695B-25B0-08DC-F8C3-4A9B2A8F0DDC}"/>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69792ED7-60F5-35FD-E7EC-33697A16B8EB}"/>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EAA22AD1-41E5-8902-55C1-EE7C3C222CE4}"/>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467B69D1-B65C-097B-E000-383B7F052CBC}"/>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1A458E00-2B5F-4141-BD10-8462929B36D5}"/>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2B89826A-DACC-C19D-B2E4-7143BF224A3E}"/>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CF2BA7DC-8495-3C2E-D84F-BDA102A364DD}"/>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03C871F1-112B-B5CF-482B-0DE48F1FE90A}"/>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7EBEC487-C6FE-5752-4CCB-E496FB169910}"/>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6A51267C-6DB3-2543-F193-1F468C79F4A1}"/>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B4B3FB6F-9FDF-6426-9642-870DB393A4AC}"/>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CB827BD4-F857-F01E-FB41-21D91FD793C2}"/>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07979567-7D9C-A8B3-A2CB-CFD2B923B275}"/>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2177325D-5014-FCB0-4DB9-673C634BF493}"/>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0E08ABBC-5D36-AE1E-C59E-98F3A0781AF9}"/>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A8179C0-CEA7-B67F-C3D5-5257FCC532C6}"/>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2A8179C0-CEA7-B67F-C3D5-5257FCC532C6}"/>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0283504-07C2-41A4-2E1F-CF3CDAE3F6AD}"/>
              </a:ext>
            </a:extLst>
          </p:cNvPr>
          <p:cNvCxnSpPr>
            <a:cxnSpLocks/>
          </p:cNvCxnSpPr>
          <p:nvPr/>
        </p:nvCxnSpPr>
        <p:spPr>
          <a:xfrm>
            <a:off x="5866028" y="3533106"/>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ECA2BCF9-4A74-4825-3A4B-E35050E3B3B7}"/>
              </a:ext>
            </a:extLst>
          </p:cNvPr>
          <p:cNvCxnSpPr>
            <a:cxnSpLocks/>
          </p:cNvCxnSpPr>
          <p:nvPr/>
        </p:nvCxnSpPr>
        <p:spPr>
          <a:xfrm flipH="1" flipV="1">
            <a:off x="7589930" y="5733438"/>
            <a:ext cx="2760300" cy="6433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19611139-B13D-F242-61B7-B751B571ADD9}"/>
              </a:ext>
            </a:extLst>
          </p:cNvPr>
          <p:cNvCxnSpPr>
            <a:cxnSpLocks/>
          </p:cNvCxnSpPr>
          <p:nvPr/>
        </p:nvCxnSpPr>
        <p:spPr>
          <a:xfrm>
            <a:off x="4035274" y="4401944"/>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EB9E02A7-2E41-7D1C-EAE0-CE0705E8F2F8}"/>
              </a:ext>
            </a:extLst>
          </p:cNvPr>
          <p:cNvCxnSpPr>
            <a:cxnSpLocks/>
          </p:cNvCxnSpPr>
          <p:nvPr/>
        </p:nvCxnSpPr>
        <p:spPr>
          <a:xfrm>
            <a:off x="987273" y="1818803"/>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EAC60D6E-E43F-D46E-A330-92C1234BB3AD}"/>
              </a:ext>
            </a:extLst>
          </p:cNvPr>
          <p:cNvSpPr txBox="1"/>
          <p:nvPr/>
        </p:nvSpPr>
        <p:spPr>
          <a:xfrm>
            <a:off x="756833" y="1478678"/>
            <a:ext cx="426900" cy="369332"/>
          </a:xfrm>
          <a:prstGeom prst="rect">
            <a:avLst/>
          </a:prstGeom>
          <a:noFill/>
        </p:spPr>
        <p:txBody>
          <a:bodyPr wrap="square" rtlCol="0">
            <a:spAutoFit/>
          </a:bodyPr>
          <a:lstStyle/>
          <a:p>
            <a:r>
              <a:rPr lang="en-US" b="1" dirty="0"/>
              <a:t>?</a:t>
            </a:r>
          </a:p>
        </p:txBody>
      </p:sp>
      <p:sp>
        <p:nvSpPr>
          <p:cNvPr id="29" name="TextBox 28">
            <a:extLst>
              <a:ext uri="{FF2B5EF4-FFF2-40B4-BE49-F238E27FC236}">
                <a16:creationId xmlns:a16="http://schemas.microsoft.com/office/drawing/2014/main" id="{F49016CD-AB25-D6E1-A38E-AC4070F0CBD4}"/>
              </a:ext>
            </a:extLst>
          </p:cNvPr>
          <p:cNvSpPr txBox="1"/>
          <p:nvPr/>
        </p:nvSpPr>
        <p:spPr>
          <a:xfrm>
            <a:off x="5622902" y="3277302"/>
            <a:ext cx="426900" cy="369332"/>
          </a:xfrm>
          <a:prstGeom prst="rect">
            <a:avLst/>
          </a:prstGeom>
          <a:noFill/>
        </p:spPr>
        <p:txBody>
          <a:bodyPr wrap="square" rtlCol="0">
            <a:spAutoFit/>
          </a:bodyPr>
          <a:lstStyle/>
          <a:p>
            <a:r>
              <a:rPr lang="en-US" b="1" dirty="0"/>
              <a:t>?</a:t>
            </a:r>
          </a:p>
        </p:txBody>
      </p:sp>
      <p:sp>
        <p:nvSpPr>
          <p:cNvPr id="31" name="TextBox 30">
            <a:extLst>
              <a:ext uri="{FF2B5EF4-FFF2-40B4-BE49-F238E27FC236}">
                <a16:creationId xmlns:a16="http://schemas.microsoft.com/office/drawing/2014/main" id="{D82FF9BE-C380-06F0-8292-15157C0EB117}"/>
              </a:ext>
            </a:extLst>
          </p:cNvPr>
          <p:cNvSpPr txBox="1"/>
          <p:nvPr/>
        </p:nvSpPr>
        <p:spPr>
          <a:xfrm>
            <a:off x="3830821" y="4097410"/>
            <a:ext cx="426900" cy="369332"/>
          </a:xfrm>
          <a:prstGeom prst="rect">
            <a:avLst/>
          </a:prstGeom>
          <a:noFill/>
        </p:spPr>
        <p:txBody>
          <a:bodyPr wrap="square" rtlCol="0">
            <a:spAutoFit/>
          </a:bodyPr>
          <a:lstStyle/>
          <a:p>
            <a:r>
              <a:rPr lang="en-US" b="1" dirty="0"/>
              <a:t>?</a:t>
            </a:r>
          </a:p>
        </p:txBody>
      </p:sp>
      <p:pic>
        <p:nvPicPr>
          <p:cNvPr id="6" name="Picture 5">
            <a:extLst>
              <a:ext uri="{FF2B5EF4-FFF2-40B4-BE49-F238E27FC236}">
                <a16:creationId xmlns:a16="http://schemas.microsoft.com/office/drawing/2014/main" id="{80211EA4-77E8-C577-9337-E5EE5FF8A258}"/>
              </a:ext>
            </a:extLst>
          </p:cNvPr>
          <p:cNvPicPr>
            <a:picLocks noChangeAspect="1"/>
          </p:cNvPicPr>
          <p:nvPr/>
        </p:nvPicPr>
        <p:blipFill>
          <a:blip r:embed="rId8"/>
          <a:stretch>
            <a:fillRect/>
          </a:stretch>
        </p:blipFill>
        <p:spPr>
          <a:xfrm>
            <a:off x="9731378" y="3924500"/>
            <a:ext cx="868159" cy="820353"/>
          </a:xfrm>
          <a:prstGeom prst="rect">
            <a:avLst/>
          </a:prstGeom>
        </p:spPr>
      </p:pic>
      <p:pic>
        <p:nvPicPr>
          <p:cNvPr id="16" name="Picture 15">
            <a:extLst>
              <a:ext uri="{FF2B5EF4-FFF2-40B4-BE49-F238E27FC236}">
                <a16:creationId xmlns:a16="http://schemas.microsoft.com/office/drawing/2014/main" id="{34C5C440-D8D6-FED7-2EE2-A4C6E4FBDA9B}"/>
              </a:ext>
            </a:extLst>
          </p:cNvPr>
          <p:cNvPicPr>
            <a:picLocks noChangeAspect="1"/>
          </p:cNvPicPr>
          <p:nvPr/>
        </p:nvPicPr>
        <p:blipFill>
          <a:blip r:embed="rId9"/>
          <a:stretch>
            <a:fillRect/>
          </a:stretch>
        </p:blipFill>
        <p:spPr>
          <a:xfrm>
            <a:off x="11061718" y="3973179"/>
            <a:ext cx="771674" cy="771674"/>
          </a:xfrm>
          <a:prstGeom prst="rect">
            <a:avLst/>
          </a:prstGeom>
        </p:spPr>
      </p:pic>
      <p:sp>
        <p:nvSpPr>
          <p:cNvPr id="30" name="TextBox 29">
            <a:extLst>
              <a:ext uri="{FF2B5EF4-FFF2-40B4-BE49-F238E27FC236}">
                <a16:creationId xmlns:a16="http://schemas.microsoft.com/office/drawing/2014/main" id="{8B5C9107-055A-5A5C-05AB-173FD6F7930B}"/>
              </a:ext>
            </a:extLst>
          </p:cNvPr>
          <p:cNvSpPr txBox="1"/>
          <p:nvPr/>
        </p:nvSpPr>
        <p:spPr>
          <a:xfrm>
            <a:off x="9731378" y="3332429"/>
            <a:ext cx="2451481" cy="523220"/>
          </a:xfrm>
          <a:prstGeom prst="rect">
            <a:avLst/>
          </a:prstGeom>
          <a:noFill/>
        </p:spPr>
        <p:txBody>
          <a:bodyPr wrap="square" rtlCol="0">
            <a:spAutoFit/>
          </a:bodyPr>
          <a:lstStyle/>
          <a:p>
            <a:r>
              <a:rPr lang="en-US" sz="2800" dirty="0"/>
              <a:t>Union Method</a:t>
            </a:r>
          </a:p>
        </p:txBody>
      </p:sp>
      <p:pic>
        <p:nvPicPr>
          <p:cNvPr id="37" name="Picture 36">
            <a:extLst>
              <a:ext uri="{FF2B5EF4-FFF2-40B4-BE49-F238E27FC236}">
                <a16:creationId xmlns:a16="http://schemas.microsoft.com/office/drawing/2014/main" id="{DCA271DD-387D-0803-6D92-FAFF228A5C55}"/>
              </a:ext>
            </a:extLst>
          </p:cNvPr>
          <p:cNvPicPr>
            <a:picLocks noChangeAspect="1"/>
          </p:cNvPicPr>
          <p:nvPr/>
        </p:nvPicPr>
        <p:blipFill>
          <a:blip r:embed="rId11"/>
          <a:stretch>
            <a:fillRect/>
          </a:stretch>
        </p:blipFill>
        <p:spPr>
          <a:xfrm>
            <a:off x="10348407" y="5394986"/>
            <a:ext cx="1322651" cy="1261839"/>
          </a:xfrm>
          <a:prstGeom prst="rect">
            <a:avLst/>
          </a:prstGeom>
        </p:spPr>
      </p:pic>
      <p:cxnSp>
        <p:nvCxnSpPr>
          <p:cNvPr id="38" name="Straight Arrow Connector 37">
            <a:extLst>
              <a:ext uri="{FF2B5EF4-FFF2-40B4-BE49-F238E27FC236}">
                <a16:creationId xmlns:a16="http://schemas.microsoft.com/office/drawing/2014/main" id="{2462FA0C-F7AC-0BB8-8A40-BAEED14AAD3B}"/>
              </a:ext>
            </a:extLst>
          </p:cNvPr>
          <p:cNvCxnSpPr>
            <a:cxnSpLocks/>
          </p:cNvCxnSpPr>
          <p:nvPr/>
        </p:nvCxnSpPr>
        <p:spPr>
          <a:xfrm>
            <a:off x="10085413" y="4784812"/>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192588D1-F333-F9C6-247F-D4C2957045F8}"/>
              </a:ext>
            </a:extLst>
          </p:cNvPr>
          <p:cNvCxnSpPr>
            <a:cxnSpLocks/>
            <a:stCxn id="16" idx="2"/>
          </p:cNvCxnSpPr>
          <p:nvPr/>
        </p:nvCxnSpPr>
        <p:spPr>
          <a:xfrm flipH="1">
            <a:off x="11061718" y="4744853"/>
            <a:ext cx="385837" cy="53260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6423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3D4EC-96F0-47EC-A302-AE019A3A0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E7F38-C1DF-01F8-67EB-7D018DD8B95F}"/>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338D67E0-F066-B7FD-FA22-228C978DA0DB}"/>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39B62FDE-A15B-E2FE-F717-61B14BB6FD6D}"/>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6AAE37FB-038C-BEC8-D0B5-AD080A34DAB3}"/>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20125123-B26C-64BB-6738-58CA06F6B536}"/>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1100EFFB-2E91-7D6C-F3CA-D091909E9556}"/>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B1B25623-A73E-ECFB-2A43-BB86F26EEB30}"/>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6A624E4B-0560-9250-2C44-195C440C03EC}"/>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5E5D9ABD-018F-AE74-905F-ED2E0DE2209F}"/>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07D5446F-18C6-D0B5-92F9-268B3E66994F}"/>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A09BA929-AA7C-9BC8-8D14-E42947F3E048}"/>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4E79E714-CBEC-CADB-7B77-C5D9836E6387}"/>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8C2EEE76-BE2F-B7AD-FD79-971C2BFE6922}"/>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281251BA-F21B-893F-E780-FA464393A59F}"/>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DEBFC674-D039-7F8F-1C08-8D74E2DF1F4A}"/>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BFDC8C2-FE0B-7397-D66D-879583089FAE}"/>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9BFDC8C2-FE0B-7397-D66D-879583089FAE}"/>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E02ED95-7353-EF6A-5EA2-5693A65E83DE}"/>
              </a:ext>
            </a:extLst>
          </p:cNvPr>
          <p:cNvCxnSpPr>
            <a:cxnSpLocks/>
          </p:cNvCxnSpPr>
          <p:nvPr/>
        </p:nvCxnSpPr>
        <p:spPr>
          <a:xfrm>
            <a:off x="5866028" y="3533106"/>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36A62330-B5ED-2D86-4838-1C31D2246411}"/>
              </a:ext>
            </a:extLst>
          </p:cNvPr>
          <p:cNvCxnSpPr>
            <a:cxnSpLocks/>
          </p:cNvCxnSpPr>
          <p:nvPr/>
        </p:nvCxnSpPr>
        <p:spPr>
          <a:xfrm flipH="1" flipV="1">
            <a:off x="7589930" y="5733438"/>
            <a:ext cx="2760300" cy="6433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6A2F2ECB-F0E3-AEE8-94FE-28E5CEA5EC03}"/>
              </a:ext>
            </a:extLst>
          </p:cNvPr>
          <p:cNvCxnSpPr>
            <a:cxnSpLocks/>
          </p:cNvCxnSpPr>
          <p:nvPr/>
        </p:nvCxnSpPr>
        <p:spPr>
          <a:xfrm>
            <a:off x="4035274" y="4401944"/>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66EC7303-8A9A-0847-90A6-C68C5961F067}"/>
              </a:ext>
            </a:extLst>
          </p:cNvPr>
          <p:cNvCxnSpPr>
            <a:cxnSpLocks/>
          </p:cNvCxnSpPr>
          <p:nvPr/>
        </p:nvCxnSpPr>
        <p:spPr>
          <a:xfrm>
            <a:off x="987273" y="1818803"/>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4F20CB93-0972-0212-5FE3-ADE3AC533F49}"/>
              </a:ext>
            </a:extLst>
          </p:cNvPr>
          <p:cNvSpPr txBox="1"/>
          <p:nvPr/>
        </p:nvSpPr>
        <p:spPr>
          <a:xfrm>
            <a:off x="756833" y="1478678"/>
            <a:ext cx="426900" cy="369332"/>
          </a:xfrm>
          <a:prstGeom prst="rect">
            <a:avLst/>
          </a:prstGeom>
          <a:noFill/>
        </p:spPr>
        <p:txBody>
          <a:bodyPr wrap="square" rtlCol="0">
            <a:spAutoFit/>
          </a:bodyPr>
          <a:lstStyle/>
          <a:p>
            <a:r>
              <a:rPr lang="en-US" b="1" dirty="0"/>
              <a:t>?</a:t>
            </a:r>
          </a:p>
        </p:txBody>
      </p:sp>
      <p:sp>
        <p:nvSpPr>
          <p:cNvPr id="29" name="TextBox 28">
            <a:extLst>
              <a:ext uri="{FF2B5EF4-FFF2-40B4-BE49-F238E27FC236}">
                <a16:creationId xmlns:a16="http://schemas.microsoft.com/office/drawing/2014/main" id="{596A7E12-0F3F-E8B3-167A-73F5AB6B6733}"/>
              </a:ext>
            </a:extLst>
          </p:cNvPr>
          <p:cNvSpPr txBox="1"/>
          <p:nvPr/>
        </p:nvSpPr>
        <p:spPr>
          <a:xfrm>
            <a:off x="5622902" y="3277302"/>
            <a:ext cx="426900" cy="369332"/>
          </a:xfrm>
          <a:prstGeom prst="rect">
            <a:avLst/>
          </a:prstGeom>
          <a:noFill/>
        </p:spPr>
        <p:txBody>
          <a:bodyPr wrap="square" rtlCol="0">
            <a:spAutoFit/>
          </a:bodyPr>
          <a:lstStyle/>
          <a:p>
            <a:r>
              <a:rPr lang="en-US" b="1" dirty="0"/>
              <a:t>?</a:t>
            </a:r>
          </a:p>
        </p:txBody>
      </p:sp>
      <p:sp>
        <p:nvSpPr>
          <p:cNvPr id="31" name="TextBox 30">
            <a:extLst>
              <a:ext uri="{FF2B5EF4-FFF2-40B4-BE49-F238E27FC236}">
                <a16:creationId xmlns:a16="http://schemas.microsoft.com/office/drawing/2014/main" id="{E70A6F0C-CA74-D7BA-311A-72D0B801E8DD}"/>
              </a:ext>
            </a:extLst>
          </p:cNvPr>
          <p:cNvSpPr txBox="1"/>
          <p:nvPr/>
        </p:nvSpPr>
        <p:spPr>
          <a:xfrm>
            <a:off x="3830821" y="4097410"/>
            <a:ext cx="426900" cy="369332"/>
          </a:xfrm>
          <a:prstGeom prst="rect">
            <a:avLst/>
          </a:prstGeom>
          <a:noFill/>
        </p:spPr>
        <p:txBody>
          <a:bodyPr wrap="square" rtlCol="0">
            <a:spAutoFit/>
          </a:bodyPr>
          <a:lstStyle/>
          <a:p>
            <a:r>
              <a:rPr lang="en-US" b="1" dirty="0"/>
              <a:t>?</a:t>
            </a:r>
          </a:p>
        </p:txBody>
      </p:sp>
      <p:pic>
        <p:nvPicPr>
          <p:cNvPr id="6" name="Picture 5">
            <a:extLst>
              <a:ext uri="{FF2B5EF4-FFF2-40B4-BE49-F238E27FC236}">
                <a16:creationId xmlns:a16="http://schemas.microsoft.com/office/drawing/2014/main" id="{0C187F07-DEA9-32C6-6173-36E52D26C883}"/>
              </a:ext>
            </a:extLst>
          </p:cNvPr>
          <p:cNvPicPr>
            <a:picLocks noChangeAspect="1"/>
          </p:cNvPicPr>
          <p:nvPr/>
        </p:nvPicPr>
        <p:blipFill>
          <a:blip r:embed="rId8"/>
          <a:stretch>
            <a:fillRect/>
          </a:stretch>
        </p:blipFill>
        <p:spPr>
          <a:xfrm>
            <a:off x="9731378" y="3924500"/>
            <a:ext cx="868159" cy="820353"/>
          </a:xfrm>
          <a:prstGeom prst="rect">
            <a:avLst/>
          </a:prstGeom>
        </p:spPr>
      </p:pic>
      <p:pic>
        <p:nvPicPr>
          <p:cNvPr id="16" name="Picture 15">
            <a:extLst>
              <a:ext uri="{FF2B5EF4-FFF2-40B4-BE49-F238E27FC236}">
                <a16:creationId xmlns:a16="http://schemas.microsoft.com/office/drawing/2014/main" id="{892E43C8-83E4-1D6F-E8B3-3B936530B947}"/>
              </a:ext>
            </a:extLst>
          </p:cNvPr>
          <p:cNvPicPr>
            <a:picLocks noChangeAspect="1"/>
          </p:cNvPicPr>
          <p:nvPr/>
        </p:nvPicPr>
        <p:blipFill>
          <a:blip r:embed="rId9"/>
          <a:stretch>
            <a:fillRect/>
          </a:stretch>
        </p:blipFill>
        <p:spPr>
          <a:xfrm>
            <a:off x="11061718" y="3973179"/>
            <a:ext cx="771674" cy="771674"/>
          </a:xfrm>
          <a:prstGeom prst="rect">
            <a:avLst/>
          </a:prstGeom>
        </p:spPr>
      </p:pic>
      <p:sp>
        <p:nvSpPr>
          <p:cNvPr id="30" name="TextBox 29">
            <a:extLst>
              <a:ext uri="{FF2B5EF4-FFF2-40B4-BE49-F238E27FC236}">
                <a16:creationId xmlns:a16="http://schemas.microsoft.com/office/drawing/2014/main" id="{2554E269-849E-021E-8BD6-94B7C31573E6}"/>
              </a:ext>
            </a:extLst>
          </p:cNvPr>
          <p:cNvSpPr txBox="1"/>
          <p:nvPr/>
        </p:nvSpPr>
        <p:spPr>
          <a:xfrm>
            <a:off x="9731378" y="3332429"/>
            <a:ext cx="2451481" cy="523220"/>
          </a:xfrm>
          <a:prstGeom prst="rect">
            <a:avLst/>
          </a:prstGeom>
          <a:noFill/>
        </p:spPr>
        <p:txBody>
          <a:bodyPr wrap="square" rtlCol="0">
            <a:spAutoFit/>
          </a:bodyPr>
          <a:lstStyle/>
          <a:p>
            <a:r>
              <a:rPr lang="en-US" sz="2800" dirty="0"/>
              <a:t>Union Method</a:t>
            </a:r>
          </a:p>
        </p:txBody>
      </p:sp>
      <p:pic>
        <p:nvPicPr>
          <p:cNvPr id="37" name="Picture 36">
            <a:extLst>
              <a:ext uri="{FF2B5EF4-FFF2-40B4-BE49-F238E27FC236}">
                <a16:creationId xmlns:a16="http://schemas.microsoft.com/office/drawing/2014/main" id="{9163B25A-320C-53A4-1D2B-E4A1092405EA}"/>
              </a:ext>
            </a:extLst>
          </p:cNvPr>
          <p:cNvPicPr>
            <a:picLocks noChangeAspect="1"/>
          </p:cNvPicPr>
          <p:nvPr/>
        </p:nvPicPr>
        <p:blipFill>
          <a:blip r:embed="rId11"/>
          <a:stretch>
            <a:fillRect/>
          </a:stretch>
        </p:blipFill>
        <p:spPr>
          <a:xfrm>
            <a:off x="10348407" y="5394986"/>
            <a:ext cx="1322651" cy="1261839"/>
          </a:xfrm>
          <a:prstGeom prst="rect">
            <a:avLst/>
          </a:prstGeom>
        </p:spPr>
      </p:pic>
      <p:cxnSp>
        <p:nvCxnSpPr>
          <p:cNvPr id="38" name="Straight Arrow Connector 37">
            <a:extLst>
              <a:ext uri="{FF2B5EF4-FFF2-40B4-BE49-F238E27FC236}">
                <a16:creationId xmlns:a16="http://schemas.microsoft.com/office/drawing/2014/main" id="{76C50CDD-DED0-64AA-D748-4329AAC1D2C0}"/>
              </a:ext>
            </a:extLst>
          </p:cNvPr>
          <p:cNvCxnSpPr>
            <a:cxnSpLocks/>
          </p:cNvCxnSpPr>
          <p:nvPr/>
        </p:nvCxnSpPr>
        <p:spPr>
          <a:xfrm>
            <a:off x="10085413" y="4784812"/>
            <a:ext cx="502176" cy="492644"/>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66CB37D3-125F-F7FE-CAC5-FE3CE534A7D6}"/>
              </a:ext>
            </a:extLst>
          </p:cNvPr>
          <p:cNvCxnSpPr>
            <a:cxnSpLocks/>
            <a:stCxn id="16" idx="2"/>
          </p:cNvCxnSpPr>
          <p:nvPr/>
        </p:nvCxnSpPr>
        <p:spPr>
          <a:xfrm flipH="1">
            <a:off x="11061718" y="4744853"/>
            <a:ext cx="385837" cy="53260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9F0FAB9A-101C-3740-C3EB-81E906EFD75C}"/>
              </a:ext>
            </a:extLst>
          </p:cNvPr>
          <p:cNvPicPr>
            <a:picLocks noChangeAspect="1"/>
          </p:cNvPicPr>
          <p:nvPr/>
        </p:nvPicPr>
        <p:blipFill>
          <a:blip r:embed="rId12"/>
          <a:stretch>
            <a:fillRect/>
          </a:stretch>
        </p:blipFill>
        <p:spPr>
          <a:xfrm>
            <a:off x="65171" y="5113006"/>
            <a:ext cx="5221827" cy="1726739"/>
          </a:xfrm>
          <a:prstGeom prst="rect">
            <a:avLst/>
          </a:prstGeom>
        </p:spPr>
      </p:pic>
    </p:spTree>
    <p:extLst>
      <p:ext uri="{BB962C8B-B14F-4D97-AF65-F5344CB8AC3E}">
        <p14:creationId xmlns:p14="http://schemas.microsoft.com/office/powerpoint/2010/main" val="1199295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D22B4-96A6-1F5A-B3F6-6C12AFFA8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5A3E2-AA69-77B9-3765-697E59F7B265}"/>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877FE5FF-5F3F-7ECE-F416-D26F9537646C}"/>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C86427F9-09AB-45BE-B060-B27365DE6581}"/>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56794F5E-E416-4F57-7C27-E23D002A7043}"/>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B9E765DF-B922-EB4B-F529-C7DE2D0A6853}"/>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0743EC75-7AF1-7F83-D957-3960BF03C515}"/>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62572B87-BC18-C76F-82F0-699DFDEBB1B4}"/>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77BA846C-77CA-217D-D252-5F3B7E29D5A4}"/>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B29DB7A3-08DC-C1E9-BFC4-74A4899DB642}"/>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FEFB822D-A364-8147-A728-8807DAC20CF7}"/>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28385975-C944-0B14-AB63-308227E219D9}"/>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4C5923FA-BCB7-200F-DDCD-4ADD808832D8}"/>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03FCD627-4E35-9A0F-CD26-BBC468FA0D2C}"/>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67D0B577-C324-05D9-5EF3-1143CDC29ACF}"/>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342A6AAE-AFFB-0522-DB74-8CB359D7ED9D}"/>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4D348AC-C5D6-0415-3E39-3B6891120302}"/>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24D348AC-C5D6-0415-3E39-3B6891120302}"/>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3306CB80-8AFD-1E70-68E6-27F5FB348C8F}"/>
              </a:ext>
            </a:extLst>
          </p:cNvPr>
          <p:cNvPicPr>
            <a:picLocks noChangeAspect="1"/>
          </p:cNvPicPr>
          <p:nvPr/>
        </p:nvPicPr>
        <p:blipFill>
          <a:blip r:embed="rId11"/>
          <a:stretch>
            <a:fillRect/>
          </a:stretch>
        </p:blipFill>
        <p:spPr>
          <a:xfrm>
            <a:off x="7257366" y="5499237"/>
            <a:ext cx="547744" cy="522560"/>
          </a:xfrm>
          <a:prstGeom prst="rect">
            <a:avLst/>
          </a:prstGeom>
        </p:spPr>
      </p:pic>
      <p:pic>
        <p:nvPicPr>
          <p:cNvPr id="12" name="Picture 11">
            <a:extLst>
              <a:ext uri="{FF2B5EF4-FFF2-40B4-BE49-F238E27FC236}">
                <a16:creationId xmlns:a16="http://schemas.microsoft.com/office/drawing/2014/main" id="{61A7DF19-35F3-7B6C-BBD1-3F18D2BAA7EA}"/>
              </a:ext>
            </a:extLst>
          </p:cNvPr>
          <p:cNvPicPr>
            <a:picLocks noChangeAspect="1"/>
          </p:cNvPicPr>
          <p:nvPr/>
        </p:nvPicPr>
        <p:blipFill>
          <a:blip r:embed="rId12"/>
          <a:stretch>
            <a:fillRect/>
          </a:stretch>
        </p:blipFill>
        <p:spPr>
          <a:xfrm>
            <a:off x="6075573" y="3768320"/>
            <a:ext cx="518906" cy="513756"/>
          </a:xfrm>
          <a:prstGeom prst="rect">
            <a:avLst/>
          </a:prstGeom>
        </p:spPr>
      </p:pic>
      <p:pic>
        <p:nvPicPr>
          <p:cNvPr id="32" name="Picture 31">
            <a:extLst>
              <a:ext uri="{FF2B5EF4-FFF2-40B4-BE49-F238E27FC236}">
                <a16:creationId xmlns:a16="http://schemas.microsoft.com/office/drawing/2014/main" id="{C53A2099-710C-B10D-B1BB-F506A15940AE}"/>
              </a:ext>
            </a:extLst>
          </p:cNvPr>
          <p:cNvPicPr>
            <a:picLocks noChangeAspect="1"/>
          </p:cNvPicPr>
          <p:nvPr/>
        </p:nvPicPr>
        <p:blipFill>
          <a:blip r:embed="rId13"/>
          <a:stretch>
            <a:fillRect/>
          </a:stretch>
        </p:blipFill>
        <p:spPr>
          <a:xfrm>
            <a:off x="1240780" y="2050977"/>
            <a:ext cx="505092" cy="505092"/>
          </a:xfrm>
          <a:prstGeom prst="rect">
            <a:avLst/>
          </a:prstGeom>
        </p:spPr>
      </p:pic>
      <p:pic>
        <p:nvPicPr>
          <p:cNvPr id="34" name="Picture 33">
            <a:extLst>
              <a:ext uri="{FF2B5EF4-FFF2-40B4-BE49-F238E27FC236}">
                <a16:creationId xmlns:a16="http://schemas.microsoft.com/office/drawing/2014/main" id="{3E60257F-66D0-2306-EF75-E525AAA94747}"/>
              </a:ext>
            </a:extLst>
          </p:cNvPr>
          <p:cNvPicPr>
            <a:picLocks noChangeAspect="1"/>
          </p:cNvPicPr>
          <p:nvPr/>
        </p:nvPicPr>
        <p:blipFill>
          <a:blip r:embed="rId14"/>
          <a:stretch>
            <a:fillRect/>
          </a:stretch>
        </p:blipFill>
        <p:spPr>
          <a:xfrm>
            <a:off x="4227092" y="4592256"/>
            <a:ext cx="566598" cy="562369"/>
          </a:xfrm>
          <a:prstGeom prst="rect">
            <a:avLst/>
          </a:prstGeom>
        </p:spPr>
      </p:pic>
    </p:spTree>
    <p:extLst>
      <p:ext uri="{BB962C8B-B14F-4D97-AF65-F5344CB8AC3E}">
        <p14:creationId xmlns:p14="http://schemas.microsoft.com/office/powerpoint/2010/main" val="401413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4B39-045A-7032-CEE1-A53EE1C3B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3CB69-FA30-8E40-20EF-3C2977B4024D}"/>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29E50B20-B82F-5A13-9CF8-565BA1D59F61}"/>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766B0E6D-DFA0-7616-E079-48FEEFDE3E6C}"/>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1EF2C278-7CE9-2A52-24E6-95EE85434213}"/>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7C79B8F3-0A58-0087-EF5D-C6712B85E87A}"/>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19A3F965-1F92-1DB3-1AE7-75B601DDC432}"/>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36662CBE-7E8D-BAEB-11ED-75A2B43EC32D}"/>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B81E1474-F63A-70E4-DAE4-595ACB54FF59}"/>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126DE2E8-6F50-24DF-AC5C-5E5CCA101628}"/>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628BC853-A7DF-BED4-94F9-A6DE72D9B9F8}"/>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72C0E2C5-450D-92D5-C5AA-1C362B37F1A4}"/>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31737DBD-8DAF-A67E-0077-A1A8CC9B8FEF}"/>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DA3C3482-1CB3-161A-8EAD-244EF03794A9}"/>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C69A0311-7B78-96AB-B35A-04C54910C6A9}"/>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AB67844E-9540-53E6-FAFF-F69A88D0C62E}"/>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35B93C4-160D-49BE-FD1E-B7C1393E8EDF}"/>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035B93C4-160D-49BE-FD1E-B7C1393E8EDF}"/>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A0EDDF09-7CE8-2CDE-F82F-A8768E20CDC6}"/>
              </a:ext>
            </a:extLst>
          </p:cNvPr>
          <p:cNvPicPr>
            <a:picLocks noChangeAspect="1"/>
          </p:cNvPicPr>
          <p:nvPr/>
        </p:nvPicPr>
        <p:blipFill>
          <a:blip r:embed="rId11"/>
          <a:stretch>
            <a:fillRect/>
          </a:stretch>
        </p:blipFill>
        <p:spPr>
          <a:xfrm>
            <a:off x="7257366" y="5499237"/>
            <a:ext cx="547744" cy="522560"/>
          </a:xfrm>
          <a:prstGeom prst="rect">
            <a:avLst/>
          </a:prstGeom>
        </p:spPr>
      </p:pic>
      <p:pic>
        <p:nvPicPr>
          <p:cNvPr id="12" name="Picture 11">
            <a:extLst>
              <a:ext uri="{FF2B5EF4-FFF2-40B4-BE49-F238E27FC236}">
                <a16:creationId xmlns:a16="http://schemas.microsoft.com/office/drawing/2014/main" id="{A0F72222-0985-D961-537B-0ABCFFBD4309}"/>
              </a:ext>
            </a:extLst>
          </p:cNvPr>
          <p:cNvPicPr>
            <a:picLocks noChangeAspect="1"/>
          </p:cNvPicPr>
          <p:nvPr/>
        </p:nvPicPr>
        <p:blipFill>
          <a:blip r:embed="rId12"/>
          <a:stretch>
            <a:fillRect/>
          </a:stretch>
        </p:blipFill>
        <p:spPr>
          <a:xfrm>
            <a:off x="6075573" y="3768320"/>
            <a:ext cx="518906" cy="513756"/>
          </a:xfrm>
          <a:prstGeom prst="rect">
            <a:avLst/>
          </a:prstGeom>
        </p:spPr>
      </p:pic>
      <p:pic>
        <p:nvPicPr>
          <p:cNvPr id="32" name="Picture 31">
            <a:extLst>
              <a:ext uri="{FF2B5EF4-FFF2-40B4-BE49-F238E27FC236}">
                <a16:creationId xmlns:a16="http://schemas.microsoft.com/office/drawing/2014/main" id="{4F0F0746-25C4-C6AA-A977-88D8571D50DD}"/>
              </a:ext>
            </a:extLst>
          </p:cNvPr>
          <p:cNvPicPr>
            <a:picLocks noChangeAspect="1"/>
          </p:cNvPicPr>
          <p:nvPr/>
        </p:nvPicPr>
        <p:blipFill>
          <a:blip r:embed="rId13"/>
          <a:stretch>
            <a:fillRect/>
          </a:stretch>
        </p:blipFill>
        <p:spPr>
          <a:xfrm>
            <a:off x="1240780" y="2050977"/>
            <a:ext cx="505092" cy="505092"/>
          </a:xfrm>
          <a:prstGeom prst="rect">
            <a:avLst/>
          </a:prstGeom>
        </p:spPr>
      </p:pic>
      <p:pic>
        <p:nvPicPr>
          <p:cNvPr id="34" name="Picture 33">
            <a:extLst>
              <a:ext uri="{FF2B5EF4-FFF2-40B4-BE49-F238E27FC236}">
                <a16:creationId xmlns:a16="http://schemas.microsoft.com/office/drawing/2014/main" id="{6A4968BA-0746-D2D6-BC45-28E6A834E422}"/>
              </a:ext>
            </a:extLst>
          </p:cNvPr>
          <p:cNvPicPr>
            <a:picLocks noChangeAspect="1"/>
          </p:cNvPicPr>
          <p:nvPr/>
        </p:nvPicPr>
        <p:blipFill>
          <a:blip r:embed="rId14"/>
          <a:stretch>
            <a:fillRect/>
          </a:stretch>
        </p:blipFill>
        <p:spPr>
          <a:xfrm>
            <a:off x="4227092" y="4592256"/>
            <a:ext cx="566598" cy="562369"/>
          </a:xfrm>
          <a:prstGeom prst="rect">
            <a:avLst/>
          </a:prstGeom>
        </p:spPr>
      </p:pic>
      <p:sp>
        <p:nvSpPr>
          <p:cNvPr id="6" name="TextBox 5">
            <a:extLst>
              <a:ext uri="{FF2B5EF4-FFF2-40B4-BE49-F238E27FC236}">
                <a16:creationId xmlns:a16="http://schemas.microsoft.com/office/drawing/2014/main" id="{2D2B8B17-F34E-A29B-4E0F-DA8580C7B5A5}"/>
              </a:ext>
            </a:extLst>
          </p:cNvPr>
          <p:cNvSpPr txBox="1"/>
          <p:nvPr/>
        </p:nvSpPr>
        <p:spPr>
          <a:xfrm>
            <a:off x="4510391" y="3537783"/>
            <a:ext cx="1638196" cy="369332"/>
          </a:xfrm>
          <a:prstGeom prst="rect">
            <a:avLst/>
          </a:prstGeom>
          <a:noFill/>
        </p:spPr>
        <p:txBody>
          <a:bodyPr wrap="square" rtlCol="0">
            <a:spAutoFit/>
          </a:bodyPr>
          <a:lstStyle/>
          <a:p>
            <a:r>
              <a:rPr lang="en-US" dirty="0"/>
              <a:t>1.15 </a:t>
            </a:r>
            <a:r>
              <a:rPr lang="en-US" dirty="0">
                <a:latin typeface="Cambria Math" panose="02040503050406030204" pitchFamily="18" charset="0"/>
                <a:ea typeface="Cambria Math" panose="02040503050406030204" pitchFamily="18" charset="0"/>
              </a:rPr>
              <a:t>≈</a:t>
            </a:r>
            <a:r>
              <a:rPr lang="en-US" dirty="0"/>
              <a:t> (15/13)  </a:t>
            </a:r>
          </a:p>
        </p:txBody>
      </p:sp>
      <p:sp>
        <p:nvSpPr>
          <p:cNvPr id="14" name="TextBox 13">
            <a:extLst>
              <a:ext uri="{FF2B5EF4-FFF2-40B4-BE49-F238E27FC236}">
                <a16:creationId xmlns:a16="http://schemas.microsoft.com/office/drawing/2014/main" id="{B261B946-B84D-852B-FCE0-07EC546DFC7D}"/>
              </a:ext>
            </a:extLst>
          </p:cNvPr>
          <p:cNvSpPr txBox="1"/>
          <p:nvPr/>
        </p:nvSpPr>
        <p:spPr>
          <a:xfrm>
            <a:off x="5287585" y="5237601"/>
            <a:ext cx="1638196" cy="369332"/>
          </a:xfrm>
          <a:prstGeom prst="rect">
            <a:avLst/>
          </a:prstGeom>
          <a:noFill/>
        </p:spPr>
        <p:txBody>
          <a:bodyPr wrap="square" rtlCol="0">
            <a:spAutoFit/>
          </a:bodyPr>
          <a:lstStyle/>
          <a:p>
            <a:r>
              <a:rPr lang="en-US" dirty="0"/>
              <a:t>4.17 </a:t>
            </a:r>
            <a:r>
              <a:rPr lang="en-US" dirty="0">
                <a:latin typeface="Cambria Math" panose="02040503050406030204" pitchFamily="18" charset="0"/>
                <a:ea typeface="Cambria Math" panose="02040503050406030204" pitchFamily="18" charset="0"/>
              </a:rPr>
              <a:t>≈</a:t>
            </a:r>
            <a:r>
              <a:rPr lang="en-US" dirty="0"/>
              <a:t> (25/6)  </a:t>
            </a:r>
          </a:p>
        </p:txBody>
      </p:sp>
      <p:sp>
        <p:nvSpPr>
          <p:cNvPr id="20" name="TextBox 19">
            <a:extLst>
              <a:ext uri="{FF2B5EF4-FFF2-40B4-BE49-F238E27FC236}">
                <a16:creationId xmlns:a16="http://schemas.microsoft.com/office/drawing/2014/main" id="{4793C121-2F38-76C4-9F08-9A9DEF6F9A67}"/>
              </a:ext>
            </a:extLst>
          </p:cNvPr>
          <p:cNvSpPr txBox="1"/>
          <p:nvPr/>
        </p:nvSpPr>
        <p:spPr>
          <a:xfrm>
            <a:off x="2067859" y="4407590"/>
            <a:ext cx="1638196" cy="369332"/>
          </a:xfrm>
          <a:prstGeom prst="rect">
            <a:avLst/>
          </a:prstGeom>
          <a:noFill/>
        </p:spPr>
        <p:txBody>
          <a:bodyPr wrap="square" rtlCol="0">
            <a:spAutoFit/>
          </a:bodyPr>
          <a:lstStyle/>
          <a:p>
            <a:r>
              <a:rPr lang="en-US" dirty="0"/>
              <a:t>1.76 </a:t>
            </a:r>
            <a:r>
              <a:rPr lang="en-US" dirty="0">
                <a:latin typeface="Cambria Math" panose="02040503050406030204" pitchFamily="18" charset="0"/>
                <a:ea typeface="Cambria Math" panose="02040503050406030204" pitchFamily="18" charset="0"/>
              </a:rPr>
              <a:t>≈</a:t>
            </a:r>
            <a:r>
              <a:rPr lang="en-US" dirty="0"/>
              <a:t> (30/17)  </a:t>
            </a:r>
          </a:p>
        </p:txBody>
      </p:sp>
      <p:sp>
        <p:nvSpPr>
          <p:cNvPr id="26" name="TextBox 25">
            <a:extLst>
              <a:ext uri="{FF2B5EF4-FFF2-40B4-BE49-F238E27FC236}">
                <a16:creationId xmlns:a16="http://schemas.microsoft.com/office/drawing/2014/main" id="{FAFD15F4-95BB-2305-535D-095BB5AEC78C}"/>
              </a:ext>
            </a:extLst>
          </p:cNvPr>
          <p:cNvSpPr txBox="1"/>
          <p:nvPr/>
        </p:nvSpPr>
        <p:spPr>
          <a:xfrm>
            <a:off x="115965" y="1707759"/>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(5/3)  </a:t>
            </a:r>
          </a:p>
        </p:txBody>
      </p:sp>
    </p:spTree>
    <p:extLst>
      <p:ext uri="{BB962C8B-B14F-4D97-AF65-F5344CB8AC3E}">
        <p14:creationId xmlns:p14="http://schemas.microsoft.com/office/powerpoint/2010/main" val="2111990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D6BC3-E417-F7E5-3A80-78A61A016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F60B0-986D-043F-FD21-C2B9A53552B0}"/>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E0F1F3B0-A337-6D62-AAF4-EB191FD5EE20}"/>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39DFBD85-997B-A63D-50BC-92C35A2938F2}"/>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721ED697-1FD6-3735-DC0A-3422340E4B9B}"/>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1B789AC7-8887-E1FE-37C5-62B0C36CCA9F}"/>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8AA08562-5B0B-6069-CF5E-5DBABBA94545}"/>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ED4955B9-8880-B5E1-272D-4DE48A12B3A9}"/>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F07E95EC-F909-947B-B153-03CB2BE190E1}"/>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03C66286-49E3-99E5-94A9-9FB575013709}"/>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737FD65A-DE98-E88B-7258-29518F86A1BA}"/>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2F1DCFA0-3EFB-66A2-F2A7-56C885088880}"/>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A52ECB62-7E87-1D2F-AF10-86565F5B3231}"/>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E449CE28-7882-7A96-A33A-D0225A330A41}"/>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C7E07829-87D2-01A3-9BA4-BAC9C3697070}"/>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22274203-9BE4-F0B8-FE44-0A1233715099}"/>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70654B9-7EE2-6852-468E-63AC8328CC4D}"/>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470654B9-7EE2-6852-468E-63AC8328CC4D}"/>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F91F7669-C900-D929-E8DB-87FD93DB8CEB}"/>
              </a:ext>
            </a:extLst>
          </p:cNvPr>
          <p:cNvPicPr>
            <a:picLocks noChangeAspect="1"/>
          </p:cNvPicPr>
          <p:nvPr/>
        </p:nvPicPr>
        <p:blipFill>
          <a:blip r:embed="rId11"/>
          <a:stretch>
            <a:fillRect/>
          </a:stretch>
        </p:blipFill>
        <p:spPr>
          <a:xfrm>
            <a:off x="7257366" y="5499237"/>
            <a:ext cx="547744" cy="522560"/>
          </a:xfrm>
          <a:prstGeom prst="rect">
            <a:avLst/>
          </a:prstGeom>
        </p:spPr>
      </p:pic>
      <p:pic>
        <p:nvPicPr>
          <p:cNvPr id="12" name="Picture 11">
            <a:extLst>
              <a:ext uri="{FF2B5EF4-FFF2-40B4-BE49-F238E27FC236}">
                <a16:creationId xmlns:a16="http://schemas.microsoft.com/office/drawing/2014/main" id="{710C5BC8-5D58-5818-9A14-5A9885A97F05}"/>
              </a:ext>
            </a:extLst>
          </p:cNvPr>
          <p:cNvPicPr>
            <a:picLocks noChangeAspect="1"/>
          </p:cNvPicPr>
          <p:nvPr/>
        </p:nvPicPr>
        <p:blipFill>
          <a:blip r:embed="rId12"/>
          <a:stretch>
            <a:fillRect/>
          </a:stretch>
        </p:blipFill>
        <p:spPr>
          <a:xfrm>
            <a:off x="6075573" y="3768320"/>
            <a:ext cx="518906" cy="513756"/>
          </a:xfrm>
          <a:prstGeom prst="rect">
            <a:avLst/>
          </a:prstGeom>
        </p:spPr>
      </p:pic>
      <p:pic>
        <p:nvPicPr>
          <p:cNvPr id="32" name="Picture 31">
            <a:extLst>
              <a:ext uri="{FF2B5EF4-FFF2-40B4-BE49-F238E27FC236}">
                <a16:creationId xmlns:a16="http://schemas.microsoft.com/office/drawing/2014/main" id="{39F1E0D2-5632-4D61-A39B-56EDE8BF7A7B}"/>
              </a:ext>
            </a:extLst>
          </p:cNvPr>
          <p:cNvPicPr>
            <a:picLocks noChangeAspect="1"/>
          </p:cNvPicPr>
          <p:nvPr/>
        </p:nvPicPr>
        <p:blipFill>
          <a:blip r:embed="rId13"/>
          <a:stretch>
            <a:fillRect/>
          </a:stretch>
        </p:blipFill>
        <p:spPr>
          <a:xfrm>
            <a:off x="1240780" y="2050977"/>
            <a:ext cx="505092" cy="505092"/>
          </a:xfrm>
          <a:prstGeom prst="rect">
            <a:avLst/>
          </a:prstGeom>
        </p:spPr>
      </p:pic>
      <p:pic>
        <p:nvPicPr>
          <p:cNvPr id="34" name="Picture 33">
            <a:extLst>
              <a:ext uri="{FF2B5EF4-FFF2-40B4-BE49-F238E27FC236}">
                <a16:creationId xmlns:a16="http://schemas.microsoft.com/office/drawing/2014/main" id="{A3EC6884-619C-B4C8-F554-724FDE88A29D}"/>
              </a:ext>
            </a:extLst>
          </p:cNvPr>
          <p:cNvPicPr>
            <a:picLocks noChangeAspect="1"/>
          </p:cNvPicPr>
          <p:nvPr/>
        </p:nvPicPr>
        <p:blipFill>
          <a:blip r:embed="rId14"/>
          <a:stretch>
            <a:fillRect/>
          </a:stretch>
        </p:blipFill>
        <p:spPr>
          <a:xfrm>
            <a:off x="4227092" y="4592256"/>
            <a:ext cx="566598" cy="562369"/>
          </a:xfrm>
          <a:prstGeom prst="rect">
            <a:avLst/>
          </a:prstGeom>
        </p:spPr>
      </p:pic>
      <p:sp>
        <p:nvSpPr>
          <p:cNvPr id="6" name="TextBox 5">
            <a:extLst>
              <a:ext uri="{FF2B5EF4-FFF2-40B4-BE49-F238E27FC236}">
                <a16:creationId xmlns:a16="http://schemas.microsoft.com/office/drawing/2014/main" id="{E4A351E1-BA4C-92EE-F0B1-D6D6B39C8B7E}"/>
              </a:ext>
            </a:extLst>
          </p:cNvPr>
          <p:cNvSpPr txBox="1"/>
          <p:nvPr/>
        </p:nvSpPr>
        <p:spPr>
          <a:xfrm>
            <a:off x="4510391" y="3537783"/>
            <a:ext cx="1638196" cy="369332"/>
          </a:xfrm>
          <a:prstGeom prst="rect">
            <a:avLst/>
          </a:prstGeom>
          <a:noFill/>
        </p:spPr>
        <p:txBody>
          <a:bodyPr wrap="square" rtlCol="0">
            <a:spAutoFit/>
          </a:bodyPr>
          <a:lstStyle/>
          <a:p>
            <a:r>
              <a:rPr lang="en-US" dirty="0"/>
              <a:t>1.15 </a:t>
            </a:r>
            <a:r>
              <a:rPr lang="en-US" dirty="0">
                <a:latin typeface="Cambria Math" panose="02040503050406030204" pitchFamily="18" charset="0"/>
                <a:ea typeface="Cambria Math" panose="02040503050406030204" pitchFamily="18" charset="0"/>
              </a:rPr>
              <a:t>≈</a:t>
            </a:r>
            <a:r>
              <a:rPr lang="en-US" dirty="0"/>
              <a:t> (15/13)  </a:t>
            </a:r>
          </a:p>
        </p:txBody>
      </p:sp>
      <p:sp>
        <p:nvSpPr>
          <p:cNvPr id="14" name="TextBox 13">
            <a:extLst>
              <a:ext uri="{FF2B5EF4-FFF2-40B4-BE49-F238E27FC236}">
                <a16:creationId xmlns:a16="http://schemas.microsoft.com/office/drawing/2014/main" id="{111F0684-E92A-6A4D-3636-3E0007E1427D}"/>
              </a:ext>
            </a:extLst>
          </p:cNvPr>
          <p:cNvSpPr txBox="1"/>
          <p:nvPr/>
        </p:nvSpPr>
        <p:spPr>
          <a:xfrm>
            <a:off x="5287585" y="5237601"/>
            <a:ext cx="1638196" cy="369332"/>
          </a:xfrm>
          <a:prstGeom prst="rect">
            <a:avLst/>
          </a:prstGeom>
          <a:noFill/>
        </p:spPr>
        <p:txBody>
          <a:bodyPr wrap="square" rtlCol="0">
            <a:spAutoFit/>
          </a:bodyPr>
          <a:lstStyle/>
          <a:p>
            <a:r>
              <a:rPr lang="en-US" dirty="0"/>
              <a:t>4.17 </a:t>
            </a:r>
            <a:r>
              <a:rPr lang="en-US" dirty="0">
                <a:latin typeface="Cambria Math" panose="02040503050406030204" pitchFamily="18" charset="0"/>
                <a:ea typeface="Cambria Math" panose="02040503050406030204" pitchFamily="18" charset="0"/>
              </a:rPr>
              <a:t>≈</a:t>
            </a:r>
            <a:r>
              <a:rPr lang="en-US" dirty="0"/>
              <a:t> (25/6)  </a:t>
            </a:r>
          </a:p>
        </p:txBody>
      </p:sp>
      <p:sp>
        <p:nvSpPr>
          <p:cNvPr id="20" name="TextBox 19">
            <a:extLst>
              <a:ext uri="{FF2B5EF4-FFF2-40B4-BE49-F238E27FC236}">
                <a16:creationId xmlns:a16="http://schemas.microsoft.com/office/drawing/2014/main" id="{9A8D823E-579B-66DA-D1BF-D72A04D96B36}"/>
              </a:ext>
            </a:extLst>
          </p:cNvPr>
          <p:cNvSpPr txBox="1"/>
          <p:nvPr/>
        </p:nvSpPr>
        <p:spPr>
          <a:xfrm>
            <a:off x="2067859" y="4407590"/>
            <a:ext cx="1638196" cy="369332"/>
          </a:xfrm>
          <a:prstGeom prst="rect">
            <a:avLst/>
          </a:prstGeom>
          <a:noFill/>
        </p:spPr>
        <p:txBody>
          <a:bodyPr wrap="square" rtlCol="0">
            <a:spAutoFit/>
          </a:bodyPr>
          <a:lstStyle/>
          <a:p>
            <a:r>
              <a:rPr lang="en-US" dirty="0"/>
              <a:t>1.76 </a:t>
            </a:r>
            <a:r>
              <a:rPr lang="en-US" dirty="0">
                <a:latin typeface="Cambria Math" panose="02040503050406030204" pitchFamily="18" charset="0"/>
                <a:ea typeface="Cambria Math" panose="02040503050406030204" pitchFamily="18" charset="0"/>
              </a:rPr>
              <a:t>≈</a:t>
            </a:r>
            <a:r>
              <a:rPr lang="en-US" dirty="0"/>
              <a:t> (30/17)  </a:t>
            </a:r>
          </a:p>
        </p:txBody>
      </p:sp>
      <p:sp>
        <p:nvSpPr>
          <p:cNvPr id="26" name="TextBox 25">
            <a:extLst>
              <a:ext uri="{FF2B5EF4-FFF2-40B4-BE49-F238E27FC236}">
                <a16:creationId xmlns:a16="http://schemas.microsoft.com/office/drawing/2014/main" id="{E295F2D1-1DD7-18ED-6B10-740E6675FFD8}"/>
              </a:ext>
            </a:extLst>
          </p:cNvPr>
          <p:cNvSpPr txBox="1"/>
          <p:nvPr/>
        </p:nvSpPr>
        <p:spPr>
          <a:xfrm>
            <a:off x="115965" y="1707759"/>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(5/3)  </a:t>
            </a:r>
          </a:p>
        </p:txBody>
      </p:sp>
      <p:sp>
        <p:nvSpPr>
          <p:cNvPr id="4" name="TextBox 3">
            <a:extLst>
              <a:ext uri="{FF2B5EF4-FFF2-40B4-BE49-F238E27FC236}">
                <a16:creationId xmlns:a16="http://schemas.microsoft.com/office/drawing/2014/main" id="{0DE79264-268E-C465-CF23-C70EE027A655}"/>
              </a:ext>
            </a:extLst>
          </p:cNvPr>
          <p:cNvSpPr txBox="1"/>
          <p:nvPr/>
        </p:nvSpPr>
        <p:spPr>
          <a:xfrm>
            <a:off x="9804007" y="4499903"/>
            <a:ext cx="1924987" cy="276999"/>
          </a:xfrm>
          <a:prstGeom prst="rect">
            <a:avLst/>
          </a:prstGeom>
          <a:noFill/>
        </p:spPr>
        <p:txBody>
          <a:bodyPr wrap="square" rtlCol="0">
            <a:spAutoFit/>
          </a:bodyPr>
          <a:lstStyle/>
          <a:p>
            <a:r>
              <a:rPr lang="en-US" sz="1200" dirty="0"/>
              <a:t>Area of Interest (AOI)</a:t>
            </a:r>
          </a:p>
        </p:txBody>
      </p:sp>
      <p:pic>
        <p:nvPicPr>
          <p:cNvPr id="8" name="Picture 7">
            <a:extLst>
              <a:ext uri="{FF2B5EF4-FFF2-40B4-BE49-F238E27FC236}">
                <a16:creationId xmlns:a16="http://schemas.microsoft.com/office/drawing/2014/main" id="{9B390839-13FD-DE00-58DC-71DD5BFB8286}"/>
              </a:ext>
            </a:extLst>
          </p:cNvPr>
          <p:cNvPicPr>
            <a:picLocks noChangeAspect="1"/>
          </p:cNvPicPr>
          <p:nvPr/>
        </p:nvPicPr>
        <p:blipFill>
          <a:blip r:embed="rId15"/>
          <a:stretch>
            <a:fillRect/>
          </a:stretch>
        </p:blipFill>
        <p:spPr>
          <a:xfrm>
            <a:off x="9775006" y="4823924"/>
            <a:ext cx="1285516" cy="1285516"/>
          </a:xfrm>
          <a:prstGeom prst="rect">
            <a:avLst/>
          </a:prstGeom>
        </p:spPr>
      </p:pic>
      <p:cxnSp>
        <p:nvCxnSpPr>
          <p:cNvPr id="16" name="Straight Arrow Connector 15">
            <a:extLst>
              <a:ext uri="{FF2B5EF4-FFF2-40B4-BE49-F238E27FC236}">
                <a16:creationId xmlns:a16="http://schemas.microsoft.com/office/drawing/2014/main" id="{F07CC5C9-70A8-A8EB-25E2-12F6AF1942A9}"/>
              </a:ext>
            </a:extLst>
          </p:cNvPr>
          <p:cNvCxnSpPr>
            <a:cxnSpLocks/>
          </p:cNvCxnSpPr>
          <p:nvPr/>
        </p:nvCxnSpPr>
        <p:spPr>
          <a:xfrm>
            <a:off x="9724010" y="4448037"/>
            <a:ext cx="246595" cy="53147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9E75A655-A1FA-AD7E-4D0A-85CAE8328476}"/>
              </a:ext>
            </a:extLst>
          </p:cNvPr>
          <p:cNvPicPr>
            <a:picLocks noChangeAspect="1"/>
          </p:cNvPicPr>
          <p:nvPr/>
        </p:nvPicPr>
        <p:blipFill>
          <a:blip r:embed="rId16"/>
          <a:stretch>
            <a:fillRect/>
          </a:stretch>
        </p:blipFill>
        <p:spPr>
          <a:xfrm>
            <a:off x="11106647" y="4783541"/>
            <a:ext cx="195183" cy="1366281"/>
          </a:xfrm>
          <a:prstGeom prst="rect">
            <a:avLst/>
          </a:prstGeom>
        </p:spPr>
      </p:pic>
      <p:cxnSp>
        <p:nvCxnSpPr>
          <p:cNvPr id="27" name="Straight Arrow Connector 26">
            <a:extLst>
              <a:ext uri="{FF2B5EF4-FFF2-40B4-BE49-F238E27FC236}">
                <a16:creationId xmlns:a16="http://schemas.microsoft.com/office/drawing/2014/main" id="{87488282-6B6F-58BA-B7CD-D5980559067A}"/>
              </a:ext>
            </a:extLst>
          </p:cNvPr>
          <p:cNvCxnSpPr>
            <a:cxnSpLocks/>
          </p:cNvCxnSpPr>
          <p:nvPr/>
        </p:nvCxnSpPr>
        <p:spPr>
          <a:xfrm flipH="1">
            <a:off x="10667071" y="4713776"/>
            <a:ext cx="905626" cy="22876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8" name="Picture 27">
            <a:extLst>
              <a:ext uri="{FF2B5EF4-FFF2-40B4-BE49-F238E27FC236}">
                <a16:creationId xmlns:a16="http://schemas.microsoft.com/office/drawing/2014/main" id="{CB3F17F7-DE6F-4369-824E-D24D85696BA5}"/>
              </a:ext>
            </a:extLst>
          </p:cNvPr>
          <p:cNvPicPr>
            <a:picLocks noChangeAspect="1"/>
          </p:cNvPicPr>
          <p:nvPr/>
        </p:nvPicPr>
        <p:blipFill>
          <a:blip r:embed="rId17"/>
          <a:stretch>
            <a:fillRect/>
          </a:stretch>
        </p:blipFill>
        <p:spPr>
          <a:xfrm>
            <a:off x="11284228" y="5342426"/>
            <a:ext cx="831206" cy="80765"/>
          </a:xfrm>
          <a:prstGeom prst="rect">
            <a:avLst/>
          </a:prstGeom>
        </p:spPr>
      </p:pic>
      <p:sp>
        <p:nvSpPr>
          <p:cNvPr id="29" name="TextBox 28">
            <a:extLst>
              <a:ext uri="{FF2B5EF4-FFF2-40B4-BE49-F238E27FC236}">
                <a16:creationId xmlns:a16="http://schemas.microsoft.com/office/drawing/2014/main" id="{80C256DF-3575-C975-2013-C24250A1329F}"/>
              </a:ext>
            </a:extLst>
          </p:cNvPr>
          <p:cNvSpPr txBox="1"/>
          <p:nvPr/>
        </p:nvSpPr>
        <p:spPr>
          <a:xfrm>
            <a:off x="9528664" y="4177981"/>
            <a:ext cx="2586769" cy="276999"/>
          </a:xfrm>
          <a:prstGeom prst="rect">
            <a:avLst/>
          </a:prstGeom>
          <a:noFill/>
        </p:spPr>
        <p:txBody>
          <a:bodyPr wrap="square" rtlCol="0">
            <a:spAutoFit/>
          </a:bodyPr>
          <a:lstStyle/>
          <a:p>
            <a:r>
              <a:rPr lang="en-US" sz="1200" b="1" dirty="0">
                <a:solidFill>
                  <a:srgbClr val="C00000"/>
                </a:solidFill>
              </a:rPr>
              <a:t>PE = 8.18 = (1 + 1.25 + 4.17 + 1.76)</a:t>
            </a:r>
          </a:p>
        </p:txBody>
      </p:sp>
      <p:sp>
        <p:nvSpPr>
          <p:cNvPr id="30" name="TextBox 29">
            <a:extLst>
              <a:ext uri="{FF2B5EF4-FFF2-40B4-BE49-F238E27FC236}">
                <a16:creationId xmlns:a16="http://schemas.microsoft.com/office/drawing/2014/main" id="{845D84B2-3C79-B325-9657-9B10056E6A5B}"/>
              </a:ext>
            </a:extLst>
          </p:cNvPr>
          <p:cNvSpPr txBox="1"/>
          <p:nvPr/>
        </p:nvSpPr>
        <p:spPr>
          <a:xfrm>
            <a:off x="11325830" y="4423196"/>
            <a:ext cx="1138406" cy="276999"/>
          </a:xfrm>
          <a:prstGeom prst="rect">
            <a:avLst/>
          </a:prstGeom>
          <a:noFill/>
        </p:spPr>
        <p:txBody>
          <a:bodyPr wrap="square" rtlCol="0">
            <a:spAutoFit/>
          </a:bodyPr>
          <a:lstStyle/>
          <a:p>
            <a:r>
              <a:rPr lang="en-US" sz="1200" b="1" dirty="0"/>
              <a:t>PE = 26.48</a:t>
            </a:r>
          </a:p>
        </p:txBody>
      </p:sp>
      <p:cxnSp>
        <p:nvCxnSpPr>
          <p:cNvPr id="41" name="Straight Connector 40">
            <a:extLst>
              <a:ext uri="{FF2B5EF4-FFF2-40B4-BE49-F238E27FC236}">
                <a16:creationId xmlns:a16="http://schemas.microsoft.com/office/drawing/2014/main" id="{B238F8EF-B0A5-B457-40F9-303E291795CD}"/>
              </a:ext>
            </a:extLst>
          </p:cNvPr>
          <p:cNvCxnSpPr/>
          <p:nvPr/>
        </p:nvCxnSpPr>
        <p:spPr>
          <a:xfrm>
            <a:off x="846306" y="4873440"/>
            <a:ext cx="338078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90EEE55-284B-4D6A-9E22-3CC67CAD6781}"/>
              </a:ext>
            </a:extLst>
          </p:cNvPr>
          <p:cNvCxnSpPr>
            <a:cxnSpLocks/>
            <a:stCxn id="34" idx="2"/>
          </p:cNvCxnSpPr>
          <p:nvPr/>
        </p:nvCxnSpPr>
        <p:spPr>
          <a:xfrm>
            <a:off x="4510391" y="5154625"/>
            <a:ext cx="0" cy="57712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CD02221-FD71-B180-B4BB-89CD130FB692}"/>
              </a:ext>
            </a:extLst>
          </p:cNvPr>
          <p:cNvCxnSpPr>
            <a:cxnSpLocks/>
            <a:endCxn id="37" idx="1"/>
          </p:cNvCxnSpPr>
          <p:nvPr/>
        </p:nvCxnSpPr>
        <p:spPr>
          <a:xfrm>
            <a:off x="4510391" y="5731748"/>
            <a:ext cx="2746975" cy="2876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55831B9-76A3-846E-28C8-2691EFD74342}"/>
              </a:ext>
            </a:extLst>
          </p:cNvPr>
          <p:cNvCxnSpPr>
            <a:cxnSpLocks/>
          </p:cNvCxnSpPr>
          <p:nvPr/>
        </p:nvCxnSpPr>
        <p:spPr>
          <a:xfrm flipV="1">
            <a:off x="7596393" y="6021797"/>
            <a:ext cx="0" cy="1546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33A961D-7024-7AF1-4222-EA8C2BA4A68E}"/>
              </a:ext>
            </a:extLst>
          </p:cNvPr>
          <p:cNvCxnSpPr>
            <a:cxnSpLocks/>
          </p:cNvCxnSpPr>
          <p:nvPr/>
        </p:nvCxnSpPr>
        <p:spPr>
          <a:xfrm flipH="1">
            <a:off x="7596393" y="6176483"/>
            <a:ext cx="59510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F39D2F1-C56A-91D3-87FE-1935559F3AC4}"/>
              </a:ext>
            </a:extLst>
          </p:cNvPr>
          <p:cNvCxnSpPr>
            <a:cxnSpLocks/>
          </p:cNvCxnSpPr>
          <p:nvPr/>
        </p:nvCxnSpPr>
        <p:spPr>
          <a:xfrm flipH="1">
            <a:off x="7596393" y="5304764"/>
            <a:ext cx="59510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1A4614E-6544-8ED8-9EB8-D9B05216DA6E}"/>
              </a:ext>
            </a:extLst>
          </p:cNvPr>
          <p:cNvCxnSpPr>
            <a:cxnSpLocks/>
          </p:cNvCxnSpPr>
          <p:nvPr/>
        </p:nvCxnSpPr>
        <p:spPr>
          <a:xfrm>
            <a:off x="7591430" y="5299322"/>
            <a:ext cx="4963" cy="19991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0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6C40B-63C0-7BF3-C078-1E6E86391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CB941-403F-69D7-3323-8AFF898B3E9E}"/>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0506B146-82F5-0FCA-F790-0D32B3BACDD8}"/>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901A018F-5580-5952-1F99-65263BF5AA99}"/>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D5CBA046-5B08-B269-10AC-D20E27BC6AA8}"/>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EFA17F35-7F11-4632-045F-FDB2C59F17E7}"/>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C8D4EF95-2871-3524-6575-BBA0CEB4FFBD}"/>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0D015FF0-B8F9-C6F6-EF56-9019A77BAFB4}"/>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A9DCDFBF-83FD-3B2F-2B98-F36455EC3B2C}"/>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D5B53002-7A77-5C0F-ACBE-C77B5FE46042}"/>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10180AF2-7316-F239-8560-D8BBD6C60C1D}"/>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DFD7909D-A2C0-1E42-7950-C5FCDFFE38E4}"/>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BE3A560A-2F3C-8D92-492F-62DF5937A038}"/>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F1453931-3698-EB1A-711D-E18037724CB2}"/>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2BB8E5F4-F189-6080-5537-6C3E668C60B2}"/>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43B3A91D-0B66-DFC3-F06D-CC3FCBC55E8E}"/>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10D54DE-C96F-B1A7-3BAC-00852BB3706E}"/>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110D54DE-C96F-B1A7-3BAC-00852BB3706E}"/>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8B0359A1-51DE-70CA-1235-9F1F8BA9DD26}"/>
              </a:ext>
            </a:extLst>
          </p:cNvPr>
          <p:cNvPicPr>
            <a:picLocks noChangeAspect="1"/>
          </p:cNvPicPr>
          <p:nvPr/>
        </p:nvPicPr>
        <p:blipFill>
          <a:blip r:embed="rId11"/>
          <a:stretch>
            <a:fillRect/>
          </a:stretch>
        </p:blipFill>
        <p:spPr>
          <a:xfrm>
            <a:off x="7257366" y="5499237"/>
            <a:ext cx="547744" cy="522560"/>
          </a:xfrm>
          <a:prstGeom prst="rect">
            <a:avLst/>
          </a:prstGeom>
        </p:spPr>
      </p:pic>
      <p:pic>
        <p:nvPicPr>
          <p:cNvPr id="12" name="Picture 11">
            <a:extLst>
              <a:ext uri="{FF2B5EF4-FFF2-40B4-BE49-F238E27FC236}">
                <a16:creationId xmlns:a16="http://schemas.microsoft.com/office/drawing/2014/main" id="{6E8250D0-8DFD-53D1-3431-A6119F6BAC71}"/>
              </a:ext>
            </a:extLst>
          </p:cNvPr>
          <p:cNvPicPr>
            <a:picLocks noChangeAspect="1"/>
          </p:cNvPicPr>
          <p:nvPr/>
        </p:nvPicPr>
        <p:blipFill>
          <a:blip r:embed="rId12"/>
          <a:stretch>
            <a:fillRect/>
          </a:stretch>
        </p:blipFill>
        <p:spPr>
          <a:xfrm>
            <a:off x="6075573" y="3768320"/>
            <a:ext cx="518906" cy="513756"/>
          </a:xfrm>
          <a:prstGeom prst="rect">
            <a:avLst/>
          </a:prstGeom>
        </p:spPr>
      </p:pic>
      <p:pic>
        <p:nvPicPr>
          <p:cNvPr id="32" name="Picture 31">
            <a:extLst>
              <a:ext uri="{FF2B5EF4-FFF2-40B4-BE49-F238E27FC236}">
                <a16:creationId xmlns:a16="http://schemas.microsoft.com/office/drawing/2014/main" id="{AC5D6BE1-4EEB-92B3-4755-F71030F7C5C1}"/>
              </a:ext>
            </a:extLst>
          </p:cNvPr>
          <p:cNvPicPr>
            <a:picLocks noChangeAspect="1"/>
          </p:cNvPicPr>
          <p:nvPr/>
        </p:nvPicPr>
        <p:blipFill>
          <a:blip r:embed="rId13"/>
          <a:stretch>
            <a:fillRect/>
          </a:stretch>
        </p:blipFill>
        <p:spPr>
          <a:xfrm>
            <a:off x="1240780" y="2050977"/>
            <a:ext cx="505092" cy="505092"/>
          </a:xfrm>
          <a:prstGeom prst="rect">
            <a:avLst/>
          </a:prstGeom>
        </p:spPr>
      </p:pic>
      <p:pic>
        <p:nvPicPr>
          <p:cNvPr id="34" name="Picture 33">
            <a:extLst>
              <a:ext uri="{FF2B5EF4-FFF2-40B4-BE49-F238E27FC236}">
                <a16:creationId xmlns:a16="http://schemas.microsoft.com/office/drawing/2014/main" id="{430F8294-9F32-F0C5-858F-DD6D76D5EBCB}"/>
              </a:ext>
            </a:extLst>
          </p:cNvPr>
          <p:cNvPicPr>
            <a:picLocks noChangeAspect="1"/>
          </p:cNvPicPr>
          <p:nvPr/>
        </p:nvPicPr>
        <p:blipFill>
          <a:blip r:embed="rId14"/>
          <a:stretch>
            <a:fillRect/>
          </a:stretch>
        </p:blipFill>
        <p:spPr>
          <a:xfrm>
            <a:off x="4227092" y="4592256"/>
            <a:ext cx="566598" cy="562369"/>
          </a:xfrm>
          <a:prstGeom prst="rect">
            <a:avLst/>
          </a:prstGeom>
        </p:spPr>
      </p:pic>
      <p:sp>
        <p:nvSpPr>
          <p:cNvPr id="6" name="TextBox 5">
            <a:extLst>
              <a:ext uri="{FF2B5EF4-FFF2-40B4-BE49-F238E27FC236}">
                <a16:creationId xmlns:a16="http://schemas.microsoft.com/office/drawing/2014/main" id="{8999FC7D-6EA2-460D-A747-3F9B14BAAD1B}"/>
              </a:ext>
            </a:extLst>
          </p:cNvPr>
          <p:cNvSpPr txBox="1"/>
          <p:nvPr/>
        </p:nvSpPr>
        <p:spPr>
          <a:xfrm>
            <a:off x="4510391" y="3537783"/>
            <a:ext cx="1638196" cy="369332"/>
          </a:xfrm>
          <a:prstGeom prst="rect">
            <a:avLst/>
          </a:prstGeom>
          <a:noFill/>
        </p:spPr>
        <p:txBody>
          <a:bodyPr wrap="square" rtlCol="0">
            <a:spAutoFit/>
          </a:bodyPr>
          <a:lstStyle/>
          <a:p>
            <a:r>
              <a:rPr lang="en-US" dirty="0"/>
              <a:t>1.15 </a:t>
            </a:r>
            <a:r>
              <a:rPr lang="en-US" dirty="0">
                <a:latin typeface="Cambria Math" panose="02040503050406030204" pitchFamily="18" charset="0"/>
                <a:ea typeface="Cambria Math" panose="02040503050406030204" pitchFamily="18" charset="0"/>
              </a:rPr>
              <a:t>≈</a:t>
            </a:r>
            <a:r>
              <a:rPr lang="en-US" dirty="0"/>
              <a:t> (15/13)  </a:t>
            </a:r>
          </a:p>
        </p:txBody>
      </p:sp>
      <p:sp>
        <p:nvSpPr>
          <p:cNvPr id="14" name="TextBox 13">
            <a:extLst>
              <a:ext uri="{FF2B5EF4-FFF2-40B4-BE49-F238E27FC236}">
                <a16:creationId xmlns:a16="http://schemas.microsoft.com/office/drawing/2014/main" id="{5955C464-EC5C-4F38-13D4-C41A0ED36DDD}"/>
              </a:ext>
            </a:extLst>
          </p:cNvPr>
          <p:cNvSpPr txBox="1"/>
          <p:nvPr/>
        </p:nvSpPr>
        <p:spPr>
          <a:xfrm>
            <a:off x="5287585" y="5237601"/>
            <a:ext cx="1638196" cy="369332"/>
          </a:xfrm>
          <a:prstGeom prst="rect">
            <a:avLst/>
          </a:prstGeom>
          <a:noFill/>
        </p:spPr>
        <p:txBody>
          <a:bodyPr wrap="square" rtlCol="0">
            <a:spAutoFit/>
          </a:bodyPr>
          <a:lstStyle/>
          <a:p>
            <a:r>
              <a:rPr lang="en-US" dirty="0"/>
              <a:t>4.17 </a:t>
            </a:r>
            <a:r>
              <a:rPr lang="en-US" dirty="0">
                <a:latin typeface="Cambria Math" panose="02040503050406030204" pitchFamily="18" charset="0"/>
                <a:ea typeface="Cambria Math" panose="02040503050406030204" pitchFamily="18" charset="0"/>
              </a:rPr>
              <a:t>≈</a:t>
            </a:r>
            <a:r>
              <a:rPr lang="en-US" dirty="0"/>
              <a:t> (25/6)  </a:t>
            </a:r>
          </a:p>
        </p:txBody>
      </p:sp>
      <p:sp>
        <p:nvSpPr>
          <p:cNvPr id="20" name="TextBox 19">
            <a:extLst>
              <a:ext uri="{FF2B5EF4-FFF2-40B4-BE49-F238E27FC236}">
                <a16:creationId xmlns:a16="http://schemas.microsoft.com/office/drawing/2014/main" id="{3484658E-3FC6-67A0-BB36-1B4F327274BE}"/>
              </a:ext>
            </a:extLst>
          </p:cNvPr>
          <p:cNvSpPr txBox="1"/>
          <p:nvPr/>
        </p:nvSpPr>
        <p:spPr>
          <a:xfrm>
            <a:off x="2067859" y="4407590"/>
            <a:ext cx="1638196" cy="369332"/>
          </a:xfrm>
          <a:prstGeom prst="rect">
            <a:avLst/>
          </a:prstGeom>
          <a:noFill/>
        </p:spPr>
        <p:txBody>
          <a:bodyPr wrap="square" rtlCol="0">
            <a:spAutoFit/>
          </a:bodyPr>
          <a:lstStyle/>
          <a:p>
            <a:r>
              <a:rPr lang="en-US" dirty="0"/>
              <a:t>1.76 </a:t>
            </a:r>
            <a:r>
              <a:rPr lang="en-US" dirty="0">
                <a:latin typeface="Cambria Math" panose="02040503050406030204" pitchFamily="18" charset="0"/>
                <a:ea typeface="Cambria Math" panose="02040503050406030204" pitchFamily="18" charset="0"/>
              </a:rPr>
              <a:t>≈</a:t>
            </a:r>
            <a:r>
              <a:rPr lang="en-US" dirty="0"/>
              <a:t> (30/17)  </a:t>
            </a:r>
          </a:p>
        </p:txBody>
      </p:sp>
      <p:sp>
        <p:nvSpPr>
          <p:cNvPr id="26" name="TextBox 25">
            <a:extLst>
              <a:ext uri="{FF2B5EF4-FFF2-40B4-BE49-F238E27FC236}">
                <a16:creationId xmlns:a16="http://schemas.microsoft.com/office/drawing/2014/main" id="{FAD07C57-DD78-820E-C991-5851B4021739}"/>
              </a:ext>
            </a:extLst>
          </p:cNvPr>
          <p:cNvSpPr txBox="1"/>
          <p:nvPr/>
        </p:nvSpPr>
        <p:spPr>
          <a:xfrm>
            <a:off x="115965" y="1707759"/>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(5/3)  </a:t>
            </a:r>
          </a:p>
        </p:txBody>
      </p:sp>
      <p:sp>
        <p:nvSpPr>
          <p:cNvPr id="4" name="TextBox 3">
            <a:extLst>
              <a:ext uri="{FF2B5EF4-FFF2-40B4-BE49-F238E27FC236}">
                <a16:creationId xmlns:a16="http://schemas.microsoft.com/office/drawing/2014/main" id="{DE2759C9-220B-E44D-A767-0941BFE14756}"/>
              </a:ext>
            </a:extLst>
          </p:cNvPr>
          <p:cNvSpPr txBox="1"/>
          <p:nvPr/>
        </p:nvSpPr>
        <p:spPr>
          <a:xfrm>
            <a:off x="9804007" y="4499903"/>
            <a:ext cx="1924987" cy="276999"/>
          </a:xfrm>
          <a:prstGeom prst="rect">
            <a:avLst/>
          </a:prstGeom>
          <a:noFill/>
        </p:spPr>
        <p:txBody>
          <a:bodyPr wrap="square" rtlCol="0">
            <a:spAutoFit/>
          </a:bodyPr>
          <a:lstStyle/>
          <a:p>
            <a:r>
              <a:rPr lang="en-US" sz="1200" dirty="0"/>
              <a:t>Area of Interest (AOI)</a:t>
            </a:r>
          </a:p>
        </p:txBody>
      </p:sp>
      <p:pic>
        <p:nvPicPr>
          <p:cNvPr id="8" name="Picture 7">
            <a:extLst>
              <a:ext uri="{FF2B5EF4-FFF2-40B4-BE49-F238E27FC236}">
                <a16:creationId xmlns:a16="http://schemas.microsoft.com/office/drawing/2014/main" id="{01C362A8-10D8-E5DD-C48D-170A1EB3E635}"/>
              </a:ext>
            </a:extLst>
          </p:cNvPr>
          <p:cNvPicPr>
            <a:picLocks noChangeAspect="1"/>
          </p:cNvPicPr>
          <p:nvPr/>
        </p:nvPicPr>
        <p:blipFill>
          <a:blip r:embed="rId15"/>
          <a:stretch>
            <a:fillRect/>
          </a:stretch>
        </p:blipFill>
        <p:spPr>
          <a:xfrm>
            <a:off x="9775006" y="4823924"/>
            <a:ext cx="1285516" cy="1285516"/>
          </a:xfrm>
          <a:prstGeom prst="rect">
            <a:avLst/>
          </a:prstGeom>
        </p:spPr>
      </p:pic>
      <p:cxnSp>
        <p:nvCxnSpPr>
          <p:cNvPr id="16" name="Straight Arrow Connector 15">
            <a:extLst>
              <a:ext uri="{FF2B5EF4-FFF2-40B4-BE49-F238E27FC236}">
                <a16:creationId xmlns:a16="http://schemas.microsoft.com/office/drawing/2014/main" id="{E1D4CDCC-39FC-7DE8-A304-2B73AD9E617F}"/>
              </a:ext>
            </a:extLst>
          </p:cNvPr>
          <p:cNvCxnSpPr>
            <a:cxnSpLocks/>
          </p:cNvCxnSpPr>
          <p:nvPr/>
        </p:nvCxnSpPr>
        <p:spPr>
          <a:xfrm>
            <a:off x="9724010" y="4448037"/>
            <a:ext cx="246595" cy="53147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562EA99D-4533-E1C7-157B-8D12E315710A}"/>
              </a:ext>
            </a:extLst>
          </p:cNvPr>
          <p:cNvPicPr>
            <a:picLocks noChangeAspect="1"/>
          </p:cNvPicPr>
          <p:nvPr/>
        </p:nvPicPr>
        <p:blipFill>
          <a:blip r:embed="rId16"/>
          <a:stretch>
            <a:fillRect/>
          </a:stretch>
        </p:blipFill>
        <p:spPr>
          <a:xfrm>
            <a:off x="11106647" y="4783541"/>
            <a:ext cx="195183" cy="1366281"/>
          </a:xfrm>
          <a:prstGeom prst="rect">
            <a:avLst/>
          </a:prstGeom>
        </p:spPr>
      </p:pic>
      <p:cxnSp>
        <p:nvCxnSpPr>
          <p:cNvPr id="27" name="Straight Arrow Connector 26">
            <a:extLst>
              <a:ext uri="{FF2B5EF4-FFF2-40B4-BE49-F238E27FC236}">
                <a16:creationId xmlns:a16="http://schemas.microsoft.com/office/drawing/2014/main" id="{AFE24201-9B70-5F83-0985-D11914D2F2AB}"/>
              </a:ext>
            </a:extLst>
          </p:cNvPr>
          <p:cNvCxnSpPr>
            <a:cxnSpLocks/>
          </p:cNvCxnSpPr>
          <p:nvPr/>
        </p:nvCxnSpPr>
        <p:spPr>
          <a:xfrm flipH="1">
            <a:off x="10667071" y="4713776"/>
            <a:ext cx="905626" cy="22876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8" name="Picture 27">
            <a:extLst>
              <a:ext uri="{FF2B5EF4-FFF2-40B4-BE49-F238E27FC236}">
                <a16:creationId xmlns:a16="http://schemas.microsoft.com/office/drawing/2014/main" id="{6977C7A1-F90B-6BF3-9E88-8C126F779814}"/>
              </a:ext>
            </a:extLst>
          </p:cNvPr>
          <p:cNvPicPr>
            <a:picLocks noChangeAspect="1"/>
          </p:cNvPicPr>
          <p:nvPr/>
        </p:nvPicPr>
        <p:blipFill>
          <a:blip r:embed="rId17"/>
          <a:stretch>
            <a:fillRect/>
          </a:stretch>
        </p:blipFill>
        <p:spPr>
          <a:xfrm>
            <a:off x="11284228" y="5342426"/>
            <a:ext cx="831206" cy="80765"/>
          </a:xfrm>
          <a:prstGeom prst="rect">
            <a:avLst/>
          </a:prstGeom>
        </p:spPr>
      </p:pic>
      <p:sp>
        <p:nvSpPr>
          <p:cNvPr id="29" name="TextBox 28">
            <a:extLst>
              <a:ext uri="{FF2B5EF4-FFF2-40B4-BE49-F238E27FC236}">
                <a16:creationId xmlns:a16="http://schemas.microsoft.com/office/drawing/2014/main" id="{68BCC6F7-DC15-2377-E472-96385BF44551}"/>
              </a:ext>
            </a:extLst>
          </p:cNvPr>
          <p:cNvSpPr txBox="1"/>
          <p:nvPr/>
        </p:nvSpPr>
        <p:spPr>
          <a:xfrm>
            <a:off x="9528664" y="4177981"/>
            <a:ext cx="2586769" cy="276999"/>
          </a:xfrm>
          <a:prstGeom prst="rect">
            <a:avLst/>
          </a:prstGeom>
          <a:noFill/>
        </p:spPr>
        <p:txBody>
          <a:bodyPr wrap="square" rtlCol="0">
            <a:spAutoFit/>
          </a:bodyPr>
          <a:lstStyle/>
          <a:p>
            <a:r>
              <a:rPr lang="en-US" sz="1200" b="1" dirty="0"/>
              <a:t>PE = 8.18</a:t>
            </a:r>
          </a:p>
        </p:txBody>
      </p:sp>
      <p:sp>
        <p:nvSpPr>
          <p:cNvPr id="30" name="TextBox 29">
            <a:extLst>
              <a:ext uri="{FF2B5EF4-FFF2-40B4-BE49-F238E27FC236}">
                <a16:creationId xmlns:a16="http://schemas.microsoft.com/office/drawing/2014/main" id="{F5CC0820-36D1-402F-C10F-081676E7061D}"/>
              </a:ext>
            </a:extLst>
          </p:cNvPr>
          <p:cNvSpPr txBox="1"/>
          <p:nvPr/>
        </p:nvSpPr>
        <p:spPr>
          <a:xfrm>
            <a:off x="11325830" y="4423196"/>
            <a:ext cx="1138406" cy="276999"/>
          </a:xfrm>
          <a:prstGeom prst="rect">
            <a:avLst/>
          </a:prstGeom>
          <a:noFill/>
        </p:spPr>
        <p:txBody>
          <a:bodyPr wrap="square" rtlCol="0">
            <a:spAutoFit/>
          </a:bodyPr>
          <a:lstStyle/>
          <a:p>
            <a:r>
              <a:rPr lang="en-US" sz="1200" b="1" dirty="0">
                <a:solidFill>
                  <a:srgbClr val="0000FF"/>
                </a:solidFill>
              </a:rPr>
              <a:t>PE = 26.48</a:t>
            </a:r>
          </a:p>
        </p:txBody>
      </p:sp>
      <p:cxnSp>
        <p:nvCxnSpPr>
          <p:cNvPr id="41" name="Straight Connector 40">
            <a:extLst>
              <a:ext uri="{FF2B5EF4-FFF2-40B4-BE49-F238E27FC236}">
                <a16:creationId xmlns:a16="http://schemas.microsoft.com/office/drawing/2014/main" id="{418CA509-09EF-DC4E-C09F-12AA23E670F9}"/>
              </a:ext>
            </a:extLst>
          </p:cNvPr>
          <p:cNvCxnSpPr/>
          <p:nvPr/>
        </p:nvCxnSpPr>
        <p:spPr>
          <a:xfrm>
            <a:off x="846306" y="4873440"/>
            <a:ext cx="3380786"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6910EDC-42A8-43F8-727A-A5A87A43E69F}"/>
              </a:ext>
            </a:extLst>
          </p:cNvPr>
          <p:cNvCxnSpPr>
            <a:cxnSpLocks/>
            <a:stCxn id="34" idx="2"/>
          </p:cNvCxnSpPr>
          <p:nvPr/>
        </p:nvCxnSpPr>
        <p:spPr>
          <a:xfrm>
            <a:off x="4510391" y="5154625"/>
            <a:ext cx="0" cy="57712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9FBD90E-1206-4313-A65B-68B67195FB71}"/>
              </a:ext>
            </a:extLst>
          </p:cNvPr>
          <p:cNvCxnSpPr>
            <a:cxnSpLocks/>
            <a:endCxn id="37" idx="1"/>
          </p:cNvCxnSpPr>
          <p:nvPr/>
        </p:nvCxnSpPr>
        <p:spPr>
          <a:xfrm>
            <a:off x="4510391" y="5731748"/>
            <a:ext cx="2746975" cy="28769"/>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99ABE10-366D-F13A-3DFE-641D372D35CF}"/>
              </a:ext>
            </a:extLst>
          </p:cNvPr>
          <p:cNvCxnSpPr>
            <a:cxnSpLocks/>
          </p:cNvCxnSpPr>
          <p:nvPr/>
        </p:nvCxnSpPr>
        <p:spPr>
          <a:xfrm flipV="1">
            <a:off x="7596393" y="6021797"/>
            <a:ext cx="0" cy="154686"/>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37ACDB1-8729-5EF1-0390-18C5B3D92E55}"/>
              </a:ext>
            </a:extLst>
          </p:cNvPr>
          <p:cNvCxnSpPr>
            <a:cxnSpLocks/>
          </p:cNvCxnSpPr>
          <p:nvPr/>
        </p:nvCxnSpPr>
        <p:spPr>
          <a:xfrm flipH="1">
            <a:off x="7596393" y="6176483"/>
            <a:ext cx="595107"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6BD47D2-34EA-4A46-73E2-5D6E289AD944}"/>
              </a:ext>
            </a:extLst>
          </p:cNvPr>
          <p:cNvCxnSpPr>
            <a:cxnSpLocks/>
          </p:cNvCxnSpPr>
          <p:nvPr/>
        </p:nvCxnSpPr>
        <p:spPr>
          <a:xfrm flipH="1">
            <a:off x="1477926" y="2710419"/>
            <a:ext cx="671357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B6742E7-9783-9F40-F89A-BCD0BBABB80E}"/>
              </a:ext>
            </a:extLst>
          </p:cNvPr>
          <p:cNvCxnSpPr>
            <a:cxnSpLocks/>
            <a:stCxn id="32" idx="2"/>
          </p:cNvCxnSpPr>
          <p:nvPr/>
        </p:nvCxnSpPr>
        <p:spPr>
          <a:xfrm flipH="1">
            <a:off x="1477926" y="2556069"/>
            <a:ext cx="15400" cy="15435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1E03C35-5170-C35A-C953-08A7DED7C5D4}"/>
              </a:ext>
            </a:extLst>
          </p:cNvPr>
          <p:cNvCxnSpPr>
            <a:cxnSpLocks/>
          </p:cNvCxnSpPr>
          <p:nvPr/>
        </p:nvCxnSpPr>
        <p:spPr>
          <a:xfrm flipH="1">
            <a:off x="846306" y="2284521"/>
            <a:ext cx="39447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15FCFD7-E74B-9AF2-F14D-9B7ECAD2266F}"/>
              </a:ext>
            </a:extLst>
          </p:cNvPr>
          <p:cNvCxnSpPr>
            <a:cxnSpLocks/>
          </p:cNvCxnSpPr>
          <p:nvPr/>
        </p:nvCxnSpPr>
        <p:spPr>
          <a:xfrm flipV="1">
            <a:off x="846306" y="2284521"/>
            <a:ext cx="0" cy="2588919"/>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348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6D150-ADB3-FF0A-7737-64062AA15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D3F02-E930-D3C1-13E9-BE35E61FB66B}"/>
              </a:ext>
            </a:extLst>
          </p:cNvPr>
          <p:cNvSpPr>
            <a:spLocks noGrp="1"/>
          </p:cNvSpPr>
          <p:nvPr>
            <p:ph type="title"/>
          </p:nvPr>
        </p:nvSpPr>
        <p:spPr>
          <a:xfrm>
            <a:off x="0" y="18255"/>
            <a:ext cx="10515600" cy="1325563"/>
          </a:xfrm>
        </p:spPr>
        <p:txBody>
          <a:bodyPr/>
          <a:lstStyle/>
          <a:p>
            <a:r>
              <a:rPr lang="en-US" dirty="0"/>
              <a:t>(Weighted) Phylogenetic Endemism</a:t>
            </a:r>
          </a:p>
        </p:txBody>
      </p:sp>
      <p:pic>
        <p:nvPicPr>
          <p:cNvPr id="9" name="Picture 8">
            <a:extLst>
              <a:ext uri="{FF2B5EF4-FFF2-40B4-BE49-F238E27FC236}">
                <a16:creationId xmlns:a16="http://schemas.microsoft.com/office/drawing/2014/main" id="{D6169988-A90C-1F22-55C4-CBB170CEC96E}"/>
              </a:ext>
            </a:extLst>
          </p:cNvPr>
          <p:cNvPicPr>
            <a:picLocks noChangeAspect="1"/>
          </p:cNvPicPr>
          <p:nvPr/>
        </p:nvPicPr>
        <p:blipFill>
          <a:blip r:embed="rId3"/>
          <a:stretch>
            <a:fillRect/>
          </a:stretch>
        </p:blipFill>
        <p:spPr>
          <a:xfrm>
            <a:off x="115965" y="1143059"/>
            <a:ext cx="8788852" cy="5696686"/>
          </a:xfrm>
          <a:prstGeom prst="rect">
            <a:avLst/>
          </a:prstGeom>
        </p:spPr>
      </p:pic>
      <p:sp>
        <p:nvSpPr>
          <p:cNvPr id="11" name="TextBox 10">
            <a:extLst>
              <a:ext uri="{FF2B5EF4-FFF2-40B4-BE49-F238E27FC236}">
                <a16:creationId xmlns:a16="http://schemas.microsoft.com/office/drawing/2014/main" id="{E4224945-AD80-87FC-EA39-6321FD22DAFF}"/>
              </a:ext>
            </a:extLst>
          </p:cNvPr>
          <p:cNvSpPr txBox="1"/>
          <p:nvPr/>
        </p:nvSpPr>
        <p:spPr>
          <a:xfrm>
            <a:off x="9637970" y="193851"/>
            <a:ext cx="2257063" cy="1384995"/>
          </a:xfrm>
          <a:prstGeom prst="rect">
            <a:avLst/>
          </a:prstGeom>
          <a:noFill/>
        </p:spPr>
        <p:txBody>
          <a:bodyPr wrap="square" rtlCol="0">
            <a:spAutoFit/>
          </a:bodyPr>
          <a:lstStyle/>
          <a:p>
            <a:r>
              <a:rPr lang="en-US" sz="2800" dirty="0"/>
              <a:t>PE is PD on a range weighted tree </a:t>
            </a:r>
          </a:p>
        </p:txBody>
      </p:sp>
      <p:pic>
        <p:nvPicPr>
          <p:cNvPr id="13" name="Picture 12">
            <a:extLst>
              <a:ext uri="{FF2B5EF4-FFF2-40B4-BE49-F238E27FC236}">
                <a16:creationId xmlns:a16="http://schemas.microsoft.com/office/drawing/2014/main" id="{B31E7AC4-5386-6E74-F251-8A777791A7DD}"/>
              </a:ext>
            </a:extLst>
          </p:cNvPr>
          <p:cNvPicPr>
            <a:picLocks noChangeAspect="1"/>
          </p:cNvPicPr>
          <p:nvPr/>
        </p:nvPicPr>
        <p:blipFill>
          <a:blip r:embed="rId4"/>
          <a:stretch>
            <a:fillRect/>
          </a:stretch>
        </p:blipFill>
        <p:spPr>
          <a:xfrm>
            <a:off x="8620714" y="1431366"/>
            <a:ext cx="800135" cy="792533"/>
          </a:xfrm>
          <a:prstGeom prst="rect">
            <a:avLst/>
          </a:prstGeom>
        </p:spPr>
      </p:pic>
      <p:pic>
        <p:nvPicPr>
          <p:cNvPr id="15" name="Picture 14">
            <a:extLst>
              <a:ext uri="{FF2B5EF4-FFF2-40B4-BE49-F238E27FC236}">
                <a16:creationId xmlns:a16="http://schemas.microsoft.com/office/drawing/2014/main" id="{A1B8C6B6-B0DB-225E-C932-B03FE2357617}"/>
              </a:ext>
            </a:extLst>
          </p:cNvPr>
          <p:cNvPicPr>
            <a:picLocks noChangeAspect="1"/>
          </p:cNvPicPr>
          <p:nvPr/>
        </p:nvPicPr>
        <p:blipFill>
          <a:blip r:embed="rId5"/>
          <a:stretch>
            <a:fillRect/>
          </a:stretch>
        </p:blipFill>
        <p:spPr>
          <a:xfrm>
            <a:off x="8630429" y="2311447"/>
            <a:ext cx="780704" cy="792533"/>
          </a:xfrm>
          <a:prstGeom prst="rect">
            <a:avLst/>
          </a:prstGeom>
        </p:spPr>
      </p:pic>
      <p:pic>
        <p:nvPicPr>
          <p:cNvPr id="17" name="Picture 16">
            <a:extLst>
              <a:ext uri="{FF2B5EF4-FFF2-40B4-BE49-F238E27FC236}">
                <a16:creationId xmlns:a16="http://schemas.microsoft.com/office/drawing/2014/main" id="{FF724126-A1E5-835C-E2D3-46302AAC6702}"/>
              </a:ext>
            </a:extLst>
          </p:cNvPr>
          <p:cNvPicPr>
            <a:picLocks noChangeAspect="1"/>
          </p:cNvPicPr>
          <p:nvPr/>
        </p:nvPicPr>
        <p:blipFill>
          <a:blip r:embed="rId6"/>
          <a:stretch>
            <a:fillRect/>
          </a:stretch>
        </p:blipFill>
        <p:spPr>
          <a:xfrm>
            <a:off x="8630429" y="3198869"/>
            <a:ext cx="810145" cy="792533"/>
          </a:xfrm>
          <a:prstGeom prst="rect">
            <a:avLst/>
          </a:prstGeom>
        </p:spPr>
      </p:pic>
      <p:pic>
        <p:nvPicPr>
          <p:cNvPr id="19" name="Picture 18">
            <a:extLst>
              <a:ext uri="{FF2B5EF4-FFF2-40B4-BE49-F238E27FC236}">
                <a16:creationId xmlns:a16="http://schemas.microsoft.com/office/drawing/2014/main" id="{83F06ABF-0E37-20D2-7923-11FDB5B04BC6}"/>
              </a:ext>
            </a:extLst>
          </p:cNvPr>
          <p:cNvPicPr>
            <a:picLocks noChangeAspect="1"/>
          </p:cNvPicPr>
          <p:nvPr/>
        </p:nvPicPr>
        <p:blipFill>
          <a:blip r:embed="rId7"/>
          <a:stretch>
            <a:fillRect/>
          </a:stretch>
        </p:blipFill>
        <p:spPr>
          <a:xfrm>
            <a:off x="8615708" y="4078950"/>
            <a:ext cx="810146" cy="794491"/>
          </a:xfrm>
          <a:prstGeom prst="rect">
            <a:avLst/>
          </a:prstGeom>
        </p:spPr>
      </p:pic>
      <p:pic>
        <p:nvPicPr>
          <p:cNvPr id="21" name="Picture 20">
            <a:extLst>
              <a:ext uri="{FF2B5EF4-FFF2-40B4-BE49-F238E27FC236}">
                <a16:creationId xmlns:a16="http://schemas.microsoft.com/office/drawing/2014/main" id="{06EFE6D3-A5BE-78F1-3FDC-CE7ED7BEB55E}"/>
              </a:ext>
            </a:extLst>
          </p:cNvPr>
          <p:cNvPicPr>
            <a:picLocks noChangeAspect="1"/>
          </p:cNvPicPr>
          <p:nvPr/>
        </p:nvPicPr>
        <p:blipFill>
          <a:blip r:embed="rId8"/>
          <a:stretch>
            <a:fillRect/>
          </a:stretch>
        </p:blipFill>
        <p:spPr>
          <a:xfrm>
            <a:off x="8586701" y="4894588"/>
            <a:ext cx="868159" cy="820353"/>
          </a:xfrm>
          <a:prstGeom prst="rect">
            <a:avLst/>
          </a:prstGeom>
        </p:spPr>
      </p:pic>
      <p:pic>
        <p:nvPicPr>
          <p:cNvPr id="23" name="Picture 22">
            <a:extLst>
              <a:ext uri="{FF2B5EF4-FFF2-40B4-BE49-F238E27FC236}">
                <a16:creationId xmlns:a16="http://schemas.microsoft.com/office/drawing/2014/main" id="{B9A23CC6-9ECE-7F5E-7045-52EBF708775E}"/>
              </a:ext>
            </a:extLst>
          </p:cNvPr>
          <p:cNvPicPr>
            <a:picLocks noChangeAspect="1"/>
          </p:cNvPicPr>
          <p:nvPr/>
        </p:nvPicPr>
        <p:blipFill>
          <a:blip r:embed="rId9"/>
          <a:stretch>
            <a:fillRect/>
          </a:stretch>
        </p:blipFill>
        <p:spPr>
          <a:xfrm>
            <a:off x="8634945" y="5797774"/>
            <a:ext cx="771674" cy="771674"/>
          </a:xfrm>
          <a:prstGeom prst="rect">
            <a:avLst/>
          </a:prstGeom>
        </p:spPr>
      </p:pic>
      <p:sp>
        <p:nvSpPr>
          <p:cNvPr id="3" name="TextBox 2">
            <a:extLst>
              <a:ext uri="{FF2B5EF4-FFF2-40B4-BE49-F238E27FC236}">
                <a16:creationId xmlns:a16="http://schemas.microsoft.com/office/drawing/2014/main" id="{799C9801-BFA7-8931-FD65-2707C54F9788}"/>
              </a:ext>
            </a:extLst>
          </p:cNvPr>
          <p:cNvSpPr txBox="1"/>
          <p:nvPr/>
        </p:nvSpPr>
        <p:spPr>
          <a:xfrm>
            <a:off x="4367968" y="1343818"/>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5" name="TextBox 4">
            <a:extLst>
              <a:ext uri="{FF2B5EF4-FFF2-40B4-BE49-F238E27FC236}">
                <a16:creationId xmlns:a16="http://schemas.microsoft.com/office/drawing/2014/main" id="{8FB555DD-D837-2811-8100-F33DBABAAE91}"/>
              </a:ext>
            </a:extLst>
          </p:cNvPr>
          <p:cNvSpPr txBox="1"/>
          <p:nvPr/>
        </p:nvSpPr>
        <p:spPr>
          <a:xfrm>
            <a:off x="4257721" y="2223899"/>
            <a:ext cx="1498060"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(55/3)  </a:t>
            </a:r>
          </a:p>
        </p:txBody>
      </p:sp>
      <p:sp>
        <p:nvSpPr>
          <p:cNvPr id="7" name="TextBox 6">
            <a:extLst>
              <a:ext uri="{FF2B5EF4-FFF2-40B4-BE49-F238E27FC236}">
                <a16:creationId xmlns:a16="http://schemas.microsoft.com/office/drawing/2014/main" id="{72224516-72C3-8340-14EB-AA2EF850E62B}"/>
              </a:ext>
            </a:extLst>
          </p:cNvPr>
          <p:cNvSpPr txBox="1"/>
          <p:nvPr/>
        </p:nvSpPr>
        <p:spPr>
          <a:xfrm>
            <a:off x="6611331" y="3043636"/>
            <a:ext cx="1647451" cy="369332"/>
          </a:xfrm>
          <a:prstGeom prst="rect">
            <a:avLst/>
          </a:prstGeom>
          <a:noFill/>
        </p:spPr>
        <p:txBody>
          <a:bodyPr wrap="square" rtlCol="0">
            <a:spAutoFit/>
          </a:bodyPr>
          <a:lstStyle/>
          <a:p>
            <a:r>
              <a:rPr lang="en-US" dirty="0"/>
              <a:t>18.3 </a:t>
            </a:r>
            <a:r>
              <a:rPr lang="en-US" dirty="0">
                <a:latin typeface="Cambria Math" panose="02040503050406030204" pitchFamily="18" charset="0"/>
                <a:ea typeface="Cambria Math" panose="02040503050406030204" pitchFamily="18" charset="0"/>
              </a:rPr>
              <a:t>≈</a:t>
            </a:r>
            <a:r>
              <a:rPr lang="en-US" dirty="0"/>
              <a:t> (15/11)  </a:t>
            </a:r>
          </a:p>
        </p:txBody>
      </p:sp>
      <p:sp>
        <p:nvSpPr>
          <p:cNvPr id="10" name="TextBox 9">
            <a:extLst>
              <a:ext uri="{FF2B5EF4-FFF2-40B4-BE49-F238E27FC236}">
                <a16:creationId xmlns:a16="http://schemas.microsoft.com/office/drawing/2014/main" id="{E127B6F2-034B-2BDC-EBBE-B2511E61C867}"/>
              </a:ext>
            </a:extLst>
          </p:cNvPr>
          <p:cNvSpPr txBox="1"/>
          <p:nvPr/>
        </p:nvSpPr>
        <p:spPr>
          <a:xfrm>
            <a:off x="6611330" y="3912744"/>
            <a:ext cx="1647451" cy="369332"/>
          </a:xfrm>
          <a:prstGeom prst="rect">
            <a:avLst/>
          </a:prstGeom>
          <a:noFill/>
        </p:spPr>
        <p:txBody>
          <a:bodyPr wrap="square" rtlCol="0">
            <a:spAutoFit/>
          </a:bodyPr>
          <a:lstStyle/>
          <a:p>
            <a:r>
              <a:rPr lang="en-US" dirty="0"/>
              <a:t>3 </a:t>
            </a:r>
            <a:r>
              <a:rPr lang="en-US" dirty="0">
                <a:latin typeface="Cambria Math" panose="02040503050406030204" pitchFamily="18" charset="0"/>
                <a:ea typeface="Cambria Math" panose="02040503050406030204" pitchFamily="18" charset="0"/>
              </a:rPr>
              <a:t>=</a:t>
            </a:r>
            <a:r>
              <a:rPr lang="en-US" dirty="0"/>
              <a:t> (15/5)  </a:t>
            </a:r>
          </a:p>
        </p:txBody>
      </p:sp>
      <p:sp>
        <p:nvSpPr>
          <p:cNvPr id="18" name="TextBox 17">
            <a:extLst>
              <a:ext uri="{FF2B5EF4-FFF2-40B4-BE49-F238E27FC236}">
                <a16:creationId xmlns:a16="http://schemas.microsoft.com/office/drawing/2014/main" id="{EEA00CD0-BED7-58B7-7BE1-AB28AAB38E66}"/>
              </a:ext>
            </a:extLst>
          </p:cNvPr>
          <p:cNvSpPr txBox="1"/>
          <p:nvPr/>
        </p:nvSpPr>
        <p:spPr>
          <a:xfrm>
            <a:off x="7143111" y="4823924"/>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(5/4)  </a:t>
            </a:r>
          </a:p>
        </p:txBody>
      </p:sp>
      <p:sp>
        <p:nvSpPr>
          <p:cNvPr id="22" name="TextBox 21">
            <a:extLst>
              <a:ext uri="{FF2B5EF4-FFF2-40B4-BE49-F238E27FC236}">
                <a16:creationId xmlns:a16="http://schemas.microsoft.com/office/drawing/2014/main" id="{F5E1E489-FDB7-2D13-2CAD-25B61498CE68}"/>
              </a:ext>
            </a:extLst>
          </p:cNvPr>
          <p:cNvSpPr txBox="1"/>
          <p:nvPr/>
        </p:nvSpPr>
        <p:spPr>
          <a:xfrm>
            <a:off x="7257366" y="6210502"/>
            <a:ext cx="1647451" cy="369332"/>
          </a:xfrm>
          <a:prstGeom prst="rect">
            <a:avLst/>
          </a:prstGeom>
          <a:noFill/>
        </p:spPr>
        <p:txBody>
          <a:bodyPr wrap="square" rtlCol="0">
            <a:spAutoFit/>
          </a:bodyPr>
          <a:lstStyle/>
          <a:p>
            <a:r>
              <a:rPr lang="en-US" dirty="0"/>
              <a:t>1 </a:t>
            </a:r>
            <a:r>
              <a:rPr lang="en-US" dirty="0">
                <a:latin typeface="Cambria Math" panose="02040503050406030204" pitchFamily="18" charset="0"/>
                <a:ea typeface="Cambria Math" panose="02040503050406030204" pitchFamily="18" charset="0"/>
              </a:rPr>
              <a:t>=</a:t>
            </a:r>
            <a:r>
              <a:rPr lang="en-US" dirty="0"/>
              <a:t> (5/5)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1D5DFE5-A3F9-152D-FE34-43EBAAE4EFD9}"/>
                  </a:ext>
                </a:extLst>
              </p:cNvPr>
              <p:cNvSpPr txBox="1"/>
              <p:nvPr/>
            </p:nvSpPr>
            <p:spPr>
              <a:xfrm>
                <a:off x="9665796" y="1707759"/>
                <a:ext cx="2619986" cy="485967"/>
              </a:xfrm>
              <a:prstGeom prst="rect">
                <a:avLst/>
              </a:prstGeom>
              <a:noFill/>
            </p:spPr>
            <p:txBody>
              <a:bodyPr wrap="square" rtlCol="0">
                <a:spAutoFit/>
              </a:bodyPr>
              <a:lstStyle/>
              <a:p>
                <a:r>
                  <a:rPr lang="en-US" dirty="0"/>
                  <a:t>PE </a:t>
                </a:r>
                <a:r>
                  <a:rPr lang="en-US" dirty="0">
                    <a:latin typeface="Cambria Math" panose="02040503050406030204" pitchFamily="18" charset="0"/>
                    <a:ea typeface="Cambria Math" panose="02040503050406030204" pitchFamily="18" charset="0"/>
                  </a:rPr>
                  <a:t>=</a:t>
                </a:r>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𝑃𝐷</m:t>
                        </m:r>
                      </m:num>
                      <m:den>
                        <m: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𝑃𝑟𝑒𝑠𝑒𝑛𝑐𝑒</m:t>
                        </m:r>
                        <m:r>
                          <a:rPr lang="en-US" b="0" i="1" smtClean="0">
                            <a:latin typeface="Cambria Math" panose="02040503050406030204" pitchFamily="18" charset="0"/>
                          </a:rPr>
                          <m:t> </m:t>
                        </m:r>
                        <m:r>
                          <a:rPr lang="en-US" i="1">
                            <a:latin typeface="Cambria Math" panose="02040503050406030204" pitchFamily="18" charset="0"/>
                          </a:rPr>
                          <m:t>𝐶𝑒𝑙𝑙𝑠</m:t>
                        </m:r>
                        <m:r>
                          <a:rPr lang="en-US" i="1">
                            <a:latin typeface="Cambria Math" panose="02040503050406030204" pitchFamily="18" charset="0"/>
                          </a:rPr>
                          <m:t> </m:t>
                        </m:r>
                      </m:den>
                    </m:f>
                  </m:oMath>
                </a14:m>
                <a:r>
                  <a:rPr lang="en-US" dirty="0"/>
                  <a:t>)  </a:t>
                </a:r>
              </a:p>
            </p:txBody>
          </p:sp>
        </mc:Choice>
        <mc:Fallback xmlns="">
          <p:sp>
            <p:nvSpPr>
              <p:cNvPr id="25" name="TextBox 24">
                <a:extLst>
                  <a:ext uri="{FF2B5EF4-FFF2-40B4-BE49-F238E27FC236}">
                    <a16:creationId xmlns:a16="http://schemas.microsoft.com/office/drawing/2014/main" id="{81D5DFE5-A3F9-152D-FE34-43EBAAE4EFD9}"/>
                  </a:ext>
                </a:extLst>
              </p:cNvPr>
              <p:cNvSpPr txBox="1">
                <a:spLocks noRot="1" noChangeAspect="1" noMove="1" noResize="1" noEditPoints="1" noAdjustHandles="1" noChangeArrowheads="1" noChangeShapeType="1" noTextEdit="1"/>
              </p:cNvSpPr>
              <p:nvPr/>
            </p:nvSpPr>
            <p:spPr>
              <a:xfrm>
                <a:off x="9665796" y="1707759"/>
                <a:ext cx="2619986" cy="485967"/>
              </a:xfrm>
              <a:prstGeom prst="rect">
                <a:avLst/>
              </a:prstGeom>
              <a:blipFill>
                <a:blip r:embed="rId10"/>
                <a:stretch>
                  <a:fillRect l="-2098" b="-7500"/>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B82BBED5-6D1B-F349-08B5-7218E3F38B0D}"/>
              </a:ext>
            </a:extLst>
          </p:cNvPr>
          <p:cNvPicPr>
            <a:picLocks noChangeAspect="1"/>
          </p:cNvPicPr>
          <p:nvPr/>
        </p:nvPicPr>
        <p:blipFill>
          <a:blip r:embed="rId11"/>
          <a:stretch>
            <a:fillRect/>
          </a:stretch>
        </p:blipFill>
        <p:spPr>
          <a:xfrm>
            <a:off x="7257366" y="5499237"/>
            <a:ext cx="547744" cy="522560"/>
          </a:xfrm>
          <a:prstGeom prst="rect">
            <a:avLst/>
          </a:prstGeom>
        </p:spPr>
      </p:pic>
      <p:pic>
        <p:nvPicPr>
          <p:cNvPr id="12" name="Picture 11">
            <a:extLst>
              <a:ext uri="{FF2B5EF4-FFF2-40B4-BE49-F238E27FC236}">
                <a16:creationId xmlns:a16="http://schemas.microsoft.com/office/drawing/2014/main" id="{CA33FEC1-3E85-3809-D30F-65DFDA4EE7C0}"/>
              </a:ext>
            </a:extLst>
          </p:cNvPr>
          <p:cNvPicPr>
            <a:picLocks noChangeAspect="1"/>
          </p:cNvPicPr>
          <p:nvPr/>
        </p:nvPicPr>
        <p:blipFill>
          <a:blip r:embed="rId12"/>
          <a:stretch>
            <a:fillRect/>
          </a:stretch>
        </p:blipFill>
        <p:spPr>
          <a:xfrm>
            <a:off x="6075573" y="3768320"/>
            <a:ext cx="518906" cy="513756"/>
          </a:xfrm>
          <a:prstGeom prst="rect">
            <a:avLst/>
          </a:prstGeom>
        </p:spPr>
      </p:pic>
      <p:pic>
        <p:nvPicPr>
          <p:cNvPr id="32" name="Picture 31">
            <a:extLst>
              <a:ext uri="{FF2B5EF4-FFF2-40B4-BE49-F238E27FC236}">
                <a16:creationId xmlns:a16="http://schemas.microsoft.com/office/drawing/2014/main" id="{C2534ADD-B6DC-9D3C-8227-A3940422004C}"/>
              </a:ext>
            </a:extLst>
          </p:cNvPr>
          <p:cNvPicPr>
            <a:picLocks noChangeAspect="1"/>
          </p:cNvPicPr>
          <p:nvPr/>
        </p:nvPicPr>
        <p:blipFill>
          <a:blip r:embed="rId13"/>
          <a:stretch>
            <a:fillRect/>
          </a:stretch>
        </p:blipFill>
        <p:spPr>
          <a:xfrm>
            <a:off x="1240780" y="2050977"/>
            <a:ext cx="505092" cy="505092"/>
          </a:xfrm>
          <a:prstGeom prst="rect">
            <a:avLst/>
          </a:prstGeom>
        </p:spPr>
      </p:pic>
      <p:pic>
        <p:nvPicPr>
          <p:cNvPr id="34" name="Picture 33">
            <a:extLst>
              <a:ext uri="{FF2B5EF4-FFF2-40B4-BE49-F238E27FC236}">
                <a16:creationId xmlns:a16="http://schemas.microsoft.com/office/drawing/2014/main" id="{A6D04582-A79F-A340-F4BF-E2806A86FF0E}"/>
              </a:ext>
            </a:extLst>
          </p:cNvPr>
          <p:cNvPicPr>
            <a:picLocks noChangeAspect="1"/>
          </p:cNvPicPr>
          <p:nvPr/>
        </p:nvPicPr>
        <p:blipFill>
          <a:blip r:embed="rId14"/>
          <a:stretch>
            <a:fillRect/>
          </a:stretch>
        </p:blipFill>
        <p:spPr>
          <a:xfrm>
            <a:off x="4227092" y="4592256"/>
            <a:ext cx="566598" cy="562369"/>
          </a:xfrm>
          <a:prstGeom prst="rect">
            <a:avLst/>
          </a:prstGeom>
        </p:spPr>
      </p:pic>
      <p:sp>
        <p:nvSpPr>
          <p:cNvPr id="6" name="TextBox 5">
            <a:extLst>
              <a:ext uri="{FF2B5EF4-FFF2-40B4-BE49-F238E27FC236}">
                <a16:creationId xmlns:a16="http://schemas.microsoft.com/office/drawing/2014/main" id="{ABC87007-1D81-CDFE-EE28-0A48C8C6E7B1}"/>
              </a:ext>
            </a:extLst>
          </p:cNvPr>
          <p:cNvSpPr txBox="1"/>
          <p:nvPr/>
        </p:nvSpPr>
        <p:spPr>
          <a:xfrm>
            <a:off x="4510391" y="3537783"/>
            <a:ext cx="1638196" cy="369332"/>
          </a:xfrm>
          <a:prstGeom prst="rect">
            <a:avLst/>
          </a:prstGeom>
          <a:noFill/>
        </p:spPr>
        <p:txBody>
          <a:bodyPr wrap="square" rtlCol="0">
            <a:spAutoFit/>
          </a:bodyPr>
          <a:lstStyle/>
          <a:p>
            <a:r>
              <a:rPr lang="en-US" dirty="0"/>
              <a:t>1.15 </a:t>
            </a:r>
            <a:r>
              <a:rPr lang="en-US" dirty="0">
                <a:latin typeface="Cambria Math" panose="02040503050406030204" pitchFamily="18" charset="0"/>
                <a:ea typeface="Cambria Math" panose="02040503050406030204" pitchFamily="18" charset="0"/>
              </a:rPr>
              <a:t>≈</a:t>
            </a:r>
            <a:r>
              <a:rPr lang="en-US" dirty="0"/>
              <a:t> (15/13)  </a:t>
            </a:r>
          </a:p>
        </p:txBody>
      </p:sp>
      <p:sp>
        <p:nvSpPr>
          <p:cNvPr id="14" name="TextBox 13">
            <a:extLst>
              <a:ext uri="{FF2B5EF4-FFF2-40B4-BE49-F238E27FC236}">
                <a16:creationId xmlns:a16="http://schemas.microsoft.com/office/drawing/2014/main" id="{3D2A8F6A-0FFE-FE39-214A-3FA06235AEAC}"/>
              </a:ext>
            </a:extLst>
          </p:cNvPr>
          <p:cNvSpPr txBox="1"/>
          <p:nvPr/>
        </p:nvSpPr>
        <p:spPr>
          <a:xfrm>
            <a:off x="5287585" y="5237601"/>
            <a:ext cx="1638196" cy="369332"/>
          </a:xfrm>
          <a:prstGeom prst="rect">
            <a:avLst/>
          </a:prstGeom>
          <a:noFill/>
        </p:spPr>
        <p:txBody>
          <a:bodyPr wrap="square" rtlCol="0">
            <a:spAutoFit/>
          </a:bodyPr>
          <a:lstStyle/>
          <a:p>
            <a:r>
              <a:rPr lang="en-US" dirty="0"/>
              <a:t>4.17 </a:t>
            </a:r>
            <a:r>
              <a:rPr lang="en-US" dirty="0">
                <a:latin typeface="Cambria Math" panose="02040503050406030204" pitchFamily="18" charset="0"/>
                <a:ea typeface="Cambria Math" panose="02040503050406030204" pitchFamily="18" charset="0"/>
              </a:rPr>
              <a:t>≈</a:t>
            </a:r>
            <a:r>
              <a:rPr lang="en-US" dirty="0"/>
              <a:t> (25/6)  </a:t>
            </a:r>
          </a:p>
        </p:txBody>
      </p:sp>
      <p:sp>
        <p:nvSpPr>
          <p:cNvPr id="20" name="TextBox 19">
            <a:extLst>
              <a:ext uri="{FF2B5EF4-FFF2-40B4-BE49-F238E27FC236}">
                <a16:creationId xmlns:a16="http://schemas.microsoft.com/office/drawing/2014/main" id="{6A0ACC41-2D31-7624-F21C-788253E7EF9E}"/>
              </a:ext>
            </a:extLst>
          </p:cNvPr>
          <p:cNvSpPr txBox="1"/>
          <p:nvPr/>
        </p:nvSpPr>
        <p:spPr>
          <a:xfrm>
            <a:off x="2067859" y="4407590"/>
            <a:ext cx="1638196" cy="369332"/>
          </a:xfrm>
          <a:prstGeom prst="rect">
            <a:avLst/>
          </a:prstGeom>
          <a:noFill/>
        </p:spPr>
        <p:txBody>
          <a:bodyPr wrap="square" rtlCol="0">
            <a:spAutoFit/>
          </a:bodyPr>
          <a:lstStyle/>
          <a:p>
            <a:r>
              <a:rPr lang="en-US" dirty="0"/>
              <a:t>1.76 </a:t>
            </a:r>
            <a:r>
              <a:rPr lang="en-US" dirty="0">
                <a:latin typeface="Cambria Math" panose="02040503050406030204" pitchFamily="18" charset="0"/>
                <a:ea typeface="Cambria Math" panose="02040503050406030204" pitchFamily="18" charset="0"/>
              </a:rPr>
              <a:t>≈</a:t>
            </a:r>
            <a:r>
              <a:rPr lang="en-US" dirty="0"/>
              <a:t> (30/17)  </a:t>
            </a:r>
          </a:p>
        </p:txBody>
      </p:sp>
      <p:sp>
        <p:nvSpPr>
          <p:cNvPr id="26" name="TextBox 25">
            <a:extLst>
              <a:ext uri="{FF2B5EF4-FFF2-40B4-BE49-F238E27FC236}">
                <a16:creationId xmlns:a16="http://schemas.microsoft.com/office/drawing/2014/main" id="{02D50CF2-7AA4-1342-51EB-4C5521E366A6}"/>
              </a:ext>
            </a:extLst>
          </p:cNvPr>
          <p:cNvSpPr txBox="1"/>
          <p:nvPr/>
        </p:nvSpPr>
        <p:spPr>
          <a:xfrm>
            <a:off x="115965" y="1707759"/>
            <a:ext cx="1647451" cy="369332"/>
          </a:xfrm>
          <a:prstGeom prst="rect">
            <a:avLst/>
          </a:prstGeom>
          <a:noFill/>
        </p:spPr>
        <p:txBody>
          <a:bodyPr wrap="square" rtlCol="0">
            <a:spAutoFit/>
          </a:bodyPr>
          <a:lstStyle/>
          <a:p>
            <a:r>
              <a:rPr lang="en-US" dirty="0"/>
              <a:t>1.25 </a:t>
            </a:r>
            <a:r>
              <a:rPr lang="en-US" dirty="0">
                <a:latin typeface="Cambria Math" panose="02040503050406030204" pitchFamily="18" charset="0"/>
                <a:ea typeface="Cambria Math" panose="02040503050406030204" pitchFamily="18" charset="0"/>
              </a:rPr>
              <a:t>=</a:t>
            </a:r>
            <a:r>
              <a:rPr lang="en-US" dirty="0"/>
              <a:t> (5/3)  </a:t>
            </a:r>
          </a:p>
        </p:txBody>
      </p:sp>
      <p:sp>
        <p:nvSpPr>
          <p:cNvPr id="4" name="TextBox 3">
            <a:extLst>
              <a:ext uri="{FF2B5EF4-FFF2-40B4-BE49-F238E27FC236}">
                <a16:creationId xmlns:a16="http://schemas.microsoft.com/office/drawing/2014/main" id="{FE98B298-1099-6DD2-1F7C-B5FEEA0759A5}"/>
              </a:ext>
            </a:extLst>
          </p:cNvPr>
          <p:cNvSpPr txBox="1"/>
          <p:nvPr/>
        </p:nvSpPr>
        <p:spPr>
          <a:xfrm>
            <a:off x="9804007" y="4499903"/>
            <a:ext cx="1924987" cy="276999"/>
          </a:xfrm>
          <a:prstGeom prst="rect">
            <a:avLst/>
          </a:prstGeom>
          <a:noFill/>
        </p:spPr>
        <p:txBody>
          <a:bodyPr wrap="square" rtlCol="0">
            <a:spAutoFit/>
          </a:bodyPr>
          <a:lstStyle/>
          <a:p>
            <a:r>
              <a:rPr lang="en-US" sz="1200" dirty="0"/>
              <a:t>Area of Interest (AOI)</a:t>
            </a:r>
          </a:p>
        </p:txBody>
      </p:sp>
      <p:pic>
        <p:nvPicPr>
          <p:cNvPr id="8" name="Picture 7">
            <a:extLst>
              <a:ext uri="{FF2B5EF4-FFF2-40B4-BE49-F238E27FC236}">
                <a16:creationId xmlns:a16="http://schemas.microsoft.com/office/drawing/2014/main" id="{10834EF5-9AF0-4D47-F07E-14A460F3FAD2}"/>
              </a:ext>
            </a:extLst>
          </p:cNvPr>
          <p:cNvPicPr>
            <a:picLocks noChangeAspect="1"/>
          </p:cNvPicPr>
          <p:nvPr/>
        </p:nvPicPr>
        <p:blipFill>
          <a:blip r:embed="rId15"/>
          <a:stretch>
            <a:fillRect/>
          </a:stretch>
        </p:blipFill>
        <p:spPr>
          <a:xfrm>
            <a:off x="9775006" y="4823924"/>
            <a:ext cx="1285516" cy="1285516"/>
          </a:xfrm>
          <a:prstGeom prst="rect">
            <a:avLst/>
          </a:prstGeom>
        </p:spPr>
      </p:pic>
      <p:cxnSp>
        <p:nvCxnSpPr>
          <p:cNvPr id="16" name="Straight Arrow Connector 15">
            <a:extLst>
              <a:ext uri="{FF2B5EF4-FFF2-40B4-BE49-F238E27FC236}">
                <a16:creationId xmlns:a16="http://schemas.microsoft.com/office/drawing/2014/main" id="{C5FCABC4-5A20-DAEE-D046-5F7600B7ECE8}"/>
              </a:ext>
            </a:extLst>
          </p:cNvPr>
          <p:cNvCxnSpPr>
            <a:cxnSpLocks/>
          </p:cNvCxnSpPr>
          <p:nvPr/>
        </p:nvCxnSpPr>
        <p:spPr>
          <a:xfrm>
            <a:off x="9724010" y="4448037"/>
            <a:ext cx="246595" cy="53147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65E94578-0562-1C3A-A739-0522641A45CF}"/>
              </a:ext>
            </a:extLst>
          </p:cNvPr>
          <p:cNvPicPr>
            <a:picLocks noChangeAspect="1"/>
          </p:cNvPicPr>
          <p:nvPr/>
        </p:nvPicPr>
        <p:blipFill>
          <a:blip r:embed="rId16"/>
          <a:stretch>
            <a:fillRect/>
          </a:stretch>
        </p:blipFill>
        <p:spPr>
          <a:xfrm>
            <a:off x="11106647" y="4783541"/>
            <a:ext cx="195183" cy="1366281"/>
          </a:xfrm>
          <a:prstGeom prst="rect">
            <a:avLst/>
          </a:prstGeom>
        </p:spPr>
      </p:pic>
      <p:cxnSp>
        <p:nvCxnSpPr>
          <p:cNvPr id="27" name="Straight Arrow Connector 26">
            <a:extLst>
              <a:ext uri="{FF2B5EF4-FFF2-40B4-BE49-F238E27FC236}">
                <a16:creationId xmlns:a16="http://schemas.microsoft.com/office/drawing/2014/main" id="{54F0E3A1-9C71-7EEB-68A1-869C0D0846FF}"/>
              </a:ext>
            </a:extLst>
          </p:cNvPr>
          <p:cNvCxnSpPr>
            <a:cxnSpLocks/>
          </p:cNvCxnSpPr>
          <p:nvPr/>
        </p:nvCxnSpPr>
        <p:spPr>
          <a:xfrm flipH="1">
            <a:off x="10667071" y="4713776"/>
            <a:ext cx="905626" cy="22876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28" name="Picture 27">
            <a:extLst>
              <a:ext uri="{FF2B5EF4-FFF2-40B4-BE49-F238E27FC236}">
                <a16:creationId xmlns:a16="http://schemas.microsoft.com/office/drawing/2014/main" id="{BC7EBA28-FE12-EA7A-992F-27961A0530E1}"/>
              </a:ext>
            </a:extLst>
          </p:cNvPr>
          <p:cNvPicPr>
            <a:picLocks noChangeAspect="1"/>
          </p:cNvPicPr>
          <p:nvPr/>
        </p:nvPicPr>
        <p:blipFill>
          <a:blip r:embed="rId17"/>
          <a:stretch>
            <a:fillRect/>
          </a:stretch>
        </p:blipFill>
        <p:spPr>
          <a:xfrm>
            <a:off x="11284228" y="5342426"/>
            <a:ext cx="831206" cy="80765"/>
          </a:xfrm>
          <a:prstGeom prst="rect">
            <a:avLst/>
          </a:prstGeom>
        </p:spPr>
      </p:pic>
      <p:sp>
        <p:nvSpPr>
          <p:cNvPr id="29" name="TextBox 28">
            <a:extLst>
              <a:ext uri="{FF2B5EF4-FFF2-40B4-BE49-F238E27FC236}">
                <a16:creationId xmlns:a16="http://schemas.microsoft.com/office/drawing/2014/main" id="{9425A23D-6BCA-A643-3FA6-6E34C590BD47}"/>
              </a:ext>
            </a:extLst>
          </p:cNvPr>
          <p:cNvSpPr txBox="1"/>
          <p:nvPr/>
        </p:nvSpPr>
        <p:spPr>
          <a:xfrm>
            <a:off x="9528664" y="4177981"/>
            <a:ext cx="2586769" cy="276999"/>
          </a:xfrm>
          <a:prstGeom prst="rect">
            <a:avLst/>
          </a:prstGeom>
          <a:noFill/>
        </p:spPr>
        <p:txBody>
          <a:bodyPr wrap="square" rtlCol="0">
            <a:spAutoFit/>
          </a:bodyPr>
          <a:lstStyle/>
          <a:p>
            <a:r>
              <a:rPr lang="en-US" sz="1200" b="1" dirty="0"/>
              <a:t>PE = 8.18</a:t>
            </a:r>
          </a:p>
        </p:txBody>
      </p:sp>
      <p:sp>
        <p:nvSpPr>
          <p:cNvPr id="30" name="TextBox 29">
            <a:extLst>
              <a:ext uri="{FF2B5EF4-FFF2-40B4-BE49-F238E27FC236}">
                <a16:creationId xmlns:a16="http://schemas.microsoft.com/office/drawing/2014/main" id="{F084AD63-4408-792C-F2D7-2213B07195A9}"/>
              </a:ext>
            </a:extLst>
          </p:cNvPr>
          <p:cNvSpPr txBox="1"/>
          <p:nvPr/>
        </p:nvSpPr>
        <p:spPr>
          <a:xfrm>
            <a:off x="11325830" y="4423196"/>
            <a:ext cx="1138406" cy="276999"/>
          </a:xfrm>
          <a:prstGeom prst="rect">
            <a:avLst/>
          </a:prstGeom>
          <a:noFill/>
        </p:spPr>
        <p:txBody>
          <a:bodyPr wrap="square" rtlCol="0">
            <a:spAutoFit/>
          </a:bodyPr>
          <a:lstStyle/>
          <a:p>
            <a:r>
              <a:rPr lang="en-US" sz="1200" b="1" dirty="0">
                <a:solidFill>
                  <a:srgbClr val="0000FF"/>
                </a:solidFill>
              </a:rPr>
              <a:t>PE = 26.48</a:t>
            </a:r>
          </a:p>
        </p:txBody>
      </p:sp>
      <p:cxnSp>
        <p:nvCxnSpPr>
          <p:cNvPr id="41" name="Straight Connector 40">
            <a:extLst>
              <a:ext uri="{FF2B5EF4-FFF2-40B4-BE49-F238E27FC236}">
                <a16:creationId xmlns:a16="http://schemas.microsoft.com/office/drawing/2014/main" id="{D135C630-4480-AAE4-5FF4-DE98208E4FE8}"/>
              </a:ext>
            </a:extLst>
          </p:cNvPr>
          <p:cNvCxnSpPr/>
          <p:nvPr/>
        </p:nvCxnSpPr>
        <p:spPr>
          <a:xfrm>
            <a:off x="846306" y="4873440"/>
            <a:ext cx="3380786"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8AE312F-4578-E07C-C7E6-87E6F2FD65D1}"/>
              </a:ext>
            </a:extLst>
          </p:cNvPr>
          <p:cNvCxnSpPr>
            <a:cxnSpLocks/>
            <a:stCxn id="34" idx="2"/>
          </p:cNvCxnSpPr>
          <p:nvPr/>
        </p:nvCxnSpPr>
        <p:spPr>
          <a:xfrm>
            <a:off x="4510391" y="5154625"/>
            <a:ext cx="0" cy="57712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2EB2717-BF75-987B-49B4-1A27FBF167A7}"/>
              </a:ext>
            </a:extLst>
          </p:cNvPr>
          <p:cNvCxnSpPr>
            <a:cxnSpLocks/>
            <a:endCxn id="37" idx="1"/>
          </p:cNvCxnSpPr>
          <p:nvPr/>
        </p:nvCxnSpPr>
        <p:spPr>
          <a:xfrm>
            <a:off x="4510391" y="5731748"/>
            <a:ext cx="2746975" cy="28769"/>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405734D-C07B-1965-EBC4-4721CD0E67C1}"/>
              </a:ext>
            </a:extLst>
          </p:cNvPr>
          <p:cNvCxnSpPr>
            <a:cxnSpLocks/>
          </p:cNvCxnSpPr>
          <p:nvPr/>
        </p:nvCxnSpPr>
        <p:spPr>
          <a:xfrm flipV="1">
            <a:off x="7596393" y="6021797"/>
            <a:ext cx="0" cy="154686"/>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9A72EAC-5A9F-4643-54F7-7B69B661CA2C}"/>
              </a:ext>
            </a:extLst>
          </p:cNvPr>
          <p:cNvCxnSpPr>
            <a:cxnSpLocks/>
          </p:cNvCxnSpPr>
          <p:nvPr/>
        </p:nvCxnSpPr>
        <p:spPr>
          <a:xfrm flipH="1">
            <a:off x="7596393" y="6176483"/>
            <a:ext cx="595107"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01F0A-C129-E0C6-DC20-76299BDA2F1B}"/>
              </a:ext>
            </a:extLst>
          </p:cNvPr>
          <p:cNvCxnSpPr>
            <a:cxnSpLocks/>
          </p:cNvCxnSpPr>
          <p:nvPr/>
        </p:nvCxnSpPr>
        <p:spPr>
          <a:xfrm flipH="1">
            <a:off x="1477926" y="2710419"/>
            <a:ext cx="671357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1E415EB-D291-5AF4-4388-74FD379F70CF}"/>
              </a:ext>
            </a:extLst>
          </p:cNvPr>
          <p:cNvCxnSpPr>
            <a:cxnSpLocks/>
            <a:stCxn id="32" idx="2"/>
          </p:cNvCxnSpPr>
          <p:nvPr/>
        </p:nvCxnSpPr>
        <p:spPr>
          <a:xfrm flipH="1">
            <a:off x="1477926" y="2556069"/>
            <a:ext cx="15400" cy="15435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430BFD1-8751-56B6-527D-ED09AB8EF7C3}"/>
              </a:ext>
            </a:extLst>
          </p:cNvPr>
          <p:cNvCxnSpPr>
            <a:cxnSpLocks/>
          </p:cNvCxnSpPr>
          <p:nvPr/>
        </p:nvCxnSpPr>
        <p:spPr>
          <a:xfrm flipH="1">
            <a:off x="846306" y="2284521"/>
            <a:ext cx="394474"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F00EDF5-BBBE-1D54-1BB3-E5B08E0A8067}"/>
              </a:ext>
            </a:extLst>
          </p:cNvPr>
          <p:cNvCxnSpPr>
            <a:cxnSpLocks/>
          </p:cNvCxnSpPr>
          <p:nvPr/>
        </p:nvCxnSpPr>
        <p:spPr>
          <a:xfrm flipV="1">
            <a:off x="846306" y="2284521"/>
            <a:ext cx="0" cy="2588919"/>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5690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F959D-4559-3F6C-F790-BAD3FBECA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F4323-2D14-570A-E384-07EF78A43C06}"/>
              </a:ext>
            </a:extLst>
          </p:cNvPr>
          <p:cNvSpPr>
            <a:spLocks noGrp="1"/>
          </p:cNvSpPr>
          <p:nvPr>
            <p:ph type="title"/>
          </p:nvPr>
        </p:nvSpPr>
        <p:spPr>
          <a:xfrm>
            <a:off x="0" y="0"/>
            <a:ext cx="10515600" cy="1325563"/>
          </a:xfrm>
        </p:spPr>
        <p:txBody>
          <a:bodyPr/>
          <a:lstStyle/>
          <a:p>
            <a:r>
              <a:rPr lang="en-US" dirty="0"/>
              <a:t>Intro to RPD and RPE</a:t>
            </a:r>
          </a:p>
        </p:txBody>
      </p:sp>
      <p:sp>
        <p:nvSpPr>
          <p:cNvPr id="4" name="TextBox 3">
            <a:extLst>
              <a:ext uri="{FF2B5EF4-FFF2-40B4-BE49-F238E27FC236}">
                <a16:creationId xmlns:a16="http://schemas.microsoft.com/office/drawing/2014/main" id="{50E1DE0A-FBCA-A52F-12A0-D28481A5D328}"/>
              </a:ext>
            </a:extLst>
          </p:cNvPr>
          <p:cNvSpPr txBox="1"/>
          <p:nvPr/>
        </p:nvSpPr>
        <p:spPr>
          <a:xfrm>
            <a:off x="249284" y="1243786"/>
            <a:ext cx="10617190" cy="1384995"/>
          </a:xfrm>
          <a:prstGeom prst="rect">
            <a:avLst/>
          </a:prstGeom>
          <a:noFill/>
        </p:spPr>
        <p:txBody>
          <a:bodyPr wrap="square" rtlCol="0">
            <a:spAutoFit/>
          </a:bodyPr>
          <a:lstStyle/>
          <a:p>
            <a:r>
              <a:rPr lang="en-US" sz="2800" dirty="0"/>
              <a:t>Currently an area with high PD/PE can be that way for two reasons</a:t>
            </a:r>
          </a:p>
          <a:p>
            <a:r>
              <a:rPr lang="en-US" sz="2800" dirty="0"/>
              <a:t>	1) There is a lot of taxa (or narrow ranged taxa) in that cell</a:t>
            </a:r>
          </a:p>
          <a:p>
            <a:r>
              <a:rPr lang="en-US" sz="2800" dirty="0"/>
              <a:t>	2) The cell has a disproportionately long or short branches</a:t>
            </a:r>
          </a:p>
        </p:txBody>
      </p:sp>
      <p:sp>
        <p:nvSpPr>
          <p:cNvPr id="6" name="TextBox 5">
            <a:extLst>
              <a:ext uri="{FF2B5EF4-FFF2-40B4-BE49-F238E27FC236}">
                <a16:creationId xmlns:a16="http://schemas.microsoft.com/office/drawing/2014/main" id="{0C2CB961-3AEE-7985-531D-D8E5881C1A7D}"/>
              </a:ext>
            </a:extLst>
          </p:cNvPr>
          <p:cNvSpPr txBox="1"/>
          <p:nvPr/>
        </p:nvSpPr>
        <p:spPr>
          <a:xfrm>
            <a:off x="7467600" y="3229179"/>
            <a:ext cx="4724400" cy="523220"/>
          </a:xfrm>
          <a:prstGeom prst="rect">
            <a:avLst/>
          </a:prstGeom>
          <a:noFill/>
        </p:spPr>
        <p:txBody>
          <a:bodyPr wrap="square" rtlCol="0">
            <a:spAutoFit/>
          </a:bodyPr>
          <a:lstStyle/>
          <a:p>
            <a:r>
              <a:rPr lang="en-US" sz="2800" dirty="0"/>
              <a:t>Area of Interest (AOI)</a:t>
            </a:r>
          </a:p>
        </p:txBody>
      </p:sp>
      <p:pic>
        <p:nvPicPr>
          <p:cNvPr id="8" name="Picture 7">
            <a:extLst>
              <a:ext uri="{FF2B5EF4-FFF2-40B4-BE49-F238E27FC236}">
                <a16:creationId xmlns:a16="http://schemas.microsoft.com/office/drawing/2014/main" id="{493AF597-3F95-17DC-5274-EAC27F451215}"/>
              </a:ext>
            </a:extLst>
          </p:cNvPr>
          <p:cNvPicPr>
            <a:picLocks noChangeAspect="1"/>
          </p:cNvPicPr>
          <p:nvPr/>
        </p:nvPicPr>
        <p:blipFill>
          <a:blip r:embed="rId2"/>
          <a:stretch>
            <a:fillRect/>
          </a:stretch>
        </p:blipFill>
        <p:spPr>
          <a:xfrm>
            <a:off x="10315248" y="4009750"/>
            <a:ext cx="749237" cy="2096351"/>
          </a:xfrm>
          <a:prstGeom prst="rect">
            <a:avLst/>
          </a:prstGeom>
        </p:spPr>
      </p:pic>
      <p:pic>
        <p:nvPicPr>
          <p:cNvPr id="10" name="Picture 9">
            <a:extLst>
              <a:ext uri="{FF2B5EF4-FFF2-40B4-BE49-F238E27FC236}">
                <a16:creationId xmlns:a16="http://schemas.microsoft.com/office/drawing/2014/main" id="{5E22FA7F-2C54-12D8-50B8-C990AC2E6AA3}"/>
              </a:ext>
            </a:extLst>
          </p:cNvPr>
          <p:cNvPicPr>
            <a:picLocks noChangeAspect="1"/>
          </p:cNvPicPr>
          <p:nvPr/>
        </p:nvPicPr>
        <p:blipFill>
          <a:blip r:embed="rId3"/>
          <a:stretch>
            <a:fillRect/>
          </a:stretch>
        </p:blipFill>
        <p:spPr>
          <a:xfrm>
            <a:off x="7652225" y="3872567"/>
            <a:ext cx="2457576" cy="2559182"/>
          </a:xfrm>
          <a:prstGeom prst="rect">
            <a:avLst/>
          </a:prstGeom>
        </p:spPr>
      </p:pic>
      <p:sp>
        <p:nvSpPr>
          <p:cNvPr id="12" name="TextBox 11">
            <a:extLst>
              <a:ext uri="{FF2B5EF4-FFF2-40B4-BE49-F238E27FC236}">
                <a16:creationId xmlns:a16="http://schemas.microsoft.com/office/drawing/2014/main" id="{64FE66EA-134D-63E2-5BB8-3E17E15E9CAB}"/>
              </a:ext>
            </a:extLst>
          </p:cNvPr>
          <p:cNvSpPr txBox="1"/>
          <p:nvPr/>
        </p:nvSpPr>
        <p:spPr>
          <a:xfrm>
            <a:off x="435607" y="3112656"/>
            <a:ext cx="5337681" cy="2677656"/>
          </a:xfrm>
          <a:prstGeom prst="rect">
            <a:avLst/>
          </a:prstGeom>
          <a:noFill/>
        </p:spPr>
        <p:txBody>
          <a:bodyPr wrap="square" rtlCol="0">
            <a:spAutoFit/>
          </a:bodyPr>
          <a:lstStyle/>
          <a:p>
            <a:r>
              <a:rPr lang="en-US" sz="2400" b="1" dirty="0"/>
              <a:t>R</a:t>
            </a:r>
            <a:r>
              <a:rPr lang="en-US" sz="2400" dirty="0"/>
              <a:t>elative </a:t>
            </a:r>
            <a:r>
              <a:rPr lang="en-US" sz="2400" b="1" dirty="0"/>
              <a:t>P</a:t>
            </a:r>
            <a:r>
              <a:rPr lang="en-US" sz="2400" dirty="0"/>
              <a:t>hylogenetic </a:t>
            </a:r>
            <a:r>
              <a:rPr lang="en-US" sz="2400" b="1" dirty="0"/>
              <a:t>D</a:t>
            </a:r>
            <a:r>
              <a:rPr lang="en-US" sz="2400" dirty="0"/>
              <a:t>iversity (RPD) and </a:t>
            </a:r>
            <a:r>
              <a:rPr lang="en-US" sz="2400" b="1" dirty="0"/>
              <a:t>R</a:t>
            </a:r>
            <a:r>
              <a:rPr lang="en-US" sz="2400" dirty="0"/>
              <a:t>elative </a:t>
            </a:r>
            <a:r>
              <a:rPr lang="en-US" sz="2400" b="1" dirty="0"/>
              <a:t>P</a:t>
            </a:r>
            <a:r>
              <a:rPr lang="en-US" sz="2400" dirty="0"/>
              <a:t>hylogenetic </a:t>
            </a:r>
            <a:r>
              <a:rPr lang="en-US" sz="2400" b="1" dirty="0"/>
              <a:t>E</a:t>
            </a:r>
            <a:r>
              <a:rPr lang="en-US" sz="2400" dirty="0"/>
              <a:t>ndemism (RPE) are designed to standardize PD and PE by comparing them to what would be expected if </a:t>
            </a:r>
            <a:r>
              <a:rPr lang="en-US" sz="2400" b="1" dirty="0"/>
              <a:t>all branches in the phylogeny were equal length</a:t>
            </a:r>
            <a:r>
              <a:rPr lang="en-US" sz="2400" dirty="0"/>
              <a:t> (aka a </a:t>
            </a:r>
            <a:r>
              <a:rPr lang="en-US" sz="2400" b="1" dirty="0"/>
              <a:t>comparison tree</a:t>
            </a:r>
            <a:r>
              <a:rPr lang="en-US" sz="2400" dirty="0"/>
              <a:t>)</a:t>
            </a:r>
          </a:p>
        </p:txBody>
      </p:sp>
      <p:cxnSp>
        <p:nvCxnSpPr>
          <p:cNvPr id="13" name="Straight Arrow Connector 12">
            <a:extLst>
              <a:ext uri="{FF2B5EF4-FFF2-40B4-BE49-F238E27FC236}">
                <a16:creationId xmlns:a16="http://schemas.microsoft.com/office/drawing/2014/main" id="{EB6D54C8-1A73-D843-10A9-7D5D0A38A2C3}"/>
              </a:ext>
            </a:extLst>
          </p:cNvPr>
          <p:cNvCxnSpPr>
            <a:cxnSpLocks/>
          </p:cNvCxnSpPr>
          <p:nvPr/>
        </p:nvCxnSpPr>
        <p:spPr>
          <a:xfrm flipH="1">
            <a:off x="9829800" y="3721777"/>
            <a:ext cx="1546020" cy="38928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BB40B51C-3112-864B-4329-F20B9E33A63B}"/>
              </a:ext>
            </a:extLst>
          </p:cNvPr>
          <p:cNvCxnSpPr>
            <a:cxnSpLocks/>
          </p:cNvCxnSpPr>
          <p:nvPr/>
        </p:nvCxnSpPr>
        <p:spPr>
          <a:xfrm>
            <a:off x="7355116" y="4244841"/>
            <a:ext cx="2010483" cy="413287"/>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A126AFD5-5344-AFA3-81A8-049C189B011E}"/>
              </a:ext>
            </a:extLst>
          </p:cNvPr>
          <p:cNvSpPr txBox="1"/>
          <p:nvPr/>
        </p:nvSpPr>
        <p:spPr>
          <a:xfrm>
            <a:off x="6517490" y="3926400"/>
            <a:ext cx="869480" cy="369332"/>
          </a:xfrm>
          <a:prstGeom prst="rect">
            <a:avLst/>
          </a:prstGeom>
          <a:noFill/>
        </p:spPr>
        <p:txBody>
          <a:bodyPr wrap="square" rtlCol="0">
            <a:spAutoFit/>
          </a:bodyPr>
          <a:lstStyle/>
          <a:p>
            <a:r>
              <a:rPr lang="en-US" b="1" dirty="0"/>
              <a:t>1 or 2?</a:t>
            </a:r>
          </a:p>
        </p:txBody>
      </p:sp>
      <p:sp>
        <p:nvSpPr>
          <p:cNvPr id="24" name="TextBox 23">
            <a:extLst>
              <a:ext uri="{FF2B5EF4-FFF2-40B4-BE49-F238E27FC236}">
                <a16:creationId xmlns:a16="http://schemas.microsoft.com/office/drawing/2014/main" id="{B73430E1-D968-4E72-C88F-0EA724DCCA00}"/>
              </a:ext>
            </a:extLst>
          </p:cNvPr>
          <p:cNvSpPr txBox="1"/>
          <p:nvPr/>
        </p:nvSpPr>
        <p:spPr>
          <a:xfrm>
            <a:off x="11322520" y="3377735"/>
            <a:ext cx="869480" cy="369332"/>
          </a:xfrm>
          <a:prstGeom prst="rect">
            <a:avLst/>
          </a:prstGeom>
          <a:noFill/>
        </p:spPr>
        <p:txBody>
          <a:bodyPr wrap="square" rtlCol="0">
            <a:spAutoFit/>
          </a:bodyPr>
          <a:lstStyle/>
          <a:p>
            <a:r>
              <a:rPr lang="en-US" b="1" dirty="0"/>
              <a:t>1 or 2?</a:t>
            </a:r>
          </a:p>
        </p:txBody>
      </p:sp>
    </p:spTree>
    <p:extLst>
      <p:ext uri="{BB962C8B-B14F-4D97-AF65-F5344CB8AC3E}">
        <p14:creationId xmlns:p14="http://schemas.microsoft.com/office/powerpoint/2010/main" val="658042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6138B-A24A-E931-AEAA-00F6933455C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BDCA732-40DA-3831-AB7C-80C9B301F02C}"/>
              </a:ext>
            </a:extLst>
          </p:cNvPr>
          <p:cNvSpPr>
            <a:spLocks noGrp="1"/>
          </p:cNvSpPr>
          <p:nvPr>
            <p:ph type="title"/>
          </p:nvPr>
        </p:nvSpPr>
        <p:spPr>
          <a:xfrm>
            <a:off x="0" y="0"/>
            <a:ext cx="10515600" cy="1325563"/>
          </a:xfrm>
        </p:spPr>
        <p:txBody>
          <a:bodyPr/>
          <a:lstStyle/>
          <a:p>
            <a:r>
              <a:rPr lang="en-US" dirty="0"/>
              <a:t>Intro to RPD and RPE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1A0A5C-F47C-8367-2B86-4D746967ADA5}"/>
                  </a:ext>
                </a:extLst>
              </p:cNvPr>
              <p:cNvSpPr txBox="1"/>
              <p:nvPr/>
            </p:nvSpPr>
            <p:spPr>
              <a:xfrm>
                <a:off x="798243" y="1729024"/>
                <a:ext cx="3975776" cy="760208"/>
              </a:xfrm>
              <a:prstGeom prst="rect">
                <a:avLst/>
              </a:prstGeom>
              <a:noFill/>
            </p:spPr>
            <p:txBody>
              <a:bodyPr wrap="square" rtlCol="0">
                <a:spAutoFit/>
              </a:bodyPr>
              <a:lstStyle/>
              <a:p>
                <a:r>
                  <a:rPr lang="en-US" sz="2800" dirty="0"/>
                  <a:t>RPD </a:t>
                </a:r>
                <a:r>
                  <a:rPr lang="en-US" sz="2800" dirty="0">
                    <a:latin typeface="Cambria Math" panose="02040503050406030204" pitchFamily="18" charset="0"/>
                    <a:ea typeface="Cambria Math" panose="02040503050406030204" pitchFamily="18" charset="0"/>
                  </a:rPr>
                  <a:t>=</a:t>
                </a:r>
                <a:r>
                  <a:rPr lang="en-US" sz="2800" dirty="0"/>
                  <a:t> (</a:t>
                </a: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𝑃𝐷</m:t>
                        </m:r>
                        <m:r>
                          <a:rPr lang="en-US" sz="2800" b="0" i="1" smtClean="0">
                            <a:latin typeface="Cambria Math" panose="02040503050406030204" pitchFamily="18" charset="0"/>
                          </a:rPr>
                          <m:t> </m:t>
                        </m:r>
                        <m:r>
                          <a:rPr lang="en-US" sz="2800" b="0" i="1" smtClean="0">
                            <a:latin typeface="Cambria Math" panose="02040503050406030204" pitchFamily="18" charset="0"/>
                          </a:rPr>
                          <m:t>𝑜𝑏𝑠𝑒𝑟𝑣𝑒𝑑</m:t>
                        </m:r>
                        <m:r>
                          <a:rPr lang="en-US" sz="2800" b="0" i="1" smtClean="0">
                            <a:latin typeface="Cambria Math" panose="02040503050406030204" pitchFamily="18" charset="0"/>
                          </a:rPr>
                          <m:t> </m:t>
                        </m:r>
                        <m:r>
                          <a:rPr lang="en-US" sz="2800" b="0" i="1" smtClean="0">
                            <a:latin typeface="Cambria Math" panose="02040503050406030204" pitchFamily="18" charset="0"/>
                          </a:rPr>
                          <m:t>𝑡𝑟𝑒𝑒</m:t>
                        </m:r>
                      </m:num>
                      <m:den>
                        <m:r>
                          <a:rPr lang="en-US" sz="2800" i="1" smtClean="0">
                            <a:latin typeface="Cambria Math" panose="02040503050406030204" pitchFamily="18" charset="0"/>
                          </a:rPr>
                          <m:t>𝑃</m:t>
                        </m:r>
                        <m:r>
                          <a:rPr lang="en-US" sz="2800" b="0" i="1" smtClean="0">
                            <a:latin typeface="Cambria Math" panose="02040503050406030204" pitchFamily="18" charset="0"/>
                          </a:rPr>
                          <m:t>𝐷</m:t>
                        </m:r>
                        <m:r>
                          <a:rPr lang="en-US" sz="2800" b="0" i="1" smtClean="0">
                            <a:latin typeface="Cambria Math" panose="02040503050406030204" pitchFamily="18" charset="0"/>
                          </a:rPr>
                          <m:t> </m:t>
                        </m:r>
                        <m:r>
                          <a:rPr lang="en-US" sz="2800" b="0" i="1" smtClean="0">
                            <a:latin typeface="Cambria Math" panose="02040503050406030204" pitchFamily="18" charset="0"/>
                          </a:rPr>
                          <m:t>𝑐𝑜𝑚𝑝𝑎𝑟𝑖𝑠𝑜𝑛</m:t>
                        </m:r>
                        <m:r>
                          <a:rPr lang="en-US" sz="2800" b="0" i="1" smtClean="0">
                            <a:latin typeface="Cambria Math" panose="02040503050406030204" pitchFamily="18" charset="0"/>
                          </a:rPr>
                          <m:t> </m:t>
                        </m:r>
                        <m:r>
                          <a:rPr lang="en-US" sz="2800" b="0" i="1" smtClean="0">
                            <a:latin typeface="Cambria Math" panose="02040503050406030204" pitchFamily="18" charset="0"/>
                          </a:rPr>
                          <m:t>𝑡𝑟𝑒𝑒</m:t>
                        </m:r>
                      </m:den>
                    </m:f>
                  </m:oMath>
                </a14:m>
                <a:r>
                  <a:rPr lang="en-US" sz="2800" dirty="0"/>
                  <a:t>)  </a:t>
                </a:r>
              </a:p>
            </p:txBody>
          </p:sp>
        </mc:Choice>
        <mc:Fallback xmlns="">
          <p:sp>
            <p:nvSpPr>
              <p:cNvPr id="11" name="TextBox 10">
                <a:extLst>
                  <a:ext uri="{FF2B5EF4-FFF2-40B4-BE49-F238E27FC236}">
                    <a16:creationId xmlns:a16="http://schemas.microsoft.com/office/drawing/2014/main" id="{4A1A0A5C-F47C-8367-2B86-4D746967ADA5}"/>
                  </a:ext>
                </a:extLst>
              </p:cNvPr>
              <p:cNvSpPr txBox="1">
                <a:spLocks noRot="1" noChangeAspect="1" noMove="1" noResize="1" noEditPoints="1" noAdjustHandles="1" noChangeArrowheads="1" noChangeShapeType="1" noTextEdit="1"/>
              </p:cNvSpPr>
              <p:nvPr/>
            </p:nvSpPr>
            <p:spPr>
              <a:xfrm>
                <a:off x="798243" y="1729024"/>
                <a:ext cx="3975776" cy="760208"/>
              </a:xfrm>
              <a:prstGeom prst="rect">
                <a:avLst/>
              </a:prstGeom>
              <a:blipFill>
                <a:blip r:embed="rId2"/>
                <a:stretch>
                  <a:fillRect l="-3221" r="-7055" b="-4839"/>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368F8300-9A48-DAA0-A9F7-D61D89A3F894}"/>
              </a:ext>
            </a:extLst>
          </p:cNvPr>
          <p:cNvCxnSpPr/>
          <p:nvPr/>
        </p:nvCxnSpPr>
        <p:spPr>
          <a:xfrm>
            <a:off x="5816009" y="3902149"/>
            <a:ext cx="4997303"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15F7AAB2-235B-A041-DDE3-3F7216DCFDD6}"/>
              </a:ext>
            </a:extLst>
          </p:cNvPr>
          <p:cNvPicPr>
            <a:picLocks noChangeAspect="1"/>
          </p:cNvPicPr>
          <p:nvPr/>
        </p:nvPicPr>
        <p:blipFill>
          <a:blip r:embed="rId3"/>
          <a:stretch>
            <a:fillRect/>
          </a:stretch>
        </p:blipFill>
        <p:spPr>
          <a:xfrm>
            <a:off x="5653564" y="533761"/>
            <a:ext cx="5375265" cy="3150733"/>
          </a:xfrm>
          <a:prstGeom prst="rect">
            <a:avLst/>
          </a:prstGeom>
        </p:spPr>
      </p:pic>
      <p:pic>
        <p:nvPicPr>
          <p:cNvPr id="26" name="Picture 25">
            <a:extLst>
              <a:ext uri="{FF2B5EF4-FFF2-40B4-BE49-F238E27FC236}">
                <a16:creationId xmlns:a16="http://schemas.microsoft.com/office/drawing/2014/main" id="{5740E0F6-20EA-300F-B061-92D0ADF6DD50}"/>
              </a:ext>
            </a:extLst>
          </p:cNvPr>
          <p:cNvPicPr>
            <a:picLocks noChangeAspect="1"/>
          </p:cNvPicPr>
          <p:nvPr/>
        </p:nvPicPr>
        <p:blipFill>
          <a:blip r:embed="rId4"/>
          <a:stretch>
            <a:fillRect/>
          </a:stretch>
        </p:blipFill>
        <p:spPr>
          <a:xfrm>
            <a:off x="6096000" y="4069365"/>
            <a:ext cx="4575104" cy="2788635"/>
          </a:xfrm>
          <a:prstGeom prst="rect">
            <a:avLst/>
          </a:prstGeom>
        </p:spPr>
      </p:pic>
      <p:sp>
        <p:nvSpPr>
          <p:cNvPr id="30" name="TextBox 29">
            <a:extLst>
              <a:ext uri="{FF2B5EF4-FFF2-40B4-BE49-F238E27FC236}">
                <a16:creationId xmlns:a16="http://schemas.microsoft.com/office/drawing/2014/main" id="{21197550-5623-4C61-C9CC-BB490A951F1B}"/>
              </a:ext>
            </a:extLst>
          </p:cNvPr>
          <p:cNvSpPr txBox="1"/>
          <p:nvPr/>
        </p:nvSpPr>
        <p:spPr>
          <a:xfrm>
            <a:off x="798243" y="3045330"/>
            <a:ext cx="4180369" cy="1323439"/>
          </a:xfrm>
          <a:prstGeom prst="rect">
            <a:avLst/>
          </a:prstGeom>
          <a:noFill/>
        </p:spPr>
        <p:txBody>
          <a:bodyPr wrap="square">
            <a:spAutoFit/>
          </a:bodyPr>
          <a:lstStyle/>
          <a:p>
            <a:r>
              <a:rPr lang="en-US" sz="2000" b="1" dirty="0">
                <a:solidFill>
                  <a:srgbClr val="00B0F0"/>
                </a:solidFill>
              </a:rPr>
              <a:t>RPD &gt; 1 </a:t>
            </a:r>
            <a:r>
              <a:rPr lang="en-US" sz="2000" dirty="0"/>
              <a:t>= Cell Contains </a:t>
            </a:r>
            <a:r>
              <a:rPr lang="en-US" sz="2000" b="1" dirty="0">
                <a:solidFill>
                  <a:srgbClr val="00B0F0"/>
                </a:solidFill>
              </a:rPr>
              <a:t>Longer</a:t>
            </a:r>
            <a:r>
              <a:rPr lang="en-US" sz="2000" dirty="0"/>
              <a:t> Branches than Expected</a:t>
            </a:r>
          </a:p>
          <a:p>
            <a:r>
              <a:rPr lang="en-US" sz="2000" b="1" dirty="0">
                <a:solidFill>
                  <a:srgbClr val="FF0000"/>
                </a:solidFill>
              </a:rPr>
              <a:t>RPD &lt; 1 </a:t>
            </a:r>
            <a:r>
              <a:rPr lang="en-US" sz="2000" dirty="0"/>
              <a:t>= Cell Contains </a:t>
            </a:r>
            <a:r>
              <a:rPr lang="en-US" sz="2000" b="1" dirty="0">
                <a:solidFill>
                  <a:srgbClr val="FF0000"/>
                </a:solidFill>
              </a:rPr>
              <a:t>Shorter</a:t>
            </a:r>
            <a:r>
              <a:rPr lang="en-US" sz="2000" dirty="0"/>
              <a:t> Branches than Expected</a:t>
            </a:r>
            <a:endParaRPr lang="en-US" sz="1400" dirty="0"/>
          </a:p>
        </p:txBody>
      </p:sp>
      <p:pic>
        <p:nvPicPr>
          <p:cNvPr id="32" name="Picture 31">
            <a:extLst>
              <a:ext uri="{FF2B5EF4-FFF2-40B4-BE49-F238E27FC236}">
                <a16:creationId xmlns:a16="http://schemas.microsoft.com/office/drawing/2014/main" id="{49F38B26-13FB-665E-C969-F057260F9929}"/>
              </a:ext>
            </a:extLst>
          </p:cNvPr>
          <p:cNvPicPr>
            <a:picLocks noChangeAspect="1"/>
          </p:cNvPicPr>
          <p:nvPr/>
        </p:nvPicPr>
        <p:blipFill>
          <a:blip r:embed="rId5"/>
          <a:stretch>
            <a:fillRect/>
          </a:stretch>
        </p:blipFill>
        <p:spPr>
          <a:xfrm>
            <a:off x="3024344" y="4697265"/>
            <a:ext cx="2298838" cy="2160735"/>
          </a:xfrm>
          <a:prstGeom prst="rect">
            <a:avLst/>
          </a:prstGeom>
        </p:spPr>
      </p:pic>
      <p:pic>
        <p:nvPicPr>
          <p:cNvPr id="34" name="Picture 33">
            <a:extLst>
              <a:ext uri="{FF2B5EF4-FFF2-40B4-BE49-F238E27FC236}">
                <a16:creationId xmlns:a16="http://schemas.microsoft.com/office/drawing/2014/main" id="{D719F81C-23BA-F074-7415-8C249B61C4A1}"/>
              </a:ext>
            </a:extLst>
          </p:cNvPr>
          <p:cNvPicPr>
            <a:picLocks noChangeAspect="1"/>
          </p:cNvPicPr>
          <p:nvPr/>
        </p:nvPicPr>
        <p:blipFill>
          <a:blip r:embed="rId6"/>
          <a:stretch>
            <a:fillRect/>
          </a:stretch>
        </p:blipFill>
        <p:spPr>
          <a:xfrm>
            <a:off x="2027772" y="5077174"/>
            <a:ext cx="493116" cy="1379728"/>
          </a:xfrm>
          <a:prstGeom prst="rect">
            <a:avLst/>
          </a:prstGeom>
        </p:spPr>
      </p:pic>
      <p:pic>
        <p:nvPicPr>
          <p:cNvPr id="36" name="Picture 35">
            <a:extLst>
              <a:ext uri="{FF2B5EF4-FFF2-40B4-BE49-F238E27FC236}">
                <a16:creationId xmlns:a16="http://schemas.microsoft.com/office/drawing/2014/main" id="{C614E1FB-1FFE-C9ED-A342-ADA7BAF04A4A}"/>
              </a:ext>
            </a:extLst>
          </p:cNvPr>
          <p:cNvPicPr>
            <a:picLocks noChangeAspect="1"/>
          </p:cNvPicPr>
          <p:nvPr/>
        </p:nvPicPr>
        <p:blipFill>
          <a:blip r:embed="rId7"/>
          <a:stretch>
            <a:fillRect/>
          </a:stretch>
        </p:blipFill>
        <p:spPr>
          <a:xfrm>
            <a:off x="240383" y="4924867"/>
            <a:ext cx="1617470" cy="1684343"/>
          </a:xfrm>
          <a:prstGeom prst="rect">
            <a:avLst/>
          </a:prstGeom>
        </p:spPr>
      </p:pic>
      <p:cxnSp>
        <p:nvCxnSpPr>
          <p:cNvPr id="37" name="Straight Arrow Connector 36">
            <a:extLst>
              <a:ext uri="{FF2B5EF4-FFF2-40B4-BE49-F238E27FC236}">
                <a16:creationId xmlns:a16="http://schemas.microsoft.com/office/drawing/2014/main" id="{20950873-5FFB-416B-AE67-894C829225F5}"/>
              </a:ext>
            </a:extLst>
          </p:cNvPr>
          <p:cNvCxnSpPr>
            <a:cxnSpLocks/>
            <a:stCxn id="34" idx="3"/>
            <a:endCxn id="32" idx="1"/>
          </p:cNvCxnSpPr>
          <p:nvPr/>
        </p:nvCxnSpPr>
        <p:spPr>
          <a:xfrm>
            <a:off x="2520888" y="5767038"/>
            <a:ext cx="503456" cy="1059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42" name="Picture 41">
            <a:extLst>
              <a:ext uri="{FF2B5EF4-FFF2-40B4-BE49-F238E27FC236}">
                <a16:creationId xmlns:a16="http://schemas.microsoft.com/office/drawing/2014/main" id="{407AC91D-D4A8-95B1-C7DB-6422EC84E821}"/>
              </a:ext>
            </a:extLst>
          </p:cNvPr>
          <p:cNvPicPr>
            <a:picLocks noChangeAspect="1"/>
          </p:cNvPicPr>
          <p:nvPr/>
        </p:nvPicPr>
        <p:blipFill>
          <a:blip r:embed="rId8"/>
          <a:stretch>
            <a:fillRect/>
          </a:stretch>
        </p:blipFill>
        <p:spPr>
          <a:xfrm>
            <a:off x="5200604" y="5463682"/>
            <a:ext cx="895396" cy="514376"/>
          </a:xfrm>
          <a:prstGeom prst="rect">
            <a:avLst/>
          </a:prstGeom>
        </p:spPr>
      </p:pic>
    </p:spTree>
    <p:extLst>
      <p:ext uri="{BB962C8B-B14F-4D97-AF65-F5344CB8AC3E}">
        <p14:creationId xmlns:p14="http://schemas.microsoft.com/office/powerpoint/2010/main" val="3782112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D124-F863-695C-52DA-5A2999271928}"/>
            </a:ext>
          </a:extLst>
        </p:cNvPr>
        <p:cNvGrpSpPr/>
        <p:nvPr/>
      </p:nvGrpSpPr>
      <p:grpSpPr>
        <a:xfrm>
          <a:off x="0" y="0"/>
          <a:ext cx="0" cy="0"/>
          <a:chOff x="0" y="0"/>
          <a:chExt cx="0" cy="0"/>
        </a:xfrm>
      </p:grpSpPr>
      <p:pic>
        <p:nvPicPr>
          <p:cNvPr id="56" name="Picture 55">
            <a:extLst>
              <a:ext uri="{FF2B5EF4-FFF2-40B4-BE49-F238E27FC236}">
                <a16:creationId xmlns:a16="http://schemas.microsoft.com/office/drawing/2014/main" id="{6FC8D66F-6244-3AD5-8576-AAC51D5D8742}"/>
              </a:ext>
            </a:extLst>
          </p:cNvPr>
          <p:cNvPicPr>
            <a:picLocks noChangeAspect="1"/>
          </p:cNvPicPr>
          <p:nvPr/>
        </p:nvPicPr>
        <p:blipFill>
          <a:blip r:embed="rId2"/>
          <a:stretch>
            <a:fillRect/>
          </a:stretch>
        </p:blipFill>
        <p:spPr>
          <a:xfrm>
            <a:off x="2995094" y="4666462"/>
            <a:ext cx="2222402" cy="2071636"/>
          </a:xfrm>
          <a:prstGeom prst="rect">
            <a:avLst/>
          </a:prstGeom>
        </p:spPr>
      </p:pic>
      <p:sp>
        <p:nvSpPr>
          <p:cNvPr id="7" name="Title 1">
            <a:extLst>
              <a:ext uri="{FF2B5EF4-FFF2-40B4-BE49-F238E27FC236}">
                <a16:creationId xmlns:a16="http://schemas.microsoft.com/office/drawing/2014/main" id="{FEA0D8A9-DFF1-2BE0-0B3D-690FFF1128F8}"/>
              </a:ext>
            </a:extLst>
          </p:cNvPr>
          <p:cNvSpPr>
            <a:spLocks noGrp="1"/>
          </p:cNvSpPr>
          <p:nvPr>
            <p:ph type="title"/>
          </p:nvPr>
        </p:nvSpPr>
        <p:spPr>
          <a:xfrm>
            <a:off x="0" y="0"/>
            <a:ext cx="10515600" cy="1325563"/>
          </a:xfrm>
        </p:spPr>
        <p:txBody>
          <a:bodyPr/>
          <a:lstStyle/>
          <a:p>
            <a:r>
              <a:rPr lang="en-US" dirty="0"/>
              <a:t>Intro to RPD and RPE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C2E8CC4-2F9B-4223-B398-C3A4DB551933}"/>
                  </a:ext>
                </a:extLst>
              </p:cNvPr>
              <p:cNvSpPr txBox="1"/>
              <p:nvPr/>
            </p:nvSpPr>
            <p:spPr>
              <a:xfrm>
                <a:off x="798243" y="1729024"/>
                <a:ext cx="3975776" cy="760208"/>
              </a:xfrm>
              <a:prstGeom prst="rect">
                <a:avLst/>
              </a:prstGeom>
              <a:noFill/>
            </p:spPr>
            <p:txBody>
              <a:bodyPr wrap="square" rtlCol="0">
                <a:spAutoFit/>
              </a:bodyPr>
              <a:lstStyle/>
              <a:p>
                <a:r>
                  <a:rPr lang="en-US" sz="2800" dirty="0"/>
                  <a:t>RPE </a:t>
                </a:r>
                <a:r>
                  <a:rPr lang="en-US" sz="2800" dirty="0">
                    <a:latin typeface="Cambria Math" panose="02040503050406030204" pitchFamily="18" charset="0"/>
                    <a:ea typeface="Cambria Math" panose="02040503050406030204" pitchFamily="18" charset="0"/>
                  </a:rPr>
                  <a:t>=</a:t>
                </a:r>
                <a:r>
                  <a:rPr lang="en-US" sz="2800" dirty="0"/>
                  <a:t> (</a:t>
                </a: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𝑜𝑏𝑠𝑒𝑟𝑣𝑒𝑑</m:t>
                        </m:r>
                        <m:r>
                          <a:rPr lang="en-US" sz="2800" b="0" i="1" smtClean="0">
                            <a:latin typeface="Cambria Math" panose="02040503050406030204" pitchFamily="18" charset="0"/>
                          </a:rPr>
                          <m:t> </m:t>
                        </m:r>
                        <m:r>
                          <a:rPr lang="en-US" sz="2800" b="0" i="1" smtClean="0">
                            <a:latin typeface="Cambria Math" panose="02040503050406030204" pitchFamily="18" charset="0"/>
                          </a:rPr>
                          <m:t>𝑡𝑟𝑒𝑒</m:t>
                        </m:r>
                      </m:num>
                      <m:den>
                        <m:r>
                          <a:rPr lang="en-US" sz="2800" i="1" smtClean="0">
                            <a:latin typeface="Cambria Math" panose="02040503050406030204" pitchFamily="18" charset="0"/>
                          </a:rPr>
                          <m:t>𝑃</m:t>
                        </m:r>
                        <m:r>
                          <a:rPr lang="en-US" sz="2800" b="0" i="1" smtClean="0">
                            <a:latin typeface="Cambria Math" panose="02040503050406030204" pitchFamily="18" charset="0"/>
                          </a:rPr>
                          <m:t>𝐸</m:t>
                        </m:r>
                        <m:r>
                          <a:rPr lang="en-US" sz="2800" b="0" i="1" smtClean="0">
                            <a:latin typeface="Cambria Math" panose="02040503050406030204" pitchFamily="18" charset="0"/>
                          </a:rPr>
                          <m:t> </m:t>
                        </m:r>
                        <m:r>
                          <a:rPr lang="en-US" sz="2800" b="0" i="1" smtClean="0">
                            <a:latin typeface="Cambria Math" panose="02040503050406030204" pitchFamily="18" charset="0"/>
                          </a:rPr>
                          <m:t>𝑐𝑜𝑚𝑝𝑎𝑟𝑖𝑠𝑜𝑛</m:t>
                        </m:r>
                        <m:r>
                          <a:rPr lang="en-US" sz="2800" b="0" i="1" smtClean="0">
                            <a:latin typeface="Cambria Math" panose="02040503050406030204" pitchFamily="18" charset="0"/>
                          </a:rPr>
                          <m:t> </m:t>
                        </m:r>
                        <m:r>
                          <a:rPr lang="en-US" sz="2800" b="0" i="1" smtClean="0">
                            <a:latin typeface="Cambria Math" panose="02040503050406030204" pitchFamily="18" charset="0"/>
                          </a:rPr>
                          <m:t>𝑡𝑟𝑒𝑒</m:t>
                        </m:r>
                      </m:den>
                    </m:f>
                  </m:oMath>
                </a14:m>
                <a:r>
                  <a:rPr lang="en-US" sz="2800" dirty="0"/>
                  <a:t>)  </a:t>
                </a:r>
              </a:p>
            </p:txBody>
          </p:sp>
        </mc:Choice>
        <mc:Fallback xmlns="">
          <p:sp>
            <p:nvSpPr>
              <p:cNvPr id="11" name="TextBox 10">
                <a:extLst>
                  <a:ext uri="{FF2B5EF4-FFF2-40B4-BE49-F238E27FC236}">
                    <a16:creationId xmlns:a16="http://schemas.microsoft.com/office/drawing/2014/main" id="{7C2E8CC4-2F9B-4223-B398-C3A4DB551933}"/>
                  </a:ext>
                </a:extLst>
              </p:cNvPr>
              <p:cNvSpPr txBox="1">
                <a:spLocks noRot="1" noChangeAspect="1" noMove="1" noResize="1" noEditPoints="1" noAdjustHandles="1" noChangeArrowheads="1" noChangeShapeType="1" noTextEdit="1"/>
              </p:cNvSpPr>
              <p:nvPr/>
            </p:nvSpPr>
            <p:spPr>
              <a:xfrm>
                <a:off x="798243" y="1729024"/>
                <a:ext cx="3975776" cy="760208"/>
              </a:xfrm>
              <a:prstGeom prst="rect">
                <a:avLst/>
              </a:prstGeom>
              <a:blipFill>
                <a:blip r:embed="rId3"/>
                <a:stretch>
                  <a:fillRect l="-3221" r="-5521" b="-4839"/>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C9059404-48E4-709C-6425-5156F89ECB48}"/>
              </a:ext>
            </a:extLst>
          </p:cNvPr>
          <p:cNvCxnSpPr/>
          <p:nvPr/>
        </p:nvCxnSpPr>
        <p:spPr>
          <a:xfrm>
            <a:off x="5816009" y="3902149"/>
            <a:ext cx="4997303"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DD6E9F5E-9B21-87F3-0880-50C49F88495E}"/>
              </a:ext>
            </a:extLst>
          </p:cNvPr>
          <p:cNvPicPr>
            <a:picLocks noChangeAspect="1"/>
          </p:cNvPicPr>
          <p:nvPr/>
        </p:nvPicPr>
        <p:blipFill>
          <a:blip r:embed="rId4"/>
          <a:stretch>
            <a:fillRect/>
          </a:stretch>
        </p:blipFill>
        <p:spPr>
          <a:xfrm>
            <a:off x="5653564" y="533761"/>
            <a:ext cx="5375265" cy="3150733"/>
          </a:xfrm>
          <a:prstGeom prst="rect">
            <a:avLst/>
          </a:prstGeom>
        </p:spPr>
      </p:pic>
      <p:pic>
        <p:nvPicPr>
          <p:cNvPr id="26" name="Picture 25">
            <a:extLst>
              <a:ext uri="{FF2B5EF4-FFF2-40B4-BE49-F238E27FC236}">
                <a16:creationId xmlns:a16="http://schemas.microsoft.com/office/drawing/2014/main" id="{1E7131CA-162C-5907-3E8B-A5FA1EB4B9D6}"/>
              </a:ext>
            </a:extLst>
          </p:cNvPr>
          <p:cNvPicPr>
            <a:picLocks noChangeAspect="1"/>
          </p:cNvPicPr>
          <p:nvPr/>
        </p:nvPicPr>
        <p:blipFill>
          <a:blip r:embed="rId5"/>
          <a:stretch>
            <a:fillRect/>
          </a:stretch>
        </p:blipFill>
        <p:spPr>
          <a:xfrm>
            <a:off x="6096000" y="4069365"/>
            <a:ext cx="4575104" cy="2788635"/>
          </a:xfrm>
          <a:prstGeom prst="rect">
            <a:avLst/>
          </a:prstGeom>
        </p:spPr>
      </p:pic>
      <p:sp>
        <p:nvSpPr>
          <p:cNvPr id="30" name="TextBox 29">
            <a:extLst>
              <a:ext uri="{FF2B5EF4-FFF2-40B4-BE49-F238E27FC236}">
                <a16:creationId xmlns:a16="http://schemas.microsoft.com/office/drawing/2014/main" id="{E45733BF-FB6F-559A-8527-E8B2207C1C3B}"/>
              </a:ext>
            </a:extLst>
          </p:cNvPr>
          <p:cNvSpPr txBox="1"/>
          <p:nvPr/>
        </p:nvSpPr>
        <p:spPr>
          <a:xfrm>
            <a:off x="786890" y="2727470"/>
            <a:ext cx="4180369" cy="1938992"/>
          </a:xfrm>
          <a:prstGeom prst="rect">
            <a:avLst/>
          </a:prstGeom>
          <a:noFill/>
        </p:spPr>
        <p:txBody>
          <a:bodyPr wrap="square">
            <a:spAutoFit/>
          </a:bodyPr>
          <a:lstStyle/>
          <a:p>
            <a:r>
              <a:rPr lang="en-US" sz="2000" b="1" dirty="0">
                <a:solidFill>
                  <a:srgbClr val="00B0F0"/>
                </a:solidFill>
              </a:rPr>
              <a:t>RPE &gt; 1 </a:t>
            </a:r>
            <a:r>
              <a:rPr lang="en-US" sz="2000" dirty="0"/>
              <a:t>= Cell Contains </a:t>
            </a:r>
            <a:r>
              <a:rPr lang="en-US" sz="2000" b="1" dirty="0"/>
              <a:t>Range Restricted </a:t>
            </a:r>
            <a:r>
              <a:rPr lang="en-US" sz="2000" b="1" dirty="0">
                <a:solidFill>
                  <a:srgbClr val="00B0F0"/>
                </a:solidFill>
              </a:rPr>
              <a:t>Longer</a:t>
            </a:r>
            <a:r>
              <a:rPr lang="en-US" sz="2000" dirty="0"/>
              <a:t> Branches than Expected</a:t>
            </a:r>
          </a:p>
          <a:p>
            <a:r>
              <a:rPr lang="en-US" sz="2000" b="1" dirty="0">
                <a:solidFill>
                  <a:srgbClr val="FF0000"/>
                </a:solidFill>
              </a:rPr>
              <a:t>RPE &lt; 1 </a:t>
            </a:r>
            <a:r>
              <a:rPr lang="en-US" sz="2000" dirty="0"/>
              <a:t>= Cell Contains </a:t>
            </a:r>
            <a:r>
              <a:rPr lang="en-US" sz="2000" b="1" dirty="0"/>
              <a:t>Range Restricted </a:t>
            </a:r>
            <a:r>
              <a:rPr lang="en-US" sz="2000" b="1" dirty="0">
                <a:solidFill>
                  <a:srgbClr val="FF0000"/>
                </a:solidFill>
              </a:rPr>
              <a:t>Shorter</a:t>
            </a:r>
            <a:r>
              <a:rPr lang="en-US" sz="2000" dirty="0"/>
              <a:t> Branches than Expected</a:t>
            </a:r>
            <a:endParaRPr lang="en-US" sz="1400" dirty="0"/>
          </a:p>
        </p:txBody>
      </p:sp>
      <p:pic>
        <p:nvPicPr>
          <p:cNvPr id="34" name="Picture 33">
            <a:extLst>
              <a:ext uri="{FF2B5EF4-FFF2-40B4-BE49-F238E27FC236}">
                <a16:creationId xmlns:a16="http://schemas.microsoft.com/office/drawing/2014/main" id="{E6B9B9E4-0AAC-2F6C-7636-9CC6F7D628CB}"/>
              </a:ext>
            </a:extLst>
          </p:cNvPr>
          <p:cNvPicPr>
            <a:picLocks noChangeAspect="1"/>
          </p:cNvPicPr>
          <p:nvPr/>
        </p:nvPicPr>
        <p:blipFill>
          <a:blip r:embed="rId6"/>
          <a:stretch>
            <a:fillRect/>
          </a:stretch>
        </p:blipFill>
        <p:spPr>
          <a:xfrm>
            <a:off x="2027772" y="5077174"/>
            <a:ext cx="493116" cy="1379728"/>
          </a:xfrm>
          <a:prstGeom prst="rect">
            <a:avLst/>
          </a:prstGeom>
        </p:spPr>
      </p:pic>
      <p:pic>
        <p:nvPicPr>
          <p:cNvPr id="36" name="Picture 35">
            <a:extLst>
              <a:ext uri="{FF2B5EF4-FFF2-40B4-BE49-F238E27FC236}">
                <a16:creationId xmlns:a16="http://schemas.microsoft.com/office/drawing/2014/main" id="{1697EE8C-CBA6-1983-1570-D12FFE9651C1}"/>
              </a:ext>
            </a:extLst>
          </p:cNvPr>
          <p:cNvPicPr>
            <a:picLocks noChangeAspect="1"/>
          </p:cNvPicPr>
          <p:nvPr/>
        </p:nvPicPr>
        <p:blipFill>
          <a:blip r:embed="rId7"/>
          <a:stretch>
            <a:fillRect/>
          </a:stretch>
        </p:blipFill>
        <p:spPr>
          <a:xfrm>
            <a:off x="240383" y="4924867"/>
            <a:ext cx="1617470" cy="1684343"/>
          </a:xfrm>
          <a:prstGeom prst="rect">
            <a:avLst/>
          </a:prstGeom>
        </p:spPr>
      </p:pic>
      <p:cxnSp>
        <p:nvCxnSpPr>
          <p:cNvPr id="37" name="Straight Arrow Connector 36">
            <a:extLst>
              <a:ext uri="{FF2B5EF4-FFF2-40B4-BE49-F238E27FC236}">
                <a16:creationId xmlns:a16="http://schemas.microsoft.com/office/drawing/2014/main" id="{9B41E7EE-B1B2-AF07-4B2A-FF3DE7C5EF16}"/>
              </a:ext>
            </a:extLst>
          </p:cNvPr>
          <p:cNvCxnSpPr>
            <a:cxnSpLocks/>
            <a:endCxn id="56" idx="1"/>
          </p:cNvCxnSpPr>
          <p:nvPr/>
        </p:nvCxnSpPr>
        <p:spPr>
          <a:xfrm flipV="1">
            <a:off x="2536654" y="5702280"/>
            <a:ext cx="458440" cy="3557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3" name="Picture 2">
            <a:extLst>
              <a:ext uri="{FF2B5EF4-FFF2-40B4-BE49-F238E27FC236}">
                <a16:creationId xmlns:a16="http://schemas.microsoft.com/office/drawing/2014/main" id="{0DCB575A-C673-11BD-5D28-A3AB77CFEC8E}"/>
              </a:ext>
            </a:extLst>
          </p:cNvPr>
          <p:cNvPicPr>
            <a:picLocks noChangeAspect="1"/>
          </p:cNvPicPr>
          <p:nvPr/>
        </p:nvPicPr>
        <p:blipFill>
          <a:blip r:embed="rId8"/>
          <a:stretch>
            <a:fillRect/>
          </a:stretch>
        </p:blipFill>
        <p:spPr>
          <a:xfrm>
            <a:off x="10813312" y="533761"/>
            <a:ext cx="459491" cy="455125"/>
          </a:xfrm>
          <a:prstGeom prst="rect">
            <a:avLst/>
          </a:prstGeom>
        </p:spPr>
      </p:pic>
      <p:pic>
        <p:nvPicPr>
          <p:cNvPr id="5" name="Picture 4">
            <a:extLst>
              <a:ext uri="{FF2B5EF4-FFF2-40B4-BE49-F238E27FC236}">
                <a16:creationId xmlns:a16="http://schemas.microsoft.com/office/drawing/2014/main" id="{FBC50974-1568-90C9-9FFF-1D4017109273}"/>
              </a:ext>
            </a:extLst>
          </p:cNvPr>
          <p:cNvPicPr>
            <a:picLocks noChangeAspect="1"/>
          </p:cNvPicPr>
          <p:nvPr/>
        </p:nvPicPr>
        <p:blipFill>
          <a:blip r:embed="rId9"/>
          <a:stretch>
            <a:fillRect/>
          </a:stretch>
        </p:blipFill>
        <p:spPr>
          <a:xfrm>
            <a:off x="10813312" y="1098000"/>
            <a:ext cx="448332" cy="455125"/>
          </a:xfrm>
          <a:prstGeom prst="rect">
            <a:avLst/>
          </a:prstGeom>
        </p:spPr>
      </p:pic>
      <p:pic>
        <p:nvPicPr>
          <p:cNvPr id="8" name="Picture 7">
            <a:extLst>
              <a:ext uri="{FF2B5EF4-FFF2-40B4-BE49-F238E27FC236}">
                <a16:creationId xmlns:a16="http://schemas.microsoft.com/office/drawing/2014/main" id="{076DEFCD-45E8-BEF2-139C-83C98D977719}"/>
              </a:ext>
            </a:extLst>
          </p:cNvPr>
          <p:cNvPicPr>
            <a:picLocks noChangeAspect="1"/>
          </p:cNvPicPr>
          <p:nvPr/>
        </p:nvPicPr>
        <p:blipFill>
          <a:blip r:embed="rId10"/>
          <a:stretch>
            <a:fillRect/>
          </a:stretch>
        </p:blipFill>
        <p:spPr>
          <a:xfrm>
            <a:off x="10807564" y="1654002"/>
            <a:ext cx="465239" cy="455125"/>
          </a:xfrm>
          <a:prstGeom prst="rect">
            <a:avLst/>
          </a:prstGeom>
        </p:spPr>
      </p:pic>
      <p:pic>
        <p:nvPicPr>
          <p:cNvPr id="10" name="Picture 9">
            <a:extLst>
              <a:ext uri="{FF2B5EF4-FFF2-40B4-BE49-F238E27FC236}">
                <a16:creationId xmlns:a16="http://schemas.microsoft.com/office/drawing/2014/main" id="{CEE4F24B-314D-9A35-6DF1-19381EB50D35}"/>
              </a:ext>
            </a:extLst>
          </p:cNvPr>
          <p:cNvPicPr>
            <a:picLocks noChangeAspect="1"/>
          </p:cNvPicPr>
          <p:nvPr/>
        </p:nvPicPr>
        <p:blipFill>
          <a:blip r:embed="rId11"/>
          <a:stretch>
            <a:fillRect/>
          </a:stretch>
        </p:blipFill>
        <p:spPr>
          <a:xfrm>
            <a:off x="10796209" y="2218241"/>
            <a:ext cx="465240" cy="456250"/>
          </a:xfrm>
          <a:prstGeom prst="rect">
            <a:avLst/>
          </a:prstGeom>
        </p:spPr>
      </p:pic>
      <p:pic>
        <p:nvPicPr>
          <p:cNvPr id="13" name="Picture 12">
            <a:extLst>
              <a:ext uri="{FF2B5EF4-FFF2-40B4-BE49-F238E27FC236}">
                <a16:creationId xmlns:a16="http://schemas.microsoft.com/office/drawing/2014/main" id="{0D7B11E8-5BC4-A587-6BAE-0033DE0B6445}"/>
              </a:ext>
            </a:extLst>
          </p:cNvPr>
          <p:cNvPicPr>
            <a:picLocks noChangeAspect="1"/>
          </p:cNvPicPr>
          <p:nvPr/>
        </p:nvPicPr>
        <p:blipFill>
          <a:blip r:embed="rId12"/>
          <a:stretch>
            <a:fillRect/>
          </a:stretch>
        </p:blipFill>
        <p:spPr>
          <a:xfrm>
            <a:off x="10779551" y="2756600"/>
            <a:ext cx="498555" cy="471102"/>
          </a:xfrm>
          <a:prstGeom prst="rect">
            <a:avLst/>
          </a:prstGeom>
        </p:spPr>
      </p:pic>
      <p:pic>
        <p:nvPicPr>
          <p:cNvPr id="15" name="Picture 14">
            <a:extLst>
              <a:ext uri="{FF2B5EF4-FFF2-40B4-BE49-F238E27FC236}">
                <a16:creationId xmlns:a16="http://schemas.microsoft.com/office/drawing/2014/main" id="{71040652-B88B-2AFD-3DD0-CF7232E64ECD}"/>
              </a:ext>
            </a:extLst>
          </p:cNvPr>
          <p:cNvPicPr>
            <a:picLocks noChangeAspect="1"/>
          </p:cNvPicPr>
          <p:nvPr/>
        </p:nvPicPr>
        <p:blipFill>
          <a:blip r:embed="rId13"/>
          <a:stretch>
            <a:fillRect/>
          </a:stretch>
        </p:blipFill>
        <p:spPr>
          <a:xfrm>
            <a:off x="10807254" y="3318798"/>
            <a:ext cx="443147" cy="443147"/>
          </a:xfrm>
          <a:prstGeom prst="rect">
            <a:avLst/>
          </a:prstGeom>
        </p:spPr>
      </p:pic>
      <p:pic>
        <p:nvPicPr>
          <p:cNvPr id="17" name="Picture 16">
            <a:extLst>
              <a:ext uri="{FF2B5EF4-FFF2-40B4-BE49-F238E27FC236}">
                <a16:creationId xmlns:a16="http://schemas.microsoft.com/office/drawing/2014/main" id="{8AD7E9AD-1D98-FAFA-A74D-297F5DAAEE23}"/>
              </a:ext>
            </a:extLst>
          </p:cNvPr>
          <p:cNvPicPr>
            <a:picLocks noChangeAspect="1"/>
          </p:cNvPicPr>
          <p:nvPr/>
        </p:nvPicPr>
        <p:blipFill>
          <a:blip r:embed="rId14"/>
          <a:stretch>
            <a:fillRect/>
          </a:stretch>
        </p:blipFill>
        <p:spPr>
          <a:xfrm>
            <a:off x="10104599" y="3061229"/>
            <a:ext cx="348991" cy="332945"/>
          </a:xfrm>
          <a:prstGeom prst="rect">
            <a:avLst/>
          </a:prstGeom>
        </p:spPr>
      </p:pic>
      <p:pic>
        <p:nvPicPr>
          <p:cNvPr id="20" name="Picture 19">
            <a:extLst>
              <a:ext uri="{FF2B5EF4-FFF2-40B4-BE49-F238E27FC236}">
                <a16:creationId xmlns:a16="http://schemas.microsoft.com/office/drawing/2014/main" id="{49A8CC6A-1A33-17F7-2751-6028F03D2ECF}"/>
              </a:ext>
            </a:extLst>
          </p:cNvPr>
          <p:cNvPicPr>
            <a:picLocks noChangeAspect="1"/>
          </p:cNvPicPr>
          <p:nvPr/>
        </p:nvPicPr>
        <p:blipFill>
          <a:blip r:embed="rId15"/>
          <a:stretch>
            <a:fillRect/>
          </a:stretch>
        </p:blipFill>
        <p:spPr>
          <a:xfrm>
            <a:off x="9269004" y="1960512"/>
            <a:ext cx="383915" cy="380105"/>
          </a:xfrm>
          <a:prstGeom prst="rect">
            <a:avLst/>
          </a:prstGeom>
        </p:spPr>
      </p:pic>
      <p:pic>
        <p:nvPicPr>
          <p:cNvPr id="22" name="Picture 21">
            <a:extLst>
              <a:ext uri="{FF2B5EF4-FFF2-40B4-BE49-F238E27FC236}">
                <a16:creationId xmlns:a16="http://schemas.microsoft.com/office/drawing/2014/main" id="{01F2A4F7-BDC0-46FA-C3C7-C45D5AB25017}"/>
              </a:ext>
            </a:extLst>
          </p:cNvPr>
          <p:cNvPicPr>
            <a:picLocks noChangeAspect="1"/>
          </p:cNvPicPr>
          <p:nvPr/>
        </p:nvPicPr>
        <p:blipFill>
          <a:blip r:embed="rId16"/>
          <a:stretch>
            <a:fillRect/>
          </a:stretch>
        </p:blipFill>
        <p:spPr>
          <a:xfrm>
            <a:off x="6220046" y="923544"/>
            <a:ext cx="299844" cy="299844"/>
          </a:xfrm>
          <a:prstGeom prst="rect">
            <a:avLst/>
          </a:prstGeom>
        </p:spPr>
      </p:pic>
      <p:pic>
        <p:nvPicPr>
          <p:cNvPr id="25" name="Picture 24">
            <a:extLst>
              <a:ext uri="{FF2B5EF4-FFF2-40B4-BE49-F238E27FC236}">
                <a16:creationId xmlns:a16="http://schemas.microsoft.com/office/drawing/2014/main" id="{D55B305A-4FA9-89BC-58EB-774B2CD9B42E}"/>
              </a:ext>
            </a:extLst>
          </p:cNvPr>
          <p:cNvPicPr>
            <a:picLocks noChangeAspect="1"/>
          </p:cNvPicPr>
          <p:nvPr/>
        </p:nvPicPr>
        <p:blipFill>
          <a:blip r:embed="rId17"/>
          <a:stretch>
            <a:fillRect/>
          </a:stretch>
        </p:blipFill>
        <p:spPr>
          <a:xfrm>
            <a:off x="8039614" y="2489232"/>
            <a:ext cx="370545" cy="367779"/>
          </a:xfrm>
          <a:prstGeom prst="rect">
            <a:avLst/>
          </a:prstGeom>
        </p:spPr>
      </p:pic>
      <p:pic>
        <p:nvPicPr>
          <p:cNvPr id="28" name="Picture 27">
            <a:extLst>
              <a:ext uri="{FF2B5EF4-FFF2-40B4-BE49-F238E27FC236}">
                <a16:creationId xmlns:a16="http://schemas.microsoft.com/office/drawing/2014/main" id="{99D1BBD6-FC93-EF71-9651-152008A6FD0B}"/>
              </a:ext>
            </a:extLst>
          </p:cNvPr>
          <p:cNvPicPr>
            <a:picLocks noChangeAspect="1"/>
          </p:cNvPicPr>
          <p:nvPr/>
        </p:nvPicPr>
        <p:blipFill>
          <a:blip r:embed="rId8"/>
          <a:stretch>
            <a:fillRect/>
          </a:stretch>
        </p:blipFill>
        <p:spPr>
          <a:xfrm>
            <a:off x="9066420" y="4119805"/>
            <a:ext cx="459491" cy="455125"/>
          </a:xfrm>
          <a:prstGeom prst="rect">
            <a:avLst/>
          </a:prstGeom>
        </p:spPr>
      </p:pic>
      <p:pic>
        <p:nvPicPr>
          <p:cNvPr id="31" name="Picture 30">
            <a:extLst>
              <a:ext uri="{FF2B5EF4-FFF2-40B4-BE49-F238E27FC236}">
                <a16:creationId xmlns:a16="http://schemas.microsoft.com/office/drawing/2014/main" id="{8C0E8B4D-B645-C4EC-31E5-26F39FF6B411}"/>
              </a:ext>
            </a:extLst>
          </p:cNvPr>
          <p:cNvPicPr>
            <a:picLocks noChangeAspect="1"/>
          </p:cNvPicPr>
          <p:nvPr/>
        </p:nvPicPr>
        <p:blipFill>
          <a:blip r:embed="rId9"/>
          <a:stretch>
            <a:fillRect/>
          </a:stretch>
        </p:blipFill>
        <p:spPr>
          <a:xfrm>
            <a:off x="9071999" y="4612188"/>
            <a:ext cx="448332" cy="455125"/>
          </a:xfrm>
          <a:prstGeom prst="rect">
            <a:avLst/>
          </a:prstGeom>
        </p:spPr>
      </p:pic>
      <p:pic>
        <p:nvPicPr>
          <p:cNvPr id="35" name="Picture 34">
            <a:extLst>
              <a:ext uri="{FF2B5EF4-FFF2-40B4-BE49-F238E27FC236}">
                <a16:creationId xmlns:a16="http://schemas.microsoft.com/office/drawing/2014/main" id="{F7529908-3D0B-5163-2E59-12F1AED2889D}"/>
              </a:ext>
            </a:extLst>
          </p:cNvPr>
          <p:cNvPicPr>
            <a:picLocks noChangeAspect="1"/>
          </p:cNvPicPr>
          <p:nvPr/>
        </p:nvPicPr>
        <p:blipFill>
          <a:blip r:embed="rId10"/>
          <a:stretch>
            <a:fillRect/>
          </a:stretch>
        </p:blipFill>
        <p:spPr>
          <a:xfrm>
            <a:off x="10401310" y="5008557"/>
            <a:ext cx="465239" cy="455125"/>
          </a:xfrm>
          <a:prstGeom prst="rect">
            <a:avLst/>
          </a:prstGeom>
        </p:spPr>
      </p:pic>
      <p:pic>
        <p:nvPicPr>
          <p:cNvPr id="39" name="Picture 38">
            <a:extLst>
              <a:ext uri="{FF2B5EF4-FFF2-40B4-BE49-F238E27FC236}">
                <a16:creationId xmlns:a16="http://schemas.microsoft.com/office/drawing/2014/main" id="{C93F304F-B620-8C48-F5FF-D78A312B117F}"/>
              </a:ext>
            </a:extLst>
          </p:cNvPr>
          <p:cNvPicPr>
            <a:picLocks noChangeAspect="1"/>
          </p:cNvPicPr>
          <p:nvPr/>
        </p:nvPicPr>
        <p:blipFill>
          <a:blip r:embed="rId11"/>
          <a:stretch>
            <a:fillRect/>
          </a:stretch>
        </p:blipFill>
        <p:spPr>
          <a:xfrm>
            <a:off x="10395919" y="5463682"/>
            <a:ext cx="465240" cy="456250"/>
          </a:xfrm>
          <a:prstGeom prst="rect">
            <a:avLst/>
          </a:prstGeom>
        </p:spPr>
      </p:pic>
      <p:pic>
        <p:nvPicPr>
          <p:cNvPr id="41" name="Picture 40">
            <a:extLst>
              <a:ext uri="{FF2B5EF4-FFF2-40B4-BE49-F238E27FC236}">
                <a16:creationId xmlns:a16="http://schemas.microsoft.com/office/drawing/2014/main" id="{BC2B192D-9BF0-E140-F7D9-FA3DA7A52FF6}"/>
              </a:ext>
            </a:extLst>
          </p:cNvPr>
          <p:cNvPicPr>
            <a:picLocks noChangeAspect="1"/>
          </p:cNvPicPr>
          <p:nvPr/>
        </p:nvPicPr>
        <p:blipFill>
          <a:blip r:embed="rId12"/>
          <a:stretch>
            <a:fillRect/>
          </a:stretch>
        </p:blipFill>
        <p:spPr>
          <a:xfrm>
            <a:off x="10379261" y="5934634"/>
            <a:ext cx="498555" cy="471102"/>
          </a:xfrm>
          <a:prstGeom prst="rect">
            <a:avLst/>
          </a:prstGeom>
        </p:spPr>
      </p:pic>
      <p:pic>
        <p:nvPicPr>
          <p:cNvPr id="44" name="Picture 43">
            <a:extLst>
              <a:ext uri="{FF2B5EF4-FFF2-40B4-BE49-F238E27FC236}">
                <a16:creationId xmlns:a16="http://schemas.microsoft.com/office/drawing/2014/main" id="{FE5205AF-1D47-2A6F-4C05-39CE76971F6E}"/>
              </a:ext>
            </a:extLst>
          </p:cNvPr>
          <p:cNvPicPr>
            <a:picLocks noChangeAspect="1"/>
          </p:cNvPicPr>
          <p:nvPr/>
        </p:nvPicPr>
        <p:blipFill>
          <a:blip r:embed="rId13"/>
          <a:stretch>
            <a:fillRect/>
          </a:stretch>
        </p:blipFill>
        <p:spPr>
          <a:xfrm>
            <a:off x="10404362" y="6410294"/>
            <a:ext cx="443147" cy="443147"/>
          </a:xfrm>
          <a:prstGeom prst="rect">
            <a:avLst/>
          </a:prstGeom>
        </p:spPr>
      </p:pic>
      <p:pic>
        <p:nvPicPr>
          <p:cNvPr id="46" name="Picture 45">
            <a:extLst>
              <a:ext uri="{FF2B5EF4-FFF2-40B4-BE49-F238E27FC236}">
                <a16:creationId xmlns:a16="http://schemas.microsoft.com/office/drawing/2014/main" id="{968455B7-8816-C283-BB41-883EDB8D77BB}"/>
              </a:ext>
            </a:extLst>
          </p:cNvPr>
          <p:cNvPicPr>
            <a:picLocks noChangeAspect="1"/>
          </p:cNvPicPr>
          <p:nvPr/>
        </p:nvPicPr>
        <p:blipFill>
          <a:blip r:embed="rId14"/>
          <a:stretch>
            <a:fillRect/>
          </a:stretch>
        </p:blipFill>
        <p:spPr>
          <a:xfrm>
            <a:off x="8809818" y="6170185"/>
            <a:ext cx="348991" cy="332945"/>
          </a:xfrm>
          <a:prstGeom prst="rect">
            <a:avLst/>
          </a:prstGeom>
        </p:spPr>
      </p:pic>
      <p:pic>
        <p:nvPicPr>
          <p:cNvPr id="48" name="Picture 47">
            <a:extLst>
              <a:ext uri="{FF2B5EF4-FFF2-40B4-BE49-F238E27FC236}">
                <a16:creationId xmlns:a16="http://schemas.microsoft.com/office/drawing/2014/main" id="{85B6BA6C-BD70-A14D-4327-EA54ACFEF525}"/>
              </a:ext>
            </a:extLst>
          </p:cNvPr>
          <p:cNvPicPr>
            <a:picLocks noChangeAspect="1"/>
          </p:cNvPicPr>
          <p:nvPr/>
        </p:nvPicPr>
        <p:blipFill>
          <a:blip r:embed="rId15"/>
          <a:stretch>
            <a:fillRect/>
          </a:stretch>
        </p:blipFill>
        <p:spPr>
          <a:xfrm>
            <a:off x="8808374" y="5279749"/>
            <a:ext cx="383915" cy="380105"/>
          </a:xfrm>
          <a:prstGeom prst="rect">
            <a:avLst/>
          </a:prstGeom>
        </p:spPr>
      </p:pic>
      <p:pic>
        <p:nvPicPr>
          <p:cNvPr id="50" name="Picture 49">
            <a:extLst>
              <a:ext uri="{FF2B5EF4-FFF2-40B4-BE49-F238E27FC236}">
                <a16:creationId xmlns:a16="http://schemas.microsoft.com/office/drawing/2014/main" id="{C3814AB1-66D0-B752-7F22-B0371C3B489B}"/>
              </a:ext>
            </a:extLst>
          </p:cNvPr>
          <p:cNvPicPr>
            <a:picLocks noChangeAspect="1"/>
          </p:cNvPicPr>
          <p:nvPr/>
        </p:nvPicPr>
        <p:blipFill>
          <a:blip r:embed="rId17"/>
          <a:stretch>
            <a:fillRect/>
          </a:stretch>
        </p:blipFill>
        <p:spPr>
          <a:xfrm>
            <a:off x="7510074" y="5750744"/>
            <a:ext cx="370545" cy="367779"/>
          </a:xfrm>
          <a:prstGeom prst="rect">
            <a:avLst/>
          </a:prstGeom>
        </p:spPr>
      </p:pic>
      <p:pic>
        <p:nvPicPr>
          <p:cNvPr id="52" name="Picture 51">
            <a:extLst>
              <a:ext uri="{FF2B5EF4-FFF2-40B4-BE49-F238E27FC236}">
                <a16:creationId xmlns:a16="http://schemas.microsoft.com/office/drawing/2014/main" id="{F9D6F61E-ED1A-E331-6632-E06461CAA1EE}"/>
              </a:ext>
            </a:extLst>
          </p:cNvPr>
          <p:cNvPicPr>
            <a:picLocks noChangeAspect="1"/>
          </p:cNvPicPr>
          <p:nvPr/>
        </p:nvPicPr>
        <p:blipFill>
          <a:blip r:embed="rId16"/>
          <a:stretch>
            <a:fillRect/>
          </a:stretch>
        </p:blipFill>
        <p:spPr>
          <a:xfrm>
            <a:off x="7544104" y="4450300"/>
            <a:ext cx="299844" cy="299844"/>
          </a:xfrm>
          <a:prstGeom prst="rect">
            <a:avLst/>
          </a:prstGeom>
        </p:spPr>
      </p:pic>
      <p:pic>
        <p:nvPicPr>
          <p:cNvPr id="59" name="Picture 58">
            <a:extLst>
              <a:ext uri="{FF2B5EF4-FFF2-40B4-BE49-F238E27FC236}">
                <a16:creationId xmlns:a16="http://schemas.microsoft.com/office/drawing/2014/main" id="{F86A4DCB-067A-BFEA-4B2A-65C0178296D2}"/>
              </a:ext>
            </a:extLst>
          </p:cNvPr>
          <p:cNvPicPr>
            <a:picLocks noChangeAspect="1"/>
          </p:cNvPicPr>
          <p:nvPr/>
        </p:nvPicPr>
        <p:blipFill>
          <a:blip r:embed="rId18"/>
          <a:stretch>
            <a:fillRect/>
          </a:stretch>
        </p:blipFill>
        <p:spPr>
          <a:xfrm>
            <a:off x="5081806" y="5412075"/>
            <a:ext cx="1104957" cy="615982"/>
          </a:xfrm>
          <a:prstGeom prst="rect">
            <a:avLst/>
          </a:prstGeom>
        </p:spPr>
      </p:pic>
      <p:sp>
        <p:nvSpPr>
          <p:cNvPr id="61" name="TextBox 60">
            <a:extLst>
              <a:ext uri="{FF2B5EF4-FFF2-40B4-BE49-F238E27FC236}">
                <a16:creationId xmlns:a16="http://schemas.microsoft.com/office/drawing/2014/main" id="{EE203C34-F6C3-8EA8-43E8-C7E14F584E9E}"/>
              </a:ext>
            </a:extLst>
          </p:cNvPr>
          <p:cNvSpPr txBox="1"/>
          <p:nvPr/>
        </p:nvSpPr>
        <p:spPr>
          <a:xfrm>
            <a:off x="7650052" y="370145"/>
            <a:ext cx="1951819" cy="369332"/>
          </a:xfrm>
          <a:prstGeom prst="rect">
            <a:avLst/>
          </a:prstGeom>
          <a:noFill/>
        </p:spPr>
        <p:txBody>
          <a:bodyPr wrap="square" rtlCol="0">
            <a:spAutoFit/>
          </a:bodyPr>
          <a:lstStyle/>
          <a:p>
            <a:r>
              <a:rPr lang="en-US" dirty="0"/>
              <a:t> 0.081</a:t>
            </a:r>
            <a:r>
              <a:rPr lang="en-US" dirty="0">
                <a:latin typeface="Cambria Math" panose="02040503050406030204" pitchFamily="18" charset="0"/>
                <a:ea typeface="Cambria Math" panose="02040503050406030204" pitchFamily="18" charset="0"/>
              </a:rPr>
              <a:t>≈</a:t>
            </a:r>
            <a:r>
              <a:rPr lang="en-US" dirty="0"/>
              <a:t> (0.244/3)  </a:t>
            </a:r>
          </a:p>
        </p:txBody>
      </p:sp>
    </p:spTree>
    <p:extLst>
      <p:ext uri="{BB962C8B-B14F-4D97-AF65-F5344CB8AC3E}">
        <p14:creationId xmlns:p14="http://schemas.microsoft.com/office/powerpoint/2010/main" val="1259365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4CA6A9E-E61D-FF8F-436D-4F93FA19E28F}"/>
              </a:ext>
            </a:extLst>
          </p:cNvPr>
          <p:cNvSpPr>
            <a:spLocks noGrp="1"/>
          </p:cNvSpPr>
          <p:nvPr>
            <p:ph type="title"/>
          </p:nvPr>
        </p:nvSpPr>
        <p:spPr>
          <a:xfrm>
            <a:off x="-1" y="0"/>
            <a:ext cx="12440093" cy="1325563"/>
          </a:xfrm>
        </p:spPr>
        <p:txBody>
          <a:bodyPr/>
          <a:lstStyle/>
          <a:p>
            <a:r>
              <a:rPr lang="en-US" dirty="0"/>
              <a:t>So Many Metrics…But what is random noise vs biology? </a:t>
            </a:r>
          </a:p>
        </p:txBody>
      </p:sp>
      <p:pic>
        <p:nvPicPr>
          <p:cNvPr id="6" name="Picture 5">
            <a:extLst>
              <a:ext uri="{FF2B5EF4-FFF2-40B4-BE49-F238E27FC236}">
                <a16:creationId xmlns:a16="http://schemas.microsoft.com/office/drawing/2014/main" id="{E6EE78F7-1EB4-A809-3918-BDB0FAAAD9CD}"/>
              </a:ext>
            </a:extLst>
          </p:cNvPr>
          <p:cNvPicPr>
            <a:picLocks noChangeAspect="1"/>
          </p:cNvPicPr>
          <p:nvPr/>
        </p:nvPicPr>
        <p:blipFill>
          <a:blip r:embed="rId2"/>
          <a:stretch>
            <a:fillRect/>
          </a:stretch>
        </p:blipFill>
        <p:spPr>
          <a:xfrm>
            <a:off x="2115906" y="2396026"/>
            <a:ext cx="583890" cy="1633714"/>
          </a:xfrm>
          <a:prstGeom prst="rect">
            <a:avLst/>
          </a:prstGeom>
        </p:spPr>
      </p:pic>
      <p:pic>
        <p:nvPicPr>
          <p:cNvPr id="8" name="Picture 7">
            <a:extLst>
              <a:ext uri="{FF2B5EF4-FFF2-40B4-BE49-F238E27FC236}">
                <a16:creationId xmlns:a16="http://schemas.microsoft.com/office/drawing/2014/main" id="{2873F215-CF59-A294-7D2B-331CF3B1C05C}"/>
              </a:ext>
            </a:extLst>
          </p:cNvPr>
          <p:cNvPicPr>
            <a:picLocks noChangeAspect="1"/>
          </p:cNvPicPr>
          <p:nvPr/>
        </p:nvPicPr>
        <p:blipFill>
          <a:blip r:embed="rId3"/>
          <a:stretch>
            <a:fillRect/>
          </a:stretch>
        </p:blipFill>
        <p:spPr>
          <a:xfrm>
            <a:off x="114812" y="2243619"/>
            <a:ext cx="1890205" cy="1968354"/>
          </a:xfrm>
          <a:prstGeom prst="rect">
            <a:avLst/>
          </a:prstGeom>
        </p:spPr>
      </p:pic>
      <p:pic>
        <p:nvPicPr>
          <p:cNvPr id="10" name="Picture 9">
            <a:extLst>
              <a:ext uri="{FF2B5EF4-FFF2-40B4-BE49-F238E27FC236}">
                <a16:creationId xmlns:a16="http://schemas.microsoft.com/office/drawing/2014/main" id="{E5AC61A2-4860-A7DA-E16A-F198DBD35631}"/>
              </a:ext>
            </a:extLst>
          </p:cNvPr>
          <p:cNvPicPr>
            <a:picLocks noChangeAspect="1"/>
          </p:cNvPicPr>
          <p:nvPr/>
        </p:nvPicPr>
        <p:blipFill>
          <a:blip r:embed="rId4"/>
          <a:stretch>
            <a:fillRect/>
          </a:stretch>
        </p:blipFill>
        <p:spPr>
          <a:xfrm>
            <a:off x="2810685" y="2249918"/>
            <a:ext cx="1953987" cy="1953987"/>
          </a:xfrm>
          <a:prstGeom prst="rect">
            <a:avLst/>
          </a:prstGeom>
        </p:spPr>
      </p:pic>
      <p:pic>
        <p:nvPicPr>
          <p:cNvPr id="12" name="Picture 11">
            <a:extLst>
              <a:ext uri="{FF2B5EF4-FFF2-40B4-BE49-F238E27FC236}">
                <a16:creationId xmlns:a16="http://schemas.microsoft.com/office/drawing/2014/main" id="{F6622628-21B7-A140-3773-5CAA8962AE63}"/>
              </a:ext>
            </a:extLst>
          </p:cNvPr>
          <p:cNvPicPr>
            <a:picLocks noChangeAspect="1"/>
          </p:cNvPicPr>
          <p:nvPr/>
        </p:nvPicPr>
        <p:blipFill>
          <a:blip r:embed="rId5"/>
          <a:stretch>
            <a:fillRect/>
          </a:stretch>
        </p:blipFill>
        <p:spPr>
          <a:xfrm>
            <a:off x="4875561" y="2243619"/>
            <a:ext cx="281194" cy="1968354"/>
          </a:xfrm>
          <a:prstGeom prst="rect">
            <a:avLst/>
          </a:prstGeom>
        </p:spPr>
      </p:pic>
      <p:pic>
        <p:nvPicPr>
          <p:cNvPr id="16" name="Picture 15">
            <a:extLst>
              <a:ext uri="{FF2B5EF4-FFF2-40B4-BE49-F238E27FC236}">
                <a16:creationId xmlns:a16="http://schemas.microsoft.com/office/drawing/2014/main" id="{A82C0F28-23F8-B67F-58A7-C4794E261AA3}"/>
              </a:ext>
            </a:extLst>
          </p:cNvPr>
          <p:cNvPicPr>
            <a:picLocks noChangeAspect="1"/>
          </p:cNvPicPr>
          <p:nvPr/>
        </p:nvPicPr>
        <p:blipFill>
          <a:blip r:embed="rId6"/>
          <a:stretch>
            <a:fillRect/>
          </a:stretch>
        </p:blipFill>
        <p:spPr>
          <a:xfrm>
            <a:off x="5491164" y="2197060"/>
            <a:ext cx="2298838" cy="2160735"/>
          </a:xfrm>
          <a:prstGeom prst="rect">
            <a:avLst/>
          </a:prstGeom>
        </p:spPr>
      </p:pic>
      <p:pic>
        <p:nvPicPr>
          <p:cNvPr id="18" name="Picture 17">
            <a:extLst>
              <a:ext uri="{FF2B5EF4-FFF2-40B4-BE49-F238E27FC236}">
                <a16:creationId xmlns:a16="http://schemas.microsoft.com/office/drawing/2014/main" id="{BC0259B3-F9C5-4BD3-4FE4-4527DB8BF3E8}"/>
              </a:ext>
            </a:extLst>
          </p:cNvPr>
          <p:cNvPicPr>
            <a:picLocks noChangeAspect="1"/>
          </p:cNvPicPr>
          <p:nvPr/>
        </p:nvPicPr>
        <p:blipFill>
          <a:blip r:embed="rId7"/>
          <a:stretch>
            <a:fillRect/>
          </a:stretch>
        </p:blipFill>
        <p:spPr>
          <a:xfrm>
            <a:off x="7756737" y="3171812"/>
            <a:ext cx="895396" cy="514376"/>
          </a:xfrm>
          <a:prstGeom prst="rect">
            <a:avLst/>
          </a:prstGeom>
        </p:spPr>
      </p:pic>
      <p:pic>
        <p:nvPicPr>
          <p:cNvPr id="20" name="Picture 19">
            <a:extLst>
              <a:ext uri="{FF2B5EF4-FFF2-40B4-BE49-F238E27FC236}">
                <a16:creationId xmlns:a16="http://schemas.microsoft.com/office/drawing/2014/main" id="{34F74B99-06F9-7E03-981F-844E26AC116F}"/>
              </a:ext>
            </a:extLst>
          </p:cNvPr>
          <p:cNvPicPr>
            <a:picLocks noChangeAspect="1"/>
          </p:cNvPicPr>
          <p:nvPr/>
        </p:nvPicPr>
        <p:blipFill>
          <a:blip r:embed="rId8"/>
          <a:stretch>
            <a:fillRect/>
          </a:stretch>
        </p:blipFill>
        <p:spPr>
          <a:xfrm>
            <a:off x="8761834" y="2243619"/>
            <a:ext cx="2222402" cy="2071636"/>
          </a:xfrm>
          <a:prstGeom prst="rect">
            <a:avLst/>
          </a:prstGeom>
        </p:spPr>
      </p:pic>
      <p:pic>
        <p:nvPicPr>
          <p:cNvPr id="22" name="Picture 21">
            <a:extLst>
              <a:ext uri="{FF2B5EF4-FFF2-40B4-BE49-F238E27FC236}">
                <a16:creationId xmlns:a16="http://schemas.microsoft.com/office/drawing/2014/main" id="{BC2D31A9-6EA4-AD47-517F-1E4784877F86}"/>
              </a:ext>
            </a:extLst>
          </p:cNvPr>
          <p:cNvPicPr>
            <a:picLocks noChangeAspect="1"/>
          </p:cNvPicPr>
          <p:nvPr/>
        </p:nvPicPr>
        <p:blipFill>
          <a:blip r:embed="rId9"/>
          <a:stretch>
            <a:fillRect/>
          </a:stretch>
        </p:blipFill>
        <p:spPr>
          <a:xfrm>
            <a:off x="10848546" y="2989232"/>
            <a:ext cx="1104957" cy="615982"/>
          </a:xfrm>
          <a:prstGeom prst="rect">
            <a:avLst/>
          </a:prstGeom>
        </p:spPr>
      </p:pic>
      <p:sp>
        <p:nvSpPr>
          <p:cNvPr id="23" name="TextBox 22">
            <a:extLst>
              <a:ext uri="{FF2B5EF4-FFF2-40B4-BE49-F238E27FC236}">
                <a16:creationId xmlns:a16="http://schemas.microsoft.com/office/drawing/2014/main" id="{CA9A1AA1-FD6F-5BF5-366C-3142A144B46E}"/>
              </a:ext>
            </a:extLst>
          </p:cNvPr>
          <p:cNvSpPr txBox="1"/>
          <p:nvPr/>
        </p:nvSpPr>
        <p:spPr>
          <a:xfrm>
            <a:off x="793417" y="1892327"/>
            <a:ext cx="1233376" cy="369332"/>
          </a:xfrm>
          <a:prstGeom prst="rect">
            <a:avLst/>
          </a:prstGeom>
          <a:noFill/>
        </p:spPr>
        <p:txBody>
          <a:bodyPr wrap="square" rtlCol="0">
            <a:spAutoFit/>
          </a:bodyPr>
          <a:lstStyle/>
          <a:p>
            <a:r>
              <a:rPr lang="en-US" dirty="0"/>
              <a:t>PD</a:t>
            </a:r>
          </a:p>
        </p:txBody>
      </p:sp>
      <p:sp>
        <p:nvSpPr>
          <p:cNvPr id="25" name="TextBox 24">
            <a:extLst>
              <a:ext uri="{FF2B5EF4-FFF2-40B4-BE49-F238E27FC236}">
                <a16:creationId xmlns:a16="http://schemas.microsoft.com/office/drawing/2014/main" id="{23FBB00B-DED6-0984-672C-8E6ED94DBF54}"/>
              </a:ext>
            </a:extLst>
          </p:cNvPr>
          <p:cNvSpPr txBox="1"/>
          <p:nvPr/>
        </p:nvSpPr>
        <p:spPr>
          <a:xfrm>
            <a:off x="3531296" y="1871211"/>
            <a:ext cx="1233376" cy="369332"/>
          </a:xfrm>
          <a:prstGeom prst="rect">
            <a:avLst/>
          </a:prstGeom>
          <a:noFill/>
        </p:spPr>
        <p:txBody>
          <a:bodyPr wrap="square" rtlCol="0">
            <a:spAutoFit/>
          </a:bodyPr>
          <a:lstStyle/>
          <a:p>
            <a:r>
              <a:rPr lang="en-US" dirty="0"/>
              <a:t>PE</a:t>
            </a:r>
          </a:p>
        </p:txBody>
      </p:sp>
      <p:sp>
        <p:nvSpPr>
          <p:cNvPr id="27" name="TextBox 26">
            <a:extLst>
              <a:ext uri="{FF2B5EF4-FFF2-40B4-BE49-F238E27FC236}">
                <a16:creationId xmlns:a16="http://schemas.microsoft.com/office/drawing/2014/main" id="{C57413BB-51F0-2FCB-356A-7AF32A241AFE}"/>
              </a:ext>
            </a:extLst>
          </p:cNvPr>
          <p:cNvSpPr txBox="1"/>
          <p:nvPr/>
        </p:nvSpPr>
        <p:spPr>
          <a:xfrm>
            <a:off x="6319800" y="1892327"/>
            <a:ext cx="1233376" cy="369332"/>
          </a:xfrm>
          <a:prstGeom prst="rect">
            <a:avLst/>
          </a:prstGeom>
          <a:noFill/>
        </p:spPr>
        <p:txBody>
          <a:bodyPr wrap="square" rtlCol="0">
            <a:spAutoFit/>
          </a:bodyPr>
          <a:lstStyle/>
          <a:p>
            <a:r>
              <a:rPr lang="en-US" dirty="0"/>
              <a:t>RPD</a:t>
            </a:r>
          </a:p>
        </p:txBody>
      </p:sp>
      <p:sp>
        <p:nvSpPr>
          <p:cNvPr id="29" name="TextBox 28">
            <a:extLst>
              <a:ext uri="{FF2B5EF4-FFF2-40B4-BE49-F238E27FC236}">
                <a16:creationId xmlns:a16="http://schemas.microsoft.com/office/drawing/2014/main" id="{A0F89CF4-B15E-8604-8863-757B6E016B13}"/>
              </a:ext>
            </a:extLst>
          </p:cNvPr>
          <p:cNvSpPr txBox="1"/>
          <p:nvPr/>
        </p:nvSpPr>
        <p:spPr>
          <a:xfrm>
            <a:off x="9458211" y="1892327"/>
            <a:ext cx="1233376" cy="369332"/>
          </a:xfrm>
          <a:prstGeom prst="rect">
            <a:avLst/>
          </a:prstGeom>
          <a:noFill/>
        </p:spPr>
        <p:txBody>
          <a:bodyPr wrap="square" rtlCol="0">
            <a:spAutoFit/>
          </a:bodyPr>
          <a:lstStyle/>
          <a:p>
            <a:r>
              <a:rPr lang="en-US" dirty="0"/>
              <a:t>RPE</a:t>
            </a:r>
          </a:p>
        </p:txBody>
      </p:sp>
      <p:sp>
        <p:nvSpPr>
          <p:cNvPr id="31" name="TextBox 30">
            <a:extLst>
              <a:ext uri="{FF2B5EF4-FFF2-40B4-BE49-F238E27FC236}">
                <a16:creationId xmlns:a16="http://schemas.microsoft.com/office/drawing/2014/main" id="{9BCCA44F-CDC7-46FC-5542-C83419BCE227}"/>
              </a:ext>
            </a:extLst>
          </p:cNvPr>
          <p:cNvSpPr txBox="1"/>
          <p:nvPr/>
        </p:nvSpPr>
        <p:spPr>
          <a:xfrm>
            <a:off x="4318105" y="4809327"/>
            <a:ext cx="7211275" cy="523220"/>
          </a:xfrm>
          <a:prstGeom prst="rect">
            <a:avLst/>
          </a:prstGeom>
          <a:noFill/>
        </p:spPr>
        <p:txBody>
          <a:bodyPr wrap="square" rtlCol="0">
            <a:spAutoFit/>
          </a:bodyPr>
          <a:lstStyle/>
          <a:p>
            <a:r>
              <a:rPr lang="en-US" sz="2800" dirty="0"/>
              <a:t>More Null Models!</a:t>
            </a:r>
          </a:p>
        </p:txBody>
      </p:sp>
    </p:spTree>
    <p:extLst>
      <p:ext uri="{BB962C8B-B14F-4D97-AF65-F5344CB8AC3E}">
        <p14:creationId xmlns:p14="http://schemas.microsoft.com/office/powerpoint/2010/main" val="2273230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28673-7ABE-9ECD-3B4F-C57F435CE9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954196-48F1-1401-6601-FB7845114059}"/>
              </a:ext>
            </a:extLst>
          </p:cNvPr>
          <p:cNvSpPr>
            <a:spLocks noGrp="1"/>
          </p:cNvSpPr>
          <p:nvPr>
            <p:ph type="title"/>
          </p:nvPr>
        </p:nvSpPr>
        <p:spPr>
          <a:xfrm>
            <a:off x="0" y="0"/>
            <a:ext cx="10515600" cy="1325563"/>
          </a:xfrm>
        </p:spPr>
        <p:txBody>
          <a:bodyPr/>
          <a:lstStyle/>
          <a:p>
            <a:r>
              <a:rPr lang="en-US" dirty="0"/>
              <a:t>Community Randomizations</a:t>
            </a:r>
          </a:p>
        </p:txBody>
      </p:sp>
      <p:sp>
        <p:nvSpPr>
          <p:cNvPr id="5" name="TextBox 4">
            <a:extLst>
              <a:ext uri="{FF2B5EF4-FFF2-40B4-BE49-F238E27FC236}">
                <a16:creationId xmlns:a16="http://schemas.microsoft.com/office/drawing/2014/main" id="{5BF311C6-0E1F-E7DF-13AA-36653F3202A1}"/>
              </a:ext>
            </a:extLst>
          </p:cNvPr>
          <p:cNvSpPr txBox="1"/>
          <p:nvPr/>
        </p:nvSpPr>
        <p:spPr>
          <a:xfrm>
            <a:off x="191386" y="1229870"/>
            <a:ext cx="9399181" cy="1015663"/>
          </a:xfrm>
          <a:prstGeom prst="rect">
            <a:avLst/>
          </a:prstGeom>
          <a:noFill/>
        </p:spPr>
        <p:txBody>
          <a:bodyPr wrap="square" rtlCol="0">
            <a:spAutoFit/>
          </a:bodyPr>
          <a:lstStyle/>
          <a:p>
            <a:r>
              <a:rPr lang="en-US" sz="2000" dirty="0"/>
              <a:t>Community randomizations are a way to generate a null distribution (the expected values of community metrics under a specific null hypothesis)</a:t>
            </a:r>
          </a:p>
          <a:p>
            <a:endParaRPr lang="en-US" sz="2000" dirty="0"/>
          </a:p>
        </p:txBody>
      </p:sp>
      <p:sp>
        <p:nvSpPr>
          <p:cNvPr id="7" name="TextBox 6">
            <a:extLst>
              <a:ext uri="{FF2B5EF4-FFF2-40B4-BE49-F238E27FC236}">
                <a16:creationId xmlns:a16="http://schemas.microsoft.com/office/drawing/2014/main" id="{EAC3C918-97C0-96C3-D417-31C7E09F7514}"/>
              </a:ext>
            </a:extLst>
          </p:cNvPr>
          <p:cNvSpPr txBox="1"/>
          <p:nvPr/>
        </p:nvSpPr>
        <p:spPr>
          <a:xfrm>
            <a:off x="499730" y="2245533"/>
            <a:ext cx="5596270" cy="2031325"/>
          </a:xfrm>
          <a:prstGeom prst="rect">
            <a:avLst/>
          </a:prstGeom>
          <a:noFill/>
        </p:spPr>
        <p:txBody>
          <a:bodyPr wrap="square" rtlCol="0">
            <a:spAutoFit/>
          </a:bodyPr>
          <a:lstStyle/>
          <a:p>
            <a:r>
              <a:rPr lang="en-US" dirty="0"/>
              <a:t>“Curveball” algorithm</a:t>
            </a:r>
          </a:p>
          <a:p>
            <a:pPr marL="285750" indent="-285750">
              <a:buFont typeface="Arial" panose="020B0604020202020204" pitchFamily="34" charset="0"/>
              <a:buChar char="•"/>
            </a:pPr>
            <a:r>
              <a:rPr lang="en-US" dirty="0"/>
              <a:t>What remains constant: </a:t>
            </a:r>
          </a:p>
          <a:p>
            <a:pPr marL="742950" lvl="1" indent="-285750">
              <a:buFont typeface="Arial" panose="020B0604020202020204" pitchFamily="34" charset="0"/>
              <a:buChar char="•"/>
            </a:pPr>
            <a:r>
              <a:rPr lang="en-US" dirty="0"/>
              <a:t>The Phylogenetic Tree Structure</a:t>
            </a:r>
          </a:p>
          <a:p>
            <a:pPr marL="742950" lvl="1" indent="-285750">
              <a:buFont typeface="Arial" panose="020B0604020202020204" pitchFamily="34" charset="0"/>
              <a:buChar char="•"/>
            </a:pPr>
            <a:r>
              <a:rPr lang="en-US" dirty="0"/>
              <a:t>Species Richness per Cell</a:t>
            </a:r>
          </a:p>
          <a:p>
            <a:pPr marL="742950" lvl="1" indent="-285750">
              <a:buFont typeface="Arial" panose="020B0604020202020204" pitchFamily="34" charset="0"/>
              <a:buChar char="•"/>
            </a:pPr>
            <a:r>
              <a:rPr lang="en-US" dirty="0"/>
              <a:t>Species Overall Prevalence (Total # Occurrences)</a:t>
            </a:r>
          </a:p>
          <a:p>
            <a:pPr marL="285750" indent="-285750">
              <a:buFont typeface="Arial" panose="020B0604020202020204" pitchFamily="34" charset="0"/>
              <a:buChar char="•"/>
            </a:pPr>
            <a:r>
              <a:rPr lang="en-US" dirty="0"/>
              <a:t>What gets shuffled </a:t>
            </a:r>
          </a:p>
          <a:p>
            <a:pPr marL="742950" lvl="1" indent="-285750">
              <a:buFont typeface="Arial" panose="020B0604020202020204" pitchFamily="34" charset="0"/>
              <a:buChar char="•"/>
            </a:pPr>
            <a:r>
              <a:rPr lang="en-US" dirty="0"/>
              <a:t>The community matrix </a:t>
            </a:r>
          </a:p>
        </p:txBody>
      </p:sp>
      <p:sp>
        <p:nvSpPr>
          <p:cNvPr id="14" name="TextBox 13">
            <a:extLst>
              <a:ext uri="{FF2B5EF4-FFF2-40B4-BE49-F238E27FC236}">
                <a16:creationId xmlns:a16="http://schemas.microsoft.com/office/drawing/2014/main" id="{A6845F52-147A-50E3-C715-19183D169E0B}"/>
              </a:ext>
            </a:extLst>
          </p:cNvPr>
          <p:cNvSpPr txBox="1"/>
          <p:nvPr/>
        </p:nvSpPr>
        <p:spPr>
          <a:xfrm>
            <a:off x="6670234" y="2263958"/>
            <a:ext cx="4724400" cy="523220"/>
          </a:xfrm>
          <a:prstGeom prst="rect">
            <a:avLst/>
          </a:prstGeom>
          <a:noFill/>
        </p:spPr>
        <p:txBody>
          <a:bodyPr wrap="square" rtlCol="0">
            <a:spAutoFit/>
          </a:bodyPr>
          <a:lstStyle/>
          <a:p>
            <a:r>
              <a:rPr lang="en-US" sz="2800" dirty="0"/>
              <a:t>Original Community Matrix</a:t>
            </a:r>
          </a:p>
        </p:txBody>
      </p:sp>
      <p:pic>
        <p:nvPicPr>
          <p:cNvPr id="17" name="Picture 16">
            <a:extLst>
              <a:ext uri="{FF2B5EF4-FFF2-40B4-BE49-F238E27FC236}">
                <a16:creationId xmlns:a16="http://schemas.microsoft.com/office/drawing/2014/main" id="{7ABDCCE1-2B66-A4E6-64D3-A60F38A62277}"/>
              </a:ext>
            </a:extLst>
          </p:cNvPr>
          <p:cNvPicPr>
            <a:picLocks noChangeAspect="1"/>
          </p:cNvPicPr>
          <p:nvPr/>
        </p:nvPicPr>
        <p:blipFill>
          <a:blip r:embed="rId2"/>
          <a:stretch>
            <a:fillRect/>
          </a:stretch>
        </p:blipFill>
        <p:spPr>
          <a:xfrm>
            <a:off x="7056786" y="2910383"/>
            <a:ext cx="3224897" cy="3184486"/>
          </a:xfrm>
          <a:prstGeom prst="rect">
            <a:avLst/>
          </a:prstGeom>
        </p:spPr>
      </p:pic>
      <p:pic>
        <p:nvPicPr>
          <p:cNvPr id="21" name="Picture 20">
            <a:extLst>
              <a:ext uri="{FF2B5EF4-FFF2-40B4-BE49-F238E27FC236}">
                <a16:creationId xmlns:a16="http://schemas.microsoft.com/office/drawing/2014/main" id="{9971E0CE-9728-424B-D2B1-DB5195EA79C2}"/>
              </a:ext>
            </a:extLst>
          </p:cNvPr>
          <p:cNvPicPr>
            <a:picLocks noChangeAspect="1"/>
          </p:cNvPicPr>
          <p:nvPr/>
        </p:nvPicPr>
        <p:blipFill>
          <a:blip r:embed="rId3"/>
          <a:stretch>
            <a:fillRect/>
          </a:stretch>
        </p:blipFill>
        <p:spPr>
          <a:xfrm>
            <a:off x="0" y="4529523"/>
            <a:ext cx="4743694" cy="2197213"/>
          </a:xfrm>
          <a:prstGeom prst="rect">
            <a:avLst/>
          </a:prstGeom>
        </p:spPr>
      </p:pic>
      <p:sp>
        <p:nvSpPr>
          <p:cNvPr id="24" name="TextBox 23">
            <a:extLst>
              <a:ext uri="{FF2B5EF4-FFF2-40B4-BE49-F238E27FC236}">
                <a16:creationId xmlns:a16="http://schemas.microsoft.com/office/drawing/2014/main" id="{0C996CC6-A71C-8567-1203-3D638DACB9EA}"/>
              </a:ext>
            </a:extLst>
          </p:cNvPr>
          <p:cNvSpPr txBox="1"/>
          <p:nvPr/>
        </p:nvSpPr>
        <p:spPr>
          <a:xfrm>
            <a:off x="7143767" y="2994735"/>
            <a:ext cx="354419" cy="369332"/>
          </a:xfrm>
          <a:prstGeom prst="rect">
            <a:avLst/>
          </a:prstGeom>
          <a:noFill/>
        </p:spPr>
        <p:txBody>
          <a:bodyPr wrap="square" rtlCol="0">
            <a:spAutoFit/>
          </a:bodyPr>
          <a:lstStyle/>
          <a:p>
            <a:r>
              <a:rPr lang="en-US" dirty="0"/>
              <a:t>A</a:t>
            </a:r>
          </a:p>
        </p:txBody>
      </p:sp>
      <p:sp>
        <p:nvSpPr>
          <p:cNvPr id="28" name="TextBox 27">
            <a:extLst>
              <a:ext uri="{FF2B5EF4-FFF2-40B4-BE49-F238E27FC236}">
                <a16:creationId xmlns:a16="http://schemas.microsoft.com/office/drawing/2014/main" id="{3A32B0F8-A560-25D6-C1A5-BB275A4C80E5}"/>
              </a:ext>
            </a:extLst>
          </p:cNvPr>
          <p:cNvSpPr txBox="1"/>
          <p:nvPr/>
        </p:nvSpPr>
        <p:spPr>
          <a:xfrm>
            <a:off x="7374406" y="3202862"/>
            <a:ext cx="354419" cy="369332"/>
          </a:xfrm>
          <a:prstGeom prst="rect">
            <a:avLst/>
          </a:prstGeom>
          <a:noFill/>
        </p:spPr>
        <p:txBody>
          <a:bodyPr wrap="square" rtlCol="0">
            <a:spAutoFit/>
          </a:bodyPr>
          <a:lstStyle/>
          <a:p>
            <a:r>
              <a:rPr lang="en-US" dirty="0"/>
              <a:t>B</a:t>
            </a:r>
          </a:p>
        </p:txBody>
      </p:sp>
      <p:sp>
        <p:nvSpPr>
          <p:cNvPr id="32" name="TextBox 31">
            <a:extLst>
              <a:ext uri="{FF2B5EF4-FFF2-40B4-BE49-F238E27FC236}">
                <a16:creationId xmlns:a16="http://schemas.microsoft.com/office/drawing/2014/main" id="{C0F6195D-55C7-7888-31CD-810A53702B34}"/>
              </a:ext>
            </a:extLst>
          </p:cNvPr>
          <p:cNvSpPr txBox="1"/>
          <p:nvPr/>
        </p:nvSpPr>
        <p:spPr>
          <a:xfrm>
            <a:off x="7721469" y="2952872"/>
            <a:ext cx="354419" cy="369332"/>
          </a:xfrm>
          <a:prstGeom prst="rect">
            <a:avLst/>
          </a:prstGeom>
          <a:noFill/>
        </p:spPr>
        <p:txBody>
          <a:bodyPr wrap="square" rtlCol="0">
            <a:spAutoFit/>
          </a:bodyPr>
          <a:lstStyle/>
          <a:p>
            <a:r>
              <a:rPr lang="en-US" dirty="0"/>
              <a:t>A</a:t>
            </a:r>
          </a:p>
        </p:txBody>
      </p:sp>
      <p:sp>
        <p:nvSpPr>
          <p:cNvPr id="34" name="TextBox 33">
            <a:extLst>
              <a:ext uri="{FF2B5EF4-FFF2-40B4-BE49-F238E27FC236}">
                <a16:creationId xmlns:a16="http://schemas.microsoft.com/office/drawing/2014/main" id="{5E43FCDC-EE6C-7CA1-5463-9B748D44F75A}"/>
              </a:ext>
            </a:extLst>
          </p:cNvPr>
          <p:cNvSpPr txBox="1"/>
          <p:nvPr/>
        </p:nvSpPr>
        <p:spPr>
          <a:xfrm>
            <a:off x="8005536" y="2952872"/>
            <a:ext cx="354419" cy="369332"/>
          </a:xfrm>
          <a:prstGeom prst="rect">
            <a:avLst/>
          </a:prstGeom>
          <a:noFill/>
        </p:spPr>
        <p:txBody>
          <a:bodyPr wrap="square" rtlCol="0">
            <a:spAutoFit/>
          </a:bodyPr>
          <a:lstStyle/>
          <a:p>
            <a:r>
              <a:rPr lang="en-US" dirty="0"/>
              <a:t>B</a:t>
            </a:r>
          </a:p>
        </p:txBody>
      </p:sp>
      <p:sp>
        <p:nvSpPr>
          <p:cNvPr id="36" name="TextBox 35">
            <a:extLst>
              <a:ext uri="{FF2B5EF4-FFF2-40B4-BE49-F238E27FC236}">
                <a16:creationId xmlns:a16="http://schemas.microsoft.com/office/drawing/2014/main" id="{015F02AD-FB7A-D4B4-63D3-42003AE31CB7}"/>
              </a:ext>
            </a:extLst>
          </p:cNvPr>
          <p:cNvSpPr txBox="1"/>
          <p:nvPr/>
        </p:nvSpPr>
        <p:spPr>
          <a:xfrm>
            <a:off x="7863502" y="3236318"/>
            <a:ext cx="354419" cy="369332"/>
          </a:xfrm>
          <a:prstGeom prst="rect">
            <a:avLst/>
          </a:prstGeom>
          <a:noFill/>
        </p:spPr>
        <p:txBody>
          <a:bodyPr wrap="square" rtlCol="0">
            <a:spAutoFit/>
          </a:bodyPr>
          <a:lstStyle/>
          <a:p>
            <a:r>
              <a:rPr lang="en-US" dirty="0"/>
              <a:t>D</a:t>
            </a:r>
          </a:p>
        </p:txBody>
      </p:sp>
      <p:sp>
        <p:nvSpPr>
          <p:cNvPr id="38" name="TextBox 37">
            <a:extLst>
              <a:ext uri="{FF2B5EF4-FFF2-40B4-BE49-F238E27FC236}">
                <a16:creationId xmlns:a16="http://schemas.microsoft.com/office/drawing/2014/main" id="{F6D921BE-BB04-F433-C6D3-7A1795224909}"/>
              </a:ext>
            </a:extLst>
          </p:cNvPr>
          <p:cNvSpPr txBox="1"/>
          <p:nvPr/>
        </p:nvSpPr>
        <p:spPr>
          <a:xfrm>
            <a:off x="7143767" y="3605650"/>
            <a:ext cx="354419" cy="369332"/>
          </a:xfrm>
          <a:prstGeom prst="rect">
            <a:avLst/>
          </a:prstGeom>
          <a:noFill/>
        </p:spPr>
        <p:txBody>
          <a:bodyPr wrap="square" rtlCol="0">
            <a:spAutoFit/>
          </a:bodyPr>
          <a:lstStyle/>
          <a:p>
            <a:r>
              <a:rPr lang="en-US" dirty="0"/>
              <a:t>A</a:t>
            </a:r>
          </a:p>
        </p:txBody>
      </p:sp>
      <p:sp>
        <p:nvSpPr>
          <p:cNvPr id="40" name="TextBox 39">
            <a:extLst>
              <a:ext uri="{FF2B5EF4-FFF2-40B4-BE49-F238E27FC236}">
                <a16:creationId xmlns:a16="http://schemas.microsoft.com/office/drawing/2014/main" id="{8F773A7C-B8B5-5D6D-4B31-A20B06849DBC}"/>
              </a:ext>
            </a:extLst>
          </p:cNvPr>
          <p:cNvSpPr txBox="1"/>
          <p:nvPr/>
        </p:nvSpPr>
        <p:spPr>
          <a:xfrm>
            <a:off x="7386592" y="3595655"/>
            <a:ext cx="354419" cy="369332"/>
          </a:xfrm>
          <a:prstGeom prst="rect">
            <a:avLst/>
          </a:prstGeom>
          <a:noFill/>
        </p:spPr>
        <p:txBody>
          <a:bodyPr wrap="square" rtlCol="0">
            <a:spAutoFit/>
          </a:bodyPr>
          <a:lstStyle/>
          <a:p>
            <a:r>
              <a:rPr lang="en-US" dirty="0"/>
              <a:t>B</a:t>
            </a:r>
          </a:p>
        </p:txBody>
      </p:sp>
      <p:sp>
        <p:nvSpPr>
          <p:cNvPr id="42" name="TextBox 41">
            <a:extLst>
              <a:ext uri="{FF2B5EF4-FFF2-40B4-BE49-F238E27FC236}">
                <a16:creationId xmlns:a16="http://schemas.microsoft.com/office/drawing/2014/main" id="{8EA0789F-8532-B37E-719B-081E2460FE92}"/>
              </a:ext>
            </a:extLst>
          </p:cNvPr>
          <p:cNvSpPr txBox="1"/>
          <p:nvPr/>
        </p:nvSpPr>
        <p:spPr>
          <a:xfrm>
            <a:off x="7281311" y="3800311"/>
            <a:ext cx="354419" cy="369332"/>
          </a:xfrm>
          <a:prstGeom prst="rect">
            <a:avLst/>
          </a:prstGeom>
          <a:noFill/>
        </p:spPr>
        <p:txBody>
          <a:bodyPr wrap="square" rtlCol="0">
            <a:spAutoFit/>
          </a:bodyPr>
          <a:lstStyle/>
          <a:p>
            <a:r>
              <a:rPr lang="en-US" dirty="0"/>
              <a:t>D</a:t>
            </a:r>
          </a:p>
        </p:txBody>
      </p:sp>
      <p:sp>
        <p:nvSpPr>
          <p:cNvPr id="44" name="TextBox 43">
            <a:extLst>
              <a:ext uri="{FF2B5EF4-FFF2-40B4-BE49-F238E27FC236}">
                <a16:creationId xmlns:a16="http://schemas.microsoft.com/office/drawing/2014/main" id="{DF4493EE-6FF9-9D86-CAC8-5B0876938CD0}"/>
              </a:ext>
            </a:extLst>
          </p:cNvPr>
          <p:cNvSpPr txBox="1"/>
          <p:nvPr/>
        </p:nvSpPr>
        <p:spPr>
          <a:xfrm>
            <a:off x="7893607" y="3676465"/>
            <a:ext cx="354419" cy="369332"/>
          </a:xfrm>
          <a:prstGeom prst="rect">
            <a:avLst/>
          </a:prstGeom>
          <a:noFill/>
        </p:spPr>
        <p:txBody>
          <a:bodyPr wrap="square" rtlCol="0">
            <a:spAutoFit/>
          </a:bodyPr>
          <a:lstStyle/>
          <a:p>
            <a:r>
              <a:rPr lang="en-US" dirty="0"/>
              <a:t>D</a:t>
            </a:r>
          </a:p>
        </p:txBody>
      </p:sp>
      <p:sp>
        <p:nvSpPr>
          <p:cNvPr id="46" name="TextBox 45">
            <a:extLst>
              <a:ext uri="{FF2B5EF4-FFF2-40B4-BE49-F238E27FC236}">
                <a16:creationId xmlns:a16="http://schemas.microsoft.com/office/drawing/2014/main" id="{11D7ED14-B511-C535-50FF-74373A211176}"/>
              </a:ext>
            </a:extLst>
          </p:cNvPr>
          <p:cNvSpPr txBox="1"/>
          <p:nvPr/>
        </p:nvSpPr>
        <p:spPr>
          <a:xfrm>
            <a:off x="8505903" y="3676465"/>
            <a:ext cx="354419" cy="369332"/>
          </a:xfrm>
          <a:prstGeom prst="rect">
            <a:avLst/>
          </a:prstGeom>
          <a:noFill/>
        </p:spPr>
        <p:txBody>
          <a:bodyPr wrap="square" rtlCol="0">
            <a:spAutoFit/>
          </a:bodyPr>
          <a:lstStyle/>
          <a:p>
            <a:r>
              <a:rPr lang="en-US" dirty="0"/>
              <a:t>D</a:t>
            </a:r>
          </a:p>
        </p:txBody>
      </p:sp>
      <p:sp>
        <p:nvSpPr>
          <p:cNvPr id="48" name="TextBox 47">
            <a:extLst>
              <a:ext uri="{FF2B5EF4-FFF2-40B4-BE49-F238E27FC236}">
                <a16:creationId xmlns:a16="http://schemas.microsoft.com/office/drawing/2014/main" id="{948815F1-CC4A-2EC1-E082-D5B6ADA7D846}"/>
              </a:ext>
            </a:extLst>
          </p:cNvPr>
          <p:cNvSpPr txBox="1"/>
          <p:nvPr/>
        </p:nvSpPr>
        <p:spPr>
          <a:xfrm>
            <a:off x="7281310" y="4262805"/>
            <a:ext cx="354419"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5793BEE6-71D4-291A-3F43-6AFE2F27C45C}"/>
              </a:ext>
            </a:extLst>
          </p:cNvPr>
          <p:cNvSpPr txBox="1"/>
          <p:nvPr/>
        </p:nvSpPr>
        <p:spPr>
          <a:xfrm>
            <a:off x="8359955" y="4133294"/>
            <a:ext cx="354419" cy="369332"/>
          </a:xfrm>
          <a:prstGeom prst="rect">
            <a:avLst/>
          </a:prstGeom>
          <a:noFill/>
        </p:spPr>
        <p:txBody>
          <a:bodyPr wrap="square" rtlCol="0">
            <a:spAutoFit/>
          </a:bodyPr>
          <a:lstStyle/>
          <a:p>
            <a:r>
              <a:rPr lang="en-US" dirty="0"/>
              <a:t>D</a:t>
            </a:r>
          </a:p>
        </p:txBody>
      </p:sp>
      <p:sp>
        <p:nvSpPr>
          <p:cNvPr id="52" name="TextBox 51">
            <a:extLst>
              <a:ext uri="{FF2B5EF4-FFF2-40B4-BE49-F238E27FC236}">
                <a16:creationId xmlns:a16="http://schemas.microsoft.com/office/drawing/2014/main" id="{09B399D1-7026-4277-DD06-57FBFB59C6D1}"/>
              </a:ext>
            </a:extLst>
          </p:cNvPr>
          <p:cNvSpPr txBox="1"/>
          <p:nvPr/>
        </p:nvSpPr>
        <p:spPr>
          <a:xfrm>
            <a:off x="8590594" y="4344857"/>
            <a:ext cx="354419" cy="369332"/>
          </a:xfrm>
          <a:prstGeom prst="rect">
            <a:avLst/>
          </a:prstGeom>
          <a:noFill/>
        </p:spPr>
        <p:txBody>
          <a:bodyPr wrap="square" rtlCol="0">
            <a:spAutoFit/>
          </a:bodyPr>
          <a:lstStyle/>
          <a:p>
            <a:r>
              <a:rPr lang="en-US" dirty="0"/>
              <a:t>C</a:t>
            </a:r>
          </a:p>
        </p:txBody>
      </p:sp>
      <p:sp>
        <p:nvSpPr>
          <p:cNvPr id="54" name="TextBox 53">
            <a:extLst>
              <a:ext uri="{FF2B5EF4-FFF2-40B4-BE49-F238E27FC236}">
                <a16:creationId xmlns:a16="http://schemas.microsoft.com/office/drawing/2014/main" id="{3B6296BB-990C-FB3B-2DC2-3A1E3EEA8528}"/>
              </a:ext>
            </a:extLst>
          </p:cNvPr>
          <p:cNvSpPr txBox="1"/>
          <p:nvPr/>
        </p:nvSpPr>
        <p:spPr>
          <a:xfrm>
            <a:off x="9081719" y="4344857"/>
            <a:ext cx="354419" cy="369332"/>
          </a:xfrm>
          <a:prstGeom prst="rect">
            <a:avLst/>
          </a:prstGeom>
          <a:noFill/>
        </p:spPr>
        <p:txBody>
          <a:bodyPr wrap="square" rtlCol="0">
            <a:spAutoFit/>
          </a:bodyPr>
          <a:lstStyle/>
          <a:p>
            <a:r>
              <a:rPr lang="en-US" dirty="0"/>
              <a:t>C</a:t>
            </a:r>
          </a:p>
        </p:txBody>
      </p:sp>
      <p:sp>
        <p:nvSpPr>
          <p:cNvPr id="56" name="TextBox 55">
            <a:extLst>
              <a:ext uri="{FF2B5EF4-FFF2-40B4-BE49-F238E27FC236}">
                <a16:creationId xmlns:a16="http://schemas.microsoft.com/office/drawing/2014/main" id="{7896C577-4B75-E20B-C517-9CCD6B0AAE71}"/>
              </a:ext>
            </a:extLst>
          </p:cNvPr>
          <p:cNvSpPr txBox="1"/>
          <p:nvPr/>
        </p:nvSpPr>
        <p:spPr>
          <a:xfrm>
            <a:off x="9689044" y="4317960"/>
            <a:ext cx="354419" cy="369332"/>
          </a:xfrm>
          <a:prstGeom prst="rect">
            <a:avLst/>
          </a:prstGeom>
          <a:noFill/>
        </p:spPr>
        <p:txBody>
          <a:bodyPr wrap="square" rtlCol="0">
            <a:spAutoFit/>
          </a:bodyPr>
          <a:lstStyle/>
          <a:p>
            <a:r>
              <a:rPr lang="en-US" dirty="0"/>
              <a:t>C</a:t>
            </a:r>
          </a:p>
        </p:txBody>
      </p:sp>
      <p:sp>
        <p:nvSpPr>
          <p:cNvPr id="58" name="TextBox 57">
            <a:extLst>
              <a:ext uri="{FF2B5EF4-FFF2-40B4-BE49-F238E27FC236}">
                <a16:creationId xmlns:a16="http://schemas.microsoft.com/office/drawing/2014/main" id="{F6E4480B-E8EC-0039-8FAD-9966CC0AFCBA}"/>
              </a:ext>
            </a:extLst>
          </p:cNvPr>
          <p:cNvSpPr txBox="1"/>
          <p:nvPr/>
        </p:nvSpPr>
        <p:spPr>
          <a:xfrm>
            <a:off x="9699684" y="3728555"/>
            <a:ext cx="354419" cy="369332"/>
          </a:xfrm>
          <a:prstGeom prst="rect">
            <a:avLst/>
          </a:prstGeom>
          <a:noFill/>
        </p:spPr>
        <p:txBody>
          <a:bodyPr wrap="square" rtlCol="0">
            <a:spAutoFit/>
          </a:bodyPr>
          <a:lstStyle/>
          <a:p>
            <a:r>
              <a:rPr lang="en-US" dirty="0"/>
              <a:t>F</a:t>
            </a:r>
          </a:p>
        </p:txBody>
      </p:sp>
      <p:sp>
        <p:nvSpPr>
          <p:cNvPr id="60" name="TextBox 59">
            <a:extLst>
              <a:ext uri="{FF2B5EF4-FFF2-40B4-BE49-F238E27FC236}">
                <a16:creationId xmlns:a16="http://schemas.microsoft.com/office/drawing/2014/main" id="{F523793D-9D34-EE8A-1A8C-6731E0BCEA98}"/>
              </a:ext>
            </a:extLst>
          </p:cNvPr>
          <p:cNvSpPr txBox="1"/>
          <p:nvPr/>
        </p:nvSpPr>
        <p:spPr>
          <a:xfrm>
            <a:off x="9002454" y="3000538"/>
            <a:ext cx="354419" cy="369332"/>
          </a:xfrm>
          <a:prstGeom prst="rect">
            <a:avLst/>
          </a:prstGeom>
          <a:noFill/>
        </p:spPr>
        <p:txBody>
          <a:bodyPr wrap="square" rtlCol="0">
            <a:spAutoFit/>
          </a:bodyPr>
          <a:lstStyle/>
          <a:p>
            <a:r>
              <a:rPr lang="en-US" dirty="0"/>
              <a:t>A</a:t>
            </a:r>
          </a:p>
        </p:txBody>
      </p:sp>
      <p:sp>
        <p:nvSpPr>
          <p:cNvPr id="62" name="TextBox 61">
            <a:extLst>
              <a:ext uri="{FF2B5EF4-FFF2-40B4-BE49-F238E27FC236}">
                <a16:creationId xmlns:a16="http://schemas.microsoft.com/office/drawing/2014/main" id="{5E313B7B-04C9-C1CD-E8AB-43D291F9AEB9}"/>
              </a:ext>
            </a:extLst>
          </p:cNvPr>
          <p:cNvSpPr txBox="1"/>
          <p:nvPr/>
        </p:nvSpPr>
        <p:spPr>
          <a:xfrm>
            <a:off x="8492024" y="4850531"/>
            <a:ext cx="354419" cy="369332"/>
          </a:xfrm>
          <a:prstGeom prst="rect">
            <a:avLst/>
          </a:prstGeom>
          <a:noFill/>
        </p:spPr>
        <p:txBody>
          <a:bodyPr wrap="square" rtlCol="0">
            <a:spAutoFit/>
          </a:bodyPr>
          <a:lstStyle/>
          <a:p>
            <a:r>
              <a:rPr lang="en-US" dirty="0"/>
              <a:t>D</a:t>
            </a:r>
          </a:p>
        </p:txBody>
      </p:sp>
      <p:sp>
        <p:nvSpPr>
          <p:cNvPr id="64" name="TextBox 63">
            <a:extLst>
              <a:ext uri="{FF2B5EF4-FFF2-40B4-BE49-F238E27FC236}">
                <a16:creationId xmlns:a16="http://schemas.microsoft.com/office/drawing/2014/main" id="{61C616BD-5F31-F6F0-2D50-1BEECE55D9BF}"/>
              </a:ext>
            </a:extLst>
          </p:cNvPr>
          <p:cNvSpPr txBox="1"/>
          <p:nvPr/>
        </p:nvSpPr>
        <p:spPr>
          <a:xfrm>
            <a:off x="7831727" y="5576279"/>
            <a:ext cx="354419" cy="369332"/>
          </a:xfrm>
          <a:prstGeom prst="rect">
            <a:avLst/>
          </a:prstGeom>
          <a:noFill/>
        </p:spPr>
        <p:txBody>
          <a:bodyPr wrap="square" rtlCol="0">
            <a:spAutoFit/>
          </a:bodyPr>
          <a:lstStyle/>
          <a:p>
            <a:r>
              <a:rPr lang="en-US" dirty="0"/>
              <a:t>D</a:t>
            </a:r>
          </a:p>
        </p:txBody>
      </p:sp>
      <p:sp>
        <p:nvSpPr>
          <p:cNvPr id="66" name="TextBox 65">
            <a:extLst>
              <a:ext uri="{FF2B5EF4-FFF2-40B4-BE49-F238E27FC236}">
                <a16:creationId xmlns:a16="http://schemas.microsoft.com/office/drawing/2014/main" id="{2AE24E7F-B7AF-8CD1-0031-BC8FF1217E34}"/>
              </a:ext>
            </a:extLst>
          </p:cNvPr>
          <p:cNvSpPr txBox="1"/>
          <p:nvPr/>
        </p:nvSpPr>
        <p:spPr>
          <a:xfrm>
            <a:off x="8506355" y="5540871"/>
            <a:ext cx="354419" cy="369332"/>
          </a:xfrm>
          <a:prstGeom prst="rect">
            <a:avLst/>
          </a:prstGeom>
          <a:noFill/>
        </p:spPr>
        <p:txBody>
          <a:bodyPr wrap="square" rtlCol="0">
            <a:spAutoFit/>
          </a:bodyPr>
          <a:lstStyle/>
          <a:p>
            <a:r>
              <a:rPr lang="en-US" dirty="0"/>
              <a:t>D</a:t>
            </a:r>
          </a:p>
        </p:txBody>
      </p:sp>
      <p:sp>
        <p:nvSpPr>
          <p:cNvPr id="68" name="TextBox 67">
            <a:extLst>
              <a:ext uri="{FF2B5EF4-FFF2-40B4-BE49-F238E27FC236}">
                <a16:creationId xmlns:a16="http://schemas.microsoft.com/office/drawing/2014/main" id="{75C36377-D723-C5D7-A4C3-564549388BFF}"/>
              </a:ext>
            </a:extLst>
          </p:cNvPr>
          <p:cNvSpPr txBox="1"/>
          <p:nvPr/>
        </p:nvSpPr>
        <p:spPr>
          <a:xfrm>
            <a:off x="9703085" y="5505464"/>
            <a:ext cx="354419" cy="369332"/>
          </a:xfrm>
          <a:prstGeom prst="rect">
            <a:avLst/>
          </a:prstGeom>
          <a:noFill/>
        </p:spPr>
        <p:txBody>
          <a:bodyPr wrap="square" rtlCol="0">
            <a:spAutoFit/>
          </a:bodyPr>
          <a:lstStyle/>
          <a:p>
            <a:r>
              <a:rPr lang="en-US" dirty="0"/>
              <a:t>D</a:t>
            </a:r>
          </a:p>
        </p:txBody>
      </p:sp>
      <p:sp>
        <p:nvSpPr>
          <p:cNvPr id="70" name="TextBox 69">
            <a:extLst>
              <a:ext uri="{FF2B5EF4-FFF2-40B4-BE49-F238E27FC236}">
                <a16:creationId xmlns:a16="http://schemas.microsoft.com/office/drawing/2014/main" id="{37626940-9E48-BC5C-71E3-403273169758}"/>
              </a:ext>
            </a:extLst>
          </p:cNvPr>
          <p:cNvSpPr txBox="1"/>
          <p:nvPr/>
        </p:nvSpPr>
        <p:spPr>
          <a:xfrm>
            <a:off x="9032434" y="4785004"/>
            <a:ext cx="354419" cy="369332"/>
          </a:xfrm>
          <a:prstGeom prst="rect">
            <a:avLst/>
          </a:prstGeom>
          <a:noFill/>
        </p:spPr>
        <p:txBody>
          <a:bodyPr wrap="square" rtlCol="0">
            <a:spAutoFit/>
          </a:bodyPr>
          <a:lstStyle/>
          <a:p>
            <a:r>
              <a:rPr lang="en-US" dirty="0"/>
              <a:t>D</a:t>
            </a:r>
          </a:p>
        </p:txBody>
      </p:sp>
      <p:sp>
        <p:nvSpPr>
          <p:cNvPr id="72" name="TextBox 71">
            <a:extLst>
              <a:ext uri="{FF2B5EF4-FFF2-40B4-BE49-F238E27FC236}">
                <a16:creationId xmlns:a16="http://schemas.microsoft.com/office/drawing/2014/main" id="{FCFAA9F6-6D59-A94D-F19B-D4F20C79DC86}"/>
              </a:ext>
            </a:extLst>
          </p:cNvPr>
          <p:cNvSpPr txBox="1"/>
          <p:nvPr/>
        </p:nvSpPr>
        <p:spPr>
          <a:xfrm>
            <a:off x="9218425" y="4999789"/>
            <a:ext cx="354419" cy="369332"/>
          </a:xfrm>
          <a:prstGeom prst="rect">
            <a:avLst/>
          </a:prstGeom>
          <a:noFill/>
        </p:spPr>
        <p:txBody>
          <a:bodyPr wrap="square" rtlCol="0">
            <a:spAutoFit/>
          </a:bodyPr>
          <a:lstStyle/>
          <a:p>
            <a:r>
              <a:rPr lang="en-US" dirty="0"/>
              <a:t>C</a:t>
            </a:r>
          </a:p>
        </p:txBody>
      </p:sp>
      <p:sp>
        <p:nvSpPr>
          <p:cNvPr id="74" name="TextBox 73">
            <a:extLst>
              <a:ext uri="{FF2B5EF4-FFF2-40B4-BE49-F238E27FC236}">
                <a16:creationId xmlns:a16="http://schemas.microsoft.com/office/drawing/2014/main" id="{BC716562-FE2C-ED7F-F1EC-FCAE07691B2E}"/>
              </a:ext>
            </a:extLst>
          </p:cNvPr>
          <p:cNvSpPr txBox="1"/>
          <p:nvPr/>
        </p:nvSpPr>
        <p:spPr>
          <a:xfrm>
            <a:off x="8948555" y="3556805"/>
            <a:ext cx="354419" cy="369332"/>
          </a:xfrm>
          <a:prstGeom prst="rect">
            <a:avLst/>
          </a:prstGeom>
          <a:noFill/>
        </p:spPr>
        <p:txBody>
          <a:bodyPr wrap="square" rtlCol="0">
            <a:spAutoFit/>
          </a:bodyPr>
          <a:lstStyle/>
          <a:p>
            <a:r>
              <a:rPr lang="en-US" dirty="0"/>
              <a:t>A</a:t>
            </a:r>
          </a:p>
        </p:txBody>
      </p:sp>
      <p:sp>
        <p:nvSpPr>
          <p:cNvPr id="76" name="TextBox 75">
            <a:extLst>
              <a:ext uri="{FF2B5EF4-FFF2-40B4-BE49-F238E27FC236}">
                <a16:creationId xmlns:a16="http://schemas.microsoft.com/office/drawing/2014/main" id="{7DA42E8A-977C-1863-4FAC-85187CDD3CB5}"/>
              </a:ext>
            </a:extLst>
          </p:cNvPr>
          <p:cNvSpPr txBox="1"/>
          <p:nvPr/>
        </p:nvSpPr>
        <p:spPr>
          <a:xfrm>
            <a:off x="9228288" y="3556805"/>
            <a:ext cx="354419" cy="369332"/>
          </a:xfrm>
          <a:prstGeom prst="rect">
            <a:avLst/>
          </a:prstGeom>
          <a:noFill/>
        </p:spPr>
        <p:txBody>
          <a:bodyPr wrap="square" rtlCol="0">
            <a:spAutoFit/>
          </a:bodyPr>
          <a:lstStyle/>
          <a:p>
            <a:r>
              <a:rPr lang="en-US" dirty="0"/>
              <a:t>B</a:t>
            </a:r>
          </a:p>
        </p:txBody>
      </p:sp>
      <p:sp>
        <p:nvSpPr>
          <p:cNvPr id="78" name="TextBox 77">
            <a:extLst>
              <a:ext uri="{FF2B5EF4-FFF2-40B4-BE49-F238E27FC236}">
                <a16:creationId xmlns:a16="http://schemas.microsoft.com/office/drawing/2014/main" id="{02AE083B-4F67-C831-5845-A53514BF96DF}"/>
              </a:ext>
            </a:extLst>
          </p:cNvPr>
          <p:cNvSpPr txBox="1"/>
          <p:nvPr/>
        </p:nvSpPr>
        <p:spPr>
          <a:xfrm>
            <a:off x="8953989" y="3858592"/>
            <a:ext cx="354419" cy="369332"/>
          </a:xfrm>
          <a:prstGeom prst="rect">
            <a:avLst/>
          </a:prstGeom>
          <a:noFill/>
        </p:spPr>
        <p:txBody>
          <a:bodyPr wrap="square" rtlCol="0">
            <a:spAutoFit/>
          </a:bodyPr>
          <a:lstStyle/>
          <a:p>
            <a:r>
              <a:rPr lang="en-US" dirty="0"/>
              <a:t>C</a:t>
            </a:r>
          </a:p>
        </p:txBody>
      </p:sp>
      <p:sp>
        <p:nvSpPr>
          <p:cNvPr id="80" name="TextBox 79">
            <a:extLst>
              <a:ext uri="{FF2B5EF4-FFF2-40B4-BE49-F238E27FC236}">
                <a16:creationId xmlns:a16="http://schemas.microsoft.com/office/drawing/2014/main" id="{33350255-56AF-AAFE-3107-767960B59047}"/>
              </a:ext>
            </a:extLst>
          </p:cNvPr>
          <p:cNvSpPr txBox="1"/>
          <p:nvPr/>
        </p:nvSpPr>
        <p:spPr>
          <a:xfrm>
            <a:off x="9232622" y="3830353"/>
            <a:ext cx="354419" cy="369332"/>
          </a:xfrm>
          <a:prstGeom prst="rect">
            <a:avLst/>
          </a:prstGeom>
          <a:noFill/>
        </p:spPr>
        <p:txBody>
          <a:bodyPr wrap="square" rtlCol="0">
            <a:spAutoFit/>
          </a:bodyPr>
          <a:lstStyle/>
          <a:p>
            <a:r>
              <a:rPr lang="en-US" dirty="0"/>
              <a:t>D</a:t>
            </a:r>
          </a:p>
        </p:txBody>
      </p:sp>
      <p:sp>
        <p:nvSpPr>
          <p:cNvPr id="82" name="TextBox 81">
            <a:extLst>
              <a:ext uri="{FF2B5EF4-FFF2-40B4-BE49-F238E27FC236}">
                <a16:creationId xmlns:a16="http://schemas.microsoft.com/office/drawing/2014/main" id="{1FF618E4-D033-0833-423E-44D0860768C8}"/>
              </a:ext>
            </a:extLst>
          </p:cNvPr>
          <p:cNvSpPr txBox="1"/>
          <p:nvPr/>
        </p:nvSpPr>
        <p:spPr>
          <a:xfrm>
            <a:off x="9640940" y="2952872"/>
            <a:ext cx="354419" cy="369332"/>
          </a:xfrm>
          <a:prstGeom prst="rect">
            <a:avLst/>
          </a:prstGeom>
          <a:noFill/>
        </p:spPr>
        <p:txBody>
          <a:bodyPr wrap="square" rtlCol="0">
            <a:spAutoFit/>
          </a:bodyPr>
          <a:lstStyle/>
          <a:p>
            <a:r>
              <a:rPr lang="en-US" dirty="0"/>
              <a:t>A</a:t>
            </a:r>
          </a:p>
        </p:txBody>
      </p:sp>
      <p:sp>
        <p:nvSpPr>
          <p:cNvPr id="84" name="TextBox 83">
            <a:extLst>
              <a:ext uri="{FF2B5EF4-FFF2-40B4-BE49-F238E27FC236}">
                <a16:creationId xmlns:a16="http://schemas.microsoft.com/office/drawing/2014/main" id="{D4807389-9B0F-B02E-729C-3477644616D5}"/>
              </a:ext>
            </a:extLst>
          </p:cNvPr>
          <p:cNvSpPr txBox="1"/>
          <p:nvPr/>
        </p:nvSpPr>
        <p:spPr>
          <a:xfrm>
            <a:off x="9898905" y="2952872"/>
            <a:ext cx="354419" cy="369332"/>
          </a:xfrm>
          <a:prstGeom prst="rect">
            <a:avLst/>
          </a:prstGeom>
          <a:noFill/>
        </p:spPr>
        <p:txBody>
          <a:bodyPr wrap="square" rtlCol="0">
            <a:spAutoFit/>
          </a:bodyPr>
          <a:lstStyle/>
          <a:p>
            <a:r>
              <a:rPr lang="en-US" dirty="0"/>
              <a:t>E</a:t>
            </a:r>
          </a:p>
        </p:txBody>
      </p:sp>
      <p:sp>
        <p:nvSpPr>
          <p:cNvPr id="86" name="TextBox 85">
            <a:extLst>
              <a:ext uri="{FF2B5EF4-FFF2-40B4-BE49-F238E27FC236}">
                <a16:creationId xmlns:a16="http://schemas.microsoft.com/office/drawing/2014/main" id="{C423AF4A-5E47-822C-B9F7-1C2A95622C05}"/>
              </a:ext>
            </a:extLst>
          </p:cNvPr>
          <p:cNvSpPr txBox="1"/>
          <p:nvPr/>
        </p:nvSpPr>
        <p:spPr>
          <a:xfrm>
            <a:off x="9699684" y="3244334"/>
            <a:ext cx="354419" cy="369332"/>
          </a:xfrm>
          <a:prstGeom prst="rect">
            <a:avLst/>
          </a:prstGeom>
          <a:noFill/>
        </p:spPr>
        <p:txBody>
          <a:bodyPr wrap="square" rtlCol="0">
            <a:spAutoFit/>
          </a:bodyPr>
          <a:lstStyle/>
          <a:p>
            <a:r>
              <a:rPr lang="en-US" dirty="0"/>
              <a:t>F</a:t>
            </a:r>
          </a:p>
        </p:txBody>
      </p:sp>
      <p:sp>
        <p:nvSpPr>
          <p:cNvPr id="88" name="TextBox 87">
            <a:extLst>
              <a:ext uri="{FF2B5EF4-FFF2-40B4-BE49-F238E27FC236}">
                <a16:creationId xmlns:a16="http://schemas.microsoft.com/office/drawing/2014/main" id="{2D99FD79-B16E-63F1-D47C-7FA4B68BC33B}"/>
              </a:ext>
            </a:extLst>
          </p:cNvPr>
          <p:cNvSpPr txBox="1"/>
          <p:nvPr/>
        </p:nvSpPr>
        <p:spPr>
          <a:xfrm>
            <a:off x="9275889" y="3203660"/>
            <a:ext cx="354419" cy="369332"/>
          </a:xfrm>
          <a:prstGeom prst="rect">
            <a:avLst/>
          </a:prstGeom>
          <a:noFill/>
        </p:spPr>
        <p:txBody>
          <a:bodyPr wrap="square" rtlCol="0">
            <a:spAutoFit/>
          </a:bodyPr>
          <a:lstStyle/>
          <a:p>
            <a:r>
              <a:rPr lang="en-US" dirty="0"/>
              <a:t>E</a:t>
            </a:r>
          </a:p>
        </p:txBody>
      </p:sp>
      <p:sp>
        <p:nvSpPr>
          <p:cNvPr id="90" name="Right Brace 89">
            <a:extLst>
              <a:ext uri="{FF2B5EF4-FFF2-40B4-BE49-F238E27FC236}">
                <a16:creationId xmlns:a16="http://schemas.microsoft.com/office/drawing/2014/main" id="{9A7534E7-EA87-DE81-62D0-44ED3103A854}"/>
              </a:ext>
            </a:extLst>
          </p:cNvPr>
          <p:cNvSpPr/>
          <p:nvPr/>
        </p:nvSpPr>
        <p:spPr>
          <a:xfrm>
            <a:off x="10388009" y="3211127"/>
            <a:ext cx="265656" cy="26636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TextBox 91">
            <a:extLst>
              <a:ext uri="{FF2B5EF4-FFF2-40B4-BE49-F238E27FC236}">
                <a16:creationId xmlns:a16="http://schemas.microsoft.com/office/drawing/2014/main" id="{C7FE4E82-AE2B-3FFF-C705-05EF6855382A}"/>
              </a:ext>
            </a:extLst>
          </p:cNvPr>
          <p:cNvSpPr txBox="1"/>
          <p:nvPr/>
        </p:nvSpPr>
        <p:spPr>
          <a:xfrm>
            <a:off x="10713167" y="3538263"/>
            <a:ext cx="1130910" cy="2308324"/>
          </a:xfrm>
          <a:prstGeom prst="rect">
            <a:avLst/>
          </a:prstGeom>
          <a:noFill/>
        </p:spPr>
        <p:txBody>
          <a:bodyPr wrap="square" rtlCol="0">
            <a:spAutoFit/>
          </a:bodyPr>
          <a:lstStyle/>
          <a:p>
            <a:r>
              <a:rPr lang="en-US" dirty="0"/>
              <a:t>Extract PD, RPD, PE, and RPE. These are our ‘Observed Values’ </a:t>
            </a:r>
          </a:p>
        </p:txBody>
      </p:sp>
    </p:spTree>
    <p:extLst>
      <p:ext uri="{BB962C8B-B14F-4D97-AF65-F5344CB8AC3E}">
        <p14:creationId xmlns:p14="http://schemas.microsoft.com/office/powerpoint/2010/main" val="286825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D145-98F7-FAE0-D7F8-9A140329667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650F36-647D-1750-D4F6-38B118DC5C55}"/>
              </a:ext>
            </a:extLst>
          </p:cNvPr>
          <p:cNvSpPr>
            <a:spLocks noGrp="1"/>
          </p:cNvSpPr>
          <p:nvPr>
            <p:ph type="title"/>
          </p:nvPr>
        </p:nvSpPr>
        <p:spPr>
          <a:xfrm>
            <a:off x="0" y="0"/>
            <a:ext cx="10515600" cy="1325563"/>
          </a:xfrm>
        </p:spPr>
        <p:txBody>
          <a:bodyPr/>
          <a:lstStyle/>
          <a:p>
            <a:r>
              <a:rPr lang="en-US" dirty="0"/>
              <a:t>Community Randomizations</a:t>
            </a:r>
          </a:p>
        </p:txBody>
      </p:sp>
      <p:sp>
        <p:nvSpPr>
          <p:cNvPr id="5" name="TextBox 4">
            <a:extLst>
              <a:ext uri="{FF2B5EF4-FFF2-40B4-BE49-F238E27FC236}">
                <a16:creationId xmlns:a16="http://schemas.microsoft.com/office/drawing/2014/main" id="{BED45337-9BE5-8716-21A7-510F63C24757}"/>
              </a:ext>
            </a:extLst>
          </p:cNvPr>
          <p:cNvSpPr txBox="1"/>
          <p:nvPr/>
        </p:nvSpPr>
        <p:spPr>
          <a:xfrm>
            <a:off x="191386" y="1229870"/>
            <a:ext cx="9399181" cy="1015663"/>
          </a:xfrm>
          <a:prstGeom prst="rect">
            <a:avLst/>
          </a:prstGeom>
          <a:noFill/>
        </p:spPr>
        <p:txBody>
          <a:bodyPr wrap="square" rtlCol="0">
            <a:spAutoFit/>
          </a:bodyPr>
          <a:lstStyle/>
          <a:p>
            <a:r>
              <a:rPr lang="en-US" sz="2000" dirty="0"/>
              <a:t>Community randomizations are a way to generate a null distribution (the expected values of community metrics under a specific null hypothesis)</a:t>
            </a:r>
          </a:p>
          <a:p>
            <a:endParaRPr lang="en-US" sz="2000" dirty="0"/>
          </a:p>
        </p:txBody>
      </p:sp>
      <p:sp>
        <p:nvSpPr>
          <p:cNvPr id="7" name="TextBox 6">
            <a:extLst>
              <a:ext uri="{FF2B5EF4-FFF2-40B4-BE49-F238E27FC236}">
                <a16:creationId xmlns:a16="http://schemas.microsoft.com/office/drawing/2014/main" id="{D1A031FE-BF5E-FE40-C5F5-91C5B945FC13}"/>
              </a:ext>
            </a:extLst>
          </p:cNvPr>
          <p:cNvSpPr txBox="1"/>
          <p:nvPr/>
        </p:nvSpPr>
        <p:spPr>
          <a:xfrm>
            <a:off x="499730" y="2245533"/>
            <a:ext cx="5596270" cy="2031325"/>
          </a:xfrm>
          <a:prstGeom prst="rect">
            <a:avLst/>
          </a:prstGeom>
          <a:noFill/>
        </p:spPr>
        <p:txBody>
          <a:bodyPr wrap="square" rtlCol="0">
            <a:spAutoFit/>
          </a:bodyPr>
          <a:lstStyle/>
          <a:p>
            <a:r>
              <a:rPr lang="en-US" dirty="0"/>
              <a:t>“Curveball” algorithm</a:t>
            </a:r>
          </a:p>
          <a:p>
            <a:pPr marL="285750" indent="-285750">
              <a:buFont typeface="Arial" panose="020B0604020202020204" pitchFamily="34" charset="0"/>
              <a:buChar char="•"/>
            </a:pPr>
            <a:r>
              <a:rPr lang="en-US" dirty="0"/>
              <a:t>What remains constant: </a:t>
            </a:r>
          </a:p>
          <a:p>
            <a:pPr marL="742950" lvl="1" indent="-285750">
              <a:buFont typeface="Arial" panose="020B0604020202020204" pitchFamily="34" charset="0"/>
              <a:buChar char="•"/>
            </a:pPr>
            <a:r>
              <a:rPr lang="en-US" dirty="0"/>
              <a:t>The Phylogenetic Tree Structure</a:t>
            </a:r>
          </a:p>
          <a:p>
            <a:pPr marL="742950" lvl="1" indent="-285750">
              <a:buFont typeface="Arial" panose="020B0604020202020204" pitchFamily="34" charset="0"/>
              <a:buChar char="•"/>
            </a:pPr>
            <a:r>
              <a:rPr lang="en-US" dirty="0"/>
              <a:t>Species Richness per Cell</a:t>
            </a:r>
          </a:p>
          <a:p>
            <a:pPr marL="742950" lvl="1" indent="-285750">
              <a:buFont typeface="Arial" panose="020B0604020202020204" pitchFamily="34" charset="0"/>
              <a:buChar char="•"/>
            </a:pPr>
            <a:r>
              <a:rPr lang="en-US" dirty="0"/>
              <a:t>Species Overall Prevalence (Total # Occurrences)</a:t>
            </a:r>
          </a:p>
          <a:p>
            <a:pPr marL="285750" indent="-285750">
              <a:buFont typeface="Arial" panose="020B0604020202020204" pitchFamily="34" charset="0"/>
              <a:buChar char="•"/>
            </a:pPr>
            <a:r>
              <a:rPr lang="en-US" dirty="0"/>
              <a:t>What gets shuffled </a:t>
            </a:r>
          </a:p>
          <a:p>
            <a:pPr marL="742950" lvl="1" indent="-285750">
              <a:buFont typeface="Arial" panose="020B0604020202020204" pitchFamily="34" charset="0"/>
              <a:buChar char="•"/>
            </a:pPr>
            <a:r>
              <a:rPr lang="en-US" dirty="0"/>
              <a:t>The community matrix </a:t>
            </a:r>
          </a:p>
        </p:txBody>
      </p:sp>
      <p:sp>
        <p:nvSpPr>
          <p:cNvPr id="14" name="TextBox 13">
            <a:extLst>
              <a:ext uri="{FF2B5EF4-FFF2-40B4-BE49-F238E27FC236}">
                <a16:creationId xmlns:a16="http://schemas.microsoft.com/office/drawing/2014/main" id="{17C1C93B-CE7F-5E1D-50A7-7A5CA12CEA2C}"/>
              </a:ext>
            </a:extLst>
          </p:cNvPr>
          <p:cNvSpPr txBox="1"/>
          <p:nvPr/>
        </p:nvSpPr>
        <p:spPr>
          <a:xfrm>
            <a:off x="6168965" y="2305438"/>
            <a:ext cx="5242001" cy="523220"/>
          </a:xfrm>
          <a:prstGeom prst="rect">
            <a:avLst/>
          </a:prstGeom>
          <a:noFill/>
        </p:spPr>
        <p:txBody>
          <a:bodyPr wrap="square" rtlCol="0">
            <a:spAutoFit/>
          </a:bodyPr>
          <a:lstStyle/>
          <a:p>
            <a:r>
              <a:rPr lang="en-US" sz="2800" dirty="0"/>
              <a:t>Randomized Community Matrix x1</a:t>
            </a:r>
          </a:p>
        </p:txBody>
      </p:sp>
      <p:pic>
        <p:nvPicPr>
          <p:cNvPr id="17" name="Picture 16">
            <a:extLst>
              <a:ext uri="{FF2B5EF4-FFF2-40B4-BE49-F238E27FC236}">
                <a16:creationId xmlns:a16="http://schemas.microsoft.com/office/drawing/2014/main" id="{E439827D-D0F4-3E8A-F6FD-88EA5FA82B47}"/>
              </a:ext>
            </a:extLst>
          </p:cNvPr>
          <p:cNvPicPr>
            <a:picLocks noChangeAspect="1"/>
          </p:cNvPicPr>
          <p:nvPr/>
        </p:nvPicPr>
        <p:blipFill>
          <a:blip r:embed="rId2"/>
          <a:stretch>
            <a:fillRect/>
          </a:stretch>
        </p:blipFill>
        <p:spPr>
          <a:xfrm>
            <a:off x="7056786" y="2910383"/>
            <a:ext cx="3224897" cy="3184486"/>
          </a:xfrm>
          <a:prstGeom prst="rect">
            <a:avLst/>
          </a:prstGeom>
        </p:spPr>
      </p:pic>
      <p:pic>
        <p:nvPicPr>
          <p:cNvPr id="21" name="Picture 20">
            <a:extLst>
              <a:ext uri="{FF2B5EF4-FFF2-40B4-BE49-F238E27FC236}">
                <a16:creationId xmlns:a16="http://schemas.microsoft.com/office/drawing/2014/main" id="{739619A7-7101-02FD-4A3E-C4213D8CC02F}"/>
              </a:ext>
            </a:extLst>
          </p:cNvPr>
          <p:cNvPicPr>
            <a:picLocks noChangeAspect="1"/>
          </p:cNvPicPr>
          <p:nvPr/>
        </p:nvPicPr>
        <p:blipFill>
          <a:blip r:embed="rId3"/>
          <a:stretch>
            <a:fillRect/>
          </a:stretch>
        </p:blipFill>
        <p:spPr>
          <a:xfrm>
            <a:off x="0" y="4529523"/>
            <a:ext cx="4743694" cy="2197213"/>
          </a:xfrm>
          <a:prstGeom prst="rect">
            <a:avLst/>
          </a:prstGeom>
        </p:spPr>
      </p:pic>
      <p:sp>
        <p:nvSpPr>
          <p:cNvPr id="24" name="TextBox 23">
            <a:extLst>
              <a:ext uri="{FF2B5EF4-FFF2-40B4-BE49-F238E27FC236}">
                <a16:creationId xmlns:a16="http://schemas.microsoft.com/office/drawing/2014/main" id="{2A9FBD6F-42A8-9DEA-8C0F-F503ABEAFA8B}"/>
              </a:ext>
            </a:extLst>
          </p:cNvPr>
          <p:cNvSpPr txBox="1"/>
          <p:nvPr/>
        </p:nvSpPr>
        <p:spPr>
          <a:xfrm>
            <a:off x="7143767" y="2994735"/>
            <a:ext cx="354419" cy="369332"/>
          </a:xfrm>
          <a:prstGeom prst="rect">
            <a:avLst/>
          </a:prstGeom>
          <a:noFill/>
        </p:spPr>
        <p:txBody>
          <a:bodyPr wrap="square" rtlCol="0">
            <a:spAutoFit/>
          </a:bodyPr>
          <a:lstStyle/>
          <a:p>
            <a:r>
              <a:rPr lang="en-US" dirty="0"/>
              <a:t>A</a:t>
            </a:r>
          </a:p>
        </p:txBody>
      </p:sp>
      <p:sp>
        <p:nvSpPr>
          <p:cNvPr id="28" name="TextBox 27">
            <a:extLst>
              <a:ext uri="{FF2B5EF4-FFF2-40B4-BE49-F238E27FC236}">
                <a16:creationId xmlns:a16="http://schemas.microsoft.com/office/drawing/2014/main" id="{B5D32AEA-541F-1393-C571-C9361BAA8C2C}"/>
              </a:ext>
            </a:extLst>
          </p:cNvPr>
          <p:cNvSpPr txBox="1"/>
          <p:nvPr/>
        </p:nvSpPr>
        <p:spPr>
          <a:xfrm>
            <a:off x="7895160" y="3658086"/>
            <a:ext cx="354419" cy="369332"/>
          </a:xfrm>
          <a:prstGeom prst="rect">
            <a:avLst/>
          </a:prstGeom>
          <a:noFill/>
        </p:spPr>
        <p:txBody>
          <a:bodyPr wrap="square" rtlCol="0">
            <a:spAutoFit/>
          </a:bodyPr>
          <a:lstStyle/>
          <a:p>
            <a:r>
              <a:rPr lang="en-US" dirty="0"/>
              <a:t>B</a:t>
            </a:r>
          </a:p>
        </p:txBody>
      </p:sp>
      <p:sp>
        <p:nvSpPr>
          <p:cNvPr id="32" name="TextBox 31">
            <a:extLst>
              <a:ext uri="{FF2B5EF4-FFF2-40B4-BE49-F238E27FC236}">
                <a16:creationId xmlns:a16="http://schemas.microsoft.com/office/drawing/2014/main" id="{41900A56-8219-A747-A044-7201DA738D86}"/>
              </a:ext>
            </a:extLst>
          </p:cNvPr>
          <p:cNvSpPr txBox="1"/>
          <p:nvPr/>
        </p:nvSpPr>
        <p:spPr>
          <a:xfrm>
            <a:off x="7721469" y="2952872"/>
            <a:ext cx="354419" cy="369332"/>
          </a:xfrm>
          <a:prstGeom prst="rect">
            <a:avLst/>
          </a:prstGeom>
          <a:noFill/>
        </p:spPr>
        <p:txBody>
          <a:bodyPr wrap="square" rtlCol="0">
            <a:spAutoFit/>
          </a:bodyPr>
          <a:lstStyle/>
          <a:p>
            <a:r>
              <a:rPr lang="en-US" dirty="0"/>
              <a:t>A</a:t>
            </a:r>
          </a:p>
        </p:txBody>
      </p:sp>
      <p:sp>
        <p:nvSpPr>
          <p:cNvPr id="34" name="TextBox 33">
            <a:extLst>
              <a:ext uri="{FF2B5EF4-FFF2-40B4-BE49-F238E27FC236}">
                <a16:creationId xmlns:a16="http://schemas.microsoft.com/office/drawing/2014/main" id="{A1216540-583D-B313-BDB1-C1C90810A2CC}"/>
              </a:ext>
            </a:extLst>
          </p:cNvPr>
          <p:cNvSpPr txBox="1"/>
          <p:nvPr/>
        </p:nvSpPr>
        <p:spPr>
          <a:xfrm>
            <a:off x="8005536" y="2952872"/>
            <a:ext cx="354419" cy="369332"/>
          </a:xfrm>
          <a:prstGeom prst="rect">
            <a:avLst/>
          </a:prstGeom>
          <a:noFill/>
        </p:spPr>
        <p:txBody>
          <a:bodyPr wrap="square" rtlCol="0">
            <a:spAutoFit/>
          </a:bodyPr>
          <a:lstStyle/>
          <a:p>
            <a:r>
              <a:rPr lang="en-US" dirty="0"/>
              <a:t>B</a:t>
            </a:r>
          </a:p>
        </p:txBody>
      </p:sp>
      <p:sp>
        <p:nvSpPr>
          <p:cNvPr id="36" name="TextBox 35">
            <a:extLst>
              <a:ext uri="{FF2B5EF4-FFF2-40B4-BE49-F238E27FC236}">
                <a16:creationId xmlns:a16="http://schemas.microsoft.com/office/drawing/2014/main" id="{84A9F089-8B1B-28D7-C5B0-D1A0FA964F57}"/>
              </a:ext>
            </a:extLst>
          </p:cNvPr>
          <p:cNvSpPr txBox="1"/>
          <p:nvPr/>
        </p:nvSpPr>
        <p:spPr>
          <a:xfrm>
            <a:off x="7863502" y="3236318"/>
            <a:ext cx="354419" cy="369332"/>
          </a:xfrm>
          <a:prstGeom prst="rect">
            <a:avLst/>
          </a:prstGeom>
          <a:noFill/>
        </p:spPr>
        <p:txBody>
          <a:bodyPr wrap="square" rtlCol="0">
            <a:spAutoFit/>
          </a:bodyPr>
          <a:lstStyle/>
          <a:p>
            <a:r>
              <a:rPr lang="en-US" dirty="0"/>
              <a:t>D</a:t>
            </a:r>
          </a:p>
        </p:txBody>
      </p:sp>
      <p:sp>
        <p:nvSpPr>
          <p:cNvPr id="38" name="TextBox 37">
            <a:extLst>
              <a:ext uri="{FF2B5EF4-FFF2-40B4-BE49-F238E27FC236}">
                <a16:creationId xmlns:a16="http://schemas.microsoft.com/office/drawing/2014/main" id="{502B6EF6-81F8-1947-7B42-2B56C7CDEE8E}"/>
              </a:ext>
            </a:extLst>
          </p:cNvPr>
          <p:cNvSpPr txBox="1"/>
          <p:nvPr/>
        </p:nvSpPr>
        <p:spPr>
          <a:xfrm>
            <a:off x="7143767" y="3605650"/>
            <a:ext cx="354419" cy="369332"/>
          </a:xfrm>
          <a:prstGeom prst="rect">
            <a:avLst/>
          </a:prstGeom>
          <a:noFill/>
        </p:spPr>
        <p:txBody>
          <a:bodyPr wrap="square" rtlCol="0">
            <a:spAutoFit/>
          </a:bodyPr>
          <a:lstStyle/>
          <a:p>
            <a:r>
              <a:rPr lang="en-US" dirty="0"/>
              <a:t>A</a:t>
            </a:r>
          </a:p>
        </p:txBody>
      </p:sp>
      <p:sp>
        <p:nvSpPr>
          <p:cNvPr id="40" name="TextBox 39">
            <a:extLst>
              <a:ext uri="{FF2B5EF4-FFF2-40B4-BE49-F238E27FC236}">
                <a16:creationId xmlns:a16="http://schemas.microsoft.com/office/drawing/2014/main" id="{E0DDBEAE-AFF9-3B60-7053-41C5C0EA7AC7}"/>
              </a:ext>
            </a:extLst>
          </p:cNvPr>
          <p:cNvSpPr txBox="1"/>
          <p:nvPr/>
        </p:nvSpPr>
        <p:spPr>
          <a:xfrm>
            <a:off x="7386592" y="3595655"/>
            <a:ext cx="354419" cy="369332"/>
          </a:xfrm>
          <a:prstGeom prst="rect">
            <a:avLst/>
          </a:prstGeom>
          <a:noFill/>
        </p:spPr>
        <p:txBody>
          <a:bodyPr wrap="square" rtlCol="0">
            <a:spAutoFit/>
          </a:bodyPr>
          <a:lstStyle/>
          <a:p>
            <a:r>
              <a:rPr lang="en-US" dirty="0"/>
              <a:t>B</a:t>
            </a:r>
          </a:p>
        </p:txBody>
      </p:sp>
      <p:sp>
        <p:nvSpPr>
          <p:cNvPr id="42" name="TextBox 41">
            <a:extLst>
              <a:ext uri="{FF2B5EF4-FFF2-40B4-BE49-F238E27FC236}">
                <a16:creationId xmlns:a16="http://schemas.microsoft.com/office/drawing/2014/main" id="{12ADAA4A-F678-6188-57E7-0C06522458D4}"/>
              </a:ext>
            </a:extLst>
          </p:cNvPr>
          <p:cNvSpPr txBox="1"/>
          <p:nvPr/>
        </p:nvSpPr>
        <p:spPr>
          <a:xfrm>
            <a:off x="7281311" y="3800311"/>
            <a:ext cx="354419" cy="369332"/>
          </a:xfrm>
          <a:prstGeom prst="rect">
            <a:avLst/>
          </a:prstGeom>
          <a:noFill/>
        </p:spPr>
        <p:txBody>
          <a:bodyPr wrap="square" rtlCol="0">
            <a:spAutoFit/>
          </a:bodyPr>
          <a:lstStyle/>
          <a:p>
            <a:r>
              <a:rPr lang="en-US" dirty="0"/>
              <a:t>D</a:t>
            </a:r>
          </a:p>
        </p:txBody>
      </p:sp>
      <p:sp>
        <p:nvSpPr>
          <p:cNvPr id="44" name="TextBox 43">
            <a:extLst>
              <a:ext uri="{FF2B5EF4-FFF2-40B4-BE49-F238E27FC236}">
                <a16:creationId xmlns:a16="http://schemas.microsoft.com/office/drawing/2014/main" id="{056BB1D5-C0D5-02BC-CF7B-A5AB29BF2B44}"/>
              </a:ext>
            </a:extLst>
          </p:cNvPr>
          <p:cNvSpPr txBox="1"/>
          <p:nvPr/>
        </p:nvSpPr>
        <p:spPr>
          <a:xfrm>
            <a:off x="7363037" y="3216328"/>
            <a:ext cx="354419" cy="369332"/>
          </a:xfrm>
          <a:prstGeom prst="rect">
            <a:avLst/>
          </a:prstGeom>
          <a:noFill/>
        </p:spPr>
        <p:txBody>
          <a:bodyPr wrap="square" rtlCol="0">
            <a:spAutoFit/>
          </a:bodyPr>
          <a:lstStyle/>
          <a:p>
            <a:r>
              <a:rPr lang="en-US" dirty="0"/>
              <a:t>D</a:t>
            </a:r>
          </a:p>
        </p:txBody>
      </p:sp>
      <p:sp>
        <p:nvSpPr>
          <p:cNvPr id="46" name="TextBox 45">
            <a:extLst>
              <a:ext uri="{FF2B5EF4-FFF2-40B4-BE49-F238E27FC236}">
                <a16:creationId xmlns:a16="http://schemas.microsoft.com/office/drawing/2014/main" id="{99037C17-D74D-FB8D-1362-79A95147472C}"/>
              </a:ext>
            </a:extLst>
          </p:cNvPr>
          <p:cNvSpPr txBox="1"/>
          <p:nvPr/>
        </p:nvSpPr>
        <p:spPr>
          <a:xfrm>
            <a:off x="9082536" y="4325842"/>
            <a:ext cx="354419" cy="369332"/>
          </a:xfrm>
          <a:prstGeom prst="rect">
            <a:avLst/>
          </a:prstGeom>
          <a:noFill/>
        </p:spPr>
        <p:txBody>
          <a:bodyPr wrap="square" rtlCol="0">
            <a:spAutoFit/>
          </a:bodyPr>
          <a:lstStyle/>
          <a:p>
            <a:r>
              <a:rPr lang="en-US" dirty="0"/>
              <a:t>D</a:t>
            </a:r>
          </a:p>
        </p:txBody>
      </p:sp>
      <p:sp>
        <p:nvSpPr>
          <p:cNvPr id="48" name="TextBox 47">
            <a:extLst>
              <a:ext uri="{FF2B5EF4-FFF2-40B4-BE49-F238E27FC236}">
                <a16:creationId xmlns:a16="http://schemas.microsoft.com/office/drawing/2014/main" id="{D4BED91F-D9C0-1073-F4E0-56F4FDAE5369}"/>
              </a:ext>
            </a:extLst>
          </p:cNvPr>
          <p:cNvSpPr txBox="1"/>
          <p:nvPr/>
        </p:nvSpPr>
        <p:spPr>
          <a:xfrm>
            <a:off x="8559678" y="4167320"/>
            <a:ext cx="354419"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7AE8EA9A-E12C-0FA3-6BB3-86BB38164989}"/>
              </a:ext>
            </a:extLst>
          </p:cNvPr>
          <p:cNvSpPr txBox="1"/>
          <p:nvPr/>
        </p:nvSpPr>
        <p:spPr>
          <a:xfrm>
            <a:off x="8448435" y="4380264"/>
            <a:ext cx="354419" cy="369332"/>
          </a:xfrm>
          <a:prstGeom prst="rect">
            <a:avLst/>
          </a:prstGeom>
          <a:noFill/>
        </p:spPr>
        <p:txBody>
          <a:bodyPr wrap="square" rtlCol="0">
            <a:spAutoFit/>
          </a:bodyPr>
          <a:lstStyle/>
          <a:p>
            <a:r>
              <a:rPr lang="en-US" dirty="0"/>
              <a:t>D</a:t>
            </a:r>
          </a:p>
        </p:txBody>
      </p:sp>
      <p:sp>
        <p:nvSpPr>
          <p:cNvPr id="52" name="TextBox 51">
            <a:extLst>
              <a:ext uri="{FF2B5EF4-FFF2-40B4-BE49-F238E27FC236}">
                <a16:creationId xmlns:a16="http://schemas.microsoft.com/office/drawing/2014/main" id="{A7A5CC3D-EC38-A0B8-044E-DE1FB434D776}"/>
              </a:ext>
            </a:extLst>
          </p:cNvPr>
          <p:cNvSpPr txBox="1"/>
          <p:nvPr/>
        </p:nvSpPr>
        <p:spPr>
          <a:xfrm>
            <a:off x="9174732" y="3211127"/>
            <a:ext cx="354419" cy="369332"/>
          </a:xfrm>
          <a:prstGeom prst="rect">
            <a:avLst/>
          </a:prstGeom>
          <a:noFill/>
        </p:spPr>
        <p:txBody>
          <a:bodyPr wrap="square" rtlCol="0">
            <a:spAutoFit/>
          </a:bodyPr>
          <a:lstStyle/>
          <a:p>
            <a:r>
              <a:rPr lang="en-US" dirty="0"/>
              <a:t>C</a:t>
            </a:r>
          </a:p>
        </p:txBody>
      </p:sp>
      <p:sp>
        <p:nvSpPr>
          <p:cNvPr id="54" name="TextBox 53">
            <a:extLst>
              <a:ext uri="{FF2B5EF4-FFF2-40B4-BE49-F238E27FC236}">
                <a16:creationId xmlns:a16="http://schemas.microsoft.com/office/drawing/2014/main" id="{E2FBBA44-6DCE-5FCD-2FA5-0C4F1CDB43F3}"/>
              </a:ext>
            </a:extLst>
          </p:cNvPr>
          <p:cNvSpPr txBox="1"/>
          <p:nvPr/>
        </p:nvSpPr>
        <p:spPr>
          <a:xfrm>
            <a:off x="8454269" y="3673926"/>
            <a:ext cx="354419" cy="369332"/>
          </a:xfrm>
          <a:prstGeom prst="rect">
            <a:avLst/>
          </a:prstGeom>
          <a:noFill/>
        </p:spPr>
        <p:txBody>
          <a:bodyPr wrap="square" rtlCol="0">
            <a:spAutoFit/>
          </a:bodyPr>
          <a:lstStyle/>
          <a:p>
            <a:r>
              <a:rPr lang="en-US" dirty="0"/>
              <a:t>C</a:t>
            </a:r>
          </a:p>
        </p:txBody>
      </p:sp>
      <p:sp>
        <p:nvSpPr>
          <p:cNvPr id="56" name="TextBox 55">
            <a:extLst>
              <a:ext uri="{FF2B5EF4-FFF2-40B4-BE49-F238E27FC236}">
                <a16:creationId xmlns:a16="http://schemas.microsoft.com/office/drawing/2014/main" id="{3B1A9F36-2513-406A-DE98-8873F393EA4D}"/>
              </a:ext>
            </a:extLst>
          </p:cNvPr>
          <p:cNvSpPr txBox="1"/>
          <p:nvPr/>
        </p:nvSpPr>
        <p:spPr>
          <a:xfrm>
            <a:off x="9730325" y="5505464"/>
            <a:ext cx="354419" cy="369332"/>
          </a:xfrm>
          <a:prstGeom prst="rect">
            <a:avLst/>
          </a:prstGeom>
          <a:noFill/>
        </p:spPr>
        <p:txBody>
          <a:bodyPr wrap="square" rtlCol="0">
            <a:spAutoFit/>
          </a:bodyPr>
          <a:lstStyle/>
          <a:p>
            <a:r>
              <a:rPr lang="en-US" dirty="0"/>
              <a:t>C</a:t>
            </a:r>
          </a:p>
        </p:txBody>
      </p:sp>
      <p:sp>
        <p:nvSpPr>
          <p:cNvPr id="58" name="TextBox 57">
            <a:extLst>
              <a:ext uri="{FF2B5EF4-FFF2-40B4-BE49-F238E27FC236}">
                <a16:creationId xmlns:a16="http://schemas.microsoft.com/office/drawing/2014/main" id="{EB8C85AF-599F-DB27-37DD-547C65B74F99}"/>
              </a:ext>
            </a:extLst>
          </p:cNvPr>
          <p:cNvSpPr txBox="1"/>
          <p:nvPr/>
        </p:nvSpPr>
        <p:spPr>
          <a:xfrm>
            <a:off x="8474457" y="5505464"/>
            <a:ext cx="354419" cy="369332"/>
          </a:xfrm>
          <a:prstGeom prst="rect">
            <a:avLst/>
          </a:prstGeom>
          <a:noFill/>
        </p:spPr>
        <p:txBody>
          <a:bodyPr wrap="square" rtlCol="0">
            <a:spAutoFit/>
          </a:bodyPr>
          <a:lstStyle/>
          <a:p>
            <a:r>
              <a:rPr lang="en-US" dirty="0"/>
              <a:t>F</a:t>
            </a:r>
          </a:p>
        </p:txBody>
      </p:sp>
      <p:sp>
        <p:nvSpPr>
          <p:cNvPr id="60" name="TextBox 59">
            <a:extLst>
              <a:ext uri="{FF2B5EF4-FFF2-40B4-BE49-F238E27FC236}">
                <a16:creationId xmlns:a16="http://schemas.microsoft.com/office/drawing/2014/main" id="{0E1A0DB1-AD06-2FB3-D218-D2D3E552658F}"/>
              </a:ext>
            </a:extLst>
          </p:cNvPr>
          <p:cNvSpPr txBox="1"/>
          <p:nvPr/>
        </p:nvSpPr>
        <p:spPr>
          <a:xfrm>
            <a:off x="9002454" y="3000538"/>
            <a:ext cx="354419" cy="369332"/>
          </a:xfrm>
          <a:prstGeom prst="rect">
            <a:avLst/>
          </a:prstGeom>
          <a:noFill/>
        </p:spPr>
        <p:txBody>
          <a:bodyPr wrap="square" rtlCol="0">
            <a:spAutoFit/>
          </a:bodyPr>
          <a:lstStyle/>
          <a:p>
            <a:r>
              <a:rPr lang="en-US" dirty="0"/>
              <a:t>A</a:t>
            </a:r>
          </a:p>
        </p:txBody>
      </p:sp>
      <p:sp>
        <p:nvSpPr>
          <p:cNvPr id="62" name="TextBox 61">
            <a:extLst>
              <a:ext uri="{FF2B5EF4-FFF2-40B4-BE49-F238E27FC236}">
                <a16:creationId xmlns:a16="http://schemas.microsoft.com/office/drawing/2014/main" id="{AD95E967-33DA-9F03-0B40-6E511EA4EED3}"/>
              </a:ext>
            </a:extLst>
          </p:cNvPr>
          <p:cNvSpPr txBox="1"/>
          <p:nvPr/>
        </p:nvSpPr>
        <p:spPr>
          <a:xfrm>
            <a:off x="8492024" y="4850531"/>
            <a:ext cx="354419" cy="369332"/>
          </a:xfrm>
          <a:prstGeom prst="rect">
            <a:avLst/>
          </a:prstGeom>
          <a:noFill/>
        </p:spPr>
        <p:txBody>
          <a:bodyPr wrap="square" rtlCol="0">
            <a:spAutoFit/>
          </a:bodyPr>
          <a:lstStyle/>
          <a:p>
            <a:r>
              <a:rPr lang="en-US" dirty="0"/>
              <a:t>D</a:t>
            </a:r>
          </a:p>
        </p:txBody>
      </p:sp>
      <p:sp>
        <p:nvSpPr>
          <p:cNvPr id="64" name="TextBox 63">
            <a:extLst>
              <a:ext uri="{FF2B5EF4-FFF2-40B4-BE49-F238E27FC236}">
                <a16:creationId xmlns:a16="http://schemas.microsoft.com/office/drawing/2014/main" id="{F888B31E-52EB-B835-A8F4-B387DC657C63}"/>
              </a:ext>
            </a:extLst>
          </p:cNvPr>
          <p:cNvSpPr txBox="1"/>
          <p:nvPr/>
        </p:nvSpPr>
        <p:spPr>
          <a:xfrm>
            <a:off x="9876893" y="3058927"/>
            <a:ext cx="354419" cy="369332"/>
          </a:xfrm>
          <a:prstGeom prst="rect">
            <a:avLst/>
          </a:prstGeom>
          <a:noFill/>
        </p:spPr>
        <p:txBody>
          <a:bodyPr wrap="square" rtlCol="0">
            <a:spAutoFit/>
          </a:bodyPr>
          <a:lstStyle/>
          <a:p>
            <a:r>
              <a:rPr lang="en-US" dirty="0"/>
              <a:t>D</a:t>
            </a:r>
          </a:p>
        </p:txBody>
      </p:sp>
      <p:sp>
        <p:nvSpPr>
          <p:cNvPr id="66" name="TextBox 65">
            <a:extLst>
              <a:ext uri="{FF2B5EF4-FFF2-40B4-BE49-F238E27FC236}">
                <a16:creationId xmlns:a16="http://schemas.microsoft.com/office/drawing/2014/main" id="{2E21DEBB-39CC-9060-A11D-B3D6C55C67DD}"/>
              </a:ext>
            </a:extLst>
          </p:cNvPr>
          <p:cNvSpPr txBox="1"/>
          <p:nvPr/>
        </p:nvSpPr>
        <p:spPr>
          <a:xfrm>
            <a:off x="9699684" y="3741471"/>
            <a:ext cx="354419" cy="369332"/>
          </a:xfrm>
          <a:prstGeom prst="rect">
            <a:avLst/>
          </a:prstGeom>
          <a:noFill/>
        </p:spPr>
        <p:txBody>
          <a:bodyPr wrap="square" rtlCol="0">
            <a:spAutoFit/>
          </a:bodyPr>
          <a:lstStyle/>
          <a:p>
            <a:r>
              <a:rPr lang="en-US" dirty="0"/>
              <a:t>D</a:t>
            </a:r>
          </a:p>
        </p:txBody>
      </p:sp>
      <p:sp>
        <p:nvSpPr>
          <p:cNvPr id="68" name="TextBox 67">
            <a:extLst>
              <a:ext uri="{FF2B5EF4-FFF2-40B4-BE49-F238E27FC236}">
                <a16:creationId xmlns:a16="http://schemas.microsoft.com/office/drawing/2014/main" id="{56B31A95-412C-FA45-E7AF-B5C96CEBC7BE}"/>
              </a:ext>
            </a:extLst>
          </p:cNvPr>
          <p:cNvSpPr txBox="1"/>
          <p:nvPr/>
        </p:nvSpPr>
        <p:spPr>
          <a:xfrm>
            <a:off x="9723264" y="4286177"/>
            <a:ext cx="354419" cy="369332"/>
          </a:xfrm>
          <a:prstGeom prst="rect">
            <a:avLst/>
          </a:prstGeom>
          <a:noFill/>
        </p:spPr>
        <p:txBody>
          <a:bodyPr wrap="square" rtlCol="0">
            <a:spAutoFit/>
          </a:bodyPr>
          <a:lstStyle/>
          <a:p>
            <a:r>
              <a:rPr lang="en-US" dirty="0"/>
              <a:t>D</a:t>
            </a:r>
          </a:p>
        </p:txBody>
      </p:sp>
      <p:sp>
        <p:nvSpPr>
          <p:cNvPr id="70" name="TextBox 69">
            <a:extLst>
              <a:ext uri="{FF2B5EF4-FFF2-40B4-BE49-F238E27FC236}">
                <a16:creationId xmlns:a16="http://schemas.microsoft.com/office/drawing/2014/main" id="{5D11B430-9946-7153-6438-D774F3449C75}"/>
              </a:ext>
            </a:extLst>
          </p:cNvPr>
          <p:cNvSpPr txBox="1"/>
          <p:nvPr/>
        </p:nvSpPr>
        <p:spPr>
          <a:xfrm>
            <a:off x="9032434" y="4785004"/>
            <a:ext cx="354419" cy="369332"/>
          </a:xfrm>
          <a:prstGeom prst="rect">
            <a:avLst/>
          </a:prstGeom>
          <a:noFill/>
        </p:spPr>
        <p:txBody>
          <a:bodyPr wrap="square" rtlCol="0">
            <a:spAutoFit/>
          </a:bodyPr>
          <a:lstStyle/>
          <a:p>
            <a:r>
              <a:rPr lang="en-US" dirty="0"/>
              <a:t>D</a:t>
            </a:r>
          </a:p>
        </p:txBody>
      </p:sp>
      <p:sp>
        <p:nvSpPr>
          <p:cNvPr id="72" name="TextBox 71">
            <a:extLst>
              <a:ext uri="{FF2B5EF4-FFF2-40B4-BE49-F238E27FC236}">
                <a16:creationId xmlns:a16="http://schemas.microsoft.com/office/drawing/2014/main" id="{518895E0-C921-2562-7560-CCBDE559897D}"/>
              </a:ext>
            </a:extLst>
          </p:cNvPr>
          <p:cNvSpPr txBox="1"/>
          <p:nvPr/>
        </p:nvSpPr>
        <p:spPr>
          <a:xfrm>
            <a:off x="9218425" y="4999789"/>
            <a:ext cx="354419" cy="369332"/>
          </a:xfrm>
          <a:prstGeom prst="rect">
            <a:avLst/>
          </a:prstGeom>
          <a:noFill/>
        </p:spPr>
        <p:txBody>
          <a:bodyPr wrap="square" rtlCol="0">
            <a:spAutoFit/>
          </a:bodyPr>
          <a:lstStyle/>
          <a:p>
            <a:r>
              <a:rPr lang="en-US" dirty="0"/>
              <a:t>C</a:t>
            </a:r>
          </a:p>
        </p:txBody>
      </p:sp>
      <p:sp>
        <p:nvSpPr>
          <p:cNvPr id="74" name="TextBox 73">
            <a:extLst>
              <a:ext uri="{FF2B5EF4-FFF2-40B4-BE49-F238E27FC236}">
                <a16:creationId xmlns:a16="http://schemas.microsoft.com/office/drawing/2014/main" id="{38AEAAED-D7A6-3E70-D9AA-F314872BE15E}"/>
              </a:ext>
            </a:extLst>
          </p:cNvPr>
          <p:cNvSpPr txBox="1"/>
          <p:nvPr/>
        </p:nvSpPr>
        <p:spPr>
          <a:xfrm>
            <a:off x="8948555" y="3556805"/>
            <a:ext cx="354419" cy="369332"/>
          </a:xfrm>
          <a:prstGeom prst="rect">
            <a:avLst/>
          </a:prstGeom>
          <a:noFill/>
        </p:spPr>
        <p:txBody>
          <a:bodyPr wrap="square" rtlCol="0">
            <a:spAutoFit/>
          </a:bodyPr>
          <a:lstStyle/>
          <a:p>
            <a:r>
              <a:rPr lang="en-US" dirty="0"/>
              <a:t>A</a:t>
            </a:r>
          </a:p>
        </p:txBody>
      </p:sp>
      <p:sp>
        <p:nvSpPr>
          <p:cNvPr id="76" name="TextBox 75">
            <a:extLst>
              <a:ext uri="{FF2B5EF4-FFF2-40B4-BE49-F238E27FC236}">
                <a16:creationId xmlns:a16="http://schemas.microsoft.com/office/drawing/2014/main" id="{430200EF-DE62-94D4-4E9E-46071F054F44}"/>
              </a:ext>
            </a:extLst>
          </p:cNvPr>
          <p:cNvSpPr txBox="1"/>
          <p:nvPr/>
        </p:nvSpPr>
        <p:spPr>
          <a:xfrm>
            <a:off x="9228288" y="3556805"/>
            <a:ext cx="354419" cy="369332"/>
          </a:xfrm>
          <a:prstGeom prst="rect">
            <a:avLst/>
          </a:prstGeom>
          <a:noFill/>
        </p:spPr>
        <p:txBody>
          <a:bodyPr wrap="square" rtlCol="0">
            <a:spAutoFit/>
          </a:bodyPr>
          <a:lstStyle/>
          <a:p>
            <a:r>
              <a:rPr lang="en-US" dirty="0"/>
              <a:t>B</a:t>
            </a:r>
          </a:p>
        </p:txBody>
      </p:sp>
      <p:sp>
        <p:nvSpPr>
          <p:cNvPr id="78" name="TextBox 77">
            <a:extLst>
              <a:ext uri="{FF2B5EF4-FFF2-40B4-BE49-F238E27FC236}">
                <a16:creationId xmlns:a16="http://schemas.microsoft.com/office/drawing/2014/main" id="{9F4CED3A-F6C2-C1EB-D7EF-33592DDF647C}"/>
              </a:ext>
            </a:extLst>
          </p:cNvPr>
          <p:cNvSpPr txBox="1"/>
          <p:nvPr/>
        </p:nvSpPr>
        <p:spPr>
          <a:xfrm>
            <a:off x="8953989" y="3858592"/>
            <a:ext cx="354419" cy="369332"/>
          </a:xfrm>
          <a:prstGeom prst="rect">
            <a:avLst/>
          </a:prstGeom>
          <a:noFill/>
        </p:spPr>
        <p:txBody>
          <a:bodyPr wrap="square" rtlCol="0">
            <a:spAutoFit/>
          </a:bodyPr>
          <a:lstStyle/>
          <a:p>
            <a:r>
              <a:rPr lang="en-US" dirty="0"/>
              <a:t>C</a:t>
            </a:r>
          </a:p>
        </p:txBody>
      </p:sp>
      <p:sp>
        <p:nvSpPr>
          <p:cNvPr id="80" name="TextBox 79">
            <a:extLst>
              <a:ext uri="{FF2B5EF4-FFF2-40B4-BE49-F238E27FC236}">
                <a16:creationId xmlns:a16="http://schemas.microsoft.com/office/drawing/2014/main" id="{C8DC4CDA-DEFE-9001-5555-42ADB0BC4E29}"/>
              </a:ext>
            </a:extLst>
          </p:cNvPr>
          <p:cNvSpPr txBox="1"/>
          <p:nvPr/>
        </p:nvSpPr>
        <p:spPr>
          <a:xfrm>
            <a:off x="9232622" y="3830353"/>
            <a:ext cx="354419" cy="369332"/>
          </a:xfrm>
          <a:prstGeom prst="rect">
            <a:avLst/>
          </a:prstGeom>
          <a:noFill/>
        </p:spPr>
        <p:txBody>
          <a:bodyPr wrap="square" rtlCol="0">
            <a:spAutoFit/>
          </a:bodyPr>
          <a:lstStyle/>
          <a:p>
            <a:r>
              <a:rPr lang="en-US" dirty="0"/>
              <a:t>D</a:t>
            </a:r>
          </a:p>
        </p:txBody>
      </p:sp>
      <p:sp>
        <p:nvSpPr>
          <p:cNvPr id="82" name="TextBox 81">
            <a:extLst>
              <a:ext uri="{FF2B5EF4-FFF2-40B4-BE49-F238E27FC236}">
                <a16:creationId xmlns:a16="http://schemas.microsoft.com/office/drawing/2014/main" id="{0BCCA717-AA55-CBCB-ADD0-AADC9FCA7705}"/>
              </a:ext>
            </a:extLst>
          </p:cNvPr>
          <p:cNvSpPr txBox="1"/>
          <p:nvPr/>
        </p:nvSpPr>
        <p:spPr>
          <a:xfrm>
            <a:off x="9640940" y="2952872"/>
            <a:ext cx="354419" cy="369332"/>
          </a:xfrm>
          <a:prstGeom prst="rect">
            <a:avLst/>
          </a:prstGeom>
          <a:noFill/>
        </p:spPr>
        <p:txBody>
          <a:bodyPr wrap="square" rtlCol="0">
            <a:spAutoFit/>
          </a:bodyPr>
          <a:lstStyle/>
          <a:p>
            <a:r>
              <a:rPr lang="en-US" dirty="0"/>
              <a:t>A</a:t>
            </a:r>
          </a:p>
        </p:txBody>
      </p:sp>
      <p:sp>
        <p:nvSpPr>
          <p:cNvPr id="84" name="TextBox 83">
            <a:extLst>
              <a:ext uri="{FF2B5EF4-FFF2-40B4-BE49-F238E27FC236}">
                <a16:creationId xmlns:a16="http://schemas.microsoft.com/office/drawing/2014/main" id="{6418312C-8CDE-F1B2-FE74-A61C7B7FE4C6}"/>
              </a:ext>
            </a:extLst>
          </p:cNvPr>
          <p:cNvSpPr txBox="1"/>
          <p:nvPr/>
        </p:nvSpPr>
        <p:spPr>
          <a:xfrm>
            <a:off x="7895159" y="5505464"/>
            <a:ext cx="354419" cy="369332"/>
          </a:xfrm>
          <a:prstGeom prst="rect">
            <a:avLst/>
          </a:prstGeom>
          <a:noFill/>
        </p:spPr>
        <p:txBody>
          <a:bodyPr wrap="square" rtlCol="0">
            <a:spAutoFit/>
          </a:bodyPr>
          <a:lstStyle/>
          <a:p>
            <a:r>
              <a:rPr lang="en-US" dirty="0"/>
              <a:t>E</a:t>
            </a:r>
          </a:p>
        </p:txBody>
      </p:sp>
      <p:sp>
        <p:nvSpPr>
          <p:cNvPr id="86" name="TextBox 85">
            <a:extLst>
              <a:ext uri="{FF2B5EF4-FFF2-40B4-BE49-F238E27FC236}">
                <a16:creationId xmlns:a16="http://schemas.microsoft.com/office/drawing/2014/main" id="{F9C3440B-B397-4D9E-3ACE-C3E8D9F4F273}"/>
              </a:ext>
            </a:extLst>
          </p:cNvPr>
          <p:cNvSpPr txBox="1"/>
          <p:nvPr/>
        </p:nvSpPr>
        <p:spPr>
          <a:xfrm>
            <a:off x="9699684" y="3244334"/>
            <a:ext cx="354419" cy="369332"/>
          </a:xfrm>
          <a:prstGeom prst="rect">
            <a:avLst/>
          </a:prstGeom>
          <a:noFill/>
        </p:spPr>
        <p:txBody>
          <a:bodyPr wrap="square" rtlCol="0">
            <a:spAutoFit/>
          </a:bodyPr>
          <a:lstStyle/>
          <a:p>
            <a:r>
              <a:rPr lang="en-US" dirty="0"/>
              <a:t>F</a:t>
            </a:r>
          </a:p>
        </p:txBody>
      </p:sp>
      <p:sp>
        <p:nvSpPr>
          <p:cNvPr id="88" name="TextBox 87">
            <a:extLst>
              <a:ext uri="{FF2B5EF4-FFF2-40B4-BE49-F238E27FC236}">
                <a16:creationId xmlns:a16="http://schemas.microsoft.com/office/drawing/2014/main" id="{8D7B5EF1-F5E2-E00B-30B9-4758039899B8}"/>
              </a:ext>
            </a:extLst>
          </p:cNvPr>
          <p:cNvSpPr txBox="1"/>
          <p:nvPr/>
        </p:nvSpPr>
        <p:spPr>
          <a:xfrm>
            <a:off x="7281311" y="4351986"/>
            <a:ext cx="354419" cy="369332"/>
          </a:xfrm>
          <a:prstGeom prst="rect">
            <a:avLst/>
          </a:prstGeom>
          <a:noFill/>
        </p:spPr>
        <p:txBody>
          <a:bodyPr wrap="square" rtlCol="0">
            <a:spAutoFit/>
          </a:bodyPr>
          <a:lstStyle/>
          <a:p>
            <a:r>
              <a:rPr lang="en-US" dirty="0"/>
              <a:t>E</a:t>
            </a:r>
          </a:p>
        </p:txBody>
      </p:sp>
      <p:sp>
        <p:nvSpPr>
          <p:cNvPr id="2" name="Right Brace 1">
            <a:extLst>
              <a:ext uri="{FF2B5EF4-FFF2-40B4-BE49-F238E27FC236}">
                <a16:creationId xmlns:a16="http://schemas.microsoft.com/office/drawing/2014/main" id="{BB7A4E1D-2E25-015D-A3C9-3C791F9837DC}"/>
              </a:ext>
            </a:extLst>
          </p:cNvPr>
          <p:cNvSpPr/>
          <p:nvPr/>
        </p:nvSpPr>
        <p:spPr>
          <a:xfrm>
            <a:off x="10388009" y="3211127"/>
            <a:ext cx="265656" cy="26636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0FE2FDC9-31D8-94E3-24B3-EA7CCDAE7A2A}"/>
              </a:ext>
            </a:extLst>
          </p:cNvPr>
          <p:cNvSpPr txBox="1"/>
          <p:nvPr/>
        </p:nvSpPr>
        <p:spPr>
          <a:xfrm>
            <a:off x="10718601" y="3984126"/>
            <a:ext cx="1130910" cy="1200329"/>
          </a:xfrm>
          <a:prstGeom prst="rect">
            <a:avLst/>
          </a:prstGeom>
          <a:noFill/>
        </p:spPr>
        <p:txBody>
          <a:bodyPr wrap="square" rtlCol="0">
            <a:spAutoFit/>
          </a:bodyPr>
          <a:lstStyle/>
          <a:p>
            <a:r>
              <a:rPr lang="en-US" dirty="0"/>
              <a:t>Extract PD, RPD, PE, and RPE </a:t>
            </a:r>
          </a:p>
        </p:txBody>
      </p:sp>
    </p:spTree>
    <p:extLst>
      <p:ext uri="{BB962C8B-B14F-4D97-AF65-F5344CB8AC3E}">
        <p14:creationId xmlns:p14="http://schemas.microsoft.com/office/powerpoint/2010/main" val="1166195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DF661-80C7-5A44-047A-3E21908A3C91}"/>
            </a:ext>
          </a:extLst>
        </p:cNvPr>
        <p:cNvGrpSpPr/>
        <p:nvPr/>
      </p:nvGrpSpPr>
      <p:grpSpPr>
        <a:xfrm>
          <a:off x="0" y="0"/>
          <a:ext cx="0" cy="0"/>
          <a:chOff x="0" y="0"/>
          <a:chExt cx="0" cy="0"/>
        </a:xfrm>
      </p:grpSpPr>
      <p:sp>
        <p:nvSpPr>
          <p:cNvPr id="867" name="TextBox 866">
            <a:extLst>
              <a:ext uri="{FF2B5EF4-FFF2-40B4-BE49-F238E27FC236}">
                <a16:creationId xmlns:a16="http://schemas.microsoft.com/office/drawing/2014/main" id="{9B08FB8E-8BD2-2EF4-225B-5E08A5D0046A}"/>
              </a:ext>
            </a:extLst>
          </p:cNvPr>
          <p:cNvSpPr txBox="1"/>
          <p:nvPr/>
        </p:nvSpPr>
        <p:spPr>
          <a:xfrm>
            <a:off x="7439059" y="3993962"/>
            <a:ext cx="354419" cy="369332"/>
          </a:xfrm>
          <a:prstGeom prst="rect">
            <a:avLst/>
          </a:prstGeom>
          <a:noFill/>
        </p:spPr>
        <p:txBody>
          <a:bodyPr wrap="square" rtlCol="0">
            <a:spAutoFit/>
          </a:bodyPr>
          <a:lstStyle/>
          <a:p>
            <a:r>
              <a:rPr lang="en-US" dirty="0"/>
              <a:t>B</a:t>
            </a:r>
          </a:p>
        </p:txBody>
      </p:sp>
      <p:sp>
        <p:nvSpPr>
          <p:cNvPr id="869" name="TextBox 868">
            <a:extLst>
              <a:ext uri="{FF2B5EF4-FFF2-40B4-BE49-F238E27FC236}">
                <a16:creationId xmlns:a16="http://schemas.microsoft.com/office/drawing/2014/main" id="{F777FAF5-EBF2-8A42-74A3-71B26A35A2C8}"/>
              </a:ext>
            </a:extLst>
          </p:cNvPr>
          <p:cNvSpPr txBox="1"/>
          <p:nvPr/>
        </p:nvSpPr>
        <p:spPr>
          <a:xfrm>
            <a:off x="7407401" y="3572194"/>
            <a:ext cx="354419" cy="369332"/>
          </a:xfrm>
          <a:prstGeom prst="rect">
            <a:avLst/>
          </a:prstGeom>
          <a:noFill/>
        </p:spPr>
        <p:txBody>
          <a:bodyPr wrap="square" rtlCol="0">
            <a:spAutoFit/>
          </a:bodyPr>
          <a:lstStyle/>
          <a:p>
            <a:r>
              <a:rPr lang="en-US" dirty="0"/>
              <a:t>D</a:t>
            </a:r>
          </a:p>
        </p:txBody>
      </p:sp>
      <p:sp>
        <p:nvSpPr>
          <p:cNvPr id="871" name="TextBox 870">
            <a:extLst>
              <a:ext uri="{FF2B5EF4-FFF2-40B4-BE49-F238E27FC236}">
                <a16:creationId xmlns:a16="http://schemas.microsoft.com/office/drawing/2014/main" id="{4D8A74E5-67C4-51A3-F1B0-4D255DB6D9AD}"/>
              </a:ext>
            </a:extLst>
          </p:cNvPr>
          <p:cNvSpPr txBox="1"/>
          <p:nvPr/>
        </p:nvSpPr>
        <p:spPr>
          <a:xfrm>
            <a:off x="6687666" y="3941526"/>
            <a:ext cx="354419" cy="369332"/>
          </a:xfrm>
          <a:prstGeom prst="rect">
            <a:avLst/>
          </a:prstGeom>
          <a:noFill/>
        </p:spPr>
        <p:txBody>
          <a:bodyPr wrap="square" rtlCol="0">
            <a:spAutoFit/>
          </a:bodyPr>
          <a:lstStyle/>
          <a:p>
            <a:r>
              <a:rPr lang="en-US" dirty="0"/>
              <a:t>A</a:t>
            </a:r>
          </a:p>
        </p:txBody>
      </p:sp>
      <p:sp>
        <p:nvSpPr>
          <p:cNvPr id="873" name="TextBox 872">
            <a:extLst>
              <a:ext uri="{FF2B5EF4-FFF2-40B4-BE49-F238E27FC236}">
                <a16:creationId xmlns:a16="http://schemas.microsoft.com/office/drawing/2014/main" id="{7A3D2700-37FF-9531-A19E-9E96C379FC08}"/>
              </a:ext>
            </a:extLst>
          </p:cNvPr>
          <p:cNvSpPr txBox="1"/>
          <p:nvPr/>
        </p:nvSpPr>
        <p:spPr>
          <a:xfrm>
            <a:off x="6930491" y="3931531"/>
            <a:ext cx="354419" cy="369332"/>
          </a:xfrm>
          <a:prstGeom prst="rect">
            <a:avLst/>
          </a:prstGeom>
          <a:noFill/>
        </p:spPr>
        <p:txBody>
          <a:bodyPr wrap="square" rtlCol="0">
            <a:spAutoFit/>
          </a:bodyPr>
          <a:lstStyle/>
          <a:p>
            <a:r>
              <a:rPr lang="en-US" dirty="0"/>
              <a:t>B</a:t>
            </a:r>
          </a:p>
        </p:txBody>
      </p:sp>
      <p:sp>
        <p:nvSpPr>
          <p:cNvPr id="875" name="TextBox 874">
            <a:extLst>
              <a:ext uri="{FF2B5EF4-FFF2-40B4-BE49-F238E27FC236}">
                <a16:creationId xmlns:a16="http://schemas.microsoft.com/office/drawing/2014/main" id="{F3092A5F-A2FA-EE84-7293-9BE8FEAF78A9}"/>
              </a:ext>
            </a:extLst>
          </p:cNvPr>
          <p:cNvSpPr txBox="1"/>
          <p:nvPr/>
        </p:nvSpPr>
        <p:spPr>
          <a:xfrm>
            <a:off x="6825210" y="4136187"/>
            <a:ext cx="354419" cy="369332"/>
          </a:xfrm>
          <a:prstGeom prst="rect">
            <a:avLst/>
          </a:prstGeom>
          <a:noFill/>
        </p:spPr>
        <p:txBody>
          <a:bodyPr wrap="square" rtlCol="0">
            <a:spAutoFit/>
          </a:bodyPr>
          <a:lstStyle/>
          <a:p>
            <a:r>
              <a:rPr lang="en-US" dirty="0"/>
              <a:t>D</a:t>
            </a:r>
          </a:p>
        </p:txBody>
      </p:sp>
      <p:sp>
        <p:nvSpPr>
          <p:cNvPr id="877" name="TextBox 876">
            <a:extLst>
              <a:ext uri="{FF2B5EF4-FFF2-40B4-BE49-F238E27FC236}">
                <a16:creationId xmlns:a16="http://schemas.microsoft.com/office/drawing/2014/main" id="{4344AC9E-BEE0-87D0-E9FE-A2B918E72C90}"/>
              </a:ext>
            </a:extLst>
          </p:cNvPr>
          <p:cNvSpPr txBox="1"/>
          <p:nvPr/>
        </p:nvSpPr>
        <p:spPr>
          <a:xfrm>
            <a:off x="6906936" y="3552204"/>
            <a:ext cx="354419" cy="369332"/>
          </a:xfrm>
          <a:prstGeom prst="rect">
            <a:avLst/>
          </a:prstGeom>
          <a:noFill/>
        </p:spPr>
        <p:txBody>
          <a:bodyPr wrap="square" rtlCol="0">
            <a:spAutoFit/>
          </a:bodyPr>
          <a:lstStyle/>
          <a:p>
            <a:r>
              <a:rPr lang="en-US" dirty="0"/>
              <a:t>D</a:t>
            </a:r>
          </a:p>
        </p:txBody>
      </p:sp>
      <p:sp>
        <p:nvSpPr>
          <p:cNvPr id="879" name="TextBox 878">
            <a:extLst>
              <a:ext uri="{FF2B5EF4-FFF2-40B4-BE49-F238E27FC236}">
                <a16:creationId xmlns:a16="http://schemas.microsoft.com/office/drawing/2014/main" id="{CD6DE882-9BB3-C13C-40B4-AE8AFACA1AD6}"/>
              </a:ext>
            </a:extLst>
          </p:cNvPr>
          <p:cNvSpPr txBox="1"/>
          <p:nvPr/>
        </p:nvSpPr>
        <p:spPr>
          <a:xfrm>
            <a:off x="8626435" y="4661718"/>
            <a:ext cx="354419" cy="369332"/>
          </a:xfrm>
          <a:prstGeom prst="rect">
            <a:avLst/>
          </a:prstGeom>
          <a:noFill/>
        </p:spPr>
        <p:txBody>
          <a:bodyPr wrap="square" rtlCol="0">
            <a:spAutoFit/>
          </a:bodyPr>
          <a:lstStyle/>
          <a:p>
            <a:r>
              <a:rPr lang="en-US" dirty="0"/>
              <a:t>D</a:t>
            </a:r>
          </a:p>
        </p:txBody>
      </p:sp>
      <p:sp>
        <p:nvSpPr>
          <p:cNvPr id="881" name="TextBox 880">
            <a:extLst>
              <a:ext uri="{FF2B5EF4-FFF2-40B4-BE49-F238E27FC236}">
                <a16:creationId xmlns:a16="http://schemas.microsoft.com/office/drawing/2014/main" id="{07DBEE8A-FB38-B12F-3999-73D2802CD65F}"/>
              </a:ext>
            </a:extLst>
          </p:cNvPr>
          <p:cNvSpPr txBox="1"/>
          <p:nvPr/>
        </p:nvSpPr>
        <p:spPr>
          <a:xfrm>
            <a:off x="8103577" y="4503196"/>
            <a:ext cx="354419" cy="369332"/>
          </a:xfrm>
          <a:prstGeom prst="rect">
            <a:avLst/>
          </a:prstGeom>
          <a:noFill/>
        </p:spPr>
        <p:txBody>
          <a:bodyPr wrap="square" rtlCol="0">
            <a:spAutoFit/>
          </a:bodyPr>
          <a:lstStyle/>
          <a:p>
            <a:r>
              <a:rPr lang="en-US" dirty="0"/>
              <a:t>B</a:t>
            </a:r>
          </a:p>
        </p:txBody>
      </p:sp>
      <p:sp>
        <p:nvSpPr>
          <p:cNvPr id="883" name="TextBox 882">
            <a:extLst>
              <a:ext uri="{FF2B5EF4-FFF2-40B4-BE49-F238E27FC236}">
                <a16:creationId xmlns:a16="http://schemas.microsoft.com/office/drawing/2014/main" id="{9E0932C1-4EE4-0D8F-56CB-36E97B8329F6}"/>
              </a:ext>
            </a:extLst>
          </p:cNvPr>
          <p:cNvSpPr txBox="1"/>
          <p:nvPr/>
        </p:nvSpPr>
        <p:spPr>
          <a:xfrm>
            <a:off x="7992334" y="4716140"/>
            <a:ext cx="354419" cy="369332"/>
          </a:xfrm>
          <a:prstGeom prst="rect">
            <a:avLst/>
          </a:prstGeom>
          <a:noFill/>
        </p:spPr>
        <p:txBody>
          <a:bodyPr wrap="square" rtlCol="0">
            <a:spAutoFit/>
          </a:bodyPr>
          <a:lstStyle/>
          <a:p>
            <a:r>
              <a:rPr lang="en-US" dirty="0"/>
              <a:t>D</a:t>
            </a:r>
          </a:p>
        </p:txBody>
      </p:sp>
      <p:sp>
        <p:nvSpPr>
          <p:cNvPr id="885" name="TextBox 884">
            <a:extLst>
              <a:ext uri="{FF2B5EF4-FFF2-40B4-BE49-F238E27FC236}">
                <a16:creationId xmlns:a16="http://schemas.microsoft.com/office/drawing/2014/main" id="{11F9B109-14CC-8240-4089-E44D0AD7F437}"/>
              </a:ext>
            </a:extLst>
          </p:cNvPr>
          <p:cNvSpPr txBox="1"/>
          <p:nvPr/>
        </p:nvSpPr>
        <p:spPr>
          <a:xfrm>
            <a:off x="8718631" y="3547003"/>
            <a:ext cx="354419" cy="369332"/>
          </a:xfrm>
          <a:prstGeom prst="rect">
            <a:avLst/>
          </a:prstGeom>
          <a:noFill/>
        </p:spPr>
        <p:txBody>
          <a:bodyPr wrap="square" rtlCol="0">
            <a:spAutoFit/>
          </a:bodyPr>
          <a:lstStyle/>
          <a:p>
            <a:r>
              <a:rPr lang="en-US" dirty="0"/>
              <a:t>C</a:t>
            </a:r>
          </a:p>
        </p:txBody>
      </p:sp>
      <p:sp>
        <p:nvSpPr>
          <p:cNvPr id="887" name="TextBox 886">
            <a:extLst>
              <a:ext uri="{FF2B5EF4-FFF2-40B4-BE49-F238E27FC236}">
                <a16:creationId xmlns:a16="http://schemas.microsoft.com/office/drawing/2014/main" id="{8645FE8F-B451-6AA0-074E-9A1CCB8F5984}"/>
              </a:ext>
            </a:extLst>
          </p:cNvPr>
          <p:cNvSpPr txBox="1"/>
          <p:nvPr/>
        </p:nvSpPr>
        <p:spPr>
          <a:xfrm>
            <a:off x="7998168" y="4009802"/>
            <a:ext cx="354419" cy="369332"/>
          </a:xfrm>
          <a:prstGeom prst="rect">
            <a:avLst/>
          </a:prstGeom>
          <a:noFill/>
        </p:spPr>
        <p:txBody>
          <a:bodyPr wrap="square" rtlCol="0">
            <a:spAutoFit/>
          </a:bodyPr>
          <a:lstStyle/>
          <a:p>
            <a:r>
              <a:rPr lang="en-US" dirty="0"/>
              <a:t>C</a:t>
            </a:r>
          </a:p>
        </p:txBody>
      </p:sp>
      <p:sp>
        <p:nvSpPr>
          <p:cNvPr id="889" name="TextBox 888">
            <a:extLst>
              <a:ext uri="{FF2B5EF4-FFF2-40B4-BE49-F238E27FC236}">
                <a16:creationId xmlns:a16="http://schemas.microsoft.com/office/drawing/2014/main" id="{715D2940-64E7-60B2-A5B3-96A598B2EBF1}"/>
              </a:ext>
            </a:extLst>
          </p:cNvPr>
          <p:cNvSpPr txBox="1"/>
          <p:nvPr/>
        </p:nvSpPr>
        <p:spPr>
          <a:xfrm>
            <a:off x="9274224" y="5841340"/>
            <a:ext cx="354419" cy="369332"/>
          </a:xfrm>
          <a:prstGeom prst="rect">
            <a:avLst/>
          </a:prstGeom>
          <a:noFill/>
        </p:spPr>
        <p:txBody>
          <a:bodyPr wrap="square" rtlCol="0">
            <a:spAutoFit/>
          </a:bodyPr>
          <a:lstStyle/>
          <a:p>
            <a:r>
              <a:rPr lang="en-US" dirty="0"/>
              <a:t>C</a:t>
            </a:r>
          </a:p>
        </p:txBody>
      </p:sp>
      <p:sp>
        <p:nvSpPr>
          <p:cNvPr id="891" name="TextBox 890">
            <a:extLst>
              <a:ext uri="{FF2B5EF4-FFF2-40B4-BE49-F238E27FC236}">
                <a16:creationId xmlns:a16="http://schemas.microsoft.com/office/drawing/2014/main" id="{415A6BDA-5CEC-228F-7887-A9D124ECB6D8}"/>
              </a:ext>
            </a:extLst>
          </p:cNvPr>
          <p:cNvSpPr txBox="1"/>
          <p:nvPr/>
        </p:nvSpPr>
        <p:spPr>
          <a:xfrm>
            <a:off x="8018356" y="5841340"/>
            <a:ext cx="354419" cy="369332"/>
          </a:xfrm>
          <a:prstGeom prst="rect">
            <a:avLst/>
          </a:prstGeom>
          <a:noFill/>
        </p:spPr>
        <p:txBody>
          <a:bodyPr wrap="square" rtlCol="0">
            <a:spAutoFit/>
          </a:bodyPr>
          <a:lstStyle/>
          <a:p>
            <a:r>
              <a:rPr lang="en-US" dirty="0"/>
              <a:t>F</a:t>
            </a:r>
          </a:p>
        </p:txBody>
      </p:sp>
      <p:sp>
        <p:nvSpPr>
          <p:cNvPr id="893" name="TextBox 892">
            <a:extLst>
              <a:ext uri="{FF2B5EF4-FFF2-40B4-BE49-F238E27FC236}">
                <a16:creationId xmlns:a16="http://schemas.microsoft.com/office/drawing/2014/main" id="{AEC3FE40-9F02-2732-B541-42D69FDF42F5}"/>
              </a:ext>
            </a:extLst>
          </p:cNvPr>
          <p:cNvSpPr txBox="1"/>
          <p:nvPr/>
        </p:nvSpPr>
        <p:spPr>
          <a:xfrm>
            <a:off x="8035923" y="5186407"/>
            <a:ext cx="354419" cy="369332"/>
          </a:xfrm>
          <a:prstGeom prst="rect">
            <a:avLst/>
          </a:prstGeom>
          <a:noFill/>
        </p:spPr>
        <p:txBody>
          <a:bodyPr wrap="square" rtlCol="0">
            <a:spAutoFit/>
          </a:bodyPr>
          <a:lstStyle/>
          <a:p>
            <a:r>
              <a:rPr lang="en-US" dirty="0"/>
              <a:t>D</a:t>
            </a:r>
          </a:p>
        </p:txBody>
      </p:sp>
      <p:sp>
        <p:nvSpPr>
          <p:cNvPr id="895" name="TextBox 894">
            <a:extLst>
              <a:ext uri="{FF2B5EF4-FFF2-40B4-BE49-F238E27FC236}">
                <a16:creationId xmlns:a16="http://schemas.microsoft.com/office/drawing/2014/main" id="{3C0FB219-AC4A-22DB-33A5-A48E06270C23}"/>
              </a:ext>
            </a:extLst>
          </p:cNvPr>
          <p:cNvSpPr txBox="1"/>
          <p:nvPr/>
        </p:nvSpPr>
        <p:spPr>
          <a:xfrm>
            <a:off x="9420792" y="3394803"/>
            <a:ext cx="354419" cy="369332"/>
          </a:xfrm>
          <a:prstGeom prst="rect">
            <a:avLst/>
          </a:prstGeom>
          <a:noFill/>
        </p:spPr>
        <p:txBody>
          <a:bodyPr wrap="square" rtlCol="0">
            <a:spAutoFit/>
          </a:bodyPr>
          <a:lstStyle/>
          <a:p>
            <a:r>
              <a:rPr lang="en-US" dirty="0"/>
              <a:t>D</a:t>
            </a:r>
          </a:p>
        </p:txBody>
      </p:sp>
      <p:sp>
        <p:nvSpPr>
          <p:cNvPr id="897" name="TextBox 896">
            <a:extLst>
              <a:ext uri="{FF2B5EF4-FFF2-40B4-BE49-F238E27FC236}">
                <a16:creationId xmlns:a16="http://schemas.microsoft.com/office/drawing/2014/main" id="{C83A6AC0-E05D-470C-1ED7-041422A27EAA}"/>
              </a:ext>
            </a:extLst>
          </p:cNvPr>
          <p:cNvSpPr txBox="1"/>
          <p:nvPr/>
        </p:nvSpPr>
        <p:spPr>
          <a:xfrm>
            <a:off x="9243583" y="4077347"/>
            <a:ext cx="354419" cy="369332"/>
          </a:xfrm>
          <a:prstGeom prst="rect">
            <a:avLst/>
          </a:prstGeom>
          <a:noFill/>
        </p:spPr>
        <p:txBody>
          <a:bodyPr wrap="square" rtlCol="0">
            <a:spAutoFit/>
          </a:bodyPr>
          <a:lstStyle/>
          <a:p>
            <a:r>
              <a:rPr lang="en-US" dirty="0"/>
              <a:t>D</a:t>
            </a:r>
          </a:p>
        </p:txBody>
      </p:sp>
      <p:sp>
        <p:nvSpPr>
          <p:cNvPr id="899" name="TextBox 898">
            <a:extLst>
              <a:ext uri="{FF2B5EF4-FFF2-40B4-BE49-F238E27FC236}">
                <a16:creationId xmlns:a16="http://schemas.microsoft.com/office/drawing/2014/main" id="{F1ABB66C-193C-F38F-872F-2B724770EECD}"/>
              </a:ext>
            </a:extLst>
          </p:cNvPr>
          <p:cNvSpPr txBox="1"/>
          <p:nvPr/>
        </p:nvSpPr>
        <p:spPr>
          <a:xfrm>
            <a:off x="9267163" y="4622053"/>
            <a:ext cx="354419" cy="369332"/>
          </a:xfrm>
          <a:prstGeom prst="rect">
            <a:avLst/>
          </a:prstGeom>
          <a:noFill/>
        </p:spPr>
        <p:txBody>
          <a:bodyPr wrap="square" rtlCol="0">
            <a:spAutoFit/>
          </a:bodyPr>
          <a:lstStyle/>
          <a:p>
            <a:r>
              <a:rPr lang="en-US" dirty="0"/>
              <a:t>D</a:t>
            </a:r>
          </a:p>
        </p:txBody>
      </p:sp>
      <p:sp>
        <p:nvSpPr>
          <p:cNvPr id="901" name="TextBox 900">
            <a:extLst>
              <a:ext uri="{FF2B5EF4-FFF2-40B4-BE49-F238E27FC236}">
                <a16:creationId xmlns:a16="http://schemas.microsoft.com/office/drawing/2014/main" id="{5177D16D-79DA-B85D-AB4E-3B4E091FFF63}"/>
              </a:ext>
            </a:extLst>
          </p:cNvPr>
          <p:cNvSpPr txBox="1"/>
          <p:nvPr/>
        </p:nvSpPr>
        <p:spPr>
          <a:xfrm>
            <a:off x="8576333" y="5120880"/>
            <a:ext cx="354419" cy="369332"/>
          </a:xfrm>
          <a:prstGeom prst="rect">
            <a:avLst/>
          </a:prstGeom>
          <a:noFill/>
        </p:spPr>
        <p:txBody>
          <a:bodyPr wrap="square" rtlCol="0">
            <a:spAutoFit/>
          </a:bodyPr>
          <a:lstStyle/>
          <a:p>
            <a:r>
              <a:rPr lang="en-US" dirty="0"/>
              <a:t>D</a:t>
            </a:r>
          </a:p>
        </p:txBody>
      </p:sp>
      <p:sp>
        <p:nvSpPr>
          <p:cNvPr id="903" name="TextBox 902">
            <a:extLst>
              <a:ext uri="{FF2B5EF4-FFF2-40B4-BE49-F238E27FC236}">
                <a16:creationId xmlns:a16="http://schemas.microsoft.com/office/drawing/2014/main" id="{AB7446A4-F891-2724-BF13-267F53F42BEC}"/>
              </a:ext>
            </a:extLst>
          </p:cNvPr>
          <p:cNvSpPr txBox="1"/>
          <p:nvPr/>
        </p:nvSpPr>
        <p:spPr>
          <a:xfrm>
            <a:off x="8762324" y="5335665"/>
            <a:ext cx="354419" cy="369332"/>
          </a:xfrm>
          <a:prstGeom prst="rect">
            <a:avLst/>
          </a:prstGeom>
          <a:noFill/>
        </p:spPr>
        <p:txBody>
          <a:bodyPr wrap="square" rtlCol="0">
            <a:spAutoFit/>
          </a:bodyPr>
          <a:lstStyle/>
          <a:p>
            <a:r>
              <a:rPr lang="en-US" dirty="0"/>
              <a:t>C</a:t>
            </a:r>
          </a:p>
        </p:txBody>
      </p:sp>
      <p:sp>
        <p:nvSpPr>
          <p:cNvPr id="905" name="TextBox 904">
            <a:extLst>
              <a:ext uri="{FF2B5EF4-FFF2-40B4-BE49-F238E27FC236}">
                <a16:creationId xmlns:a16="http://schemas.microsoft.com/office/drawing/2014/main" id="{EFB8EFE4-70A9-75E2-66A2-8D6FFAAC5D57}"/>
              </a:ext>
            </a:extLst>
          </p:cNvPr>
          <p:cNvSpPr txBox="1"/>
          <p:nvPr/>
        </p:nvSpPr>
        <p:spPr>
          <a:xfrm>
            <a:off x="8492454" y="3892681"/>
            <a:ext cx="354419" cy="369332"/>
          </a:xfrm>
          <a:prstGeom prst="rect">
            <a:avLst/>
          </a:prstGeom>
          <a:noFill/>
        </p:spPr>
        <p:txBody>
          <a:bodyPr wrap="square" rtlCol="0">
            <a:spAutoFit/>
          </a:bodyPr>
          <a:lstStyle/>
          <a:p>
            <a:r>
              <a:rPr lang="en-US" dirty="0"/>
              <a:t>A</a:t>
            </a:r>
          </a:p>
        </p:txBody>
      </p:sp>
      <p:sp>
        <p:nvSpPr>
          <p:cNvPr id="907" name="TextBox 906">
            <a:extLst>
              <a:ext uri="{FF2B5EF4-FFF2-40B4-BE49-F238E27FC236}">
                <a16:creationId xmlns:a16="http://schemas.microsoft.com/office/drawing/2014/main" id="{02864959-A91B-9B6E-2767-D53A0966CAAD}"/>
              </a:ext>
            </a:extLst>
          </p:cNvPr>
          <p:cNvSpPr txBox="1"/>
          <p:nvPr/>
        </p:nvSpPr>
        <p:spPr>
          <a:xfrm>
            <a:off x="8772187" y="3892681"/>
            <a:ext cx="354419" cy="369332"/>
          </a:xfrm>
          <a:prstGeom prst="rect">
            <a:avLst/>
          </a:prstGeom>
          <a:noFill/>
        </p:spPr>
        <p:txBody>
          <a:bodyPr wrap="square" rtlCol="0">
            <a:spAutoFit/>
          </a:bodyPr>
          <a:lstStyle/>
          <a:p>
            <a:r>
              <a:rPr lang="en-US" dirty="0"/>
              <a:t>B</a:t>
            </a:r>
          </a:p>
        </p:txBody>
      </p:sp>
      <p:sp>
        <p:nvSpPr>
          <p:cNvPr id="909" name="TextBox 908">
            <a:extLst>
              <a:ext uri="{FF2B5EF4-FFF2-40B4-BE49-F238E27FC236}">
                <a16:creationId xmlns:a16="http://schemas.microsoft.com/office/drawing/2014/main" id="{03952A10-CEE6-2628-A5DD-AD414577EA22}"/>
              </a:ext>
            </a:extLst>
          </p:cNvPr>
          <p:cNvSpPr txBox="1"/>
          <p:nvPr/>
        </p:nvSpPr>
        <p:spPr>
          <a:xfrm>
            <a:off x="8497888" y="4194468"/>
            <a:ext cx="354419" cy="369332"/>
          </a:xfrm>
          <a:prstGeom prst="rect">
            <a:avLst/>
          </a:prstGeom>
          <a:noFill/>
        </p:spPr>
        <p:txBody>
          <a:bodyPr wrap="square" rtlCol="0">
            <a:spAutoFit/>
          </a:bodyPr>
          <a:lstStyle/>
          <a:p>
            <a:r>
              <a:rPr lang="en-US" dirty="0"/>
              <a:t>C</a:t>
            </a:r>
          </a:p>
        </p:txBody>
      </p:sp>
      <p:sp>
        <p:nvSpPr>
          <p:cNvPr id="911" name="TextBox 910">
            <a:extLst>
              <a:ext uri="{FF2B5EF4-FFF2-40B4-BE49-F238E27FC236}">
                <a16:creationId xmlns:a16="http://schemas.microsoft.com/office/drawing/2014/main" id="{1198E341-CEF8-D821-DE10-4FDD62F51020}"/>
              </a:ext>
            </a:extLst>
          </p:cNvPr>
          <p:cNvSpPr txBox="1"/>
          <p:nvPr/>
        </p:nvSpPr>
        <p:spPr>
          <a:xfrm>
            <a:off x="8776521" y="4166229"/>
            <a:ext cx="354419" cy="369332"/>
          </a:xfrm>
          <a:prstGeom prst="rect">
            <a:avLst/>
          </a:prstGeom>
          <a:noFill/>
        </p:spPr>
        <p:txBody>
          <a:bodyPr wrap="square" rtlCol="0">
            <a:spAutoFit/>
          </a:bodyPr>
          <a:lstStyle/>
          <a:p>
            <a:r>
              <a:rPr lang="en-US" dirty="0"/>
              <a:t>D</a:t>
            </a:r>
          </a:p>
        </p:txBody>
      </p:sp>
      <p:sp>
        <p:nvSpPr>
          <p:cNvPr id="913" name="TextBox 912">
            <a:extLst>
              <a:ext uri="{FF2B5EF4-FFF2-40B4-BE49-F238E27FC236}">
                <a16:creationId xmlns:a16="http://schemas.microsoft.com/office/drawing/2014/main" id="{D458AA37-2F9D-B410-7D35-245D60D8F811}"/>
              </a:ext>
            </a:extLst>
          </p:cNvPr>
          <p:cNvSpPr txBox="1"/>
          <p:nvPr/>
        </p:nvSpPr>
        <p:spPr>
          <a:xfrm>
            <a:off x="7439058" y="5841340"/>
            <a:ext cx="354419" cy="369332"/>
          </a:xfrm>
          <a:prstGeom prst="rect">
            <a:avLst/>
          </a:prstGeom>
          <a:noFill/>
        </p:spPr>
        <p:txBody>
          <a:bodyPr wrap="square" rtlCol="0">
            <a:spAutoFit/>
          </a:bodyPr>
          <a:lstStyle/>
          <a:p>
            <a:r>
              <a:rPr lang="en-US" dirty="0"/>
              <a:t>E</a:t>
            </a:r>
          </a:p>
        </p:txBody>
      </p:sp>
      <p:sp>
        <p:nvSpPr>
          <p:cNvPr id="915" name="TextBox 914">
            <a:extLst>
              <a:ext uri="{FF2B5EF4-FFF2-40B4-BE49-F238E27FC236}">
                <a16:creationId xmlns:a16="http://schemas.microsoft.com/office/drawing/2014/main" id="{8A7B7365-B52B-7883-E020-394C1E780987}"/>
              </a:ext>
            </a:extLst>
          </p:cNvPr>
          <p:cNvSpPr txBox="1"/>
          <p:nvPr/>
        </p:nvSpPr>
        <p:spPr>
          <a:xfrm>
            <a:off x="9243583" y="3580210"/>
            <a:ext cx="354419" cy="369332"/>
          </a:xfrm>
          <a:prstGeom prst="rect">
            <a:avLst/>
          </a:prstGeom>
          <a:noFill/>
        </p:spPr>
        <p:txBody>
          <a:bodyPr wrap="square" rtlCol="0">
            <a:spAutoFit/>
          </a:bodyPr>
          <a:lstStyle/>
          <a:p>
            <a:r>
              <a:rPr lang="en-US" dirty="0"/>
              <a:t>F</a:t>
            </a:r>
          </a:p>
        </p:txBody>
      </p:sp>
      <p:sp>
        <p:nvSpPr>
          <p:cNvPr id="917" name="TextBox 916">
            <a:extLst>
              <a:ext uri="{FF2B5EF4-FFF2-40B4-BE49-F238E27FC236}">
                <a16:creationId xmlns:a16="http://schemas.microsoft.com/office/drawing/2014/main" id="{C56A3EF9-95FA-A950-6701-321EAB9ECF1D}"/>
              </a:ext>
            </a:extLst>
          </p:cNvPr>
          <p:cNvSpPr txBox="1"/>
          <p:nvPr/>
        </p:nvSpPr>
        <p:spPr>
          <a:xfrm>
            <a:off x="6825210" y="4687862"/>
            <a:ext cx="354419" cy="369332"/>
          </a:xfrm>
          <a:prstGeom prst="rect">
            <a:avLst/>
          </a:prstGeom>
          <a:noFill/>
        </p:spPr>
        <p:txBody>
          <a:bodyPr wrap="square" rtlCol="0">
            <a:spAutoFit/>
          </a:bodyPr>
          <a:lstStyle/>
          <a:p>
            <a:r>
              <a:rPr lang="en-US" dirty="0"/>
              <a:t>E</a:t>
            </a:r>
          </a:p>
        </p:txBody>
      </p:sp>
      <p:pic>
        <p:nvPicPr>
          <p:cNvPr id="919" name="Picture 918">
            <a:extLst>
              <a:ext uri="{FF2B5EF4-FFF2-40B4-BE49-F238E27FC236}">
                <a16:creationId xmlns:a16="http://schemas.microsoft.com/office/drawing/2014/main" id="{9D341FD9-CA15-4F9C-D2E4-4F2889816729}"/>
              </a:ext>
            </a:extLst>
          </p:cNvPr>
          <p:cNvPicPr>
            <a:picLocks noChangeAspect="1"/>
          </p:cNvPicPr>
          <p:nvPr/>
        </p:nvPicPr>
        <p:blipFill>
          <a:blip r:embed="rId2"/>
          <a:stretch>
            <a:fillRect/>
          </a:stretch>
        </p:blipFill>
        <p:spPr>
          <a:xfrm>
            <a:off x="6890193" y="3441005"/>
            <a:ext cx="3224897" cy="3184486"/>
          </a:xfrm>
          <a:prstGeom prst="rect">
            <a:avLst/>
          </a:prstGeom>
        </p:spPr>
      </p:pic>
      <p:sp>
        <p:nvSpPr>
          <p:cNvPr id="921" name="TextBox 920">
            <a:extLst>
              <a:ext uri="{FF2B5EF4-FFF2-40B4-BE49-F238E27FC236}">
                <a16:creationId xmlns:a16="http://schemas.microsoft.com/office/drawing/2014/main" id="{DAEADBA3-F421-A145-DA88-DCA46670955D}"/>
              </a:ext>
            </a:extLst>
          </p:cNvPr>
          <p:cNvSpPr txBox="1"/>
          <p:nvPr/>
        </p:nvSpPr>
        <p:spPr>
          <a:xfrm>
            <a:off x="6977174" y="3525357"/>
            <a:ext cx="354419" cy="369332"/>
          </a:xfrm>
          <a:prstGeom prst="rect">
            <a:avLst/>
          </a:prstGeom>
          <a:noFill/>
        </p:spPr>
        <p:txBody>
          <a:bodyPr wrap="square" rtlCol="0">
            <a:spAutoFit/>
          </a:bodyPr>
          <a:lstStyle/>
          <a:p>
            <a:r>
              <a:rPr lang="en-US" dirty="0"/>
              <a:t>A</a:t>
            </a:r>
          </a:p>
        </p:txBody>
      </p:sp>
      <p:sp>
        <p:nvSpPr>
          <p:cNvPr id="923" name="TextBox 922">
            <a:extLst>
              <a:ext uri="{FF2B5EF4-FFF2-40B4-BE49-F238E27FC236}">
                <a16:creationId xmlns:a16="http://schemas.microsoft.com/office/drawing/2014/main" id="{8D711F7B-86D9-B6BA-A734-D5D056B08DC7}"/>
              </a:ext>
            </a:extLst>
          </p:cNvPr>
          <p:cNvSpPr txBox="1"/>
          <p:nvPr/>
        </p:nvSpPr>
        <p:spPr>
          <a:xfrm>
            <a:off x="7728567" y="4188708"/>
            <a:ext cx="354419" cy="369332"/>
          </a:xfrm>
          <a:prstGeom prst="rect">
            <a:avLst/>
          </a:prstGeom>
          <a:noFill/>
        </p:spPr>
        <p:txBody>
          <a:bodyPr wrap="square" rtlCol="0">
            <a:spAutoFit/>
          </a:bodyPr>
          <a:lstStyle/>
          <a:p>
            <a:r>
              <a:rPr lang="en-US" dirty="0"/>
              <a:t>B</a:t>
            </a:r>
          </a:p>
        </p:txBody>
      </p:sp>
      <p:sp>
        <p:nvSpPr>
          <p:cNvPr id="925" name="TextBox 924">
            <a:extLst>
              <a:ext uri="{FF2B5EF4-FFF2-40B4-BE49-F238E27FC236}">
                <a16:creationId xmlns:a16="http://schemas.microsoft.com/office/drawing/2014/main" id="{91C2F7A7-E1BB-FD83-EDB8-29399BE5578D}"/>
              </a:ext>
            </a:extLst>
          </p:cNvPr>
          <p:cNvSpPr txBox="1"/>
          <p:nvPr/>
        </p:nvSpPr>
        <p:spPr>
          <a:xfrm>
            <a:off x="7554876" y="3483494"/>
            <a:ext cx="354419" cy="369332"/>
          </a:xfrm>
          <a:prstGeom prst="rect">
            <a:avLst/>
          </a:prstGeom>
          <a:noFill/>
        </p:spPr>
        <p:txBody>
          <a:bodyPr wrap="square" rtlCol="0">
            <a:spAutoFit/>
          </a:bodyPr>
          <a:lstStyle/>
          <a:p>
            <a:r>
              <a:rPr lang="en-US" dirty="0"/>
              <a:t>A</a:t>
            </a:r>
          </a:p>
        </p:txBody>
      </p:sp>
      <p:sp>
        <p:nvSpPr>
          <p:cNvPr id="927" name="TextBox 926">
            <a:extLst>
              <a:ext uri="{FF2B5EF4-FFF2-40B4-BE49-F238E27FC236}">
                <a16:creationId xmlns:a16="http://schemas.microsoft.com/office/drawing/2014/main" id="{506218E5-C206-67DF-A9AA-D73ED252B7C9}"/>
              </a:ext>
            </a:extLst>
          </p:cNvPr>
          <p:cNvSpPr txBox="1"/>
          <p:nvPr/>
        </p:nvSpPr>
        <p:spPr>
          <a:xfrm>
            <a:off x="7838943" y="3483494"/>
            <a:ext cx="354419" cy="369332"/>
          </a:xfrm>
          <a:prstGeom prst="rect">
            <a:avLst/>
          </a:prstGeom>
          <a:noFill/>
        </p:spPr>
        <p:txBody>
          <a:bodyPr wrap="square" rtlCol="0">
            <a:spAutoFit/>
          </a:bodyPr>
          <a:lstStyle/>
          <a:p>
            <a:r>
              <a:rPr lang="en-US" dirty="0"/>
              <a:t>B</a:t>
            </a:r>
          </a:p>
        </p:txBody>
      </p:sp>
      <p:sp>
        <p:nvSpPr>
          <p:cNvPr id="929" name="TextBox 928">
            <a:extLst>
              <a:ext uri="{FF2B5EF4-FFF2-40B4-BE49-F238E27FC236}">
                <a16:creationId xmlns:a16="http://schemas.microsoft.com/office/drawing/2014/main" id="{A4776324-BFDB-FA84-1C1B-FC4CDAA9D60B}"/>
              </a:ext>
            </a:extLst>
          </p:cNvPr>
          <p:cNvSpPr txBox="1"/>
          <p:nvPr/>
        </p:nvSpPr>
        <p:spPr>
          <a:xfrm>
            <a:off x="7696909" y="3766940"/>
            <a:ext cx="354419" cy="369332"/>
          </a:xfrm>
          <a:prstGeom prst="rect">
            <a:avLst/>
          </a:prstGeom>
          <a:noFill/>
        </p:spPr>
        <p:txBody>
          <a:bodyPr wrap="square" rtlCol="0">
            <a:spAutoFit/>
          </a:bodyPr>
          <a:lstStyle/>
          <a:p>
            <a:r>
              <a:rPr lang="en-US" dirty="0"/>
              <a:t>D</a:t>
            </a:r>
          </a:p>
        </p:txBody>
      </p:sp>
      <p:sp>
        <p:nvSpPr>
          <p:cNvPr id="931" name="TextBox 930">
            <a:extLst>
              <a:ext uri="{FF2B5EF4-FFF2-40B4-BE49-F238E27FC236}">
                <a16:creationId xmlns:a16="http://schemas.microsoft.com/office/drawing/2014/main" id="{8F9955E8-529A-C881-133B-0DE3F3C537DC}"/>
              </a:ext>
            </a:extLst>
          </p:cNvPr>
          <p:cNvSpPr txBox="1"/>
          <p:nvPr/>
        </p:nvSpPr>
        <p:spPr>
          <a:xfrm>
            <a:off x="6977174" y="4136272"/>
            <a:ext cx="354419" cy="369332"/>
          </a:xfrm>
          <a:prstGeom prst="rect">
            <a:avLst/>
          </a:prstGeom>
          <a:noFill/>
        </p:spPr>
        <p:txBody>
          <a:bodyPr wrap="square" rtlCol="0">
            <a:spAutoFit/>
          </a:bodyPr>
          <a:lstStyle/>
          <a:p>
            <a:r>
              <a:rPr lang="en-US" dirty="0"/>
              <a:t>A</a:t>
            </a:r>
          </a:p>
        </p:txBody>
      </p:sp>
      <p:sp>
        <p:nvSpPr>
          <p:cNvPr id="933" name="TextBox 932">
            <a:extLst>
              <a:ext uri="{FF2B5EF4-FFF2-40B4-BE49-F238E27FC236}">
                <a16:creationId xmlns:a16="http://schemas.microsoft.com/office/drawing/2014/main" id="{439BD339-F3C7-38E0-87E3-D5F2952BB6B6}"/>
              </a:ext>
            </a:extLst>
          </p:cNvPr>
          <p:cNvSpPr txBox="1"/>
          <p:nvPr/>
        </p:nvSpPr>
        <p:spPr>
          <a:xfrm>
            <a:off x="7219999" y="4126277"/>
            <a:ext cx="354419" cy="369332"/>
          </a:xfrm>
          <a:prstGeom prst="rect">
            <a:avLst/>
          </a:prstGeom>
          <a:noFill/>
        </p:spPr>
        <p:txBody>
          <a:bodyPr wrap="square" rtlCol="0">
            <a:spAutoFit/>
          </a:bodyPr>
          <a:lstStyle/>
          <a:p>
            <a:r>
              <a:rPr lang="en-US" dirty="0"/>
              <a:t>B</a:t>
            </a:r>
          </a:p>
        </p:txBody>
      </p:sp>
      <p:sp>
        <p:nvSpPr>
          <p:cNvPr id="935" name="TextBox 934">
            <a:extLst>
              <a:ext uri="{FF2B5EF4-FFF2-40B4-BE49-F238E27FC236}">
                <a16:creationId xmlns:a16="http://schemas.microsoft.com/office/drawing/2014/main" id="{AFA32F46-6FEB-F371-647C-3B810380DD00}"/>
              </a:ext>
            </a:extLst>
          </p:cNvPr>
          <p:cNvSpPr txBox="1"/>
          <p:nvPr/>
        </p:nvSpPr>
        <p:spPr>
          <a:xfrm>
            <a:off x="7114718" y="4330933"/>
            <a:ext cx="354419" cy="369332"/>
          </a:xfrm>
          <a:prstGeom prst="rect">
            <a:avLst/>
          </a:prstGeom>
          <a:noFill/>
        </p:spPr>
        <p:txBody>
          <a:bodyPr wrap="square" rtlCol="0">
            <a:spAutoFit/>
          </a:bodyPr>
          <a:lstStyle/>
          <a:p>
            <a:r>
              <a:rPr lang="en-US" dirty="0"/>
              <a:t>D</a:t>
            </a:r>
          </a:p>
        </p:txBody>
      </p:sp>
      <p:sp>
        <p:nvSpPr>
          <p:cNvPr id="937" name="TextBox 936">
            <a:extLst>
              <a:ext uri="{FF2B5EF4-FFF2-40B4-BE49-F238E27FC236}">
                <a16:creationId xmlns:a16="http://schemas.microsoft.com/office/drawing/2014/main" id="{03D2E142-3230-C190-6236-9094E99C7130}"/>
              </a:ext>
            </a:extLst>
          </p:cNvPr>
          <p:cNvSpPr txBox="1"/>
          <p:nvPr/>
        </p:nvSpPr>
        <p:spPr>
          <a:xfrm>
            <a:off x="7196444" y="3746950"/>
            <a:ext cx="354419" cy="369332"/>
          </a:xfrm>
          <a:prstGeom prst="rect">
            <a:avLst/>
          </a:prstGeom>
          <a:noFill/>
        </p:spPr>
        <p:txBody>
          <a:bodyPr wrap="square" rtlCol="0">
            <a:spAutoFit/>
          </a:bodyPr>
          <a:lstStyle/>
          <a:p>
            <a:r>
              <a:rPr lang="en-US" dirty="0"/>
              <a:t>D</a:t>
            </a:r>
          </a:p>
        </p:txBody>
      </p:sp>
      <p:sp>
        <p:nvSpPr>
          <p:cNvPr id="939" name="TextBox 938">
            <a:extLst>
              <a:ext uri="{FF2B5EF4-FFF2-40B4-BE49-F238E27FC236}">
                <a16:creationId xmlns:a16="http://schemas.microsoft.com/office/drawing/2014/main" id="{031ED3B1-4B93-6CB7-34E9-F1BC37819F58}"/>
              </a:ext>
            </a:extLst>
          </p:cNvPr>
          <p:cNvSpPr txBox="1"/>
          <p:nvPr/>
        </p:nvSpPr>
        <p:spPr>
          <a:xfrm>
            <a:off x="8915943" y="4856464"/>
            <a:ext cx="354419" cy="369332"/>
          </a:xfrm>
          <a:prstGeom prst="rect">
            <a:avLst/>
          </a:prstGeom>
          <a:noFill/>
        </p:spPr>
        <p:txBody>
          <a:bodyPr wrap="square" rtlCol="0">
            <a:spAutoFit/>
          </a:bodyPr>
          <a:lstStyle/>
          <a:p>
            <a:r>
              <a:rPr lang="en-US" dirty="0"/>
              <a:t>D</a:t>
            </a:r>
          </a:p>
        </p:txBody>
      </p:sp>
      <p:sp>
        <p:nvSpPr>
          <p:cNvPr id="941" name="TextBox 940">
            <a:extLst>
              <a:ext uri="{FF2B5EF4-FFF2-40B4-BE49-F238E27FC236}">
                <a16:creationId xmlns:a16="http://schemas.microsoft.com/office/drawing/2014/main" id="{229827D3-67B1-0C70-98E9-CC09FF9102E0}"/>
              </a:ext>
            </a:extLst>
          </p:cNvPr>
          <p:cNvSpPr txBox="1"/>
          <p:nvPr/>
        </p:nvSpPr>
        <p:spPr>
          <a:xfrm>
            <a:off x="8393085" y="4697942"/>
            <a:ext cx="354419" cy="369332"/>
          </a:xfrm>
          <a:prstGeom prst="rect">
            <a:avLst/>
          </a:prstGeom>
          <a:noFill/>
        </p:spPr>
        <p:txBody>
          <a:bodyPr wrap="square" rtlCol="0">
            <a:spAutoFit/>
          </a:bodyPr>
          <a:lstStyle/>
          <a:p>
            <a:r>
              <a:rPr lang="en-US" dirty="0"/>
              <a:t>B</a:t>
            </a:r>
          </a:p>
        </p:txBody>
      </p:sp>
      <p:sp>
        <p:nvSpPr>
          <p:cNvPr id="943" name="TextBox 942">
            <a:extLst>
              <a:ext uri="{FF2B5EF4-FFF2-40B4-BE49-F238E27FC236}">
                <a16:creationId xmlns:a16="http://schemas.microsoft.com/office/drawing/2014/main" id="{73A4E40F-FB4E-C2F6-9C79-9C31A81360F1}"/>
              </a:ext>
            </a:extLst>
          </p:cNvPr>
          <p:cNvSpPr txBox="1"/>
          <p:nvPr/>
        </p:nvSpPr>
        <p:spPr>
          <a:xfrm>
            <a:off x="8281842" y="4910886"/>
            <a:ext cx="354419" cy="369332"/>
          </a:xfrm>
          <a:prstGeom prst="rect">
            <a:avLst/>
          </a:prstGeom>
          <a:noFill/>
        </p:spPr>
        <p:txBody>
          <a:bodyPr wrap="square" rtlCol="0">
            <a:spAutoFit/>
          </a:bodyPr>
          <a:lstStyle/>
          <a:p>
            <a:r>
              <a:rPr lang="en-US" dirty="0"/>
              <a:t>D</a:t>
            </a:r>
          </a:p>
        </p:txBody>
      </p:sp>
      <p:sp>
        <p:nvSpPr>
          <p:cNvPr id="945" name="TextBox 944">
            <a:extLst>
              <a:ext uri="{FF2B5EF4-FFF2-40B4-BE49-F238E27FC236}">
                <a16:creationId xmlns:a16="http://schemas.microsoft.com/office/drawing/2014/main" id="{D3941840-0491-54F4-2A29-2033F9AFE65E}"/>
              </a:ext>
            </a:extLst>
          </p:cNvPr>
          <p:cNvSpPr txBox="1"/>
          <p:nvPr/>
        </p:nvSpPr>
        <p:spPr>
          <a:xfrm>
            <a:off x="9008139" y="3741749"/>
            <a:ext cx="354419" cy="369332"/>
          </a:xfrm>
          <a:prstGeom prst="rect">
            <a:avLst/>
          </a:prstGeom>
          <a:noFill/>
        </p:spPr>
        <p:txBody>
          <a:bodyPr wrap="square" rtlCol="0">
            <a:spAutoFit/>
          </a:bodyPr>
          <a:lstStyle/>
          <a:p>
            <a:r>
              <a:rPr lang="en-US" dirty="0"/>
              <a:t>C</a:t>
            </a:r>
          </a:p>
        </p:txBody>
      </p:sp>
      <p:sp>
        <p:nvSpPr>
          <p:cNvPr id="947" name="TextBox 946">
            <a:extLst>
              <a:ext uri="{FF2B5EF4-FFF2-40B4-BE49-F238E27FC236}">
                <a16:creationId xmlns:a16="http://schemas.microsoft.com/office/drawing/2014/main" id="{F792D159-9FC3-E4AD-A033-78C24EDF3B79}"/>
              </a:ext>
            </a:extLst>
          </p:cNvPr>
          <p:cNvSpPr txBox="1"/>
          <p:nvPr/>
        </p:nvSpPr>
        <p:spPr>
          <a:xfrm>
            <a:off x="8287676" y="4204548"/>
            <a:ext cx="354419" cy="369332"/>
          </a:xfrm>
          <a:prstGeom prst="rect">
            <a:avLst/>
          </a:prstGeom>
          <a:noFill/>
        </p:spPr>
        <p:txBody>
          <a:bodyPr wrap="square" rtlCol="0">
            <a:spAutoFit/>
          </a:bodyPr>
          <a:lstStyle/>
          <a:p>
            <a:r>
              <a:rPr lang="en-US" dirty="0"/>
              <a:t>C</a:t>
            </a:r>
          </a:p>
        </p:txBody>
      </p:sp>
      <p:sp>
        <p:nvSpPr>
          <p:cNvPr id="949" name="TextBox 948">
            <a:extLst>
              <a:ext uri="{FF2B5EF4-FFF2-40B4-BE49-F238E27FC236}">
                <a16:creationId xmlns:a16="http://schemas.microsoft.com/office/drawing/2014/main" id="{4595E915-3914-177C-D3E8-27FC401ED47D}"/>
              </a:ext>
            </a:extLst>
          </p:cNvPr>
          <p:cNvSpPr txBox="1"/>
          <p:nvPr/>
        </p:nvSpPr>
        <p:spPr>
          <a:xfrm>
            <a:off x="9563732" y="6036086"/>
            <a:ext cx="354419" cy="369332"/>
          </a:xfrm>
          <a:prstGeom prst="rect">
            <a:avLst/>
          </a:prstGeom>
          <a:noFill/>
        </p:spPr>
        <p:txBody>
          <a:bodyPr wrap="square" rtlCol="0">
            <a:spAutoFit/>
          </a:bodyPr>
          <a:lstStyle/>
          <a:p>
            <a:r>
              <a:rPr lang="en-US" dirty="0"/>
              <a:t>C</a:t>
            </a:r>
          </a:p>
        </p:txBody>
      </p:sp>
      <p:sp>
        <p:nvSpPr>
          <p:cNvPr id="951" name="TextBox 950">
            <a:extLst>
              <a:ext uri="{FF2B5EF4-FFF2-40B4-BE49-F238E27FC236}">
                <a16:creationId xmlns:a16="http://schemas.microsoft.com/office/drawing/2014/main" id="{8BD3690F-C96A-A7AC-F6DB-F867D9CF1ACF}"/>
              </a:ext>
            </a:extLst>
          </p:cNvPr>
          <p:cNvSpPr txBox="1"/>
          <p:nvPr/>
        </p:nvSpPr>
        <p:spPr>
          <a:xfrm>
            <a:off x="8307864" y="6036086"/>
            <a:ext cx="354419" cy="369332"/>
          </a:xfrm>
          <a:prstGeom prst="rect">
            <a:avLst/>
          </a:prstGeom>
          <a:noFill/>
        </p:spPr>
        <p:txBody>
          <a:bodyPr wrap="square" rtlCol="0">
            <a:spAutoFit/>
          </a:bodyPr>
          <a:lstStyle/>
          <a:p>
            <a:r>
              <a:rPr lang="en-US" dirty="0"/>
              <a:t>F</a:t>
            </a:r>
          </a:p>
        </p:txBody>
      </p:sp>
      <p:sp>
        <p:nvSpPr>
          <p:cNvPr id="953" name="TextBox 952">
            <a:extLst>
              <a:ext uri="{FF2B5EF4-FFF2-40B4-BE49-F238E27FC236}">
                <a16:creationId xmlns:a16="http://schemas.microsoft.com/office/drawing/2014/main" id="{C48EE85B-1F75-CC5D-7498-D88EE44EFF01}"/>
              </a:ext>
            </a:extLst>
          </p:cNvPr>
          <p:cNvSpPr txBox="1"/>
          <p:nvPr/>
        </p:nvSpPr>
        <p:spPr>
          <a:xfrm>
            <a:off x="8835861" y="3531160"/>
            <a:ext cx="354419" cy="369332"/>
          </a:xfrm>
          <a:prstGeom prst="rect">
            <a:avLst/>
          </a:prstGeom>
          <a:noFill/>
        </p:spPr>
        <p:txBody>
          <a:bodyPr wrap="square" rtlCol="0">
            <a:spAutoFit/>
          </a:bodyPr>
          <a:lstStyle/>
          <a:p>
            <a:r>
              <a:rPr lang="en-US" dirty="0"/>
              <a:t>A</a:t>
            </a:r>
          </a:p>
        </p:txBody>
      </p:sp>
      <p:sp>
        <p:nvSpPr>
          <p:cNvPr id="955" name="TextBox 954">
            <a:extLst>
              <a:ext uri="{FF2B5EF4-FFF2-40B4-BE49-F238E27FC236}">
                <a16:creationId xmlns:a16="http://schemas.microsoft.com/office/drawing/2014/main" id="{01C6ED7A-5608-D4BB-8C13-790FD6E498EC}"/>
              </a:ext>
            </a:extLst>
          </p:cNvPr>
          <p:cNvSpPr txBox="1"/>
          <p:nvPr/>
        </p:nvSpPr>
        <p:spPr>
          <a:xfrm>
            <a:off x="8325431" y="5381153"/>
            <a:ext cx="354419" cy="369332"/>
          </a:xfrm>
          <a:prstGeom prst="rect">
            <a:avLst/>
          </a:prstGeom>
          <a:noFill/>
        </p:spPr>
        <p:txBody>
          <a:bodyPr wrap="square" rtlCol="0">
            <a:spAutoFit/>
          </a:bodyPr>
          <a:lstStyle/>
          <a:p>
            <a:r>
              <a:rPr lang="en-US" dirty="0"/>
              <a:t>D</a:t>
            </a:r>
          </a:p>
        </p:txBody>
      </p:sp>
      <p:sp>
        <p:nvSpPr>
          <p:cNvPr id="957" name="TextBox 956">
            <a:extLst>
              <a:ext uri="{FF2B5EF4-FFF2-40B4-BE49-F238E27FC236}">
                <a16:creationId xmlns:a16="http://schemas.microsoft.com/office/drawing/2014/main" id="{55DDCF14-0D08-4159-40F4-BBBA08804F74}"/>
              </a:ext>
            </a:extLst>
          </p:cNvPr>
          <p:cNvSpPr txBox="1"/>
          <p:nvPr/>
        </p:nvSpPr>
        <p:spPr>
          <a:xfrm>
            <a:off x="9710300" y="3589549"/>
            <a:ext cx="354419" cy="369332"/>
          </a:xfrm>
          <a:prstGeom prst="rect">
            <a:avLst/>
          </a:prstGeom>
          <a:noFill/>
        </p:spPr>
        <p:txBody>
          <a:bodyPr wrap="square" rtlCol="0">
            <a:spAutoFit/>
          </a:bodyPr>
          <a:lstStyle/>
          <a:p>
            <a:r>
              <a:rPr lang="en-US" dirty="0"/>
              <a:t>D</a:t>
            </a:r>
          </a:p>
        </p:txBody>
      </p:sp>
      <p:sp>
        <p:nvSpPr>
          <p:cNvPr id="959" name="TextBox 958">
            <a:extLst>
              <a:ext uri="{FF2B5EF4-FFF2-40B4-BE49-F238E27FC236}">
                <a16:creationId xmlns:a16="http://schemas.microsoft.com/office/drawing/2014/main" id="{2D03DB23-8D70-143C-4571-04B2684CDADE}"/>
              </a:ext>
            </a:extLst>
          </p:cNvPr>
          <p:cNvSpPr txBox="1"/>
          <p:nvPr/>
        </p:nvSpPr>
        <p:spPr>
          <a:xfrm>
            <a:off x="9533091" y="4272093"/>
            <a:ext cx="354419" cy="369332"/>
          </a:xfrm>
          <a:prstGeom prst="rect">
            <a:avLst/>
          </a:prstGeom>
          <a:noFill/>
        </p:spPr>
        <p:txBody>
          <a:bodyPr wrap="square" rtlCol="0">
            <a:spAutoFit/>
          </a:bodyPr>
          <a:lstStyle/>
          <a:p>
            <a:r>
              <a:rPr lang="en-US" dirty="0"/>
              <a:t>D</a:t>
            </a:r>
          </a:p>
        </p:txBody>
      </p:sp>
      <p:sp>
        <p:nvSpPr>
          <p:cNvPr id="961" name="TextBox 960">
            <a:extLst>
              <a:ext uri="{FF2B5EF4-FFF2-40B4-BE49-F238E27FC236}">
                <a16:creationId xmlns:a16="http://schemas.microsoft.com/office/drawing/2014/main" id="{044EFF78-3AD6-D3AD-075E-15F68E67A4ED}"/>
              </a:ext>
            </a:extLst>
          </p:cNvPr>
          <p:cNvSpPr txBox="1"/>
          <p:nvPr/>
        </p:nvSpPr>
        <p:spPr>
          <a:xfrm>
            <a:off x="9556671" y="4816799"/>
            <a:ext cx="354419" cy="369332"/>
          </a:xfrm>
          <a:prstGeom prst="rect">
            <a:avLst/>
          </a:prstGeom>
          <a:noFill/>
        </p:spPr>
        <p:txBody>
          <a:bodyPr wrap="square" rtlCol="0">
            <a:spAutoFit/>
          </a:bodyPr>
          <a:lstStyle/>
          <a:p>
            <a:r>
              <a:rPr lang="en-US" dirty="0"/>
              <a:t>D</a:t>
            </a:r>
          </a:p>
        </p:txBody>
      </p:sp>
      <p:sp>
        <p:nvSpPr>
          <p:cNvPr id="963" name="TextBox 962">
            <a:extLst>
              <a:ext uri="{FF2B5EF4-FFF2-40B4-BE49-F238E27FC236}">
                <a16:creationId xmlns:a16="http://schemas.microsoft.com/office/drawing/2014/main" id="{FC21E96C-260B-ADA5-8983-F6985B3EED05}"/>
              </a:ext>
            </a:extLst>
          </p:cNvPr>
          <p:cNvSpPr txBox="1"/>
          <p:nvPr/>
        </p:nvSpPr>
        <p:spPr>
          <a:xfrm>
            <a:off x="8865841" y="5315626"/>
            <a:ext cx="354419" cy="369332"/>
          </a:xfrm>
          <a:prstGeom prst="rect">
            <a:avLst/>
          </a:prstGeom>
          <a:noFill/>
        </p:spPr>
        <p:txBody>
          <a:bodyPr wrap="square" rtlCol="0">
            <a:spAutoFit/>
          </a:bodyPr>
          <a:lstStyle/>
          <a:p>
            <a:r>
              <a:rPr lang="en-US" dirty="0"/>
              <a:t>D</a:t>
            </a:r>
          </a:p>
        </p:txBody>
      </p:sp>
      <p:sp>
        <p:nvSpPr>
          <p:cNvPr id="965" name="TextBox 964">
            <a:extLst>
              <a:ext uri="{FF2B5EF4-FFF2-40B4-BE49-F238E27FC236}">
                <a16:creationId xmlns:a16="http://schemas.microsoft.com/office/drawing/2014/main" id="{EA723279-596A-EF95-E134-776DD21324B7}"/>
              </a:ext>
            </a:extLst>
          </p:cNvPr>
          <p:cNvSpPr txBox="1"/>
          <p:nvPr/>
        </p:nvSpPr>
        <p:spPr>
          <a:xfrm>
            <a:off x="9051832" y="5530411"/>
            <a:ext cx="354419" cy="369332"/>
          </a:xfrm>
          <a:prstGeom prst="rect">
            <a:avLst/>
          </a:prstGeom>
          <a:noFill/>
        </p:spPr>
        <p:txBody>
          <a:bodyPr wrap="square" rtlCol="0">
            <a:spAutoFit/>
          </a:bodyPr>
          <a:lstStyle/>
          <a:p>
            <a:r>
              <a:rPr lang="en-US" dirty="0"/>
              <a:t>C</a:t>
            </a:r>
          </a:p>
        </p:txBody>
      </p:sp>
      <p:sp>
        <p:nvSpPr>
          <p:cNvPr id="967" name="TextBox 966">
            <a:extLst>
              <a:ext uri="{FF2B5EF4-FFF2-40B4-BE49-F238E27FC236}">
                <a16:creationId xmlns:a16="http://schemas.microsoft.com/office/drawing/2014/main" id="{CDC7FFAB-C998-1C5C-8E79-76DBA2157DAF}"/>
              </a:ext>
            </a:extLst>
          </p:cNvPr>
          <p:cNvSpPr txBox="1"/>
          <p:nvPr/>
        </p:nvSpPr>
        <p:spPr>
          <a:xfrm>
            <a:off x="8781962" y="4087427"/>
            <a:ext cx="354419" cy="369332"/>
          </a:xfrm>
          <a:prstGeom prst="rect">
            <a:avLst/>
          </a:prstGeom>
          <a:noFill/>
        </p:spPr>
        <p:txBody>
          <a:bodyPr wrap="square" rtlCol="0">
            <a:spAutoFit/>
          </a:bodyPr>
          <a:lstStyle/>
          <a:p>
            <a:r>
              <a:rPr lang="en-US" dirty="0"/>
              <a:t>A</a:t>
            </a:r>
          </a:p>
        </p:txBody>
      </p:sp>
      <p:sp>
        <p:nvSpPr>
          <p:cNvPr id="969" name="TextBox 968">
            <a:extLst>
              <a:ext uri="{FF2B5EF4-FFF2-40B4-BE49-F238E27FC236}">
                <a16:creationId xmlns:a16="http://schemas.microsoft.com/office/drawing/2014/main" id="{0BC3EF0E-0AE5-105A-1570-F5C93ADFDD02}"/>
              </a:ext>
            </a:extLst>
          </p:cNvPr>
          <p:cNvSpPr txBox="1"/>
          <p:nvPr/>
        </p:nvSpPr>
        <p:spPr>
          <a:xfrm>
            <a:off x="9061695" y="4087427"/>
            <a:ext cx="354419" cy="369332"/>
          </a:xfrm>
          <a:prstGeom prst="rect">
            <a:avLst/>
          </a:prstGeom>
          <a:noFill/>
        </p:spPr>
        <p:txBody>
          <a:bodyPr wrap="square" rtlCol="0">
            <a:spAutoFit/>
          </a:bodyPr>
          <a:lstStyle/>
          <a:p>
            <a:r>
              <a:rPr lang="en-US" dirty="0"/>
              <a:t>B</a:t>
            </a:r>
          </a:p>
        </p:txBody>
      </p:sp>
      <p:sp>
        <p:nvSpPr>
          <p:cNvPr id="971" name="TextBox 970">
            <a:extLst>
              <a:ext uri="{FF2B5EF4-FFF2-40B4-BE49-F238E27FC236}">
                <a16:creationId xmlns:a16="http://schemas.microsoft.com/office/drawing/2014/main" id="{2972E0D4-8D47-975B-D596-2FAA0F6BD5C6}"/>
              </a:ext>
            </a:extLst>
          </p:cNvPr>
          <p:cNvSpPr txBox="1"/>
          <p:nvPr/>
        </p:nvSpPr>
        <p:spPr>
          <a:xfrm>
            <a:off x="8787396" y="4389214"/>
            <a:ext cx="354419" cy="369332"/>
          </a:xfrm>
          <a:prstGeom prst="rect">
            <a:avLst/>
          </a:prstGeom>
          <a:noFill/>
        </p:spPr>
        <p:txBody>
          <a:bodyPr wrap="square" rtlCol="0">
            <a:spAutoFit/>
          </a:bodyPr>
          <a:lstStyle/>
          <a:p>
            <a:r>
              <a:rPr lang="en-US" dirty="0"/>
              <a:t>C</a:t>
            </a:r>
          </a:p>
        </p:txBody>
      </p:sp>
      <p:sp>
        <p:nvSpPr>
          <p:cNvPr id="973" name="TextBox 972">
            <a:extLst>
              <a:ext uri="{FF2B5EF4-FFF2-40B4-BE49-F238E27FC236}">
                <a16:creationId xmlns:a16="http://schemas.microsoft.com/office/drawing/2014/main" id="{8AD23B63-0C71-07AB-4C1C-8C621EA9D468}"/>
              </a:ext>
            </a:extLst>
          </p:cNvPr>
          <p:cNvSpPr txBox="1"/>
          <p:nvPr/>
        </p:nvSpPr>
        <p:spPr>
          <a:xfrm>
            <a:off x="9066029" y="4360975"/>
            <a:ext cx="354419" cy="369332"/>
          </a:xfrm>
          <a:prstGeom prst="rect">
            <a:avLst/>
          </a:prstGeom>
          <a:noFill/>
        </p:spPr>
        <p:txBody>
          <a:bodyPr wrap="square" rtlCol="0">
            <a:spAutoFit/>
          </a:bodyPr>
          <a:lstStyle/>
          <a:p>
            <a:r>
              <a:rPr lang="en-US" dirty="0"/>
              <a:t>D</a:t>
            </a:r>
          </a:p>
        </p:txBody>
      </p:sp>
      <p:sp>
        <p:nvSpPr>
          <p:cNvPr id="975" name="TextBox 974">
            <a:extLst>
              <a:ext uri="{FF2B5EF4-FFF2-40B4-BE49-F238E27FC236}">
                <a16:creationId xmlns:a16="http://schemas.microsoft.com/office/drawing/2014/main" id="{7384C213-1A4B-1F67-23CC-D11278D849F0}"/>
              </a:ext>
            </a:extLst>
          </p:cNvPr>
          <p:cNvSpPr txBox="1"/>
          <p:nvPr/>
        </p:nvSpPr>
        <p:spPr>
          <a:xfrm>
            <a:off x="9474347" y="3483494"/>
            <a:ext cx="354419" cy="369332"/>
          </a:xfrm>
          <a:prstGeom prst="rect">
            <a:avLst/>
          </a:prstGeom>
          <a:noFill/>
        </p:spPr>
        <p:txBody>
          <a:bodyPr wrap="square" rtlCol="0">
            <a:spAutoFit/>
          </a:bodyPr>
          <a:lstStyle/>
          <a:p>
            <a:r>
              <a:rPr lang="en-US" dirty="0"/>
              <a:t>A</a:t>
            </a:r>
          </a:p>
        </p:txBody>
      </p:sp>
      <p:sp>
        <p:nvSpPr>
          <p:cNvPr id="977" name="TextBox 976">
            <a:extLst>
              <a:ext uri="{FF2B5EF4-FFF2-40B4-BE49-F238E27FC236}">
                <a16:creationId xmlns:a16="http://schemas.microsoft.com/office/drawing/2014/main" id="{380556E8-A670-4D13-7DBB-05FA42B6FDC6}"/>
              </a:ext>
            </a:extLst>
          </p:cNvPr>
          <p:cNvSpPr txBox="1"/>
          <p:nvPr/>
        </p:nvSpPr>
        <p:spPr>
          <a:xfrm>
            <a:off x="7728566" y="6036086"/>
            <a:ext cx="354419" cy="369332"/>
          </a:xfrm>
          <a:prstGeom prst="rect">
            <a:avLst/>
          </a:prstGeom>
          <a:noFill/>
        </p:spPr>
        <p:txBody>
          <a:bodyPr wrap="square" rtlCol="0">
            <a:spAutoFit/>
          </a:bodyPr>
          <a:lstStyle/>
          <a:p>
            <a:r>
              <a:rPr lang="en-US" dirty="0"/>
              <a:t>E</a:t>
            </a:r>
          </a:p>
        </p:txBody>
      </p:sp>
      <p:sp>
        <p:nvSpPr>
          <p:cNvPr id="979" name="TextBox 978">
            <a:extLst>
              <a:ext uri="{FF2B5EF4-FFF2-40B4-BE49-F238E27FC236}">
                <a16:creationId xmlns:a16="http://schemas.microsoft.com/office/drawing/2014/main" id="{B8C2F9DD-145C-C406-4D95-8DE1B8A3BA6E}"/>
              </a:ext>
            </a:extLst>
          </p:cNvPr>
          <p:cNvSpPr txBox="1"/>
          <p:nvPr/>
        </p:nvSpPr>
        <p:spPr>
          <a:xfrm>
            <a:off x="9533091" y="3774956"/>
            <a:ext cx="354419" cy="369332"/>
          </a:xfrm>
          <a:prstGeom prst="rect">
            <a:avLst/>
          </a:prstGeom>
          <a:noFill/>
        </p:spPr>
        <p:txBody>
          <a:bodyPr wrap="square" rtlCol="0">
            <a:spAutoFit/>
          </a:bodyPr>
          <a:lstStyle/>
          <a:p>
            <a:r>
              <a:rPr lang="en-US" dirty="0"/>
              <a:t>F</a:t>
            </a:r>
          </a:p>
        </p:txBody>
      </p:sp>
      <p:sp>
        <p:nvSpPr>
          <p:cNvPr id="981" name="TextBox 980">
            <a:extLst>
              <a:ext uri="{FF2B5EF4-FFF2-40B4-BE49-F238E27FC236}">
                <a16:creationId xmlns:a16="http://schemas.microsoft.com/office/drawing/2014/main" id="{0A514D65-F479-51D8-ACB7-B1DCFAF9B814}"/>
              </a:ext>
            </a:extLst>
          </p:cNvPr>
          <p:cNvSpPr txBox="1"/>
          <p:nvPr/>
        </p:nvSpPr>
        <p:spPr>
          <a:xfrm>
            <a:off x="7114718" y="4882608"/>
            <a:ext cx="354419" cy="369332"/>
          </a:xfrm>
          <a:prstGeom prst="rect">
            <a:avLst/>
          </a:prstGeom>
          <a:noFill/>
        </p:spPr>
        <p:txBody>
          <a:bodyPr wrap="square" rtlCol="0">
            <a:spAutoFit/>
          </a:bodyPr>
          <a:lstStyle/>
          <a:p>
            <a:r>
              <a:rPr lang="en-US" dirty="0"/>
              <a:t>E</a:t>
            </a:r>
          </a:p>
        </p:txBody>
      </p:sp>
      <p:sp>
        <p:nvSpPr>
          <p:cNvPr id="751" name="TextBox 750">
            <a:extLst>
              <a:ext uri="{FF2B5EF4-FFF2-40B4-BE49-F238E27FC236}">
                <a16:creationId xmlns:a16="http://schemas.microsoft.com/office/drawing/2014/main" id="{E45E8202-3444-026D-2F5A-77F3D105933D}"/>
              </a:ext>
            </a:extLst>
          </p:cNvPr>
          <p:cNvSpPr txBox="1"/>
          <p:nvPr/>
        </p:nvSpPr>
        <p:spPr>
          <a:xfrm>
            <a:off x="7159739" y="3837383"/>
            <a:ext cx="354419" cy="369332"/>
          </a:xfrm>
          <a:prstGeom prst="rect">
            <a:avLst/>
          </a:prstGeom>
          <a:noFill/>
        </p:spPr>
        <p:txBody>
          <a:bodyPr wrap="square" rtlCol="0">
            <a:spAutoFit/>
          </a:bodyPr>
          <a:lstStyle/>
          <a:p>
            <a:r>
              <a:rPr lang="en-US" dirty="0"/>
              <a:t>B</a:t>
            </a:r>
          </a:p>
        </p:txBody>
      </p:sp>
      <p:sp>
        <p:nvSpPr>
          <p:cNvPr id="753" name="TextBox 752">
            <a:extLst>
              <a:ext uri="{FF2B5EF4-FFF2-40B4-BE49-F238E27FC236}">
                <a16:creationId xmlns:a16="http://schemas.microsoft.com/office/drawing/2014/main" id="{F9A1993D-C70A-C8C1-1FD3-CC54FB5E8D29}"/>
              </a:ext>
            </a:extLst>
          </p:cNvPr>
          <p:cNvSpPr txBox="1"/>
          <p:nvPr/>
        </p:nvSpPr>
        <p:spPr>
          <a:xfrm>
            <a:off x="7128081" y="3415615"/>
            <a:ext cx="354419" cy="369332"/>
          </a:xfrm>
          <a:prstGeom prst="rect">
            <a:avLst/>
          </a:prstGeom>
          <a:noFill/>
        </p:spPr>
        <p:txBody>
          <a:bodyPr wrap="square" rtlCol="0">
            <a:spAutoFit/>
          </a:bodyPr>
          <a:lstStyle/>
          <a:p>
            <a:r>
              <a:rPr lang="en-US" dirty="0"/>
              <a:t>D</a:t>
            </a:r>
          </a:p>
        </p:txBody>
      </p:sp>
      <p:sp>
        <p:nvSpPr>
          <p:cNvPr id="755" name="TextBox 754">
            <a:extLst>
              <a:ext uri="{FF2B5EF4-FFF2-40B4-BE49-F238E27FC236}">
                <a16:creationId xmlns:a16="http://schemas.microsoft.com/office/drawing/2014/main" id="{9A2E93C7-A72D-2B85-14DC-E190C7248D84}"/>
              </a:ext>
            </a:extLst>
          </p:cNvPr>
          <p:cNvSpPr txBox="1"/>
          <p:nvPr/>
        </p:nvSpPr>
        <p:spPr>
          <a:xfrm>
            <a:off x="6408346" y="3784947"/>
            <a:ext cx="354419" cy="369332"/>
          </a:xfrm>
          <a:prstGeom prst="rect">
            <a:avLst/>
          </a:prstGeom>
          <a:noFill/>
        </p:spPr>
        <p:txBody>
          <a:bodyPr wrap="square" rtlCol="0">
            <a:spAutoFit/>
          </a:bodyPr>
          <a:lstStyle/>
          <a:p>
            <a:r>
              <a:rPr lang="en-US" dirty="0"/>
              <a:t>A</a:t>
            </a:r>
          </a:p>
        </p:txBody>
      </p:sp>
      <p:sp>
        <p:nvSpPr>
          <p:cNvPr id="757" name="TextBox 756">
            <a:extLst>
              <a:ext uri="{FF2B5EF4-FFF2-40B4-BE49-F238E27FC236}">
                <a16:creationId xmlns:a16="http://schemas.microsoft.com/office/drawing/2014/main" id="{590E24FB-ED5B-1845-EB52-9C6D0E1012DA}"/>
              </a:ext>
            </a:extLst>
          </p:cNvPr>
          <p:cNvSpPr txBox="1"/>
          <p:nvPr/>
        </p:nvSpPr>
        <p:spPr>
          <a:xfrm>
            <a:off x="6651171" y="3774952"/>
            <a:ext cx="354419" cy="369332"/>
          </a:xfrm>
          <a:prstGeom prst="rect">
            <a:avLst/>
          </a:prstGeom>
          <a:noFill/>
        </p:spPr>
        <p:txBody>
          <a:bodyPr wrap="square" rtlCol="0">
            <a:spAutoFit/>
          </a:bodyPr>
          <a:lstStyle/>
          <a:p>
            <a:r>
              <a:rPr lang="en-US" dirty="0"/>
              <a:t>B</a:t>
            </a:r>
          </a:p>
        </p:txBody>
      </p:sp>
      <p:sp>
        <p:nvSpPr>
          <p:cNvPr id="759" name="TextBox 758">
            <a:extLst>
              <a:ext uri="{FF2B5EF4-FFF2-40B4-BE49-F238E27FC236}">
                <a16:creationId xmlns:a16="http://schemas.microsoft.com/office/drawing/2014/main" id="{51BE771F-B9BB-57F4-C158-0F2026E995CB}"/>
              </a:ext>
            </a:extLst>
          </p:cNvPr>
          <p:cNvSpPr txBox="1"/>
          <p:nvPr/>
        </p:nvSpPr>
        <p:spPr>
          <a:xfrm>
            <a:off x="6545890" y="3979608"/>
            <a:ext cx="354419" cy="369332"/>
          </a:xfrm>
          <a:prstGeom prst="rect">
            <a:avLst/>
          </a:prstGeom>
          <a:noFill/>
        </p:spPr>
        <p:txBody>
          <a:bodyPr wrap="square" rtlCol="0">
            <a:spAutoFit/>
          </a:bodyPr>
          <a:lstStyle/>
          <a:p>
            <a:r>
              <a:rPr lang="en-US" dirty="0"/>
              <a:t>D</a:t>
            </a:r>
          </a:p>
        </p:txBody>
      </p:sp>
      <p:sp>
        <p:nvSpPr>
          <p:cNvPr id="761" name="TextBox 760">
            <a:extLst>
              <a:ext uri="{FF2B5EF4-FFF2-40B4-BE49-F238E27FC236}">
                <a16:creationId xmlns:a16="http://schemas.microsoft.com/office/drawing/2014/main" id="{E642E58D-E2C8-1CD5-6303-C3A809914E45}"/>
              </a:ext>
            </a:extLst>
          </p:cNvPr>
          <p:cNvSpPr txBox="1"/>
          <p:nvPr/>
        </p:nvSpPr>
        <p:spPr>
          <a:xfrm>
            <a:off x="6627616" y="3395625"/>
            <a:ext cx="354419" cy="369332"/>
          </a:xfrm>
          <a:prstGeom prst="rect">
            <a:avLst/>
          </a:prstGeom>
          <a:noFill/>
        </p:spPr>
        <p:txBody>
          <a:bodyPr wrap="square" rtlCol="0">
            <a:spAutoFit/>
          </a:bodyPr>
          <a:lstStyle/>
          <a:p>
            <a:r>
              <a:rPr lang="en-US" dirty="0"/>
              <a:t>D</a:t>
            </a:r>
          </a:p>
        </p:txBody>
      </p:sp>
      <p:sp>
        <p:nvSpPr>
          <p:cNvPr id="763" name="TextBox 762">
            <a:extLst>
              <a:ext uri="{FF2B5EF4-FFF2-40B4-BE49-F238E27FC236}">
                <a16:creationId xmlns:a16="http://schemas.microsoft.com/office/drawing/2014/main" id="{77693734-760A-551E-1470-05C676F0AD43}"/>
              </a:ext>
            </a:extLst>
          </p:cNvPr>
          <p:cNvSpPr txBox="1"/>
          <p:nvPr/>
        </p:nvSpPr>
        <p:spPr>
          <a:xfrm>
            <a:off x="8347115" y="4505139"/>
            <a:ext cx="354419" cy="369332"/>
          </a:xfrm>
          <a:prstGeom prst="rect">
            <a:avLst/>
          </a:prstGeom>
          <a:noFill/>
        </p:spPr>
        <p:txBody>
          <a:bodyPr wrap="square" rtlCol="0">
            <a:spAutoFit/>
          </a:bodyPr>
          <a:lstStyle/>
          <a:p>
            <a:r>
              <a:rPr lang="en-US" dirty="0"/>
              <a:t>D</a:t>
            </a:r>
          </a:p>
        </p:txBody>
      </p:sp>
      <p:sp>
        <p:nvSpPr>
          <p:cNvPr id="765" name="TextBox 764">
            <a:extLst>
              <a:ext uri="{FF2B5EF4-FFF2-40B4-BE49-F238E27FC236}">
                <a16:creationId xmlns:a16="http://schemas.microsoft.com/office/drawing/2014/main" id="{D212E5DF-FF5D-36C3-5132-866C18292DCB}"/>
              </a:ext>
            </a:extLst>
          </p:cNvPr>
          <p:cNvSpPr txBox="1"/>
          <p:nvPr/>
        </p:nvSpPr>
        <p:spPr>
          <a:xfrm>
            <a:off x="7824257" y="4346617"/>
            <a:ext cx="354419" cy="369332"/>
          </a:xfrm>
          <a:prstGeom prst="rect">
            <a:avLst/>
          </a:prstGeom>
          <a:noFill/>
        </p:spPr>
        <p:txBody>
          <a:bodyPr wrap="square" rtlCol="0">
            <a:spAutoFit/>
          </a:bodyPr>
          <a:lstStyle/>
          <a:p>
            <a:r>
              <a:rPr lang="en-US" dirty="0"/>
              <a:t>B</a:t>
            </a:r>
          </a:p>
        </p:txBody>
      </p:sp>
      <p:sp>
        <p:nvSpPr>
          <p:cNvPr id="767" name="TextBox 766">
            <a:extLst>
              <a:ext uri="{FF2B5EF4-FFF2-40B4-BE49-F238E27FC236}">
                <a16:creationId xmlns:a16="http://schemas.microsoft.com/office/drawing/2014/main" id="{A2DFA0FD-B15F-FBCA-A08C-B68DE0C085A9}"/>
              </a:ext>
            </a:extLst>
          </p:cNvPr>
          <p:cNvSpPr txBox="1"/>
          <p:nvPr/>
        </p:nvSpPr>
        <p:spPr>
          <a:xfrm>
            <a:off x="7713014" y="4559561"/>
            <a:ext cx="354419" cy="369332"/>
          </a:xfrm>
          <a:prstGeom prst="rect">
            <a:avLst/>
          </a:prstGeom>
          <a:noFill/>
        </p:spPr>
        <p:txBody>
          <a:bodyPr wrap="square" rtlCol="0">
            <a:spAutoFit/>
          </a:bodyPr>
          <a:lstStyle/>
          <a:p>
            <a:r>
              <a:rPr lang="en-US" dirty="0"/>
              <a:t>D</a:t>
            </a:r>
          </a:p>
        </p:txBody>
      </p:sp>
      <p:sp>
        <p:nvSpPr>
          <p:cNvPr id="769" name="TextBox 768">
            <a:extLst>
              <a:ext uri="{FF2B5EF4-FFF2-40B4-BE49-F238E27FC236}">
                <a16:creationId xmlns:a16="http://schemas.microsoft.com/office/drawing/2014/main" id="{F2EEA8EB-893D-20A0-9C1F-1C9F1540CBE6}"/>
              </a:ext>
            </a:extLst>
          </p:cNvPr>
          <p:cNvSpPr txBox="1"/>
          <p:nvPr/>
        </p:nvSpPr>
        <p:spPr>
          <a:xfrm>
            <a:off x="8439311" y="3390424"/>
            <a:ext cx="354419" cy="369332"/>
          </a:xfrm>
          <a:prstGeom prst="rect">
            <a:avLst/>
          </a:prstGeom>
          <a:noFill/>
        </p:spPr>
        <p:txBody>
          <a:bodyPr wrap="square" rtlCol="0">
            <a:spAutoFit/>
          </a:bodyPr>
          <a:lstStyle/>
          <a:p>
            <a:r>
              <a:rPr lang="en-US" dirty="0"/>
              <a:t>C</a:t>
            </a:r>
          </a:p>
        </p:txBody>
      </p:sp>
      <p:sp>
        <p:nvSpPr>
          <p:cNvPr id="771" name="TextBox 770">
            <a:extLst>
              <a:ext uri="{FF2B5EF4-FFF2-40B4-BE49-F238E27FC236}">
                <a16:creationId xmlns:a16="http://schemas.microsoft.com/office/drawing/2014/main" id="{FD3C8E92-70DC-D822-9B15-F4BA85CDEC43}"/>
              </a:ext>
            </a:extLst>
          </p:cNvPr>
          <p:cNvSpPr txBox="1"/>
          <p:nvPr/>
        </p:nvSpPr>
        <p:spPr>
          <a:xfrm>
            <a:off x="7718848" y="3853223"/>
            <a:ext cx="354419" cy="369332"/>
          </a:xfrm>
          <a:prstGeom prst="rect">
            <a:avLst/>
          </a:prstGeom>
          <a:noFill/>
        </p:spPr>
        <p:txBody>
          <a:bodyPr wrap="square" rtlCol="0">
            <a:spAutoFit/>
          </a:bodyPr>
          <a:lstStyle/>
          <a:p>
            <a:r>
              <a:rPr lang="en-US" dirty="0"/>
              <a:t>C</a:t>
            </a:r>
          </a:p>
        </p:txBody>
      </p:sp>
      <p:sp>
        <p:nvSpPr>
          <p:cNvPr id="773" name="TextBox 772">
            <a:extLst>
              <a:ext uri="{FF2B5EF4-FFF2-40B4-BE49-F238E27FC236}">
                <a16:creationId xmlns:a16="http://schemas.microsoft.com/office/drawing/2014/main" id="{27F24C44-B670-BCA1-C31D-A47F4D57E243}"/>
              </a:ext>
            </a:extLst>
          </p:cNvPr>
          <p:cNvSpPr txBox="1"/>
          <p:nvPr/>
        </p:nvSpPr>
        <p:spPr>
          <a:xfrm>
            <a:off x="8994904" y="5684761"/>
            <a:ext cx="354419" cy="369332"/>
          </a:xfrm>
          <a:prstGeom prst="rect">
            <a:avLst/>
          </a:prstGeom>
          <a:noFill/>
        </p:spPr>
        <p:txBody>
          <a:bodyPr wrap="square" rtlCol="0">
            <a:spAutoFit/>
          </a:bodyPr>
          <a:lstStyle/>
          <a:p>
            <a:r>
              <a:rPr lang="en-US" dirty="0"/>
              <a:t>C</a:t>
            </a:r>
          </a:p>
        </p:txBody>
      </p:sp>
      <p:sp>
        <p:nvSpPr>
          <p:cNvPr id="775" name="TextBox 774">
            <a:extLst>
              <a:ext uri="{FF2B5EF4-FFF2-40B4-BE49-F238E27FC236}">
                <a16:creationId xmlns:a16="http://schemas.microsoft.com/office/drawing/2014/main" id="{B8DB3305-A99A-EE84-92DD-0AEA13CEF9AF}"/>
              </a:ext>
            </a:extLst>
          </p:cNvPr>
          <p:cNvSpPr txBox="1"/>
          <p:nvPr/>
        </p:nvSpPr>
        <p:spPr>
          <a:xfrm>
            <a:off x="7739036" y="5684761"/>
            <a:ext cx="354419" cy="369332"/>
          </a:xfrm>
          <a:prstGeom prst="rect">
            <a:avLst/>
          </a:prstGeom>
          <a:noFill/>
        </p:spPr>
        <p:txBody>
          <a:bodyPr wrap="square" rtlCol="0">
            <a:spAutoFit/>
          </a:bodyPr>
          <a:lstStyle/>
          <a:p>
            <a:r>
              <a:rPr lang="en-US" dirty="0"/>
              <a:t>F</a:t>
            </a:r>
          </a:p>
        </p:txBody>
      </p:sp>
      <p:sp>
        <p:nvSpPr>
          <p:cNvPr id="777" name="TextBox 776">
            <a:extLst>
              <a:ext uri="{FF2B5EF4-FFF2-40B4-BE49-F238E27FC236}">
                <a16:creationId xmlns:a16="http://schemas.microsoft.com/office/drawing/2014/main" id="{0D55A16D-9DF7-6ED3-AA4D-3CBBA4042AF6}"/>
              </a:ext>
            </a:extLst>
          </p:cNvPr>
          <p:cNvSpPr txBox="1"/>
          <p:nvPr/>
        </p:nvSpPr>
        <p:spPr>
          <a:xfrm>
            <a:off x="7756603" y="5029828"/>
            <a:ext cx="354419" cy="369332"/>
          </a:xfrm>
          <a:prstGeom prst="rect">
            <a:avLst/>
          </a:prstGeom>
          <a:noFill/>
        </p:spPr>
        <p:txBody>
          <a:bodyPr wrap="square" rtlCol="0">
            <a:spAutoFit/>
          </a:bodyPr>
          <a:lstStyle/>
          <a:p>
            <a:r>
              <a:rPr lang="en-US" dirty="0"/>
              <a:t>D</a:t>
            </a:r>
          </a:p>
        </p:txBody>
      </p:sp>
      <p:sp>
        <p:nvSpPr>
          <p:cNvPr id="779" name="TextBox 778">
            <a:extLst>
              <a:ext uri="{FF2B5EF4-FFF2-40B4-BE49-F238E27FC236}">
                <a16:creationId xmlns:a16="http://schemas.microsoft.com/office/drawing/2014/main" id="{57310C77-8D2B-5E67-499B-982EC762A510}"/>
              </a:ext>
            </a:extLst>
          </p:cNvPr>
          <p:cNvSpPr txBox="1"/>
          <p:nvPr/>
        </p:nvSpPr>
        <p:spPr>
          <a:xfrm>
            <a:off x="9141472" y="3238224"/>
            <a:ext cx="354419" cy="369332"/>
          </a:xfrm>
          <a:prstGeom prst="rect">
            <a:avLst/>
          </a:prstGeom>
          <a:noFill/>
        </p:spPr>
        <p:txBody>
          <a:bodyPr wrap="square" rtlCol="0">
            <a:spAutoFit/>
          </a:bodyPr>
          <a:lstStyle/>
          <a:p>
            <a:r>
              <a:rPr lang="en-US" dirty="0"/>
              <a:t>D</a:t>
            </a:r>
          </a:p>
        </p:txBody>
      </p:sp>
      <p:sp>
        <p:nvSpPr>
          <p:cNvPr id="781" name="TextBox 780">
            <a:extLst>
              <a:ext uri="{FF2B5EF4-FFF2-40B4-BE49-F238E27FC236}">
                <a16:creationId xmlns:a16="http://schemas.microsoft.com/office/drawing/2014/main" id="{CB696494-1125-32F6-5238-E9B07062687B}"/>
              </a:ext>
            </a:extLst>
          </p:cNvPr>
          <p:cNvSpPr txBox="1"/>
          <p:nvPr/>
        </p:nvSpPr>
        <p:spPr>
          <a:xfrm>
            <a:off x="8964263" y="3920768"/>
            <a:ext cx="354419" cy="369332"/>
          </a:xfrm>
          <a:prstGeom prst="rect">
            <a:avLst/>
          </a:prstGeom>
          <a:noFill/>
        </p:spPr>
        <p:txBody>
          <a:bodyPr wrap="square" rtlCol="0">
            <a:spAutoFit/>
          </a:bodyPr>
          <a:lstStyle/>
          <a:p>
            <a:r>
              <a:rPr lang="en-US" dirty="0"/>
              <a:t>D</a:t>
            </a:r>
          </a:p>
        </p:txBody>
      </p:sp>
      <p:sp>
        <p:nvSpPr>
          <p:cNvPr id="783" name="TextBox 782">
            <a:extLst>
              <a:ext uri="{FF2B5EF4-FFF2-40B4-BE49-F238E27FC236}">
                <a16:creationId xmlns:a16="http://schemas.microsoft.com/office/drawing/2014/main" id="{6A96470D-A5B7-A0D8-687A-006E9A6CC9B8}"/>
              </a:ext>
            </a:extLst>
          </p:cNvPr>
          <p:cNvSpPr txBox="1"/>
          <p:nvPr/>
        </p:nvSpPr>
        <p:spPr>
          <a:xfrm>
            <a:off x="8987843" y="4465474"/>
            <a:ext cx="354419" cy="369332"/>
          </a:xfrm>
          <a:prstGeom prst="rect">
            <a:avLst/>
          </a:prstGeom>
          <a:noFill/>
        </p:spPr>
        <p:txBody>
          <a:bodyPr wrap="square" rtlCol="0">
            <a:spAutoFit/>
          </a:bodyPr>
          <a:lstStyle/>
          <a:p>
            <a:r>
              <a:rPr lang="en-US" dirty="0"/>
              <a:t>D</a:t>
            </a:r>
          </a:p>
        </p:txBody>
      </p:sp>
      <p:sp>
        <p:nvSpPr>
          <p:cNvPr id="785" name="TextBox 784">
            <a:extLst>
              <a:ext uri="{FF2B5EF4-FFF2-40B4-BE49-F238E27FC236}">
                <a16:creationId xmlns:a16="http://schemas.microsoft.com/office/drawing/2014/main" id="{5C3B0D08-EA51-8543-CE22-1AD80B0C7BA8}"/>
              </a:ext>
            </a:extLst>
          </p:cNvPr>
          <p:cNvSpPr txBox="1"/>
          <p:nvPr/>
        </p:nvSpPr>
        <p:spPr>
          <a:xfrm>
            <a:off x="8297013" y="4964301"/>
            <a:ext cx="354419" cy="369332"/>
          </a:xfrm>
          <a:prstGeom prst="rect">
            <a:avLst/>
          </a:prstGeom>
          <a:noFill/>
        </p:spPr>
        <p:txBody>
          <a:bodyPr wrap="square" rtlCol="0">
            <a:spAutoFit/>
          </a:bodyPr>
          <a:lstStyle/>
          <a:p>
            <a:r>
              <a:rPr lang="en-US" dirty="0"/>
              <a:t>D</a:t>
            </a:r>
          </a:p>
        </p:txBody>
      </p:sp>
      <p:sp>
        <p:nvSpPr>
          <p:cNvPr id="787" name="TextBox 786">
            <a:extLst>
              <a:ext uri="{FF2B5EF4-FFF2-40B4-BE49-F238E27FC236}">
                <a16:creationId xmlns:a16="http://schemas.microsoft.com/office/drawing/2014/main" id="{F5594EA9-7A55-3ABB-2142-F46B4861D118}"/>
              </a:ext>
            </a:extLst>
          </p:cNvPr>
          <p:cNvSpPr txBox="1"/>
          <p:nvPr/>
        </p:nvSpPr>
        <p:spPr>
          <a:xfrm>
            <a:off x="8483004" y="5179086"/>
            <a:ext cx="354419" cy="369332"/>
          </a:xfrm>
          <a:prstGeom prst="rect">
            <a:avLst/>
          </a:prstGeom>
          <a:noFill/>
        </p:spPr>
        <p:txBody>
          <a:bodyPr wrap="square" rtlCol="0">
            <a:spAutoFit/>
          </a:bodyPr>
          <a:lstStyle/>
          <a:p>
            <a:r>
              <a:rPr lang="en-US" dirty="0"/>
              <a:t>C</a:t>
            </a:r>
          </a:p>
        </p:txBody>
      </p:sp>
      <p:sp>
        <p:nvSpPr>
          <p:cNvPr id="789" name="TextBox 788">
            <a:extLst>
              <a:ext uri="{FF2B5EF4-FFF2-40B4-BE49-F238E27FC236}">
                <a16:creationId xmlns:a16="http://schemas.microsoft.com/office/drawing/2014/main" id="{1AA52C31-7CA9-012F-81EB-C756E4D2B404}"/>
              </a:ext>
            </a:extLst>
          </p:cNvPr>
          <p:cNvSpPr txBox="1"/>
          <p:nvPr/>
        </p:nvSpPr>
        <p:spPr>
          <a:xfrm>
            <a:off x="8213134" y="3736102"/>
            <a:ext cx="354419" cy="369332"/>
          </a:xfrm>
          <a:prstGeom prst="rect">
            <a:avLst/>
          </a:prstGeom>
          <a:noFill/>
        </p:spPr>
        <p:txBody>
          <a:bodyPr wrap="square" rtlCol="0">
            <a:spAutoFit/>
          </a:bodyPr>
          <a:lstStyle/>
          <a:p>
            <a:r>
              <a:rPr lang="en-US" dirty="0"/>
              <a:t>A</a:t>
            </a:r>
          </a:p>
        </p:txBody>
      </p:sp>
      <p:sp>
        <p:nvSpPr>
          <p:cNvPr id="791" name="TextBox 790">
            <a:extLst>
              <a:ext uri="{FF2B5EF4-FFF2-40B4-BE49-F238E27FC236}">
                <a16:creationId xmlns:a16="http://schemas.microsoft.com/office/drawing/2014/main" id="{AA17D6B2-427F-007E-07E0-685C80D35363}"/>
              </a:ext>
            </a:extLst>
          </p:cNvPr>
          <p:cNvSpPr txBox="1"/>
          <p:nvPr/>
        </p:nvSpPr>
        <p:spPr>
          <a:xfrm>
            <a:off x="8492867" y="3736102"/>
            <a:ext cx="354419" cy="369332"/>
          </a:xfrm>
          <a:prstGeom prst="rect">
            <a:avLst/>
          </a:prstGeom>
          <a:noFill/>
        </p:spPr>
        <p:txBody>
          <a:bodyPr wrap="square" rtlCol="0">
            <a:spAutoFit/>
          </a:bodyPr>
          <a:lstStyle/>
          <a:p>
            <a:r>
              <a:rPr lang="en-US" dirty="0"/>
              <a:t>B</a:t>
            </a:r>
          </a:p>
        </p:txBody>
      </p:sp>
      <p:sp>
        <p:nvSpPr>
          <p:cNvPr id="793" name="TextBox 792">
            <a:extLst>
              <a:ext uri="{FF2B5EF4-FFF2-40B4-BE49-F238E27FC236}">
                <a16:creationId xmlns:a16="http://schemas.microsoft.com/office/drawing/2014/main" id="{9BB470E0-6EAB-B764-739A-F6D0B401C338}"/>
              </a:ext>
            </a:extLst>
          </p:cNvPr>
          <p:cNvSpPr txBox="1"/>
          <p:nvPr/>
        </p:nvSpPr>
        <p:spPr>
          <a:xfrm>
            <a:off x="8218568" y="4037889"/>
            <a:ext cx="354419" cy="369332"/>
          </a:xfrm>
          <a:prstGeom prst="rect">
            <a:avLst/>
          </a:prstGeom>
          <a:noFill/>
        </p:spPr>
        <p:txBody>
          <a:bodyPr wrap="square" rtlCol="0">
            <a:spAutoFit/>
          </a:bodyPr>
          <a:lstStyle/>
          <a:p>
            <a:r>
              <a:rPr lang="en-US" dirty="0"/>
              <a:t>C</a:t>
            </a:r>
          </a:p>
        </p:txBody>
      </p:sp>
      <p:sp>
        <p:nvSpPr>
          <p:cNvPr id="795" name="TextBox 794">
            <a:extLst>
              <a:ext uri="{FF2B5EF4-FFF2-40B4-BE49-F238E27FC236}">
                <a16:creationId xmlns:a16="http://schemas.microsoft.com/office/drawing/2014/main" id="{20B209F5-8E6B-FCE1-A374-0C1D22ED0217}"/>
              </a:ext>
            </a:extLst>
          </p:cNvPr>
          <p:cNvSpPr txBox="1"/>
          <p:nvPr/>
        </p:nvSpPr>
        <p:spPr>
          <a:xfrm>
            <a:off x="8497201" y="4009650"/>
            <a:ext cx="354419" cy="369332"/>
          </a:xfrm>
          <a:prstGeom prst="rect">
            <a:avLst/>
          </a:prstGeom>
          <a:noFill/>
        </p:spPr>
        <p:txBody>
          <a:bodyPr wrap="square" rtlCol="0">
            <a:spAutoFit/>
          </a:bodyPr>
          <a:lstStyle/>
          <a:p>
            <a:r>
              <a:rPr lang="en-US" dirty="0"/>
              <a:t>D</a:t>
            </a:r>
          </a:p>
        </p:txBody>
      </p:sp>
      <p:sp>
        <p:nvSpPr>
          <p:cNvPr id="797" name="TextBox 796">
            <a:extLst>
              <a:ext uri="{FF2B5EF4-FFF2-40B4-BE49-F238E27FC236}">
                <a16:creationId xmlns:a16="http://schemas.microsoft.com/office/drawing/2014/main" id="{6B602574-7DC7-CADB-CCBB-227517815AE4}"/>
              </a:ext>
            </a:extLst>
          </p:cNvPr>
          <p:cNvSpPr txBox="1"/>
          <p:nvPr/>
        </p:nvSpPr>
        <p:spPr>
          <a:xfrm>
            <a:off x="7159738" y="5684761"/>
            <a:ext cx="354419" cy="369332"/>
          </a:xfrm>
          <a:prstGeom prst="rect">
            <a:avLst/>
          </a:prstGeom>
          <a:noFill/>
        </p:spPr>
        <p:txBody>
          <a:bodyPr wrap="square" rtlCol="0">
            <a:spAutoFit/>
          </a:bodyPr>
          <a:lstStyle/>
          <a:p>
            <a:r>
              <a:rPr lang="en-US" dirty="0"/>
              <a:t>E</a:t>
            </a:r>
          </a:p>
        </p:txBody>
      </p:sp>
      <p:sp>
        <p:nvSpPr>
          <p:cNvPr id="799" name="TextBox 798">
            <a:extLst>
              <a:ext uri="{FF2B5EF4-FFF2-40B4-BE49-F238E27FC236}">
                <a16:creationId xmlns:a16="http://schemas.microsoft.com/office/drawing/2014/main" id="{3C82E98C-9D5A-665C-C93A-61F9A12A37EB}"/>
              </a:ext>
            </a:extLst>
          </p:cNvPr>
          <p:cNvSpPr txBox="1"/>
          <p:nvPr/>
        </p:nvSpPr>
        <p:spPr>
          <a:xfrm>
            <a:off x="8964263" y="3423631"/>
            <a:ext cx="354419" cy="369332"/>
          </a:xfrm>
          <a:prstGeom prst="rect">
            <a:avLst/>
          </a:prstGeom>
          <a:noFill/>
        </p:spPr>
        <p:txBody>
          <a:bodyPr wrap="square" rtlCol="0">
            <a:spAutoFit/>
          </a:bodyPr>
          <a:lstStyle/>
          <a:p>
            <a:r>
              <a:rPr lang="en-US" dirty="0"/>
              <a:t>F</a:t>
            </a:r>
          </a:p>
        </p:txBody>
      </p:sp>
      <p:sp>
        <p:nvSpPr>
          <p:cNvPr id="801" name="TextBox 800">
            <a:extLst>
              <a:ext uri="{FF2B5EF4-FFF2-40B4-BE49-F238E27FC236}">
                <a16:creationId xmlns:a16="http://schemas.microsoft.com/office/drawing/2014/main" id="{80AD53FB-85E4-15FB-EB93-1A524A24EC0C}"/>
              </a:ext>
            </a:extLst>
          </p:cNvPr>
          <p:cNvSpPr txBox="1"/>
          <p:nvPr/>
        </p:nvSpPr>
        <p:spPr>
          <a:xfrm>
            <a:off x="6545890" y="4531283"/>
            <a:ext cx="354419" cy="369332"/>
          </a:xfrm>
          <a:prstGeom prst="rect">
            <a:avLst/>
          </a:prstGeom>
          <a:noFill/>
        </p:spPr>
        <p:txBody>
          <a:bodyPr wrap="square" rtlCol="0">
            <a:spAutoFit/>
          </a:bodyPr>
          <a:lstStyle/>
          <a:p>
            <a:r>
              <a:rPr lang="en-US" dirty="0"/>
              <a:t>E</a:t>
            </a:r>
          </a:p>
        </p:txBody>
      </p:sp>
      <p:pic>
        <p:nvPicPr>
          <p:cNvPr id="803" name="Picture 802">
            <a:extLst>
              <a:ext uri="{FF2B5EF4-FFF2-40B4-BE49-F238E27FC236}">
                <a16:creationId xmlns:a16="http://schemas.microsoft.com/office/drawing/2014/main" id="{AFCF1B3E-680F-A335-43A8-8EFC56719A58}"/>
              </a:ext>
            </a:extLst>
          </p:cNvPr>
          <p:cNvPicPr>
            <a:picLocks noChangeAspect="1"/>
          </p:cNvPicPr>
          <p:nvPr/>
        </p:nvPicPr>
        <p:blipFill>
          <a:blip r:embed="rId2"/>
          <a:stretch>
            <a:fillRect/>
          </a:stretch>
        </p:blipFill>
        <p:spPr>
          <a:xfrm>
            <a:off x="6610873" y="3284426"/>
            <a:ext cx="3224897" cy="3184486"/>
          </a:xfrm>
          <a:prstGeom prst="rect">
            <a:avLst/>
          </a:prstGeom>
        </p:spPr>
      </p:pic>
      <p:sp>
        <p:nvSpPr>
          <p:cNvPr id="805" name="TextBox 804">
            <a:extLst>
              <a:ext uri="{FF2B5EF4-FFF2-40B4-BE49-F238E27FC236}">
                <a16:creationId xmlns:a16="http://schemas.microsoft.com/office/drawing/2014/main" id="{27760434-5075-FA47-BAA4-239608B05148}"/>
              </a:ext>
            </a:extLst>
          </p:cNvPr>
          <p:cNvSpPr txBox="1"/>
          <p:nvPr/>
        </p:nvSpPr>
        <p:spPr>
          <a:xfrm>
            <a:off x="6697854" y="3368778"/>
            <a:ext cx="354419" cy="369332"/>
          </a:xfrm>
          <a:prstGeom prst="rect">
            <a:avLst/>
          </a:prstGeom>
          <a:noFill/>
        </p:spPr>
        <p:txBody>
          <a:bodyPr wrap="square" rtlCol="0">
            <a:spAutoFit/>
          </a:bodyPr>
          <a:lstStyle/>
          <a:p>
            <a:r>
              <a:rPr lang="en-US" dirty="0"/>
              <a:t>A</a:t>
            </a:r>
          </a:p>
        </p:txBody>
      </p:sp>
      <p:sp>
        <p:nvSpPr>
          <p:cNvPr id="807" name="TextBox 806">
            <a:extLst>
              <a:ext uri="{FF2B5EF4-FFF2-40B4-BE49-F238E27FC236}">
                <a16:creationId xmlns:a16="http://schemas.microsoft.com/office/drawing/2014/main" id="{E45B79C2-C327-8C16-4842-1F4CB7366FEC}"/>
              </a:ext>
            </a:extLst>
          </p:cNvPr>
          <p:cNvSpPr txBox="1"/>
          <p:nvPr/>
        </p:nvSpPr>
        <p:spPr>
          <a:xfrm>
            <a:off x="7449247" y="4032129"/>
            <a:ext cx="354419" cy="369332"/>
          </a:xfrm>
          <a:prstGeom prst="rect">
            <a:avLst/>
          </a:prstGeom>
          <a:noFill/>
        </p:spPr>
        <p:txBody>
          <a:bodyPr wrap="square" rtlCol="0">
            <a:spAutoFit/>
          </a:bodyPr>
          <a:lstStyle/>
          <a:p>
            <a:r>
              <a:rPr lang="en-US" dirty="0"/>
              <a:t>B</a:t>
            </a:r>
          </a:p>
        </p:txBody>
      </p:sp>
      <p:sp>
        <p:nvSpPr>
          <p:cNvPr id="809" name="TextBox 808">
            <a:extLst>
              <a:ext uri="{FF2B5EF4-FFF2-40B4-BE49-F238E27FC236}">
                <a16:creationId xmlns:a16="http://schemas.microsoft.com/office/drawing/2014/main" id="{028932D8-A54E-0A60-B52A-6772E738F0C6}"/>
              </a:ext>
            </a:extLst>
          </p:cNvPr>
          <p:cNvSpPr txBox="1"/>
          <p:nvPr/>
        </p:nvSpPr>
        <p:spPr>
          <a:xfrm>
            <a:off x="7275556" y="3326915"/>
            <a:ext cx="354419" cy="369332"/>
          </a:xfrm>
          <a:prstGeom prst="rect">
            <a:avLst/>
          </a:prstGeom>
          <a:noFill/>
        </p:spPr>
        <p:txBody>
          <a:bodyPr wrap="square" rtlCol="0">
            <a:spAutoFit/>
          </a:bodyPr>
          <a:lstStyle/>
          <a:p>
            <a:r>
              <a:rPr lang="en-US" dirty="0"/>
              <a:t>A</a:t>
            </a:r>
          </a:p>
        </p:txBody>
      </p:sp>
      <p:sp>
        <p:nvSpPr>
          <p:cNvPr id="811" name="TextBox 810">
            <a:extLst>
              <a:ext uri="{FF2B5EF4-FFF2-40B4-BE49-F238E27FC236}">
                <a16:creationId xmlns:a16="http://schemas.microsoft.com/office/drawing/2014/main" id="{6A2DBE12-AFB4-79B1-679F-E5B200F3A794}"/>
              </a:ext>
            </a:extLst>
          </p:cNvPr>
          <p:cNvSpPr txBox="1"/>
          <p:nvPr/>
        </p:nvSpPr>
        <p:spPr>
          <a:xfrm>
            <a:off x="7559623" y="3326915"/>
            <a:ext cx="354419" cy="369332"/>
          </a:xfrm>
          <a:prstGeom prst="rect">
            <a:avLst/>
          </a:prstGeom>
          <a:noFill/>
        </p:spPr>
        <p:txBody>
          <a:bodyPr wrap="square" rtlCol="0">
            <a:spAutoFit/>
          </a:bodyPr>
          <a:lstStyle/>
          <a:p>
            <a:r>
              <a:rPr lang="en-US" dirty="0"/>
              <a:t>B</a:t>
            </a:r>
          </a:p>
        </p:txBody>
      </p:sp>
      <p:sp>
        <p:nvSpPr>
          <p:cNvPr id="813" name="TextBox 812">
            <a:extLst>
              <a:ext uri="{FF2B5EF4-FFF2-40B4-BE49-F238E27FC236}">
                <a16:creationId xmlns:a16="http://schemas.microsoft.com/office/drawing/2014/main" id="{A3D0001E-B1AF-E2D4-A7FA-39BBFD541CFE}"/>
              </a:ext>
            </a:extLst>
          </p:cNvPr>
          <p:cNvSpPr txBox="1"/>
          <p:nvPr/>
        </p:nvSpPr>
        <p:spPr>
          <a:xfrm>
            <a:off x="7417589" y="3610361"/>
            <a:ext cx="354419" cy="369332"/>
          </a:xfrm>
          <a:prstGeom prst="rect">
            <a:avLst/>
          </a:prstGeom>
          <a:noFill/>
        </p:spPr>
        <p:txBody>
          <a:bodyPr wrap="square" rtlCol="0">
            <a:spAutoFit/>
          </a:bodyPr>
          <a:lstStyle/>
          <a:p>
            <a:r>
              <a:rPr lang="en-US" dirty="0"/>
              <a:t>D</a:t>
            </a:r>
          </a:p>
        </p:txBody>
      </p:sp>
      <p:sp>
        <p:nvSpPr>
          <p:cNvPr id="815" name="TextBox 814">
            <a:extLst>
              <a:ext uri="{FF2B5EF4-FFF2-40B4-BE49-F238E27FC236}">
                <a16:creationId xmlns:a16="http://schemas.microsoft.com/office/drawing/2014/main" id="{FA49777B-EB1E-2B33-7EC1-E877F384D8FC}"/>
              </a:ext>
            </a:extLst>
          </p:cNvPr>
          <p:cNvSpPr txBox="1"/>
          <p:nvPr/>
        </p:nvSpPr>
        <p:spPr>
          <a:xfrm>
            <a:off x="6697854" y="3979693"/>
            <a:ext cx="354419" cy="369332"/>
          </a:xfrm>
          <a:prstGeom prst="rect">
            <a:avLst/>
          </a:prstGeom>
          <a:noFill/>
        </p:spPr>
        <p:txBody>
          <a:bodyPr wrap="square" rtlCol="0">
            <a:spAutoFit/>
          </a:bodyPr>
          <a:lstStyle/>
          <a:p>
            <a:r>
              <a:rPr lang="en-US" dirty="0"/>
              <a:t>A</a:t>
            </a:r>
          </a:p>
        </p:txBody>
      </p:sp>
      <p:sp>
        <p:nvSpPr>
          <p:cNvPr id="817" name="TextBox 816">
            <a:extLst>
              <a:ext uri="{FF2B5EF4-FFF2-40B4-BE49-F238E27FC236}">
                <a16:creationId xmlns:a16="http://schemas.microsoft.com/office/drawing/2014/main" id="{632A4939-A3B0-4C46-6CF9-D19387DC75D6}"/>
              </a:ext>
            </a:extLst>
          </p:cNvPr>
          <p:cNvSpPr txBox="1"/>
          <p:nvPr/>
        </p:nvSpPr>
        <p:spPr>
          <a:xfrm>
            <a:off x="6940679" y="3969698"/>
            <a:ext cx="354419" cy="369332"/>
          </a:xfrm>
          <a:prstGeom prst="rect">
            <a:avLst/>
          </a:prstGeom>
          <a:noFill/>
        </p:spPr>
        <p:txBody>
          <a:bodyPr wrap="square" rtlCol="0">
            <a:spAutoFit/>
          </a:bodyPr>
          <a:lstStyle/>
          <a:p>
            <a:r>
              <a:rPr lang="en-US" dirty="0"/>
              <a:t>B</a:t>
            </a:r>
          </a:p>
        </p:txBody>
      </p:sp>
      <p:sp>
        <p:nvSpPr>
          <p:cNvPr id="819" name="TextBox 818">
            <a:extLst>
              <a:ext uri="{FF2B5EF4-FFF2-40B4-BE49-F238E27FC236}">
                <a16:creationId xmlns:a16="http://schemas.microsoft.com/office/drawing/2014/main" id="{94FD26F4-8CEF-1021-3943-228D54CF502C}"/>
              </a:ext>
            </a:extLst>
          </p:cNvPr>
          <p:cNvSpPr txBox="1"/>
          <p:nvPr/>
        </p:nvSpPr>
        <p:spPr>
          <a:xfrm>
            <a:off x="6835398" y="4174354"/>
            <a:ext cx="354419" cy="369332"/>
          </a:xfrm>
          <a:prstGeom prst="rect">
            <a:avLst/>
          </a:prstGeom>
          <a:noFill/>
        </p:spPr>
        <p:txBody>
          <a:bodyPr wrap="square" rtlCol="0">
            <a:spAutoFit/>
          </a:bodyPr>
          <a:lstStyle/>
          <a:p>
            <a:r>
              <a:rPr lang="en-US" dirty="0"/>
              <a:t>D</a:t>
            </a:r>
          </a:p>
        </p:txBody>
      </p:sp>
      <p:sp>
        <p:nvSpPr>
          <p:cNvPr id="821" name="TextBox 820">
            <a:extLst>
              <a:ext uri="{FF2B5EF4-FFF2-40B4-BE49-F238E27FC236}">
                <a16:creationId xmlns:a16="http://schemas.microsoft.com/office/drawing/2014/main" id="{BF4CA120-9956-5CA1-7ACE-D4ECC002825E}"/>
              </a:ext>
            </a:extLst>
          </p:cNvPr>
          <p:cNvSpPr txBox="1"/>
          <p:nvPr/>
        </p:nvSpPr>
        <p:spPr>
          <a:xfrm>
            <a:off x="6917124" y="3590371"/>
            <a:ext cx="354419" cy="369332"/>
          </a:xfrm>
          <a:prstGeom prst="rect">
            <a:avLst/>
          </a:prstGeom>
          <a:noFill/>
        </p:spPr>
        <p:txBody>
          <a:bodyPr wrap="square" rtlCol="0">
            <a:spAutoFit/>
          </a:bodyPr>
          <a:lstStyle/>
          <a:p>
            <a:r>
              <a:rPr lang="en-US" dirty="0"/>
              <a:t>D</a:t>
            </a:r>
          </a:p>
        </p:txBody>
      </p:sp>
      <p:sp>
        <p:nvSpPr>
          <p:cNvPr id="823" name="TextBox 822">
            <a:extLst>
              <a:ext uri="{FF2B5EF4-FFF2-40B4-BE49-F238E27FC236}">
                <a16:creationId xmlns:a16="http://schemas.microsoft.com/office/drawing/2014/main" id="{D6C61A2D-D626-B784-8A11-6B9782EDC3A9}"/>
              </a:ext>
            </a:extLst>
          </p:cNvPr>
          <p:cNvSpPr txBox="1"/>
          <p:nvPr/>
        </p:nvSpPr>
        <p:spPr>
          <a:xfrm>
            <a:off x="8636623" y="4699885"/>
            <a:ext cx="354419" cy="369332"/>
          </a:xfrm>
          <a:prstGeom prst="rect">
            <a:avLst/>
          </a:prstGeom>
          <a:noFill/>
        </p:spPr>
        <p:txBody>
          <a:bodyPr wrap="square" rtlCol="0">
            <a:spAutoFit/>
          </a:bodyPr>
          <a:lstStyle/>
          <a:p>
            <a:r>
              <a:rPr lang="en-US" dirty="0"/>
              <a:t>D</a:t>
            </a:r>
          </a:p>
        </p:txBody>
      </p:sp>
      <p:sp>
        <p:nvSpPr>
          <p:cNvPr id="825" name="TextBox 824">
            <a:extLst>
              <a:ext uri="{FF2B5EF4-FFF2-40B4-BE49-F238E27FC236}">
                <a16:creationId xmlns:a16="http://schemas.microsoft.com/office/drawing/2014/main" id="{4F9B703D-E7DA-2A3B-83C8-946C431BBDB8}"/>
              </a:ext>
            </a:extLst>
          </p:cNvPr>
          <p:cNvSpPr txBox="1"/>
          <p:nvPr/>
        </p:nvSpPr>
        <p:spPr>
          <a:xfrm>
            <a:off x="8113765" y="4541363"/>
            <a:ext cx="354419" cy="369332"/>
          </a:xfrm>
          <a:prstGeom prst="rect">
            <a:avLst/>
          </a:prstGeom>
          <a:noFill/>
        </p:spPr>
        <p:txBody>
          <a:bodyPr wrap="square" rtlCol="0">
            <a:spAutoFit/>
          </a:bodyPr>
          <a:lstStyle/>
          <a:p>
            <a:r>
              <a:rPr lang="en-US" dirty="0"/>
              <a:t>B</a:t>
            </a:r>
          </a:p>
        </p:txBody>
      </p:sp>
      <p:sp>
        <p:nvSpPr>
          <p:cNvPr id="827" name="TextBox 826">
            <a:extLst>
              <a:ext uri="{FF2B5EF4-FFF2-40B4-BE49-F238E27FC236}">
                <a16:creationId xmlns:a16="http://schemas.microsoft.com/office/drawing/2014/main" id="{CDEECE51-72AC-59CC-C7B9-76B35096CF1F}"/>
              </a:ext>
            </a:extLst>
          </p:cNvPr>
          <p:cNvSpPr txBox="1"/>
          <p:nvPr/>
        </p:nvSpPr>
        <p:spPr>
          <a:xfrm>
            <a:off x="8002522" y="4754307"/>
            <a:ext cx="354419" cy="369332"/>
          </a:xfrm>
          <a:prstGeom prst="rect">
            <a:avLst/>
          </a:prstGeom>
          <a:noFill/>
        </p:spPr>
        <p:txBody>
          <a:bodyPr wrap="square" rtlCol="0">
            <a:spAutoFit/>
          </a:bodyPr>
          <a:lstStyle/>
          <a:p>
            <a:r>
              <a:rPr lang="en-US" dirty="0"/>
              <a:t>D</a:t>
            </a:r>
          </a:p>
        </p:txBody>
      </p:sp>
      <p:sp>
        <p:nvSpPr>
          <p:cNvPr id="829" name="TextBox 828">
            <a:extLst>
              <a:ext uri="{FF2B5EF4-FFF2-40B4-BE49-F238E27FC236}">
                <a16:creationId xmlns:a16="http://schemas.microsoft.com/office/drawing/2014/main" id="{0FAADA34-6E19-B785-9DE6-F11C986A7615}"/>
              </a:ext>
            </a:extLst>
          </p:cNvPr>
          <p:cNvSpPr txBox="1"/>
          <p:nvPr/>
        </p:nvSpPr>
        <p:spPr>
          <a:xfrm>
            <a:off x="8728819" y="3585170"/>
            <a:ext cx="354419" cy="369332"/>
          </a:xfrm>
          <a:prstGeom prst="rect">
            <a:avLst/>
          </a:prstGeom>
          <a:noFill/>
        </p:spPr>
        <p:txBody>
          <a:bodyPr wrap="square" rtlCol="0">
            <a:spAutoFit/>
          </a:bodyPr>
          <a:lstStyle/>
          <a:p>
            <a:r>
              <a:rPr lang="en-US" dirty="0"/>
              <a:t>C</a:t>
            </a:r>
          </a:p>
        </p:txBody>
      </p:sp>
      <p:sp>
        <p:nvSpPr>
          <p:cNvPr id="831" name="TextBox 830">
            <a:extLst>
              <a:ext uri="{FF2B5EF4-FFF2-40B4-BE49-F238E27FC236}">
                <a16:creationId xmlns:a16="http://schemas.microsoft.com/office/drawing/2014/main" id="{CE96AE26-E5A9-14E7-46BE-0454E67D24D7}"/>
              </a:ext>
            </a:extLst>
          </p:cNvPr>
          <p:cNvSpPr txBox="1"/>
          <p:nvPr/>
        </p:nvSpPr>
        <p:spPr>
          <a:xfrm>
            <a:off x="8008356" y="4047969"/>
            <a:ext cx="354419" cy="369332"/>
          </a:xfrm>
          <a:prstGeom prst="rect">
            <a:avLst/>
          </a:prstGeom>
          <a:noFill/>
        </p:spPr>
        <p:txBody>
          <a:bodyPr wrap="square" rtlCol="0">
            <a:spAutoFit/>
          </a:bodyPr>
          <a:lstStyle/>
          <a:p>
            <a:r>
              <a:rPr lang="en-US" dirty="0"/>
              <a:t>C</a:t>
            </a:r>
          </a:p>
        </p:txBody>
      </p:sp>
      <p:sp>
        <p:nvSpPr>
          <p:cNvPr id="833" name="TextBox 832">
            <a:extLst>
              <a:ext uri="{FF2B5EF4-FFF2-40B4-BE49-F238E27FC236}">
                <a16:creationId xmlns:a16="http://schemas.microsoft.com/office/drawing/2014/main" id="{E3D5353C-8C25-AD47-0487-B2CE1FDB26DC}"/>
              </a:ext>
            </a:extLst>
          </p:cNvPr>
          <p:cNvSpPr txBox="1"/>
          <p:nvPr/>
        </p:nvSpPr>
        <p:spPr>
          <a:xfrm>
            <a:off x="9284412" y="5879507"/>
            <a:ext cx="354419" cy="369332"/>
          </a:xfrm>
          <a:prstGeom prst="rect">
            <a:avLst/>
          </a:prstGeom>
          <a:noFill/>
        </p:spPr>
        <p:txBody>
          <a:bodyPr wrap="square" rtlCol="0">
            <a:spAutoFit/>
          </a:bodyPr>
          <a:lstStyle/>
          <a:p>
            <a:r>
              <a:rPr lang="en-US" dirty="0"/>
              <a:t>C</a:t>
            </a:r>
          </a:p>
        </p:txBody>
      </p:sp>
      <p:sp>
        <p:nvSpPr>
          <p:cNvPr id="835" name="TextBox 834">
            <a:extLst>
              <a:ext uri="{FF2B5EF4-FFF2-40B4-BE49-F238E27FC236}">
                <a16:creationId xmlns:a16="http://schemas.microsoft.com/office/drawing/2014/main" id="{AAD1014E-1541-B285-7597-514AC6BDAC7E}"/>
              </a:ext>
            </a:extLst>
          </p:cNvPr>
          <p:cNvSpPr txBox="1"/>
          <p:nvPr/>
        </p:nvSpPr>
        <p:spPr>
          <a:xfrm>
            <a:off x="8028544" y="5879507"/>
            <a:ext cx="354419" cy="369332"/>
          </a:xfrm>
          <a:prstGeom prst="rect">
            <a:avLst/>
          </a:prstGeom>
          <a:noFill/>
        </p:spPr>
        <p:txBody>
          <a:bodyPr wrap="square" rtlCol="0">
            <a:spAutoFit/>
          </a:bodyPr>
          <a:lstStyle/>
          <a:p>
            <a:r>
              <a:rPr lang="en-US" dirty="0"/>
              <a:t>F</a:t>
            </a:r>
          </a:p>
        </p:txBody>
      </p:sp>
      <p:sp>
        <p:nvSpPr>
          <p:cNvPr id="837" name="TextBox 836">
            <a:extLst>
              <a:ext uri="{FF2B5EF4-FFF2-40B4-BE49-F238E27FC236}">
                <a16:creationId xmlns:a16="http://schemas.microsoft.com/office/drawing/2014/main" id="{96303DC1-C511-A026-B04B-16651F4C03F7}"/>
              </a:ext>
            </a:extLst>
          </p:cNvPr>
          <p:cNvSpPr txBox="1"/>
          <p:nvPr/>
        </p:nvSpPr>
        <p:spPr>
          <a:xfrm>
            <a:off x="8556541" y="3374581"/>
            <a:ext cx="354419" cy="369332"/>
          </a:xfrm>
          <a:prstGeom prst="rect">
            <a:avLst/>
          </a:prstGeom>
          <a:noFill/>
        </p:spPr>
        <p:txBody>
          <a:bodyPr wrap="square" rtlCol="0">
            <a:spAutoFit/>
          </a:bodyPr>
          <a:lstStyle/>
          <a:p>
            <a:r>
              <a:rPr lang="en-US" dirty="0"/>
              <a:t>A</a:t>
            </a:r>
          </a:p>
        </p:txBody>
      </p:sp>
      <p:sp>
        <p:nvSpPr>
          <p:cNvPr id="839" name="TextBox 838">
            <a:extLst>
              <a:ext uri="{FF2B5EF4-FFF2-40B4-BE49-F238E27FC236}">
                <a16:creationId xmlns:a16="http://schemas.microsoft.com/office/drawing/2014/main" id="{4169F101-E2A9-75BB-6994-57540D2FD6BE}"/>
              </a:ext>
            </a:extLst>
          </p:cNvPr>
          <p:cNvSpPr txBox="1"/>
          <p:nvPr/>
        </p:nvSpPr>
        <p:spPr>
          <a:xfrm>
            <a:off x="8046111" y="5224574"/>
            <a:ext cx="354419" cy="369332"/>
          </a:xfrm>
          <a:prstGeom prst="rect">
            <a:avLst/>
          </a:prstGeom>
          <a:noFill/>
        </p:spPr>
        <p:txBody>
          <a:bodyPr wrap="square" rtlCol="0">
            <a:spAutoFit/>
          </a:bodyPr>
          <a:lstStyle/>
          <a:p>
            <a:r>
              <a:rPr lang="en-US" dirty="0"/>
              <a:t>D</a:t>
            </a:r>
          </a:p>
        </p:txBody>
      </p:sp>
      <p:sp>
        <p:nvSpPr>
          <p:cNvPr id="841" name="TextBox 840">
            <a:extLst>
              <a:ext uri="{FF2B5EF4-FFF2-40B4-BE49-F238E27FC236}">
                <a16:creationId xmlns:a16="http://schemas.microsoft.com/office/drawing/2014/main" id="{D0F3143F-39AF-6ECA-D32B-D1BA33E56101}"/>
              </a:ext>
            </a:extLst>
          </p:cNvPr>
          <p:cNvSpPr txBox="1"/>
          <p:nvPr/>
        </p:nvSpPr>
        <p:spPr>
          <a:xfrm>
            <a:off x="9430980" y="3432970"/>
            <a:ext cx="354419" cy="369332"/>
          </a:xfrm>
          <a:prstGeom prst="rect">
            <a:avLst/>
          </a:prstGeom>
          <a:noFill/>
        </p:spPr>
        <p:txBody>
          <a:bodyPr wrap="square" rtlCol="0">
            <a:spAutoFit/>
          </a:bodyPr>
          <a:lstStyle/>
          <a:p>
            <a:r>
              <a:rPr lang="en-US" dirty="0"/>
              <a:t>D</a:t>
            </a:r>
          </a:p>
        </p:txBody>
      </p:sp>
      <p:sp>
        <p:nvSpPr>
          <p:cNvPr id="843" name="TextBox 842">
            <a:extLst>
              <a:ext uri="{FF2B5EF4-FFF2-40B4-BE49-F238E27FC236}">
                <a16:creationId xmlns:a16="http://schemas.microsoft.com/office/drawing/2014/main" id="{1B0AD75B-9AEF-871A-3E07-D8151F436630}"/>
              </a:ext>
            </a:extLst>
          </p:cNvPr>
          <p:cNvSpPr txBox="1"/>
          <p:nvPr/>
        </p:nvSpPr>
        <p:spPr>
          <a:xfrm>
            <a:off x="9253771" y="4115514"/>
            <a:ext cx="354419" cy="369332"/>
          </a:xfrm>
          <a:prstGeom prst="rect">
            <a:avLst/>
          </a:prstGeom>
          <a:noFill/>
        </p:spPr>
        <p:txBody>
          <a:bodyPr wrap="square" rtlCol="0">
            <a:spAutoFit/>
          </a:bodyPr>
          <a:lstStyle/>
          <a:p>
            <a:r>
              <a:rPr lang="en-US" dirty="0"/>
              <a:t>D</a:t>
            </a:r>
          </a:p>
        </p:txBody>
      </p:sp>
      <p:sp>
        <p:nvSpPr>
          <p:cNvPr id="845" name="TextBox 844">
            <a:extLst>
              <a:ext uri="{FF2B5EF4-FFF2-40B4-BE49-F238E27FC236}">
                <a16:creationId xmlns:a16="http://schemas.microsoft.com/office/drawing/2014/main" id="{95B12C5A-59CE-B48C-E234-DA8E8E74256D}"/>
              </a:ext>
            </a:extLst>
          </p:cNvPr>
          <p:cNvSpPr txBox="1"/>
          <p:nvPr/>
        </p:nvSpPr>
        <p:spPr>
          <a:xfrm>
            <a:off x="9277351" y="4660220"/>
            <a:ext cx="354419" cy="369332"/>
          </a:xfrm>
          <a:prstGeom prst="rect">
            <a:avLst/>
          </a:prstGeom>
          <a:noFill/>
        </p:spPr>
        <p:txBody>
          <a:bodyPr wrap="square" rtlCol="0">
            <a:spAutoFit/>
          </a:bodyPr>
          <a:lstStyle/>
          <a:p>
            <a:r>
              <a:rPr lang="en-US" dirty="0"/>
              <a:t>D</a:t>
            </a:r>
          </a:p>
        </p:txBody>
      </p:sp>
      <p:sp>
        <p:nvSpPr>
          <p:cNvPr id="847" name="TextBox 846">
            <a:extLst>
              <a:ext uri="{FF2B5EF4-FFF2-40B4-BE49-F238E27FC236}">
                <a16:creationId xmlns:a16="http://schemas.microsoft.com/office/drawing/2014/main" id="{9AEE969C-BE1F-2EDA-A791-445BE1C7233A}"/>
              </a:ext>
            </a:extLst>
          </p:cNvPr>
          <p:cNvSpPr txBox="1"/>
          <p:nvPr/>
        </p:nvSpPr>
        <p:spPr>
          <a:xfrm>
            <a:off x="8586521" y="5159047"/>
            <a:ext cx="354419" cy="369332"/>
          </a:xfrm>
          <a:prstGeom prst="rect">
            <a:avLst/>
          </a:prstGeom>
          <a:noFill/>
        </p:spPr>
        <p:txBody>
          <a:bodyPr wrap="square" rtlCol="0">
            <a:spAutoFit/>
          </a:bodyPr>
          <a:lstStyle/>
          <a:p>
            <a:r>
              <a:rPr lang="en-US" dirty="0"/>
              <a:t>D</a:t>
            </a:r>
          </a:p>
        </p:txBody>
      </p:sp>
      <p:sp>
        <p:nvSpPr>
          <p:cNvPr id="849" name="TextBox 848">
            <a:extLst>
              <a:ext uri="{FF2B5EF4-FFF2-40B4-BE49-F238E27FC236}">
                <a16:creationId xmlns:a16="http://schemas.microsoft.com/office/drawing/2014/main" id="{554F12C0-0306-F861-2B1D-FECAB05FE2F1}"/>
              </a:ext>
            </a:extLst>
          </p:cNvPr>
          <p:cNvSpPr txBox="1"/>
          <p:nvPr/>
        </p:nvSpPr>
        <p:spPr>
          <a:xfrm>
            <a:off x="8772512" y="5373832"/>
            <a:ext cx="354419" cy="369332"/>
          </a:xfrm>
          <a:prstGeom prst="rect">
            <a:avLst/>
          </a:prstGeom>
          <a:noFill/>
        </p:spPr>
        <p:txBody>
          <a:bodyPr wrap="square" rtlCol="0">
            <a:spAutoFit/>
          </a:bodyPr>
          <a:lstStyle/>
          <a:p>
            <a:r>
              <a:rPr lang="en-US" dirty="0"/>
              <a:t>C</a:t>
            </a:r>
          </a:p>
        </p:txBody>
      </p:sp>
      <p:sp>
        <p:nvSpPr>
          <p:cNvPr id="851" name="TextBox 850">
            <a:extLst>
              <a:ext uri="{FF2B5EF4-FFF2-40B4-BE49-F238E27FC236}">
                <a16:creationId xmlns:a16="http://schemas.microsoft.com/office/drawing/2014/main" id="{55C846B8-61CD-00A1-AD64-A3BF95C7C6A8}"/>
              </a:ext>
            </a:extLst>
          </p:cNvPr>
          <p:cNvSpPr txBox="1"/>
          <p:nvPr/>
        </p:nvSpPr>
        <p:spPr>
          <a:xfrm>
            <a:off x="8502642" y="3930848"/>
            <a:ext cx="354419" cy="369332"/>
          </a:xfrm>
          <a:prstGeom prst="rect">
            <a:avLst/>
          </a:prstGeom>
          <a:noFill/>
        </p:spPr>
        <p:txBody>
          <a:bodyPr wrap="square" rtlCol="0">
            <a:spAutoFit/>
          </a:bodyPr>
          <a:lstStyle/>
          <a:p>
            <a:r>
              <a:rPr lang="en-US" dirty="0"/>
              <a:t>A</a:t>
            </a:r>
          </a:p>
        </p:txBody>
      </p:sp>
      <p:sp>
        <p:nvSpPr>
          <p:cNvPr id="853" name="TextBox 852">
            <a:extLst>
              <a:ext uri="{FF2B5EF4-FFF2-40B4-BE49-F238E27FC236}">
                <a16:creationId xmlns:a16="http://schemas.microsoft.com/office/drawing/2014/main" id="{860F773F-C129-4B42-3CE8-B8D8438BD336}"/>
              </a:ext>
            </a:extLst>
          </p:cNvPr>
          <p:cNvSpPr txBox="1"/>
          <p:nvPr/>
        </p:nvSpPr>
        <p:spPr>
          <a:xfrm>
            <a:off x="8782375" y="3930848"/>
            <a:ext cx="354419" cy="369332"/>
          </a:xfrm>
          <a:prstGeom prst="rect">
            <a:avLst/>
          </a:prstGeom>
          <a:noFill/>
        </p:spPr>
        <p:txBody>
          <a:bodyPr wrap="square" rtlCol="0">
            <a:spAutoFit/>
          </a:bodyPr>
          <a:lstStyle/>
          <a:p>
            <a:r>
              <a:rPr lang="en-US" dirty="0"/>
              <a:t>B</a:t>
            </a:r>
          </a:p>
        </p:txBody>
      </p:sp>
      <p:sp>
        <p:nvSpPr>
          <p:cNvPr id="855" name="TextBox 854">
            <a:extLst>
              <a:ext uri="{FF2B5EF4-FFF2-40B4-BE49-F238E27FC236}">
                <a16:creationId xmlns:a16="http://schemas.microsoft.com/office/drawing/2014/main" id="{625311CA-2342-EAB6-861A-AA7DE093C3C6}"/>
              </a:ext>
            </a:extLst>
          </p:cNvPr>
          <p:cNvSpPr txBox="1"/>
          <p:nvPr/>
        </p:nvSpPr>
        <p:spPr>
          <a:xfrm>
            <a:off x="8508076" y="4232635"/>
            <a:ext cx="354419" cy="369332"/>
          </a:xfrm>
          <a:prstGeom prst="rect">
            <a:avLst/>
          </a:prstGeom>
          <a:noFill/>
        </p:spPr>
        <p:txBody>
          <a:bodyPr wrap="square" rtlCol="0">
            <a:spAutoFit/>
          </a:bodyPr>
          <a:lstStyle/>
          <a:p>
            <a:r>
              <a:rPr lang="en-US" dirty="0"/>
              <a:t>C</a:t>
            </a:r>
          </a:p>
        </p:txBody>
      </p:sp>
      <p:sp>
        <p:nvSpPr>
          <p:cNvPr id="857" name="TextBox 856">
            <a:extLst>
              <a:ext uri="{FF2B5EF4-FFF2-40B4-BE49-F238E27FC236}">
                <a16:creationId xmlns:a16="http://schemas.microsoft.com/office/drawing/2014/main" id="{986A5C6C-3BFD-E331-44D8-920FDB3547E8}"/>
              </a:ext>
            </a:extLst>
          </p:cNvPr>
          <p:cNvSpPr txBox="1"/>
          <p:nvPr/>
        </p:nvSpPr>
        <p:spPr>
          <a:xfrm>
            <a:off x="8786709" y="4204396"/>
            <a:ext cx="354419" cy="369332"/>
          </a:xfrm>
          <a:prstGeom prst="rect">
            <a:avLst/>
          </a:prstGeom>
          <a:noFill/>
        </p:spPr>
        <p:txBody>
          <a:bodyPr wrap="square" rtlCol="0">
            <a:spAutoFit/>
          </a:bodyPr>
          <a:lstStyle/>
          <a:p>
            <a:r>
              <a:rPr lang="en-US" dirty="0"/>
              <a:t>D</a:t>
            </a:r>
          </a:p>
        </p:txBody>
      </p:sp>
      <p:sp>
        <p:nvSpPr>
          <p:cNvPr id="859" name="TextBox 858">
            <a:extLst>
              <a:ext uri="{FF2B5EF4-FFF2-40B4-BE49-F238E27FC236}">
                <a16:creationId xmlns:a16="http://schemas.microsoft.com/office/drawing/2014/main" id="{760475AE-CDBA-2BFC-A550-F36ECCC5712F}"/>
              </a:ext>
            </a:extLst>
          </p:cNvPr>
          <p:cNvSpPr txBox="1"/>
          <p:nvPr/>
        </p:nvSpPr>
        <p:spPr>
          <a:xfrm>
            <a:off x="9195027" y="3326915"/>
            <a:ext cx="354419" cy="369332"/>
          </a:xfrm>
          <a:prstGeom prst="rect">
            <a:avLst/>
          </a:prstGeom>
          <a:noFill/>
        </p:spPr>
        <p:txBody>
          <a:bodyPr wrap="square" rtlCol="0">
            <a:spAutoFit/>
          </a:bodyPr>
          <a:lstStyle/>
          <a:p>
            <a:r>
              <a:rPr lang="en-US" dirty="0"/>
              <a:t>A</a:t>
            </a:r>
          </a:p>
        </p:txBody>
      </p:sp>
      <p:sp>
        <p:nvSpPr>
          <p:cNvPr id="861" name="TextBox 860">
            <a:extLst>
              <a:ext uri="{FF2B5EF4-FFF2-40B4-BE49-F238E27FC236}">
                <a16:creationId xmlns:a16="http://schemas.microsoft.com/office/drawing/2014/main" id="{97A308A4-F1DE-C964-A42F-D3DE80962B21}"/>
              </a:ext>
            </a:extLst>
          </p:cNvPr>
          <p:cNvSpPr txBox="1"/>
          <p:nvPr/>
        </p:nvSpPr>
        <p:spPr>
          <a:xfrm>
            <a:off x="7449246" y="5879507"/>
            <a:ext cx="354419" cy="369332"/>
          </a:xfrm>
          <a:prstGeom prst="rect">
            <a:avLst/>
          </a:prstGeom>
          <a:noFill/>
        </p:spPr>
        <p:txBody>
          <a:bodyPr wrap="square" rtlCol="0">
            <a:spAutoFit/>
          </a:bodyPr>
          <a:lstStyle/>
          <a:p>
            <a:r>
              <a:rPr lang="en-US" dirty="0"/>
              <a:t>E</a:t>
            </a:r>
          </a:p>
        </p:txBody>
      </p:sp>
      <p:sp>
        <p:nvSpPr>
          <p:cNvPr id="863" name="TextBox 862">
            <a:extLst>
              <a:ext uri="{FF2B5EF4-FFF2-40B4-BE49-F238E27FC236}">
                <a16:creationId xmlns:a16="http://schemas.microsoft.com/office/drawing/2014/main" id="{44EAC3BE-96E1-A421-3A2A-3F670EC3E5B1}"/>
              </a:ext>
            </a:extLst>
          </p:cNvPr>
          <p:cNvSpPr txBox="1"/>
          <p:nvPr/>
        </p:nvSpPr>
        <p:spPr>
          <a:xfrm>
            <a:off x="9253771" y="3618377"/>
            <a:ext cx="354419" cy="369332"/>
          </a:xfrm>
          <a:prstGeom prst="rect">
            <a:avLst/>
          </a:prstGeom>
          <a:noFill/>
        </p:spPr>
        <p:txBody>
          <a:bodyPr wrap="square" rtlCol="0">
            <a:spAutoFit/>
          </a:bodyPr>
          <a:lstStyle/>
          <a:p>
            <a:r>
              <a:rPr lang="en-US" dirty="0"/>
              <a:t>F</a:t>
            </a:r>
          </a:p>
        </p:txBody>
      </p:sp>
      <p:sp>
        <p:nvSpPr>
          <p:cNvPr id="865" name="TextBox 864">
            <a:extLst>
              <a:ext uri="{FF2B5EF4-FFF2-40B4-BE49-F238E27FC236}">
                <a16:creationId xmlns:a16="http://schemas.microsoft.com/office/drawing/2014/main" id="{2BDA5B4B-4908-CB2B-AD59-1974E8E540C5}"/>
              </a:ext>
            </a:extLst>
          </p:cNvPr>
          <p:cNvSpPr txBox="1"/>
          <p:nvPr/>
        </p:nvSpPr>
        <p:spPr>
          <a:xfrm>
            <a:off x="6835398" y="4726029"/>
            <a:ext cx="354419" cy="369332"/>
          </a:xfrm>
          <a:prstGeom prst="rect">
            <a:avLst/>
          </a:prstGeom>
          <a:noFill/>
        </p:spPr>
        <p:txBody>
          <a:bodyPr wrap="square" rtlCol="0">
            <a:spAutoFit/>
          </a:bodyPr>
          <a:lstStyle/>
          <a:p>
            <a:r>
              <a:rPr lang="en-US" dirty="0"/>
              <a:t>E</a:t>
            </a:r>
          </a:p>
        </p:txBody>
      </p:sp>
      <p:sp>
        <p:nvSpPr>
          <p:cNvPr id="635" name="TextBox 634">
            <a:extLst>
              <a:ext uri="{FF2B5EF4-FFF2-40B4-BE49-F238E27FC236}">
                <a16:creationId xmlns:a16="http://schemas.microsoft.com/office/drawing/2014/main" id="{84C03060-452F-0F95-2405-4145F756A1F1}"/>
              </a:ext>
            </a:extLst>
          </p:cNvPr>
          <p:cNvSpPr txBox="1"/>
          <p:nvPr/>
        </p:nvSpPr>
        <p:spPr>
          <a:xfrm>
            <a:off x="7007339" y="3684983"/>
            <a:ext cx="354419" cy="369332"/>
          </a:xfrm>
          <a:prstGeom prst="rect">
            <a:avLst/>
          </a:prstGeom>
          <a:noFill/>
        </p:spPr>
        <p:txBody>
          <a:bodyPr wrap="square" rtlCol="0">
            <a:spAutoFit/>
          </a:bodyPr>
          <a:lstStyle/>
          <a:p>
            <a:r>
              <a:rPr lang="en-US" dirty="0"/>
              <a:t>B</a:t>
            </a:r>
          </a:p>
        </p:txBody>
      </p:sp>
      <p:sp>
        <p:nvSpPr>
          <p:cNvPr id="637" name="TextBox 636">
            <a:extLst>
              <a:ext uri="{FF2B5EF4-FFF2-40B4-BE49-F238E27FC236}">
                <a16:creationId xmlns:a16="http://schemas.microsoft.com/office/drawing/2014/main" id="{BE3F76D3-CB92-D0D7-3024-C7BF3225E1C9}"/>
              </a:ext>
            </a:extLst>
          </p:cNvPr>
          <p:cNvSpPr txBox="1"/>
          <p:nvPr/>
        </p:nvSpPr>
        <p:spPr>
          <a:xfrm>
            <a:off x="6975681" y="3263215"/>
            <a:ext cx="354419" cy="369332"/>
          </a:xfrm>
          <a:prstGeom prst="rect">
            <a:avLst/>
          </a:prstGeom>
          <a:noFill/>
        </p:spPr>
        <p:txBody>
          <a:bodyPr wrap="square" rtlCol="0">
            <a:spAutoFit/>
          </a:bodyPr>
          <a:lstStyle/>
          <a:p>
            <a:r>
              <a:rPr lang="en-US" dirty="0"/>
              <a:t>D</a:t>
            </a:r>
          </a:p>
        </p:txBody>
      </p:sp>
      <p:sp>
        <p:nvSpPr>
          <p:cNvPr id="639" name="TextBox 638">
            <a:extLst>
              <a:ext uri="{FF2B5EF4-FFF2-40B4-BE49-F238E27FC236}">
                <a16:creationId xmlns:a16="http://schemas.microsoft.com/office/drawing/2014/main" id="{8488078A-6B46-CFD4-5076-02BD44273989}"/>
              </a:ext>
            </a:extLst>
          </p:cNvPr>
          <p:cNvSpPr txBox="1"/>
          <p:nvPr/>
        </p:nvSpPr>
        <p:spPr>
          <a:xfrm>
            <a:off x="6255946" y="3632547"/>
            <a:ext cx="354419" cy="369332"/>
          </a:xfrm>
          <a:prstGeom prst="rect">
            <a:avLst/>
          </a:prstGeom>
          <a:noFill/>
        </p:spPr>
        <p:txBody>
          <a:bodyPr wrap="square" rtlCol="0">
            <a:spAutoFit/>
          </a:bodyPr>
          <a:lstStyle/>
          <a:p>
            <a:r>
              <a:rPr lang="en-US" dirty="0"/>
              <a:t>A</a:t>
            </a:r>
          </a:p>
        </p:txBody>
      </p:sp>
      <p:sp>
        <p:nvSpPr>
          <p:cNvPr id="641" name="TextBox 640">
            <a:extLst>
              <a:ext uri="{FF2B5EF4-FFF2-40B4-BE49-F238E27FC236}">
                <a16:creationId xmlns:a16="http://schemas.microsoft.com/office/drawing/2014/main" id="{928C32FE-7042-8BDA-A4A9-9D5749566874}"/>
              </a:ext>
            </a:extLst>
          </p:cNvPr>
          <p:cNvSpPr txBox="1"/>
          <p:nvPr/>
        </p:nvSpPr>
        <p:spPr>
          <a:xfrm>
            <a:off x="6498771" y="3622552"/>
            <a:ext cx="354419" cy="369332"/>
          </a:xfrm>
          <a:prstGeom prst="rect">
            <a:avLst/>
          </a:prstGeom>
          <a:noFill/>
        </p:spPr>
        <p:txBody>
          <a:bodyPr wrap="square" rtlCol="0">
            <a:spAutoFit/>
          </a:bodyPr>
          <a:lstStyle/>
          <a:p>
            <a:r>
              <a:rPr lang="en-US" dirty="0"/>
              <a:t>B</a:t>
            </a:r>
          </a:p>
        </p:txBody>
      </p:sp>
      <p:sp>
        <p:nvSpPr>
          <p:cNvPr id="643" name="TextBox 642">
            <a:extLst>
              <a:ext uri="{FF2B5EF4-FFF2-40B4-BE49-F238E27FC236}">
                <a16:creationId xmlns:a16="http://schemas.microsoft.com/office/drawing/2014/main" id="{57F0E640-9FED-1032-2CF5-2EE235C8052C}"/>
              </a:ext>
            </a:extLst>
          </p:cNvPr>
          <p:cNvSpPr txBox="1"/>
          <p:nvPr/>
        </p:nvSpPr>
        <p:spPr>
          <a:xfrm>
            <a:off x="6393490" y="3827208"/>
            <a:ext cx="354419" cy="369332"/>
          </a:xfrm>
          <a:prstGeom prst="rect">
            <a:avLst/>
          </a:prstGeom>
          <a:noFill/>
        </p:spPr>
        <p:txBody>
          <a:bodyPr wrap="square" rtlCol="0">
            <a:spAutoFit/>
          </a:bodyPr>
          <a:lstStyle/>
          <a:p>
            <a:r>
              <a:rPr lang="en-US" dirty="0"/>
              <a:t>D</a:t>
            </a:r>
          </a:p>
        </p:txBody>
      </p:sp>
      <p:sp>
        <p:nvSpPr>
          <p:cNvPr id="645" name="TextBox 644">
            <a:extLst>
              <a:ext uri="{FF2B5EF4-FFF2-40B4-BE49-F238E27FC236}">
                <a16:creationId xmlns:a16="http://schemas.microsoft.com/office/drawing/2014/main" id="{A74FEE03-56E3-371A-2648-19F7534290AB}"/>
              </a:ext>
            </a:extLst>
          </p:cNvPr>
          <p:cNvSpPr txBox="1"/>
          <p:nvPr/>
        </p:nvSpPr>
        <p:spPr>
          <a:xfrm>
            <a:off x="6475216" y="3243225"/>
            <a:ext cx="354419" cy="369332"/>
          </a:xfrm>
          <a:prstGeom prst="rect">
            <a:avLst/>
          </a:prstGeom>
          <a:noFill/>
        </p:spPr>
        <p:txBody>
          <a:bodyPr wrap="square" rtlCol="0">
            <a:spAutoFit/>
          </a:bodyPr>
          <a:lstStyle/>
          <a:p>
            <a:r>
              <a:rPr lang="en-US" dirty="0"/>
              <a:t>D</a:t>
            </a:r>
          </a:p>
        </p:txBody>
      </p:sp>
      <p:sp>
        <p:nvSpPr>
          <p:cNvPr id="647" name="TextBox 646">
            <a:extLst>
              <a:ext uri="{FF2B5EF4-FFF2-40B4-BE49-F238E27FC236}">
                <a16:creationId xmlns:a16="http://schemas.microsoft.com/office/drawing/2014/main" id="{513D97C7-8026-1D41-84ED-96D203F2D8E2}"/>
              </a:ext>
            </a:extLst>
          </p:cNvPr>
          <p:cNvSpPr txBox="1"/>
          <p:nvPr/>
        </p:nvSpPr>
        <p:spPr>
          <a:xfrm>
            <a:off x="8194715" y="4352739"/>
            <a:ext cx="354419" cy="369332"/>
          </a:xfrm>
          <a:prstGeom prst="rect">
            <a:avLst/>
          </a:prstGeom>
          <a:noFill/>
        </p:spPr>
        <p:txBody>
          <a:bodyPr wrap="square" rtlCol="0">
            <a:spAutoFit/>
          </a:bodyPr>
          <a:lstStyle/>
          <a:p>
            <a:r>
              <a:rPr lang="en-US" dirty="0"/>
              <a:t>D</a:t>
            </a:r>
          </a:p>
        </p:txBody>
      </p:sp>
      <p:sp>
        <p:nvSpPr>
          <p:cNvPr id="649" name="TextBox 648">
            <a:extLst>
              <a:ext uri="{FF2B5EF4-FFF2-40B4-BE49-F238E27FC236}">
                <a16:creationId xmlns:a16="http://schemas.microsoft.com/office/drawing/2014/main" id="{D46A56FD-3BD3-C79D-7624-E3CFEAA84049}"/>
              </a:ext>
            </a:extLst>
          </p:cNvPr>
          <p:cNvSpPr txBox="1"/>
          <p:nvPr/>
        </p:nvSpPr>
        <p:spPr>
          <a:xfrm>
            <a:off x="7671857" y="4194217"/>
            <a:ext cx="354419" cy="369332"/>
          </a:xfrm>
          <a:prstGeom prst="rect">
            <a:avLst/>
          </a:prstGeom>
          <a:noFill/>
        </p:spPr>
        <p:txBody>
          <a:bodyPr wrap="square" rtlCol="0">
            <a:spAutoFit/>
          </a:bodyPr>
          <a:lstStyle/>
          <a:p>
            <a:r>
              <a:rPr lang="en-US" dirty="0"/>
              <a:t>B</a:t>
            </a:r>
          </a:p>
        </p:txBody>
      </p:sp>
      <p:sp>
        <p:nvSpPr>
          <p:cNvPr id="651" name="TextBox 650">
            <a:extLst>
              <a:ext uri="{FF2B5EF4-FFF2-40B4-BE49-F238E27FC236}">
                <a16:creationId xmlns:a16="http://schemas.microsoft.com/office/drawing/2014/main" id="{26411728-EBE9-E78A-0C0D-C5BA8F9CE286}"/>
              </a:ext>
            </a:extLst>
          </p:cNvPr>
          <p:cNvSpPr txBox="1"/>
          <p:nvPr/>
        </p:nvSpPr>
        <p:spPr>
          <a:xfrm>
            <a:off x="7560614" y="4407161"/>
            <a:ext cx="354419" cy="369332"/>
          </a:xfrm>
          <a:prstGeom prst="rect">
            <a:avLst/>
          </a:prstGeom>
          <a:noFill/>
        </p:spPr>
        <p:txBody>
          <a:bodyPr wrap="square" rtlCol="0">
            <a:spAutoFit/>
          </a:bodyPr>
          <a:lstStyle/>
          <a:p>
            <a:r>
              <a:rPr lang="en-US" dirty="0"/>
              <a:t>D</a:t>
            </a:r>
          </a:p>
        </p:txBody>
      </p:sp>
      <p:sp>
        <p:nvSpPr>
          <p:cNvPr id="653" name="TextBox 652">
            <a:extLst>
              <a:ext uri="{FF2B5EF4-FFF2-40B4-BE49-F238E27FC236}">
                <a16:creationId xmlns:a16="http://schemas.microsoft.com/office/drawing/2014/main" id="{69BAA8E7-6D05-A9B3-0CDB-429C9BD04402}"/>
              </a:ext>
            </a:extLst>
          </p:cNvPr>
          <p:cNvSpPr txBox="1"/>
          <p:nvPr/>
        </p:nvSpPr>
        <p:spPr>
          <a:xfrm>
            <a:off x="8286911" y="3238024"/>
            <a:ext cx="354419" cy="369332"/>
          </a:xfrm>
          <a:prstGeom prst="rect">
            <a:avLst/>
          </a:prstGeom>
          <a:noFill/>
        </p:spPr>
        <p:txBody>
          <a:bodyPr wrap="square" rtlCol="0">
            <a:spAutoFit/>
          </a:bodyPr>
          <a:lstStyle/>
          <a:p>
            <a:r>
              <a:rPr lang="en-US" dirty="0"/>
              <a:t>C</a:t>
            </a:r>
          </a:p>
        </p:txBody>
      </p:sp>
      <p:sp>
        <p:nvSpPr>
          <p:cNvPr id="655" name="TextBox 654">
            <a:extLst>
              <a:ext uri="{FF2B5EF4-FFF2-40B4-BE49-F238E27FC236}">
                <a16:creationId xmlns:a16="http://schemas.microsoft.com/office/drawing/2014/main" id="{7F40DF87-6A23-8191-5999-0C6B9091E338}"/>
              </a:ext>
            </a:extLst>
          </p:cNvPr>
          <p:cNvSpPr txBox="1"/>
          <p:nvPr/>
        </p:nvSpPr>
        <p:spPr>
          <a:xfrm>
            <a:off x="7566448" y="3700823"/>
            <a:ext cx="354419" cy="369332"/>
          </a:xfrm>
          <a:prstGeom prst="rect">
            <a:avLst/>
          </a:prstGeom>
          <a:noFill/>
        </p:spPr>
        <p:txBody>
          <a:bodyPr wrap="square" rtlCol="0">
            <a:spAutoFit/>
          </a:bodyPr>
          <a:lstStyle/>
          <a:p>
            <a:r>
              <a:rPr lang="en-US" dirty="0"/>
              <a:t>C</a:t>
            </a:r>
          </a:p>
        </p:txBody>
      </p:sp>
      <p:sp>
        <p:nvSpPr>
          <p:cNvPr id="657" name="TextBox 656">
            <a:extLst>
              <a:ext uri="{FF2B5EF4-FFF2-40B4-BE49-F238E27FC236}">
                <a16:creationId xmlns:a16="http://schemas.microsoft.com/office/drawing/2014/main" id="{4141BBCD-F296-7F50-A797-A074DBF432B3}"/>
              </a:ext>
            </a:extLst>
          </p:cNvPr>
          <p:cNvSpPr txBox="1"/>
          <p:nvPr/>
        </p:nvSpPr>
        <p:spPr>
          <a:xfrm>
            <a:off x="8842504" y="5532361"/>
            <a:ext cx="354419" cy="369332"/>
          </a:xfrm>
          <a:prstGeom prst="rect">
            <a:avLst/>
          </a:prstGeom>
          <a:noFill/>
        </p:spPr>
        <p:txBody>
          <a:bodyPr wrap="square" rtlCol="0">
            <a:spAutoFit/>
          </a:bodyPr>
          <a:lstStyle/>
          <a:p>
            <a:r>
              <a:rPr lang="en-US" dirty="0"/>
              <a:t>C</a:t>
            </a:r>
          </a:p>
        </p:txBody>
      </p:sp>
      <p:sp>
        <p:nvSpPr>
          <p:cNvPr id="659" name="TextBox 658">
            <a:extLst>
              <a:ext uri="{FF2B5EF4-FFF2-40B4-BE49-F238E27FC236}">
                <a16:creationId xmlns:a16="http://schemas.microsoft.com/office/drawing/2014/main" id="{0938A384-F261-61E9-7912-EBB649C277EA}"/>
              </a:ext>
            </a:extLst>
          </p:cNvPr>
          <p:cNvSpPr txBox="1"/>
          <p:nvPr/>
        </p:nvSpPr>
        <p:spPr>
          <a:xfrm>
            <a:off x="7586636" y="5532361"/>
            <a:ext cx="354419" cy="369332"/>
          </a:xfrm>
          <a:prstGeom prst="rect">
            <a:avLst/>
          </a:prstGeom>
          <a:noFill/>
        </p:spPr>
        <p:txBody>
          <a:bodyPr wrap="square" rtlCol="0">
            <a:spAutoFit/>
          </a:bodyPr>
          <a:lstStyle/>
          <a:p>
            <a:r>
              <a:rPr lang="en-US" dirty="0"/>
              <a:t>F</a:t>
            </a:r>
          </a:p>
        </p:txBody>
      </p:sp>
      <p:sp>
        <p:nvSpPr>
          <p:cNvPr id="661" name="TextBox 660">
            <a:extLst>
              <a:ext uri="{FF2B5EF4-FFF2-40B4-BE49-F238E27FC236}">
                <a16:creationId xmlns:a16="http://schemas.microsoft.com/office/drawing/2014/main" id="{77F7B5A7-8E98-A0D6-836E-2265A348D6C5}"/>
              </a:ext>
            </a:extLst>
          </p:cNvPr>
          <p:cNvSpPr txBox="1"/>
          <p:nvPr/>
        </p:nvSpPr>
        <p:spPr>
          <a:xfrm>
            <a:off x="7604203" y="4877428"/>
            <a:ext cx="354419" cy="369332"/>
          </a:xfrm>
          <a:prstGeom prst="rect">
            <a:avLst/>
          </a:prstGeom>
          <a:noFill/>
        </p:spPr>
        <p:txBody>
          <a:bodyPr wrap="square" rtlCol="0">
            <a:spAutoFit/>
          </a:bodyPr>
          <a:lstStyle/>
          <a:p>
            <a:r>
              <a:rPr lang="en-US" dirty="0"/>
              <a:t>D</a:t>
            </a:r>
          </a:p>
        </p:txBody>
      </p:sp>
      <p:sp>
        <p:nvSpPr>
          <p:cNvPr id="663" name="TextBox 662">
            <a:extLst>
              <a:ext uri="{FF2B5EF4-FFF2-40B4-BE49-F238E27FC236}">
                <a16:creationId xmlns:a16="http://schemas.microsoft.com/office/drawing/2014/main" id="{0E1A5603-F540-A439-2ADC-9169AE22E655}"/>
              </a:ext>
            </a:extLst>
          </p:cNvPr>
          <p:cNvSpPr txBox="1"/>
          <p:nvPr/>
        </p:nvSpPr>
        <p:spPr>
          <a:xfrm>
            <a:off x="8989072" y="3085824"/>
            <a:ext cx="354419" cy="369332"/>
          </a:xfrm>
          <a:prstGeom prst="rect">
            <a:avLst/>
          </a:prstGeom>
          <a:noFill/>
        </p:spPr>
        <p:txBody>
          <a:bodyPr wrap="square" rtlCol="0">
            <a:spAutoFit/>
          </a:bodyPr>
          <a:lstStyle/>
          <a:p>
            <a:r>
              <a:rPr lang="en-US" dirty="0"/>
              <a:t>D</a:t>
            </a:r>
          </a:p>
        </p:txBody>
      </p:sp>
      <p:sp>
        <p:nvSpPr>
          <p:cNvPr id="665" name="TextBox 664">
            <a:extLst>
              <a:ext uri="{FF2B5EF4-FFF2-40B4-BE49-F238E27FC236}">
                <a16:creationId xmlns:a16="http://schemas.microsoft.com/office/drawing/2014/main" id="{03EE1117-A194-10C1-94CF-41C953A84920}"/>
              </a:ext>
            </a:extLst>
          </p:cNvPr>
          <p:cNvSpPr txBox="1"/>
          <p:nvPr/>
        </p:nvSpPr>
        <p:spPr>
          <a:xfrm>
            <a:off x="8811863" y="3768368"/>
            <a:ext cx="354419" cy="369332"/>
          </a:xfrm>
          <a:prstGeom prst="rect">
            <a:avLst/>
          </a:prstGeom>
          <a:noFill/>
        </p:spPr>
        <p:txBody>
          <a:bodyPr wrap="square" rtlCol="0">
            <a:spAutoFit/>
          </a:bodyPr>
          <a:lstStyle/>
          <a:p>
            <a:r>
              <a:rPr lang="en-US" dirty="0"/>
              <a:t>D</a:t>
            </a:r>
          </a:p>
        </p:txBody>
      </p:sp>
      <p:sp>
        <p:nvSpPr>
          <p:cNvPr id="667" name="TextBox 666">
            <a:extLst>
              <a:ext uri="{FF2B5EF4-FFF2-40B4-BE49-F238E27FC236}">
                <a16:creationId xmlns:a16="http://schemas.microsoft.com/office/drawing/2014/main" id="{06DA211C-5CE0-2026-6358-DB41D7D0AF6B}"/>
              </a:ext>
            </a:extLst>
          </p:cNvPr>
          <p:cNvSpPr txBox="1"/>
          <p:nvPr/>
        </p:nvSpPr>
        <p:spPr>
          <a:xfrm>
            <a:off x="8835443" y="4313074"/>
            <a:ext cx="354419" cy="369332"/>
          </a:xfrm>
          <a:prstGeom prst="rect">
            <a:avLst/>
          </a:prstGeom>
          <a:noFill/>
        </p:spPr>
        <p:txBody>
          <a:bodyPr wrap="square" rtlCol="0">
            <a:spAutoFit/>
          </a:bodyPr>
          <a:lstStyle/>
          <a:p>
            <a:r>
              <a:rPr lang="en-US" dirty="0"/>
              <a:t>D</a:t>
            </a:r>
          </a:p>
        </p:txBody>
      </p:sp>
      <p:sp>
        <p:nvSpPr>
          <p:cNvPr id="669" name="TextBox 668">
            <a:extLst>
              <a:ext uri="{FF2B5EF4-FFF2-40B4-BE49-F238E27FC236}">
                <a16:creationId xmlns:a16="http://schemas.microsoft.com/office/drawing/2014/main" id="{425DAF74-1165-98FF-59CD-7B2975508945}"/>
              </a:ext>
            </a:extLst>
          </p:cNvPr>
          <p:cNvSpPr txBox="1"/>
          <p:nvPr/>
        </p:nvSpPr>
        <p:spPr>
          <a:xfrm>
            <a:off x="8144613" y="4811901"/>
            <a:ext cx="354419" cy="369332"/>
          </a:xfrm>
          <a:prstGeom prst="rect">
            <a:avLst/>
          </a:prstGeom>
          <a:noFill/>
        </p:spPr>
        <p:txBody>
          <a:bodyPr wrap="square" rtlCol="0">
            <a:spAutoFit/>
          </a:bodyPr>
          <a:lstStyle/>
          <a:p>
            <a:r>
              <a:rPr lang="en-US" dirty="0"/>
              <a:t>D</a:t>
            </a:r>
          </a:p>
        </p:txBody>
      </p:sp>
      <p:sp>
        <p:nvSpPr>
          <p:cNvPr id="671" name="TextBox 670">
            <a:extLst>
              <a:ext uri="{FF2B5EF4-FFF2-40B4-BE49-F238E27FC236}">
                <a16:creationId xmlns:a16="http://schemas.microsoft.com/office/drawing/2014/main" id="{88DF8402-5A12-4859-2D3A-DC47CD69A5F1}"/>
              </a:ext>
            </a:extLst>
          </p:cNvPr>
          <p:cNvSpPr txBox="1"/>
          <p:nvPr/>
        </p:nvSpPr>
        <p:spPr>
          <a:xfrm>
            <a:off x="8330604" y="5026686"/>
            <a:ext cx="354419" cy="369332"/>
          </a:xfrm>
          <a:prstGeom prst="rect">
            <a:avLst/>
          </a:prstGeom>
          <a:noFill/>
        </p:spPr>
        <p:txBody>
          <a:bodyPr wrap="square" rtlCol="0">
            <a:spAutoFit/>
          </a:bodyPr>
          <a:lstStyle/>
          <a:p>
            <a:r>
              <a:rPr lang="en-US" dirty="0"/>
              <a:t>C</a:t>
            </a:r>
          </a:p>
        </p:txBody>
      </p:sp>
      <p:sp>
        <p:nvSpPr>
          <p:cNvPr id="673" name="TextBox 672">
            <a:extLst>
              <a:ext uri="{FF2B5EF4-FFF2-40B4-BE49-F238E27FC236}">
                <a16:creationId xmlns:a16="http://schemas.microsoft.com/office/drawing/2014/main" id="{B148E347-5234-704B-6EDA-5A2517FD273B}"/>
              </a:ext>
            </a:extLst>
          </p:cNvPr>
          <p:cNvSpPr txBox="1"/>
          <p:nvPr/>
        </p:nvSpPr>
        <p:spPr>
          <a:xfrm>
            <a:off x="8060734" y="3583702"/>
            <a:ext cx="354419" cy="369332"/>
          </a:xfrm>
          <a:prstGeom prst="rect">
            <a:avLst/>
          </a:prstGeom>
          <a:noFill/>
        </p:spPr>
        <p:txBody>
          <a:bodyPr wrap="square" rtlCol="0">
            <a:spAutoFit/>
          </a:bodyPr>
          <a:lstStyle/>
          <a:p>
            <a:r>
              <a:rPr lang="en-US" dirty="0"/>
              <a:t>A</a:t>
            </a:r>
          </a:p>
        </p:txBody>
      </p:sp>
      <p:sp>
        <p:nvSpPr>
          <p:cNvPr id="675" name="TextBox 674">
            <a:extLst>
              <a:ext uri="{FF2B5EF4-FFF2-40B4-BE49-F238E27FC236}">
                <a16:creationId xmlns:a16="http://schemas.microsoft.com/office/drawing/2014/main" id="{6A9B1804-8D7A-E9DF-14DB-7D42F175E998}"/>
              </a:ext>
            </a:extLst>
          </p:cNvPr>
          <p:cNvSpPr txBox="1"/>
          <p:nvPr/>
        </p:nvSpPr>
        <p:spPr>
          <a:xfrm>
            <a:off x="8340467" y="3583702"/>
            <a:ext cx="354419" cy="369332"/>
          </a:xfrm>
          <a:prstGeom prst="rect">
            <a:avLst/>
          </a:prstGeom>
          <a:noFill/>
        </p:spPr>
        <p:txBody>
          <a:bodyPr wrap="square" rtlCol="0">
            <a:spAutoFit/>
          </a:bodyPr>
          <a:lstStyle/>
          <a:p>
            <a:r>
              <a:rPr lang="en-US" dirty="0"/>
              <a:t>B</a:t>
            </a:r>
          </a:p>
        </p:txBody>
      </p:sp>
      <p:sp>
        <p:nvSpPr>
          <p:cNvPr id="677" name="TextBox 676">
            <a:extLst>
              <a:ext uri="{FF2B5EF4-FFF2-40B4-BE49-F238E27FC236}">
                <a16:creationId xmlns:a16="http://schemas.microsoft.com/office/drawing/2014/main" id="{4DE7307E-786A-5415-F9A4-0D7D07F88A99}"/>
              </a:ext>
            </a:extLst>
          </p:cNvPr>
          <p:cNvSpPr txBox="1"/>
          <p:nvPr/>
        </p:nvSpPr>
        <p:spPr>
          <a:xfrm>
            <a:off x="8066168" y="3885489"/>
            <a:ext cx="354419" cy="369332"/>
          </a:xfrm>
          <a:prstGeom prst="rect">
            <a:avLst/>
          </a:prstGeom>
          <a:noFill/>
        </p:spPr>
        <p:txBody>
          <a:bodyPr wrap="square" rtlCol="0">
            <a:spAutoFit/>
          </a:bodyPr>
          <a:lstStyle/>
          <a:p>
            <a:r>
              <a:rPr lang="en-US" dirty="0"/>
              <a:t>C</a:t>
            </a:r>
          </a:p>
        </p:txBody>
      </p:sp>
      <p:sp>
        <p:nvSpPr>
          <p:cNvPr id="679" name="TextBox 678">
            <a:extLst>
              <a:ext uri="{FF2B5EF4-FFF2-40B4-BE49-F238E27FC236}">
                <a16:creationId xmlns:a16="http://schemas.microsoft.com/office/drawing/2014/main" id="{B24FAFA4-D913-B0CB-7E94-185F0B622076}"/>
              </a:ext>
            </a:extLst>
          </p:cNvPr>
          <p:cNvSpPr txBox="1"/>
          <p:nvPr/>
        </p:nvSpPr>
        <p:spPr>
          <a:xfrm>
            <a:off x="8344801" y="3857250"/>
            <a:ext cx="354419" cy="369332"/>
          </a:xfrm>
          <a:prstGeom prst="rect">
            <a:avLst/>
          </a:prstGeom>
          <a:noFill/>
        </p:spPr>
        <p:txBody>
          <a:bodyPr wrap="square" rtlCol="0">
            <a:spAutoFit/>
          </a:bodyPr>
          <a:lstStyle/>
          <a:p>
            <a:r>
              <a:rPr lang="en-US" dirty="0"/>
              <a:t>D</a:t>
            </a:r>
          </a:p>
        </p:txBody>
      </p:sp>
      <p:sp>
        <p:nvSpPr>
          <p:cNvPr id="681" name="TextBox 680">
            <a:extLst>
              <a:ext uri="{FF2B5EF4-FFF2-40B4-BE49-F238E27FC236}">
                <a16:creationId xmlns:a16="http://schemas.microsoft.com/office/drawing/2014/main" id="{E6015263-2837-5854-AE88-D78BB1922F46}"/>
              </a:ext>
            </a:extLst>
          </p:cNvPr>
          <p:cNvSpPr txBox="1"/>
          <p:nvPr/>
        </p:nvSpPr>
        <p:spPr>
          <a:xfrm>
            <a:off x="7007338" y="5532361"/>
            <a:ext cx="354419" cy="369332"/>
          </a:xfrm>
          <a:prstGeom prst="rect">
            <a:avLst/>
          </a:prstGeom>
          <a:noFill/>
        </p:spPr>
        <p:txBody>
          <a:bodyPr wrap="square" rtlCol="0">
            <a:spAutoFit/>
          </a:bodyPr>
          <a:lstStyle/>
          <a:p>
            <a:r>
              <a:rPr lang="en-US" dirty="0"/>
              <a:t>E</a:t>
            </a:r>
          </a:p>
        </p:txBody>
      </p:sp>
      <p:sp>
        <p:nvSpPr>
          <p:cNvPr id="683" name="TextBox 682">
            <a:extLst>
              <a:ext uri="{FF2B5EF4-FFF2-40B4-BE49-F238E27FC236}">
                <a16:creationId xmlns:a16="http://schemas.microsoft.com/office/drawing/2014/main" id="{9CE44E22-2B39-6FA7-8C02-573A8464910A}"/>
              </a:ext>
            </a:extLst>
          </p:cNvPr>
          <p:cNvSpPr txBox="1"/>
          <p:nvPr/>
        </p:nvSpPr>
        <p:spPr>
          <a:xfrm>
            <a:off x="8811863" y="3271231"/>
            <a:ext cx="354419" cy="369332"/>
          </a:xfrm>
          <a:prstGeom prst="rect">
            <a:avLst/>
          </a:prstGeom>
          <a:noFill/>
        </p:spPr>
        <p:txBody>
          <a:bodyPr wrap="square" rtlCol="0">
            <a:spAutoFit/>
          </a:bodyPr>
          <a:lstStyle/>
          <a:p>
            <a:r>
              <a:rPr lang="en-US" dirty="0"/>
              <a:t>F</a:t>
            </a:r>
          </a:p>
        </p:txBody>
      </p:sp>
      <p:sp>
        <p:nvSpPr>
          <p:cNvPr id="685" name="TextBox 684">
            <a:extLst>
              <a:ext uri="{FF2B5EF4-FFF2-40B4-BE49-F238E27FC236}">
                <a16:creationId xmlns:a16="http://schemas.microsoft.com/office/drawing/2014/main" id="{1E1AA329-302C-FB98-76BD-070199E68397}"/>
              </a:ext>
            </a:extLst>
          </p:cNvPr>
          <p:cNvSpPr txBox="1"/>
          <p:nvPr/>
        </p:nvSpPr>
        <p:spPr>
          <a:xfrm>
            <a:off x="6393490" y="4378883"/>
            <a:ext cx="354419" cy="369332"/>
          </a:xfrm>
          <a:prstGeom prst="rect">
            <a:avLst/>
          </a:prstGeom>
          <a:noFill/>
        </p:spPr>
        <p:txBody>
          <a:bodyPr wrap="square" rtlCol="0">
            <a:spAutoFit/>
          </a:bodyPr>
          <a:lstStyle/>
          <a:p>
            <a:r>
              <a:rPr lang="en-US" dirty="0"/>
              <a:t>E</a:t>
            </a:r>
          </a:p>
        </p:txBody>
      </p:sp>
      <p:pic>
        <p:nvPicPr>
          <p:cNvPr id="687" name="Picture 686">
            <a:extLst>
              <a:ext uri="{FF2B5EF4-FFF2-40B4-BE49-F238E27FC236}">
                <a16:creationId xmlns:a16="http://schemas.microsoft.com/office/drawing/2014/main" id="{BFE180E3-F122-779B-7FFA-E83DB3D4A6C0}"/>
              </a:ext>
            </a:extLst>
          </p:cNvPr>
          <p:cNvPicPr>
            <a:picLocks noChangeAspect="1"/>
          </p:cNvPicPr>
          <p:nvPr/>
        </p:nvPicPr>
        <p:blipFill>
          <a:blip r:embed="rId2"/>
          <a:stretch>
            <a:fillRect/>
          </a:stretch>
        </p:blipFill>
        <p:spPr>
          <a:xfrm>
            <a:off x="6458473" y="3132026"/>
            <a:ext cx="3224897" cy="3184486"/>
          </a:xfrm>
          <a:prstGeom prst="rect">
            <a:avLst/>
          </a:prstGeom>
        </p:spPr>
      </p:pic>
      <p:sp>
        <p:nvSpPr>
          <p:cNvPr id="689" name="TextBox 688">
            <a:extLst>
              <a:ext uri="{FF2B5EF4-FFF2-40B4-BE49-F238E27FC236}">
                <a16:creationId xmlns:a16="http://schemas.microsoft.com/office/drawing/2014/main" id="{CEAD2999-162A-D712-9BB6-6B55B5229A1E}"/>
              </a:ext>
            </a:extLst>
          </p:cNvPr>
          <p:cNvSpPr txBox="1"/>
          <p:nvPr/>
        </p:nvSpPr>
        <p:spPr>
          <a:xfrm>
            <a:off x="6545454" y="3216378"/>
            <a:ext cx="354419" cy="369332"/>
          </a:xfrm>
          <a:prstGeom prst="rect">
            <a:avLst/>
          </a:prstGeom>
          <a:noFill/>
        </p:spPr>
        <p:txBody>
          <a:bodyPr wrap="square" rtlCol="0">
            <a:spAutoFit/>
          </a:bodyPr>
          <a:lstStyle/>
          <a:p>
            <a:r>
              <a:rPr lang="en-US" dirty="0"/>
              <a:t>A</a:t>
            </a:r>
          </a:p>
        </p:txBody>
      </p:sp>
      <p:sp>
        <p:nvSpPr>
          <p:cNvPr id="691" name="TextBox 690">
            <a:extLst>
              <a:ext uri="{FF2B5EF4-FFF2-40B4-BE49-F238E27FC236}">
                <a16:creationId xmlns:a16="http://schemas.microsoft.com/office/drawing/2014/main" id="{607E0E68-B187-A2A1-E6E3-177E53FCF8FF}"/>
              </a:ext>
            </a:extLst>
          </p:cNvPr>
          <p:cNvSpPr txBox="1"/>
          <p:nvPr/>
        </p:nvSpPr>
        <p:spPr>
          <a:xfrm>
            <a:off x="7296847" y="3879729"/>
            <a:ext cx="354419" cy="369332"/>
          </a:xfrm>
          <a:prstGeom prst="rect">
            <a:avLst/>
          </a:prstGeom>
          <a:noFill/>
        </p:spPr>
        <p:txBody>
          <a:bodyPr wrap="square" rtlCol="0">
            <a:spAutoFit/>
          </a:bodyPr>
          <a:lstStyle/>
          <a:p>
            <a:r>
              <a:rPr lang="en-US" dirty="0"/>
              <a:t>B</a:t>
            </a:r>
          </a:p>
        </p:txBody>
      </p:sp>
      <p:sp>
        <p:nvSpPr>
          <p:cNvPr id="693" name="TextBox 692">
            <a:extLst>
              <a:ext uri="{FF2B5EF4-FFF2-40B4-BE49-F238E27FC236}">
                <a16:creationId xmlns:a16="http://schemas.microsoft.com/office/drawing/2014/main" id="{31226479-46AC-0EFA-693F-D8C3650D8DA9}"/>
              </a:ext>
            </a:extLst>
          </p:cNvPr>
          <p:cNvSpPr txBox="1"/>
          <p:nvPr/>
        </p:nvSpPr>
        <p:spPr>
          <a:xfrm>
            <a:off x="7123156" y="3174515"/>
            <a:ext cx="354419" cy="369332"/>
          </a:xfrm>
          <a:prstGeom prst="rect">
            <a:avLst/>
          </a:prstGeom>
          <a:noFill/>
        </p:spPr>
        <p:txBody>
          <a:bodyPr wrap="square" rtlCol="0">
            <a:spAutoFit/>
          </a:bodyPr>
          <a:lstStyle/>
          <a:p>
            <a:r>
              <a:rPr lang="en-US" dirty="0"/>
              <a:t>A</a:t>
            </a:r>
          </a:p>
        </p:txBody>
      </p:sp>
      <p:sp>
        <p:nvSpPr>
          <p:cNvPr id="695" name="TextBox 694">
            <a:extLst>
              <a:ext uri="{FF2B5EF4-FFF2-40B4-BE49-F238E27FC236}">
                <a16:creationId xmlns:a16="http://schemas.microsoft.com/office/drawing/2014/main" id="{2AF4537B-85B3-E80E-2682-7AB339A30705}"/>
              </a:ext>
            </a:extLst>
          </p:cNvPr>
          <p:cNvSpPr txBox="1"/>
          <p:nvPr/>
        </p:nvSpPr>
        <p:spPr>
          <a:xfrm>
            <a:off x="7407223" y="3174515"/>
            <a:ext cx="354419" cy="369332"/>
          </a:xfrm>
          <a:prstGeom prst="rect">
            <a:avLst/>
          </a:prstGeom>
          <a:noFill/>
        </p:spPr>
        <p:txBody>
          <a:bodyPr wrap="square" rtlCol="0">
            <a:spAutoFit/>
          </a:bodyPr>
          <a:lstStyle/>
          <a:p>
            <a:r>
              <a:rPr lang="en-US" dirty="0"/>
              <a:t>B</a:t>
            </a:r>
          </a:p>
        </p:txBody>
      </p:sp>
      <p:sp>
        <p:nvSpPr>
          <p:cNvPr id="697" name="TextBox 696">
            <a:extLst>
              <a:ext uri="{FF2B5EF4-FFF2-40B4-BE49-F238E27FC236}">
                <a16:creationId xmlns:a16="http://schemas.microsoft.com/office/drawing/2014/main" id="{1B4C7F8A-6C1C-5062-3420-D70F29A3D05E}"/>
              </a:ext>
            </a:extLst>
          </p:cNvPr>
          <p:cNvSpPr txBox="1"/>
          <p:nvPr/>
        </p:nvSpPr>
        <p:spPr>
          <a:xfrm>
            <a:off x="7265189" y="3457961"/>
            <a:ext cx="354419" cy="369332"/>
          </a:xfrm>
          <a:prstGeom prst="rect">
            <a:avLst/>
          </a:prstGeom>
          <a:noFill/>
        </p:spPr>
        <p:txBody>
          <a:bodyPr wrap="square" rtlCol="0">
            <a:spAutoFit/>
          </a:bodyPr>
          <a:lstStyle/>
          <a:p>
            <a:r>
              <a:rPr lang="en-US" dirty="0"/>
              <a:t>D</a:t>
            </a:r>
          </a:p>
        </p:txBody>
      </p:sp>
      <p:sp>
        <p:nvSpPr>
          <p:cNvPr id="699" name="TextBox 698">
            <a:extLst>
              <a:ext uri="{FF2B5EF4-FFF2-40B4-BE49-F238E27FC236}">
                <a16:creationId xmlns:a16="http://schemas.microsoft.com/office/drawing/2014/main" id="{9026E8EC-1780-162E-7CA1-89FB1299FC67}"/>
              </a:ext>
            </a:extLst>
          </p:cNvPr>
          <p:cNvSpPr txBox="1"/>
          <p:nvPr/>
        </p:nvSpPr>
        <p:spPr>
          <a:xfrm>
            <a:off x="6545454" y="3827293"/>
            <a:ext cx="354419" cy="369332"/>
          </a:xfrm>
          <a:prstGeom prst="rect">
            <a:avLst/>
          </a:prstGeom>
          <a:noFill/>
        </p:spPr>
        <p:txBody>
          <a:bodyPr wrap="square" rtlCol="0">
            <a:spAutoFit/>
          </a:bodyPr>
          <a:lstStyle/>
          <a:p>
            <a:r>
              <a:rPr lang="en-US" dirty="0"/>
              <a:t>A</a:t>
            </a:r>
          </a:p>
        </p:txBody>
      </p:sp>
      <p:sp>
        <p:nvSpPr>
          <p:cNvPr id="701" name="TextBox 700">
            <a:extLst>
              <a:ext uri="{FF2B5EF4-FFF2-40B4-BE49-F238E27FC236}">
                <a16:creationId xmlns:a16="http://schemas.microsoft.com/office/drawing/2014/main" id="{32AFCA30-F201-E19E-7072-1FB2B64158A8}"/>
              </a:ext>
            </a:extLst>
          </p:cNvPr>
          <p:cNvSpPr txBox="1"/>
          <p:nvPr/>
        </p:nvSpPr>
        <p:spPr>
          <a:xfrm>
            <a:off x="6788279" y="3817298"/>
            <a:ext cx="354419" cy="369332"/>
          </a:xfrm>
          <a:prstGeom prst="rect">
            <a:avLst/>
          </a:prstGeom>
          <a:noFill/>
        </p:spPr>
        <p:txBody>
          <a:bodyPr wrap="square" rtlCol="0">
            <a:spAutoFit/>
          </a:bodyPr>
          <a:lstStyle/>
          <a:p>
            <a:r>
              <a:rPr lang="en-US" dirty="0"/>
              <a:t>B</a:t>
            </a:r>
          </a:p>
        </p:txBody>
      </p:sp>
      <p:sp>
        <p:nvSpPr>
          <p:cNvPr id="703" name="TextBox 702">
            <a:extLst>
              <a:ext uri="{FF2B5EF4-FFF2-40B4-BE49-F238E27FC236}">
                <a16:creationId xmlns:a16="http://schemas.microsoft.com/office/drawing/2014/main" id="{3CEF70AD-090F-2385-802E-5C391A1E513C}"/>
              </a:ext>
            </a:extLst>
          </p:cNvPr>
          <p:cNvSpPr txBox="1"/>
          <p:nvPr/>
        </p:nvSpPr>
        <p:spPr>
          <a:xfrm>
            <a:off x="6682998" y="4021954"/>
            <a:ext cx="354419" cy="369332"/>
          </a:xfrm>
          <a:prstGeom prst="rect">
            <a:avLst/>
          </a:prstGeom>
          <a:noFill/>
        </p:spPr>
        <p:txBody>
          <a:bodyPr wrap="square" rtlCol="0">
            <a:spAutoFit/>
          </a:bodyPr>
          <a:lstStyle/>
          <a:p>
            <a:r>
              <a:rPr lang="en-US" dirty="0"/>
              <a:t>D</a:t>
            </a:r>
          </a:p>
        </p:txBody>
      </p:sp>
      <p:sp>
        <p:nvSpPr>
          <p:cNvPr id="705" name="TextBox 704">
            <a:extLst>
              <a:ext uri="{FF2B5EF4-FFF2-40B4-BE49-F238E27FC236}">
                <a16:creationId xmlns:a16="http://schemas.microsoft.com/office/drawing/2014/main" id="{8EB67B3B-FDDB-F594-E4F1-9AFE4BAB1AA7}"/>
              </a:ext>
            </a:extLst>
          </p:cNvPr>
          <p:cNvSpPr txBox="1"/>
          <p:nvPr/>
        </p:nvSpPr>
        <p:spPr>
          <a:xfrm>
            <a:off x="6764724" y="3437971"/>
            <a:ext cx="354419" cy="369332"/>
          </a:xfrm>
          <a:prstGeom prst="rect">
            <a:avLst/>
          </a:prstGeom>
          <a:noFill/>
        </p:spPr>
        <p:txBody>
          <a:bodyPr wrap="square" rtlCol="0">
            <a:spAutoFit/>
          </a:bodyPr>
          <a:lstStyle/>
          <a:p>
            <a:r>
              <a:rPr lang="en-US" dirty="0"/>
              <a:t>D</a:t>
            </a:r>
          </a:p>
        </p:txBody>
      </p:sp>
      <p:sp>
        <p:nvSpPr>
          <p:cNvPr id="707" name="TextBox 706">
            <a:extLst>
              <a:ext uri="{FF2B5EF4-FFF2-40B4-BE49-F238E27FC236}">
                <a16:creationId xmlns:a16="http://schemas.microsoft.com/office/drawing/2014/main" id="{48942DB8-8205-806C-FA93-ACC4500BC14C}"/>
              </a:ext>
            </a:extLst>
          </p:cNvPr>
          <p:cNvSpPr txBox="1"/>
          <p:nvPr/>
        </p:nvSpPr>
        <p:spPr>
          <a:xfrm>
            <a:off x="8484223" y="4547485"/>
            <a:ext cx="354419" cy="369332"/>
          </a:xfrm>
          <a:prstGeom prst="rect">
            <a:avLst/>
          </a:prstGeom>
          <a:noFill/>
        </p:spPr>
        <p:txBody>
          <a:bodyPr wrap="square" rtlCol="0">
            <a:spAutoFit/>
          </a:bodyPr>
          <a:lstStyle/>
          <a:p>
            <a:r>
              <a:rPr lang="en-US" dirty="0"/>
              <a:t>D</a:t>
            </a:r>
          </a:p>
        </p:txBody>
      </p:sp>
      <p:sp>
        <p:nvSpPr>
          <p:cNvPr id="709" name="TextBox 708">
            <a:extLst>
              <a:ext uri="{FF2B5EF4-FFF2-40B4-BE49-F238E27FC236}">
                <a16:creationId xmlns:a16="http://schemas.microsoft.com/office/drawing/2014/main" id="{A5A3952B-DD97-A3A5-3386-7659AFAB5543}"/>
              </a:ext>
            </a:extLst>
          </p:cNvPr>
          <p:cNvSpPr txBox="1"/>
          <p:nvPr/>
        </p:nvSpPr>
        <p:spPr>
          <a:xfrm>
            <a:off x="7961365" y="4388963"/>
            <a:ext cx="354419" cy="369332"/>
          </a:xfrm>
          <a:prstGeom prst="rect">
            <a:avLst/>
          </a:prstGeom>
          <a:noFill/>
        </p:spPr>
        <p:txBody>
          <a:bodyPr wrap="square" rtlCol="0">
            <a:spAutoFit/>
          </a:bodyPr>
          <a:lstStyle/>
          <a:p>
            <a:r>
              <a:rPr lang="en-US" dirty="0"/>
              <a:t>B</a:t>
            </a:r>
          </a:p>
        </p:txBody>
      </p:sp>
      <p:sp>
        <p:nvSpPr>
          <p:cNvPr id="711" name="TextBox 710">
            <a:extLst>
              <a:ext uri="{FF2B5EF4-FFF2-40B4-BE49-F238E27FC236}">
                <a16:creationId xmlns:a16="http://schemas.microsoft.com/office/drawing/2014/main" id="{0DE1F99B-EBDF-9AE1-674E-CAAA7FCD19F6}"/>
              </a:ext>
            </a:extLst>
          </p:cNvPr>
          <p:cNvSpPr txBox="1"/>
          <p:nvPr/>
        </p:nvSpPr>
        <p:spPr>
          <a:xfrm>
            <a:off x="7850122" y="4601907"/>
            <a:ext cx="354419" cy="369332"/>
          </a:xfrm>
          <a:prstGeom prst="rect">
            <a:avLst/>
          </a:prstGeom>
          <a:noFill/>
        </p:spPr>
        <p:txBody>
          <a:bodyPr wrap="square" rtlCol="0">
            <a:spAutoFit/>
          </a:bodyPr>
          <a:lstStyle/>
          <a:p>
            <a:r>
              <a:rPr lang="en-US" dirty="0"/>
              <a:t>D</a:t>
            </a:r>
          </a:p>
        </p:txBody>
      </p:sp>
      <p:sp>
        <p:nvSpPr>
          <p:cNvPr id="713" name="TextBox 712">
            <a:extLst>
              <a:ext uri="{FF2B5EF4-FFF2-40B4-BE49-F238E27FC236}">
                <a16:creationId xmlns:a16="http://schemas.microsoft.com/office/drawing/2014/main" id="{4FFFB293-1EFF-2006-924C-534EE6D4BB16}"/>
              </a:ext>
            </a:extLst>
          </p:cNvPr>
          <p:cNvSpPr txBox="1"/>
          <p:nvPr/>
        </p:nvSpPr>
        <p:spPr>
          <a:xfrm>
            <a:off x="8576419" y="3432770"/>
            <a:ext cx="354419" cy="369332"/>
          </a:xfrm>
          <a:prstGeom prst="rect">
            <a:avLst/>
          </a:prstGeom>
          <a:noFill/>
        </p:spPr>
        <p:txBody>
          <a:bodyPr wrap="square" rtlCol="0">
            <a:spAutoFit/>
          </a:bodyPr>
          <a:lstStyle/>
          <a:p>
            <a:r>
              <a:rPr lang="en-US" dirty="0"/>
              <a:t>C</a:t>
            </a:r>
          </a:p>
        </p:txBody>
      </p:sp>
      <p:sp>
        <p:nvSpPr>
          <p:cNvPr id="715" name="TextBox 714">
            <a:extLst>
              <a:ext uri="{FF2B5EF4-FFF2-40B4-BE49-F238E27FC236}">
                <a16:creationId xmlns:a16="http://schemas.microsoft.com/office/drawing/2014/main" id="{C464D4D0-B259-39BF-AE31-133FC6BB06BB}"/>
              </a:ext>
            </a:extLst>
          </p:cNvPr>
          <p:cNvSpPr txBox="1"/>
          <p:nvPr/>
        </p:nvSpPr>
        <p:spPr>
          <a:xfrm>
            <a:off x="7855956" y="3895569"/>
            <a:ext cx="354419" cy="369332"/>
          </a:xfrm>
          <a:prstGeom prst="rect">
            <a:avLst/>
          </a:prstGeom>
          <a:noFill/>
        </p:spPr>
        <p:txBody>
          <a:bodyPr wrap="square" rtlCol="0">
            <a:spAutoFit/>
          </a:bodyPr>
          <a:lstStyle/>
          <a:p>
            <a:r>
              <a:rPr lang="en-US" dirty="0"/>
              <a:t>C</a:t>
            </a:r>
          </a:p>
        </p:txBody>
      </p:sp>
      <p:sp>
        <p:nvSpPr>
          <p:cNvPr id="717" name="TextBox 716">
            <a:extLst>
              <a:ext uri="{FF2B5EF4-FFF2-40B4-BE49-F238E27FC236}">
                <a16:creationId xmlns:a16="http://schemas.microsoft.com/office/drawing/2014/main" id="{97FB7BA7-EFD7-B7BE-8074-9FF4D4742754}"/>
              </a:ext>
            </a:extLst>
          </p:cNvPr>
          <p:cNvSpPr txBox="1"/>
          <p:nvPr/>
        </p:nvSpPr>
        <p:spPr>
          <a:xfrm>
            <a:off x="9132012" y="5727107"/>
            <a:ext cx="354419" cy="369332"/>
          </a:xfrm>
          <a:prstGeom prst="rect">
            <a:avLst/>
          </a:prstGeom>
          <a:noFill/>
        </p:spPr>
        <p:txBody>
          <a:bodyPr wrap="square" rtlCol="0">
            <a:spAutoFit/>
          </a:bodyPr>
          <a:lstStyle/>
          <a:p>
            <a:r>
              <a:rPr lang="en-US" dirty="0"/>
              <a:t>C</a:t>
            </a:r>
          </a:p>
        </p:txBody>
      </p:sp>
      <p:sp>
        <p:nvSpPr>
          <p:cNvPr id="719" name="TextBox 718">
            <a:extLst>
              <a:ext uri="{FF2B5EF4-FFF2-40B4-BE49-F238E27FC236}">
                <a16:creationId xmlns:a16="http://schemas.microsoft.com/office/drawing/2014/main" id="{525096F9-2094-D87D-4724-757EA8258054}"/>
              </a:ext>
            </a:extLst>
          </p:cNvPr>
          <p:cNvSpPr txBox="1"/>
          <p:nvPr/>
        </p:nvSpPr>
        <p:spPr>
          <a:xfrm>
            <a:off x="7876144" y="5727107"/>
            <a:ext cx="354419" cy="369332"/>
          </a:xfrm>
          <a:prstGeom prst="rect">
            <a:avLst/>
          </a:prstGeom>
          <a:noFill/>
        </p:spPr>
        <p:txBody>
          <a:bodyPr wrap="square" rtlCol="0">
            <a:spAutoFit/>
          </a:bodyPr>
          <a:lstStyle/>
          <a:p>
            <a:r>
              <a:rPr lang="en-US" dirty="0"/>
              <a:t>F</a:t>
            </a:r>
          </a:p>
        </p:txBody>
      </p:sp>
      <p:sp>
        <p:nvSpPr>
          <p:cNvPr id="721" name="TextBox 720">
            <a:extLst>
              <a:ext uri="{FF2B5EF4-FFF2-40B4-BE49-F238E27FC236}">
                <a16:creationId xmlns:a16="http://schemas.microsoft.com/office/drawing/2014/main" id="{1B48C2A7-FB93-8A31-3F9A-BCD000B21721}"/>
              </a:ext>
            </a:extLst>
          </p:cNvPr>
          <p:cNvSpPr txBox="1"/>
          <p:nvPr/>
        </p:nvSpPr>
        <p:spPr>
          <a:xfrm>
            <a:off x="8404141" y="3222181"/>
            <a:ext cx="354419" cy="369332"/>
          </a:xfrm>
          <a:prstGeom prst="rect">
            <a:avLst/>
          </a:prstGeom>
          <a:noFill/>
        </p:spPr>
        <p:txBody>
          <a:bodyPr wrap="square" rtlCol="0">
            <a:spAutoFit/>
          </a:bodyPr>
          <a:lstStyle/>
          <a:p>
            <a:r>
              <a:rPr lang="en-US" dirty="0"/>
              <a:t>A</a:t>
            </a:r>
          </a:p>
        </p:txBody>
      </p:sp>
      <p:sp>
        <p:nvSpPr>
          <p:cNvPr id="723" name="TextBox 722">
            <a:extLst>
              <a:ext uri="{FF2B5EF4-FFF2-40B4-BE49-F238E27FC236}">
                <a16:creationId xmlns:a16="http://schemas.microsoft.com/office/drawing/2014/main" id="{808D935D-7B84-29C5-390E-BA46A5DBFF63}"/>
              </a:ext>
            </a:extLst>
          </p:cNvPr>
          <p:cNvSpPr txBox="1"/>
          <p:nvPr/>
        </p:nvSpPr>
        <p:spPr>
          <a:xfrm>
            <a:off x="7893711" y="5072174"/>
            <a:ext cx="354419" cy="369332"/>
          </a:xfrm>
          <a:prstGeom prst="rect">
            <a:avLst/>
          </a:prstGeom>
          <a:noFill/>
        </p:spPr>
        <p:txBody>
          <a:bodyPr wrap="square" rtlCol="0">
            <a:spAutoFit/>
          </a:bodyPr>
          <a:lstStyle/>
          <a:p>
            <a:r>
              <a:rPr lang="en-US" dirty="0"/>
              <a:t>D</a:t>
            </a:r>
          </a:p>
        </p:txBody>
      </p:sp>
      <p:sp>
        <p:nvSpPr>
          <p:cNvPr id="725" name="TextBox 724">
            <a:extLst>
              <a:ext uri="{FF2B5EF4-FFF2-40B4-BE49-F238E27FC236}">
                <a16:creationId xmlns:a16="http://schemas.microsoft.com/office/drawing/2014/main" id="{2D47D22C-468F-6763-DE9C-0A94F14ACEE8}"/>
              </a:ext>
            </a:extLst>
          </p:cNvPr>
          <p:cNvSpPr txBox="1"/>
          <p:nvPr/>
        </p:nvSpPr>
        <p:spPr>
          <a:xfrm>
            <a:off x="9278580" y="3280570"/>
            <a:ext cx="354419" cy="369332"/>
          </a:xfrm>
          <a:prstGeom prst="rect">
            <a:avLst/>
          </a:prstGeom>
          <a:noFill/>
        </p:spPr>
        <p:txBody>
          <a:bodyPr wrap="square" rtlCol="0">
            <a:spAutoFit/>
          </a:bodyPr>
          <a:lstStyle/>
          <a:p>
            <a:r>
              <a:rPr lang="en-US" dirty="0"/>
              <a:t>D</a:t>
            </a:r>
          </a:p>
        </p:txBody>
      </p:sp>
      <p:sp>
        <p:nvSpPr>
          <p:cNvPr id="727" name="TextBox 726">
            <a:extLst>
              <a:ext uri="{FF2B5EF4-FFF2-40B4-BE49-F238E27FC236}">
                <a16:creationId xmlns:a16="http://schemas.microsoft.com/office/drawing/2014/main" id="{0F43F22C-EA91-689B-BA30-A875128FADBA}"/>
              </a:ext>
            </a:extLst>
          </p:cNvPr>
          <p:cNvSpPr txBox="1"/>
          <p:nvPr/>
        </p:nvSpPr>
        <p:spPr>
          <a:xfrm>
            <a:off x="9101371" y="3963114"/>
            <a:ext cx="354419" cy="369332"/>
          </a:xfrm>
          <a:prstGeom prst="rect">
            <a:avLst/>
          </a:prstGeom>
          <a:noFill/>
        </p:spPr>
        <p:txBody>
          <a:bodyPr wrap="square" rtlCol="0">
            <a:spAutoFit/>
          </a:bodyPr>
          <a:lstStyle/>
          <a:p>
            <a:r>
              <a:rPr lang="en-US" dirty="0"/>
              <a:t>D</a:t>
            </a:r>
          </a:p>
        </p:txBody>
      </p:sp>
      <p:sp>
        <p:nvSpPr>
          <p:cNvPr id="729" name="TextBox 728">
            <a:extLst>
              <a:ext uri="{FF2B5EF4-FFF2-40B4-BE49-F238E27FC236}">
                <a16:creationId xmlns:a16="http://schemas.microsoft.com/office/drawing/2014/main" id="{2A4EC671-50A5-26DA-F319-90ED73960DD4}"/>
              </a:ext>
            </a:extLst>
          </p:cNvPr>
          <p:cNvSpPr txBox="1"/>
          <p:nvPr/>
        </p:nvSpPr>
        <p:spPr>
          <a:xfrm>
            <a:off x="9124951" y="4507820"/>
            <a:ext cx="354419" cy="369332"/>
          </a:xfrm>
          <a:prstGeom prst="rect">
            <a:avLst/>
          </a:prstGeom>
          <a:noFill/>
        </p:spPr>
        <p:txBody>
          <a:bodyPr wrap="square" rtlCol="0">
            <a:spAutoFit/>
          </a:bodyPr>
          <a:lstStyle/>
          <a:p>
            <a:r>
              <a:rPr lang="en-US" dirty="0"/>
              <a:t>D</a:t>
            </a:r>
          </a:p>
        </p:txBody>
      </p:sp>
      <p:sp>
        <p:nvSpPr>
          <p:cNvPr id="731" name="TextBox 730">
            <a:extLst>
              <a:ext uri="{FF2B5EF4-FFF2-40B4-BE49-F238E27FC236}">
                <a16:creationId xmlns:a16="http://schemas.microsoft.com/office/drawing/2014/main" id="{B14D21DD-7FD9-D117-FAEB-C10B6150FEB4}"/>
              </a:ext>
            </a:extLst>
          </p:cNvPr>
          <p:cNvSpPr txBox="1"/>
          <p:nvPr/>
        </p:nvSpPr>
        <p:spPr>
          <a:xfrm>
            <a:off x="8434121" y="5006647"/>
            <a:ext cx="354419" cy="369332"/>
          </a:xfrm>
          <a:prstGeom prst="rect">
            <a:avLst/>
          </a:prstGeom>
          <a:noFill/>
        </p:spPr>
        <p:txBody>
          <a:bodyPr wrap="square" rtlCol="0">
            <a:spAutoFit/>
          </a:bodyPr>
          <a:lstStyle/>
          <a:p>
            <a:r>
              <a:rPr lang="en-US" dirty="0"/>
              <a:t>D</a:t>
            </a:r>
          </a:p>
        </p:txBody>
      </p:sp>
      <p:sp>
        <p:nvSpPr>
          <p:cNvPr id="733" name="TextBox 732">
            <a:extLst>
              <a:ext uri="{FF2B5EF4-FFF2-40B4-BE49-F238E27FC236}">
                <a16:creationId xmlns:a16="http://schemas.microsoft.com/office/drawing/2014/main" id="{4FAF1D2B-5D5F-D96E-3341-0BD82ABDE633}"/>
              </a:ext>
            </a:extLst>
          </p:cNvPr>
          <p:cNvSpPr txBox="1"/>
          <p:nvPr/>
        </p:nvSpPr>
        <p:spPr>
          <a:xfrm>
            <a:off x="8620112" y="5221432"/>
            <a:ext cx="354419" cy="369332"/>
          </a:xfrm>
          <a:prstGeom prst="rect">
            <a:avLst/>
          </a:prstGeom>
          <a:noFill/>
        </p:spPr>
        <p:txBody>
          <a:bodyPr wrap="square" rtlCol="0">
            <a:spAutoFit/>
          </a:bodyPr>
          <a:lstStyle/>
          <a:p>
            <a:r>
              <a:rPr lang="en-US" dirty="0"/>
              <a:t>C</a:t>
            </a:r>
          </a:p>
        </p:txBody>
      </p:sp>
      <p:sp>
        <p:nvSpPr>
          <p:cNvPr id="735" name="TextBox 734">
            <a:extLst>
              <a:ext uri="{FF2B5EF4-FFF2-40B4-BE49-F238E27FC236}">
                <a16:creationId xmlns:a16="http://schemas.microsoft.com/office/drawing/2014/main" id="{FD4C5066-0448-E2AB-0514-0FABBD2014B5}"/>
              </a:ext>
            </a:extLst>
          </p:cNvPr>
          <p:cNvSpPr txBox="1"/>
          <p:nvPr/>
        </p:nvSpPr>
        <p:spPr>
          <a:xfrm>
            <a:off x="8350242" y="3778448"/>
            <a:ext cx="354419" cy="369332"/>
          </a:xfrm>
          <a:prstGeom prst="rect">
            <a:avLst/>
          </a:prstGeom>
          <a:noFill/>
        </p:spPr>
        <p:txBody>
          <a:bodyPr wrap="square" rtlCol="0">
            <a:spAutoFit/>
          </a:bodyPr>
          <a:lstStyle/>
          <a:p>
            <a:r>
              <a:rPr lang="en-US" dirty="0"/>
              <a:t>A</a:t>
            </a:r>
          </a:p>
        </p:txBody>
      </p:sp>
      <p:sp>
        <p:nvSpPr>
          <p:cNvPr id="737" name="TextBox 736">
            <a:extLst>
              <a:ext uri="{FF2B5EF4-FFF2-40B4-BE49-F238E27FC236}">
                <a16:creationId xmlns:a16="http://schemas.microsoft.com/office/drawing/2014/main" id="{463F26E3-F81D-0997-638C-7BF9CBC09629}"/>
              </a:ext>
            </a:extLst>
          </p:cNvPr>
          <p:cNvSpPr txBox="1"/>
          <p:nvPr/>
        </p:nvSpPr>
        <p:spPr>
          <a:xfrm>
            <a:off x="8629975" y="3778448"/>
            <a:ext cx="354419" cy="369332"/>
          </a:xfrm>
          <a:prstGeom prst="rect">
            <a:avLst/>
          </a:prstGeom>
          <a:noFill/>
        </p:spPr>
        <p:txBody>
          <a:bodyPr wrap="square" rtlCol="0">
            <a:spAutoFit/>
          </a:bodyPr>
          <a:lstStyle/>
          <a:p>
            <a:r>
              <a:rPr lang="en-US" dirty="0"/>
              <a:t>B</a:t>
            </a:r>
          </a:p>
        </p:txBody>
      </p:sp>
      <p:sp>
        <p:nvSpPr>
          <p:cNvPr id="739" name="TextBox 738">
            <a:extLst>
              <a:ext uri="{FF2B5EF4-FFF2-40B4-BE49-F238E27FC236}">
                <a16:creationId xmlns:a16="http://schemas.microsoft.com/office/drawing/2014/main" id="{B3F9A475-0302-49B1-D730-06E4EF9CD19C}"/>
              </a:ext>
            </a:extLst>
          </p:cNvPr>
          <p:cNvSpPr txBox="1"/>
          <p:nvPr/>
        </p:nvSpPr>
        <p:spPr>
          <a:xfrm>
            <a:off x="8355676" y="4080235"/>
            <a:ext cx="354419" cy="369332"/>
          </a:xfrm>
          <a:prstGeom prst="rect">
            <a:avLst/>
          </a:prstGeom>
          <a:noFill/>
        </p:spPr>
        <p:txBody>
          <a:bodyPr wrap="square" rtlCol="0">
            <a:spAutoFit/>
          </a:bodyPr>
          <a:lstStyle/>
          <a:p>
            <a:r>
              <a:rPr lang="en-US" dirty="0"/>
              <a:t>C</a:t>
            </a:r>
          </a:p>
        </p:txBody>
      </p:sp>
      <p:sp>
        <p:nvSpPr>
          <p:cNvPr id="741" name="TextBox 740">
            <a:extLst>
              <a:ext uri="{FF2B5EF4-FFF2-40B4-BE49-F238E27FC236}">
                <a16:creationId xmlns:a16="http://schemas.microsoft.com/office/drawing/2014/main" id="{8E0961AF-8CE5-190C-47A5-A42970DDDE9E}"/>
              </a:ext>
            </a:extLst>
          </p:cNvPr>
          <p:cNvSpPr txBox="1"/>
          <p:nvPr/>
        </p:nvSpPr>
        <p:spPr>
          <a:xfrm>
            <a:off x="8634309" y="4051996"/>
            <a:ext cx="354419" cy="369332"/>
          </a:xfrm>
          <a:prstGeom prst="rect">
            <a:avLst/>
          </a:prstGeom>
          <a:noFill/>
        </p:spPr>
        <p:txBody>
          <a:bodyPr wrap="square" rtlCol="0">
            <a:spAutoFit/>
          </a:bodyPr>
          <a:lstStyle/>
          <a:p>
            <a:r>
              <a:rPr lang="en-US" dirty="0"/>
              <a:t>D</a:t>
            </a:r>
          </a:p>
        </p:txBody>
      </p:sp>
      <p:sp>
        <p:nvSpPr>
          <p:cNvPr id="743" name="TextBox 742">
            <a:extLst>
              <a:ext uri="{FF2B5EF4-FFF2-40B4-BE49-F238E27FC236}">
                <a16:creationId xmlns:a16="http://schemas.microsoft.com/office/drawing/2014/main" id="{00C747A5-D60E-7478-957C-C498689D9133}"/>
              </a:ext>
            </a:extLst>
          </p:cNvPr>
          <p:cNvSpPr txBox="1"/>
          <p:nvPr/>
        </p:nvSpPr>
        <p:spPr>
          <a:xfrm>
            <a:off x="9042627" y="3174515"/>
            <a:ext cx="354419" cy="369332"/>
          </a:xfrm>
          <a:prstGeom prst="rect">
            <a:avLst/>
          </a:prstGeom>
          <a:noFill/>
        </p:spPr>
        <p:txBody>
          <a:bodyPr wrap="square" rtlCol="0">
            <a:spAutoFit/>
          </a:bodyPr>
          <a:lstStyle/>
          <a:p>
            <a:r>
              <a:rPr lang="en-US" dirty="0"/>
              <a:t>A</a:t>
            </a:r>
          </a:p>
        </p:txBody>
      </p:sp>
      <p:sp>
        <p:nvSpPr>
          <p:cNvPr id="745" name="TextBox 744">
            <a:extLst>
              <a:ext uri="{FF2B5EF4-FFF2-40B4-BE49-F238E27FC236}">
                <a16:creationId xmlns:a16="http://schemas.microsoft.com/office/drawing/2014/main" id="{59176F96-7C56-348B-CB2B-86CE1C2FDECF}"/>
              </a:ext>
            </a:extLst>
          </p:cNvPr>
          <p:cNvSpPr txBox="1"/>
          <p:nvPr/>
        </p:nvSpPr>
        <p:spPr>
          <a:xfrm>
            <a:off x="7296846" y="5727107"/>
            <a:ext cx="354419" cy="369332"/>
          </a:xfrm>
          <a:prstGeom prst="rect">
            <a:avLst/>
          </a:prstGeom>
          <a:noFill/>
        </p:spPr>
        <p:txBody>
          <a:bodyPr wrap="square" rtlCol="0">
            <a:spAutoFit/>
          </a:bodyPr>
          <a:lstStyle/>
          <a:p>
            <a:r>
              <a:rPr lang="en-US" dirty="0"/>
              <a:t>E</a:t>
            </a:r>
          </a:p>
        </p:txBody>
      </p:sp>
      <p:sp>
        <p:nvSpPr>
          <p:cNvPr id="747" name="TextBox 746">
            <a:extLst>
              <a:ext uri="{FF2B5EF4-FFF2-40B4-BE49-F238E27FC236}">
                <a16:creationId xmlns:a16="http://schemas.microsoft.com/office/drawing/2014/main" id="{492CA626-4A55-A672-3CB6-6CB12D128A56}"/>
              </a:ext>
            </a:extLst>
          </p:cNvPr>
          <p:cNvSpPr txBox="1"/>
          <p:nvPr/>
        </p:nvSpPr>
        <p:spPr>
          <a:xfrm>
            <a:off x="9101371" y="3465977"/>
            <a:ext cx="354419" cy="369332"/>
          </a:xfrm>
          <a:prstGeom prst="rect">
            <a:avLst/>
          </a:prstGeom>
          <a:noFill/>
        </p:spPr>
        <p:txBody>
          <a:bodyPr wrap="square" rtlCol="0">
            <a:spAutoFit/>
          </a:bodyPr>
          <a:lstStyle/>
          <a:p>
            <a:r>
              <a:rPr lang="en-US" dirty="0"/>
              <a:t>F</a:t>
            </a:r>
          </a:p>
        </p:txBody>
      </p:sp>
      <p:sp>
        <p:nvSpPr>
          <p:cNvPr id="749" name="TextBox 748">
            <a:extLst>
              <a:ext uri="{FF2B5EF4-FFF2-40B4-BE49-F238E27FC236}">
                <a16:creationId xmlns:a16="http://schemas.microsoft.com/office/drawing/2014/main" id="{98030667-3408-6475-09AB-FF99799502DE}"/>
              </a:ext>
            </a:extLst>
          </p:cNvPr>
          <p:cNvSpPr txBox="1"/>
          <p:nvPr/>
        </p:nvSpPr>
        <p:spPr>
          <a:xfrm>
            <a:off x="6682998" y="4573629"/>
            <a:ext cx="354419" cy="369332"/>
          </a:xfrm>
          <a:prstGeom prst="rect">
            <a:avLst/>
          </a:prstGeom>
          <a:noFill/>
        </p:spPr>
        <p:txBody>
          <a:bodyPr wrap="square" rtlCol="0">
            <a:spAutoFit/>
          </a:bodyPr>
          <a:lstStyle/>
          <a:p>
            <a:r>
              <a:rPr lang="en-US" dirty="0"/>
              <a:t>E</a:t>
            </a:r>
          </a:p>
        </p:txBody>
      </p:sp>
      <p:sp>
        <p:nvSpPr>
          <p:cNvPr id="3" name="Title 2">
            <a:extLst>
              <a:ext uri="{FF2B5EF4-FFF2-40B4-BE49-F238E27FC236}">
                <a16:creationId xmlns:a16="http://schemas.microsoft.com/office/drawing/2014/main" id="{8E780C3B-0BAE-E56A-E116-37B9A1C0A2A2}"/>
              </a:ext>
            </a:extLst>
          </p:cNvPr>
          <p:cNvSpPr>
            <a:spLocks noGrp="1"/>
          </p:cNvSpPr>
          <p:nvPr>
            <p:ph type="title"/>
          </p:nvPr>
        </p:nvSpPr>
        <p:spPr>
          <a:xfrm>
            <a:off x="0" y="0"/>
            <a:ext cx="10515600" cy="1325563"/>
          </a:xfrm>
        </p:spPr>
        <p:txBody>
          <a:bodyPr/>
          <a:lstStyle/>
          <a:p>
            <a:r>
              <a:rPr lang="en-US" dirty="0"/>
              <a:t>Community Randomizations</a:t>
            </a:r>
          </a:p>
        </p:txBody>
      </p:sp>
      <p:sp>
        <p:nvSpPr>
          <p:cNvPr id="5" name="TextBox 4">
            <a:extLst>
              <a:ext uri="{FF2B5EF4-FFF2-40B4-BE49-F238E27FC236}">
                <a16:creationId xmlns:a16="http://schemas.microsoft.com/office/drawing/2014/main" id="{44F1F599-51E3-6E8B-E346-B52528C4445B}"/>
              </a:ext>
            </a:extLst>
          </p:cNvPr>
          <p:cNvSpPr txBox="1"/>
          <p:nvPr/>
        </p:nvSpPr>
        <p:spPr>
          <a:xfrm>
            <a:off x="191386" y="1229870"/>
            <a:ext cx="9399181" cy="1015663"/>
          </a:xfrm>
          <a:prstGeom prst="rect">
            <a:avLst/>
          </a:prstGeom>
          <a:noFill/>
        </p:spPr>
        <p:txBody>
          <a:bodyPr wrap="square" rtlCol="0">
            <a:spAutoFit/>
          </a:bodyPr>
          <a:lstStyle/>
          <a:p>
            <a:r>
              <a:rPr lang="en-US" sz="2000" dirty="0"/>
              <a:t>Community randomizations are a way to generate a null distribution (the expected values of community metrics under a specific null hypothesis)</a:t>
            </a:r>
          </a:p>
          <a:p>
            <a:endParaRPr lang="en-US" sz="2000" dirty="0"/>
          </a:p>
        </p:txBody>
      </p:sp>
      <p:sp>
        <p:nvSpPr>
          <p:cNvPr id="7" name="TextBox 6">
            <a:extLst>
              <a:ext uri="{FF2B5EF4-FFF2-40B4-BE49-F238E27FC236}">
                <a16:creationId xmlns:a16="http://schemas.microsoft.com/office/drawing/2014/main" id="{B796DE16-D098-F4D2-3F8C-20D1376B8F80}"/>
              </a:ext>
            </a:extLst>
          </p:cNvPr>
          <p:cNvSpPr txBox="1"/>
          <p:nvPr/>
        </p:nvSpPr>
        <p:spPr>
          <a:xfrm>
            <a:off x="499730" y="2245533"/>
            <a:ext cx="5596270" cy="2031325"/>
          </a:xfrm>
          <a:prstGeom prst="rect">
            <a:avLst/>
          </a:prstGeom>
          <a:noFill/>
        </p:spPr>
        <p:txBody>
          <a:bodyPr wrap="square" rtlCol="0">
            <a:spAutoFit/>
          </a:bodyPr>
          <a:lstStyle/>
          <a:p>
            <a:r>
              <a:rPr lang="en-US" dirty="0"/>
              <a:t>“Curveball” algorithm</a:t>
            </a:r>
          </a:p>
          <a:p>
            <a:pPr marL="285750" indent="-285750">
              <a:buFont typeface="Arial" panose="020B0604020202020204" pitchFamily="34" charset="0"/>
              <a:buChar char="•"/>
            </a:pPr>
            <a:r>
              <a:rPr lang="en-US" dirty="0"/>
              <a:t>What remains constant: </a:t>
            </a:r>
          </a:p>
          <a:p>
            <a:pPr marL="742950" lvl="1" indent="-285750">
              <a:buFont typeface="Arial" panose="020B0604020202020204" pitchFamily="34" charset="0"/>
              <a:buChar char="•"/>
            </a:pPr>
            <a:r>
              <a:rPr lang="en-US" dirty="0"/>
              <a:t>The Phylogenetic Tree Structure</a:t>
            </a:r>
          </a:p>
          <a:p>
            <a:pPr marL="742950" lvl="1" indent="-285750">
              <a:buFont typeface="Arial" panose="020B0604020202020204" pitchFamily="34" charset="0"/>
              <a:buChar char="•"/>
            </a:pPr>
            <a:r>
              <a:rPr lang="en-US" dirty="0"/>
              <a:t>Species Richness per Cell</a:t>
            </a:r>
          </a:p>
          <a:p>
            <a:pPr marL="742950" lvl="1" indent="-285750">
              <a:buFont typeface="Arial" panose="020B0604020202020204" pitchFamily="34" charset="0"/>
              <a:buChar char="•"/>
            </a:pPr>
            <a:r>
              <a:rPr lang="en-US" dirty="0"/>
              <a:t>Species Overall Prevalence (Total # Occurrences)</a:t>
            </a:r>
          </a:p>
          <a:p>
            <a:pPr marL="285750" indent="-285750">
              <a:buFont typeface="Arial" panose="020B0604020202020204" pitchFamily="34" charset="0"/>
              <a:buChar char="•"/>
            </a:pPr>
            <a:r>
              <a:rPr lang="en-US" dirty="0"/>
              <a:t>What gets shuffled </a:t>
            </a:r>
          </a:p>
          <a:p>
            <a:pPr marL="742950" lvl="1" indent="-285750">
              <a:buFont typeface="Arial" panose="020B0604020202020204" pitchFamily="34" charset="0"/>
              <a:buChar char="•"/>
            </a:pPr>
            <a:r>
              <a:rPr lang="en-US" dirty="0"/>
              <a:t>The community matrix </a:t>
            </a:r>
          </a:p>
        </p:txBody>
      </p:sp>
      <p:sp>
        <p:nvSpPr>
          <p:cNvPr id="14" name="TextBox 13">
            <a:extLst>
              <a:ext uri="{FF2B5EF4-FFF2-40B4-BE49-F238E27FC236}">
                <a16:creationId xmlns:a16="http://schemas.microsoft.com/office/drawing/2014/main" id="{612D7E8A-6965-1B82-0BA9-1DEB9D7CC2E1}"/>
              </a:ext>
            </a:extLst>
          </p:cNvPr>
          <p:cNvSpPr txBox="1"/>
          <p:nvPr/>
        </p:nvSpPr>
        <p:spPr>
          <a:xfrm>
            <a:off x="6168965" y="2305438"/>
            <a:ext cx="6023035" cy="523220"/>
          </a:xfrm>
          <a:prstGeom prst="rect">
            <a:avLst/>
          </a:prstGeom>
          <a:noFill/>
        </p:spPr>
        <p:txBody>
          <a:bodyPr wrap="square" rtlCol="0">
            <a:spAutoFit/>
          </a:bodyPr>
          <a:lstStyle/>
          <a:p>
            <a:r>
              <a:rPr lang="en-US" sz="2800" dirty="0"/>
              <a:t>Randomized Community Matrix x999</a:t>
            </a:r>
          </a:p>
        </p:txBody>
      </p:sp>
      <p:pic>
        <p:nvPicPr>
          <p:cNvPr id="21" name="Picture 20">
            <a:extLst>
              <a:ext uri="{FF2B5EF4-FFF2-40B4-BE49-F238E27FC236}">
                <a16:creationId xmlns:a16="http://schemas.microsoft.com/office/drawing/2014/main" id="{C70ECFBF-A36D-A05F-C954-BF152169102F}"/>
              </a:ext>
            </a:extLst>
          </p:cNvPr>
          <p:cNvPicPr>
            <a:picLocks noChangeAspect="1"/>
          </p:cNvPicPr>
          <p:nvPr/>
        </p:nvPicPr>
        <p:blipFill>
          <a:blip r:embed="rId3"/>
          <a:stretch>
            <a:fillRect/>
          </a:stretch>
        </p:blipFill>
        <p:spPr>
          <a:xfrm>
            <a:off x="0" y="4529523"/>
            <a:ext cx="4743694" cy="2197213"/>
          </a:xfrm>
          <a:prstGeom prst="rect">
            <a:avLst/>
          </a:prstGeom>
        </p:spPr>
      </p:pic>
      <p:pic>
        <p:nvPicPr>
          <p:cNvPr id="17" name="Picture 16">
            <a:extLst>
              <a:ext uri="{FF2B5EF4-FFF2-40B4-BE49-F238E27FC236}">
                <a16:creationId xmlns:a16="http://schemas.microsoft.com/office/drawing/2014/main" id="{17A5850A-3F1C-8F7B-EF7C-9265F7E3D3CE}"/>
              </a:ext>
            </a:extLst>
          </p:cNvPr>
          <p:cNvPicPr>
            <a:picLocks noChangeAspect="1"/>
          </p:cNvPicPr>
          <p:nvPr/>
        </p:nvPicPr>
        <p:blipFill>
          <a:blip r:embed="rId2"/>
          <a:stretch>
            <a:fillRect/>
          </a:stretch>
        </p:blipFill>
        <p:spPr>
          <a:xfrm>
            <a:off x="6168965" y="2937280"/>
            <a:ext cx="3224897" cy="3184486"/>
          </a:xfrm>
          <a:prstGeom prst="rect">
            <a:avLst/>
          </a:prstGeom>
        </p:spPr>
      </p:pic>
      <p:sp>
        <p:nvSpPr>
          <p:cNvPr id="24" name="TextBox 23">
            <a:extLst>
              <a:ext uri="{FF2B5EF4-FFF2-40B4-BE49-F238E27FC236}">
                <a16:creationId xmlns:a16="http://schemas.microsoft.com/office/drawing/2014/main" id="{F1CFA4CF-64CB-A1BB-A3EF-EE90172E9721}"/>
              </a:ext>
            </a:extLst>
          </p:cNvPr>
          <p:cNvSpPr txBox="1"/>
          <p:nvPr/>
        </p:nvSpPr>
        <p:spPr>
          <a:xfrm>
            <a:off x="6255946" y="3021632"/>
            <a:ext cx="354419" cy="369332"/>
          </a:xfrm>
          <a:prstGeom prst="rect">
            <a:avLst/>
          </a:prstGeom>
          <a:noFill/>
        </p:spPr>
        <p:txBody>
          <a:bodyPr wrap="square" rtlCol="0">
            <a:spAutoFit/>
          </a:bodyPr>
          <a:lstStyle/>
          <a:p>
            <a:r>
              <a:rPr lang="en-US" dirty="0"/>
              <a:t>A</a:t>
            </a:r>
          </a:p>
        </p:txBody>
      </p:sp>
      <p:sp>
        <p:nvSpPr>
          <p:cNvPr id="28" name="TextBox 27">
            <a:extLst>
              <a:ext uri="{FF2B5EF4-FFF2-40B4-BE49-F238E27FC236}">
                <a16:creationId xmlns:a16="http://schemas.microsoft.com/office/drawing/2014/main" id="{3107390A-4C3B-411B-DCC7-E19276658D61}"/>
              </a:ext>
            </a:extLst>
          </p:cNvPr>
          <p:cNvSpPr txBox="1"/>
          <p:nvPr/>
        </p:nvSpPr>
        <p:spPr>
          <a:xfrm>
            <a:off x="7007339" y="3684983"/>
            <a:ext cx="354419" cy="369332"/>
          </a:xfrm>
          <a:prstGeom prst="rect">
            <a:avLst/>
          </a:prstGeom>
          <a:noFill/>
        </p:spPr>
        <p:txBody>
          <a:bodyPr wrap="square" rtlCol="0">
            <a:spAutoFit/>
          </a:bodyPr>
          <a:lstStyle/>
          <a:p>
            <a:r>
              <a:rPr lang="en-US" dirty="0"/>
              <a:t>B</a:t>
            </a:r>
          </a:p>
        </p:txBody>
      </p:sp>
      <p:sp>
        <p:nvSpPr>
          <p:cNvPr id="32" name="TextBox 31">
            <a:extLst>
              <a:ext uri="{FF2B5EF4-FFF2-40B4-BE49-F238E27FC236}">
                <a16:creationId xmlns:a16="http://schemas.microsoft.com/office/drawing/2014/main" id="{99D35EBD-3754-8E53-0E53-F01EEA5E5B98}"/>
              </a:ext>
            </a:extLst>
          </p:cNvPr>
          <p:cNvSpPr txBox="1"/>
          <p:nvPr/>
        </p:nvSpPr>
        <p:spPr>
          <a:xfrm>
            <a:off x="6833648" y="2979769"/>
            <a:ext cx="354419" cy="369332"/>
          </a:xfrm>
          <a:prstGeom prst="rect">
            <a:avLst/>
          </a:prstGeom>
          <a:noFill/>
        </p:spPr>
        <p:txBody>
          <a:bodyPr wrap="square" rtlCol="0">
            <a:spAutoFit/>
          </a:bodyPr>
          <a:lstStyle/>
          <a:p>
            <a:r>
              <a:rPr lang="en-US" dirty="0"/>
              <a:t>A</a:t>
            </a:r>
          </a:p>
        </p:txBody>
      </p:sp>
      <p:sp>
        <p:nvSpPr>
          <p:cNvPr id="34" name="TextBox 33">
            <a:extLst>
              <a:ext uri="{FF2B5EF4-FFF2-40B4-BE49-F238E27FC236}">
                <a16:creationId xmlns:a16="http://schemas.microsoft.com/office/drawing/2014/main" id="{C50C9DFA-5C9D-3CDA-9AF3-D2BB3D2EC944}"/>
              </a:ext>
            </a:extLst>
          </p:cNvPr>
          <p:cNvSpPr txBox="1"/>
          <p:nvPr/>
        </p:nvSpPr>
        <p:spPr>
          <a:xfrm>
            <a:off x="7117715" y="2979769"/>
            <a:ext cx="354419" cy="369332"/>
          </a:xfrm>
          <a:prstGeom prst="rect">
            <a:avLst/>
          </a:prstGeom>
          <a:noFill/>
        </p:spPr>
        <p:txBody>
          <a:bodyPr wrap="square" rtlCol="0">
            <a:spAutoFit/>
          </a:bodyPr>
          <a:lstStyle/>
          <a:p>
            <a:r>
              <a:rPr lang="en-US" dirty="0"/>
              <a:t>B</a:t>
            </a:r>
          </a:p>
        </p:txBody>
      </p:sp>
      <p:sp>
        <p:nvSpPr>
          <p:cNvPr id="36" name="TextBox 35">
            <a:extLst>
              <a:ext uri="{FF2B5EF4-FFF2-40B4-BE49-F238E27FC236}">
                <a16:creationId xmlns:a16="http://schemas.microsoft.com/office/drawing/2014/main" id="{4E682786-DE1C-FD50-9DEE-982B5F99FE50}"/>
              </a:ext>
            </a:extLst>
          </p:cNvPr>
          <p:cNvSpPr txBox="1"/>
          <p:nvPr/>
        </p:nvSpPr>
        <p:spPr>
          <a:xfrm>
            <a:off x="6975681" y="3263215"/>
            <a:ext cx="354419" cy="369332"/>
          </a:xfrm>
          <a:prstGeom prst="rect">
            <a:avLst/>
          </a:prstGeom>
          <a:noFill/>
        </p:spPr>
        <p:txBody>
          <a:bodyPr wrap="square" rtlCol="0">
            <a:spAutoFit/>
          </a:bodyPr>
          <a:lstStyle/>
          <a:p>
            <a:r>
              <a:rPr lang="en-US" dirty="0"/>
              <a:t>D</a:t>
            </a:r>
          </a:p>
        </p:txBody>
      </p:sp>
      <p:sp>
        <p:nvSpPr>
          <p:cNvPr id="38" name="TextBox 37">
            <a:extLst>
              <a:ext uri="{FF2B5EF4-FFF2-40B4-BE49-F238E27FC236}">
                <a16:creationId xmlns:a16="http://schemas.microsoft.com/office/drawing/2014/main" id="{E74BFB18-3649-9CFD-8715-958B3D12F7C0}"/>
              </a:ext>
            </a:extLst>
          </p:cNvPr>
          <p:cNvSpPr txBox="1"/>
          <p:nvPr/>
        </p:nvSpPr>
        <p:spPr>
          <a:xfrm>
            <a:off x="6255946" y="3632547"/>
            <a:ext cx="354419" cy="369332"/>
          </a:xfrm>
          <a:prstGeom prst="rect">
            <a:avLst/>
          </a:prstGeom>
          <a:noFill/>
        </p:spPr>
        <p:txBody>
          <a:bodyPr wrap="square" rtlCol="0">
            <a:spAutoFit/>
          </a:bodyPr>
          <a:lstStyle/>
          <a:p>
            <a:r>
              <a:rPr lang="en-US" dirty="0"/>
              <a:t>A</a:t>
            </a:r>
          </a:p>
        </p:txBody>
      </p:sp>
      <p:sp>
        <p:nvSpPr>
          <p:cNvPr id="40" name="TextBox 39">
            <a:extLst>
              <a:ext uri="{FF2B5EF4-FFF2-40B4-BE49-F238E27FC236}">
                <a16:creationId xmlns:a16="http://schemas.microsoft.com/office/drawing/2014/main" id="{638E240C-9EAF-C38E-945A-D1127CC30792}"/>
              </a:ext>
            </a:extLst>
          </p:cNvPr>
          <p:cNvSpPr txBox="1"/>
          <p:nvPr/>
        </p:nvSpPr>
        <p:spPr>
          <a:xfrm>
            <a:off x="6498771" y="3622552"/>
            <a:ext cx="354419" cy="369332"/>
          </a:xfrm>
          <a:prstGeom prst="rect">
            <a:avLst/>
          </a:prstGeom>
          <a:noFill/>
        </p:spPr>
        <p:txBody>
          <a:bodyPr wrap="square" rtlCol="0">
            <a:spAutoFit/>
          </a:bodyPr>
          <a:lstStyle/>
          <a:p>
            <a:r>
              <a:rPr lang="en-US" dirty="0"/>
              <a:t>B</a:t>
            </a:r>
          </a:p>
        </p:txBody>
      </p:sp>
      <p:sp>
        <p:nvSpPr>
          <p:cNvPr id="42" name="TextBox 41">
            <a:extLst>
              <a:ext uri="{FF2B5EF4-FFF2-40B4-BE49-F238E27FC236}">
                <a16:creationId xmlns:a16="http://schemas.microsoft.com/office/drawing/2014/main" id="{010AF64E-505F-4730-9CC0-29332E7FA07C}"/>
              </a:ext>
            </a:extLst>
          </p:cNvPr>
          <p:cNvSpPr txBox="1"/>
          <p:nvPr/>
        </p:nvSpPr>
        <p:spPr>
          <a:xfrm>
            <a:off x="6393490" y="3827208"/>
            <a:ext cx="354419" cy="369332"/>
          </a:xfrm>
          <a:prstGeom prst="rect">
            <a:avLst/>
          </a:prstGeom>
          <a:noFill/>
        </p:spPr>
        <p:txBody>
          <a:bodyPr wrap="square" rtlCol="0">
            <a:spAutoFit/>
          </a:bodyPr>
          <a:lstStyle/>
          <a:p>
            <a:r>
              <a:rPr lang="en-US" dirty="0"/>
              <a:t>D</a:t>
            </a:r>
          </a:p>
        </p:txBody>
      </p:sp>
      <p:sp>
        <p:nvSpPr>
          <p:cNvPr id="44" name="TextBox 43">
            <a:extLst>
              <a:ext uri="{FF2B5EF4-FFF2-40B4-BE49-F238E27FC236}">
                <a16:creationId xmlns:a16="http://schemas.microsoft.com/office/drawing/2014/main" id="{5023D602-67DA-1033-1592-4BEF42C03EA8}"/>
              </a:ext>
            </a:extLst>
          </p:cNvPr>
          <p:cNvSpPr txBox="1"/>
          <p:nvPr/>
        </p:nvSpPr>
        <p:spPr>
          <a:xfrm>
            <a:off x="6475216" y="3243225"/>
            <a:ext cx="354419" cy="369332"/>
          </a:xfrm>
          <a:prstGeom prst="rect">
            <a:avLst/>
          </a:prstGeom>
          <a:noFill/>
        </p:spPr>
        <p:txBody>
          <a:bodyPr wrap="square" rtlCol="0">
            <a:spAutoFit/>
          </a:bodyPr>
          <a:lstStyle/>
          <a:p>
            <a:r>
              <a:rPr lang="en-US" dirty="0"/>
              <a:t>D</a:t>
            </a:r>
          </a:p>
        </p:txBody>
      </p:sp>
      <p:sp>
        <p:nvSpPr>
          <p:cNvPr id="46" name="TextBox 45">
            <a:extLst>
              <a:ext uri="{FF2B5EF4-FFF2-40B4-BE49-F238E27FC236}">
                <a16:creationId xmlns:a16="http://schemas.microsoft.com/office/drawing/2014/main" id="{C7F85F68-E8C3-B390-1E2A-A4416C45C036}"/>
              </a:ext>
            </a:extLst>
          </p:cNvPr>
          <p:cNvSpPr txBox="1"/>
          <p:nvPr/>
        </p:nvSpPr>
        <p:spPr>
          <a:xfrm>
            <a:off x="8194715" y="4352739"/>
            <a:ext cx="354419" cy="369332"/>
          </a:xfrm>
          <a:prstGeom prst="rect">
            <a:avLst/>
          </a:prstGeom>
          <a:noFill/>
        </p:spPr>
        <p:txBody>
          <a:bodyPr wrap="square" rtlCol="0">
            <a:spAutoFit/>
          </a:bodyPr>
          <a:lstStyle/>
          <a:p>
            <a:r>
              <a:rPr lang="en-US" dirty="0"/>
              <a:t>D</a:t>
            </a:r>
          </a:p>
        </p:txBody>
      </p:sp>
      <p:sp>
        <p:nvSpPr>
          <p:cNvPr id="48" name="TextBox 47">
            <a:extLst>
              <a:ext uri="{FF2B5EF4-FFF2-40B4-BE49-F238E27FC236}">
                <a16:creationId xmlns:a16="http://schemas.microsoft.com/office/drawing/2014/main" id="{761E50DC-17C4-8588-5923-C0EC3838B779}"/>
              </a:ext>
            </a:extLst>
          </p:cNvPr>
          <p:cNvSpPr txBox="1"/>
          <p:nvPr/>
        </p:nvSpPr>
        <p:spPr>
          <a:xfrm>
            <a:off x="7671857" y="4194217"/>
            <a:ext cx="354419"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BED7C62C-172C-9896-D80F-7BA0F0F053D4}"/>
              </a:ext>
            </a:extLst>
          </p:cNvPr>
          <p:cNvSpPr txBox="1"/>
          <p:nvPr/>
        </p:nvSpPr>
        <p:spPr>
          <a:xfrm>
            <a:off x="7560614" y="4407161"/>
            <a:ext cx="354419" cy="369332"/>
          </a:xfrm>
          <a:prstGeom prst="rect">
            <a:avLst/>
          </a:prstGeom>
          <a:noFill/>
        </p:spPr>
        <p:txBody>
          <a:bodyPr wrap="square" rtlCol="0">
            <a:spAutoFit/>
          </a:bodyPr>
          <a:lstStyle/>
          <a:p>
            <a:r>
              <a:rPr lang="en-US" dirty="0"/>
              <a:t>D</a:t>
            </a:r>
          </a:p>
        </p:txBody>
      </p:sp>
      <p:sp>
        <p:nvSpPr>
          <p:cNvPr id="52" name="TextBox 51">
            <a:extLst>
              <a:ext uri="{FF2B5EF4-FFF2-40B4-BE49-F238E27FC236}">
                <a16:creationId xmlns:a16="http://schemas.microsoft.com/office/drawing/2014/main" id="{EFE6F437-4966-5A31-4578-FC67DD94BE60}"/>
              </a:ext>
            </a:extLst>
          </p:cNvPr>
          <p:cNvSpPr txBox="1"/>
          <p:nvPr/>
        </p:nvSpPr>
        <p:spPr>
          <a:xfrm>
            <a:off x="8286911" y="3238024"/>
            <a:ext cx="354419" cy="369332"/>
          </a:xfrm>
          <a:prstGeom prst="rect">
            <a:avLst/>
          </a:prstGeom>
          <a:noFill/>
        </p:spPr>
        <p:txBody>
          <a:bodyPr wrap="square" rtlCol="0">
            <a:spAutoFit/>
          </a:bodyPr>
          <a:lstStyle/>
          <a:p>
            <a:r>
              <a:rPr lang="en-US" dirty="0"/>
              <a:t>C</a:t>
            </a:r>
          </a:p>
        </p:txBody>
      </p:sp>
      <p:sp>
        <p:nvSpPr>
          <p:cNvPr id="54" name="TextBox 53">
            <a:extLst>
              <a:ext uri="{FF2B5EF4-FFF2-40B4-BE49-F238E27FC236}">
                <a16:creationId xmlns:a16="http://schemas.microsoft.com/office/drawing/2014/main" id="{06833EFF-87E9-248C-A03E-4497F172DA9C}"/>
              </a:ext>
            </a:extLst>
          </p:cNvPr>
          <p:cNvSpPr txBox="1"/>
          <p:nvPr/>
        </p:nvSpPr>
        <p:spPr>
          <a:xfrm>
            <a:off x="7566448" y="3700823"/>
            <a:ext cx="354419" cy="369332"/>
          </a:xfrm>
          <a:prstGeom prst="rect">
            <a:avLst/>
          </a:prstGeom>
          <a:noFill/>
        </p:spPr>
        <p:txBody>
          <a:bodyPr wrap="square" rtlCol="0">
            <a:spAutoFit/>
          </a:bodyPr>
          <a:lstStyle/>
          <a:p>
            <a:r>
              <a:rPr lang="en-US" dirty="0"/>
              <a:t>C</a:t>
            </a:r>
          </a:p>
        </p:txBody>
      </p:sp>
      <p:sp>
        <p:nvSpPr>
          <p:cNvPr id="56" name="TextBox 55">
            <a:extLst>
              <a:ext uri="{FF2B5EF4-FFF2-40B4-BE49-F238E27FC236}">
                <a16:creationId xmlns:a16="http://schemas.microsoft.com/office/drawing/2014/main" id="{A61E2BD0-3500-163A-846D-0BC74CF6F8C2}"/>
              </a:ext>
            </a:extLst>
          </p:cNvPr>
          <p:cNvSpPr txBox="1"/>
          <p:nvPr/>
        </p:nvSpPr>
        <p:spPr>
          <a:xfrm>
            <a:off x="8842504" y="5532361"/>
            <a:ext cx="354419" cy="369332"/>
          </a:xfrm>
          <a:prstGeom prst="rect">
            <a:avLst/>
          </a:prstGeom>
          <a:noFill/>
        </p:spPr>
        <p:txBody>
          <a:bodyPr wrap="square" rtlCol="0">
            <a:spAutoFit/>
          </a:bodyPr>
          <a:lstStyle/>
          <a:p>
            <a:r>
              <a:rPr lang="en-US" dirty="0"/>
              <a:t>C</a:t>
            </a:r>
          </a:p>
        </p:txBody>
      </p:sp>
      <p:sp>
        <p:nvSpPr>
          <p:cNvPr id="58" name="TextBox 57">
            <a:extLst>
              <a:ext uri="{FF2B5EF4-FFF2-40B4-BE49-F238E27FC236}">
                <a16:creationId xmlns:a16="http://schemas.microsoft.com/office/drawing/2014/main" id="{9392FE6D-7378-3756-105F-739702651C6E}"/>
              </a:ext>
            </a:extLst>
          </p:cNvPr>
          <p:cNvSpPr txBox="1"/>
          <p:nvPr/>
        </p:nvSpPr>
        <p:spPr>
          <a:xfrm>
            <a:off x="7586636" y="5532361"/>
            <a:ext cx="354419" cy="369332"/>
          </a:xfrm>
          <a:prstGeom prst="rect">
            <a:avLst/>
          </a:prstGeom>
          <a:noFill/>
        </p:spPr>
        <p:txBody>
          <a:bodyPr wrap="square" rtlCol="0">
            <a:spAutoFit/>
          </a:bodyPr>
          <a:lstStyle/>
          <a:p>
            <a:r>
              <a:rPr lang="en-US" dirty="0"/>
              <a:t>F</a:t>
            </a:r>
          </a:p>
        </p:txBody>
      </p:sp>
      <p:sp>
        <p:nvSpPr>
          <p:cNvPr id="60" name="TextBox 59">
            <a:extLst>
              <a:ext uri="{FF2B5EF4-FFF2-40B4-BE49-F238E27FC236}">
                <a16:creationId xmlns:a16="http://schemas.microsoft.com/office/drawing/2014/main" id="{A155F4F7-79A7-4D43-DB34-CF44AF821786}"/>
              </a:ext>
            </a:extLst>
          </p:cNvPr>
          <p:cNvSpPr txBox="1"/>
          <p:nvPr/>
        </p:nvSpPr>
        <p:spPr>
          <a:xfrm>
            <a:off x="8114633" y="3027435"/>
            <a:ext cx="354419" cy="369332"/>
          </a:xfrm>
          <a:prstGeom prst="rect">
            <a:avLst/>
          </a:prstGeom>
          <a:noFill/>
        </p:spPr>
        <p:txBody>
          <a:bodyPr wrap="square" rtlCol="0">
            <a:spAutoFit/>
          </a:bodyPr>
          <a:lstStyle/>
          <a:p>
            <a:r>
              <a:rPr lang="en-US" dirty="0"/>
              <a:t>A</a:t>
            </a:r>
          </a:p>
        </p:txBody>
      </p:sp>
      <p:sp>
        <p:nvSpPr>
          <p:cNvPr id="62" name="TextBox 61">
            <a:extLst>
              <a:ext uri="{FF2B5EF4-FFF2-40B4-BE49-F238E27FC236}">
                <a16:creationId xmlns:a16="http://schemas.microsoft.com/office/drawing/2014/main" id="{5BD02FD7-A491-A25B-612C-21ED578C1B83}"/>
              </a:ext>
            </a:extLst>
          </p:cNvPr>
          <p:cNvSpPr txBox="1"/>
          <p:nvPr/>
        </p:nvSpPr>
        <p:spPr>
          <a:xfrm>
            <a:off x="7604203" y="4877428"/>
            <a:ext cx="354419" cy="369332"/>
          </a:xfrm>
          <a:prstGeom prst="rect">
            <a:avLst/>
          </a:prstGeom>
          <a:noFill/>
        </p:spPr>
        <p:txBody>
          <a:bodyPr wrap="square" rtlCol="0">
            <a:spAutoFit/>
          </a:bodyPr>
          <a:lstStyle/>
          <a:p>
            <a:r>
              <a:rPr lang="en-US" dirty="0"/>
              <a:t>D</a:t>
            </a:r>
          </a:p>
        </p:txBody>
      </p:sp>
      <p:sp>
        <p:nvSpPr>
          <p:cNvPr id="64" name="TextBox 63">
            <a:extLst>
              <a:ext uri="{FF2B5EF4-FFF2-40B4-BE49-F238E27FC236}">
                <a16:creationId xmlns:a16="http://schemas.microsoft.com/office/drawing/2014/main" id="{2FE26BBB-1958-5E17-A105-572269FE3771}"/>
              </a:ext>
            </a:extLst>
          </p:cNvPr>
          <p:cNvSpPr txBox="1"/>
          <p:nvPr/>
        </p:nvSpPr>
        <p:spPr>
          <a:xfrm>
            <a:off x="8989072" y="3085824"/>
            <a:ext cx="354419" cy="369332"/>
          </a:xfrm>
          <a:prstGeom prst="rect">
            <a:avLst/>
          </a:prstGeom>
          <a:noFill/>
        </p:spPr>
        <p:txBody>
          <a:bodyPr wrap="square" rtlCol="0">
            <a:spAutoFit/>
          </a:bodyPr>
          <a:lstStyle/>
          <a:p>
            <a:r>
              <a:rPr lang="en-US" dirty="0"/>
              <a:t>D</a:t>
            </a:r>
          </a:p>
        </p:txBody>
      </p:sp>
      <p:sp>
        <p:nvSpPr>
          <p:cNvPr id="66" name="TextBox 65">
            <a:extLst>
              <a:ext uri="{FF2B5EF4-FFF2-40B4-BE49-F238E27FC236}">
                <a16:creationId xmlns:a16="http://schemas.microsoft.com/office/drawing/2014/main" id="{52CD001E-3CE5-B252-5A54-59BB2687E0AC}"/>
              </a:ext>
            </a:extLst>
          </p:cNvPr>
          <p:cNvSpPr txBox="1"/>
          <p:nvPr/>
        </p:nvSpPr>
        <p:spPr>
          <a:xfrm>
            <a:off x="8811863" y="3768368"/>
            <a:ext cx="354419" cy="369332"/>
          </a:xfrm>
          <a:prstGeom prst="rect">
            <a:avLst/>
          </a:prstGeom>
          <a:noFill/>
        </p:spPr>
        <p:txBody>
          <a:bodyPr wrap="square" rtlCol="0">
            <a:spAutoFit/>
          </a:bodyPr>
          <a:lstStyle/>
          <a:p>
            <a:r>
              <a:rPr lang="en-US" dirty="0"/>
              <a:t>D</a:t>
            </a:r>
          </a:p>
        </p:txBody>
      </p:sp>
      <p:sp>
        <p:nvSpPr>
          <p:cNvPr id="68" name="TextBox 67">
            <a:extLst>
              <a:ext uri="{FF2B5EF4-FFF2-40B4-BE49-F238E27FC236}">
                <a16:creationId xmlns:a16="http://schemas.microsoft.com/office/drawing/2014/main" id="{DEAFF6B7-2DDF-9409-5319-688FC620880C}"/>
              </a:ext>
            </a:extLst>
          </p:cNvPr>
          <p:cNvSpPr txBox="1"/>
          <p:nvPr/>
        </p:nvSpPr>
        <p:spPr>
          <a:xfrm>
            <a:off x="8835443" y="4313074"/>
            <a:ext cx="354419" cy="369332"/>
          </a:xfrm>
          <a:prstGeom prst="rect">
            <a:avLst/>
          </a:prstGeom>
          <a:noFill/>
        </p:spPr>
        <p:txBody>
          <a:bodyPr wrap="square" rtlCol="0">
            <a:spAutoFit/>
          </a:bodyPr>
          <a:lstStyle/>
          <a:p>
            <a:r>
              <a:rPr lang="en-US" dirty="0"/>
              <a:t>D</a:t>
            </a:r>
          </a:p>
        </p:txBody>
      </p:sp>
      <p:sp>
        <p:nvSpPr>
          <p:cNvPr id="70" name="TextBox 69">
            <a:extLst>
              <a:ext uri="{FF2B5EF4-FFF2-40B4-BE49-F238E27FC236}">
                <a16:creationId xmlns:a16="http://schemas.microsoft.com/office/drawing/2014/main" id="{3A847B1E-ACE2-574B-020D-B78B8DCDD88F}"/>
              </a:ext>
            </a:extLst>
          </p:cNvPr>
          <p:cNvSpPr txBox="1"/>
          <p:nvPr/>
        </p:nvSpPr>
        <p:spPr>
          <a:xfrm>
            <a:off x="8144613" y="4811901"/>
            <a:ext cx="354419" cy="369332"/>
          </a:xfrm>
          <a:prstGeom prst="rect">
            <a:avLst/>
          </a:prstGeom>
          <a:noFill/>
        </p:spPr>
        <p:txBody>
          <a:bodyPr wrap="square" rtlCol="0">
            <a:spAutoFit/>
          </a:bodyPr>
          <a:lstStyle/>
          <a:p>
            <a:r>
              <a:rPr lang="en-US" dirty="0"/>
              <a:t>D</a:t>
            </a:r>
          </a:p>
        </p:txBody>
      </p:sp>
      <p:sp>
        <p:nvSpPr>
          <p:cNvPr id="72" name="TextBox 71">
            <a:extLst>
              <a:ext uri="{FF2B5EF4-FFF2-40B4-BE49-F238E27FC236}">
                <a16:creationId xmlns:a16="http://schemas.microsoft.com/office/drawing/2014/main" id="{C2067CAD-9121-C709-E2CA-4FDCD19F542F}"/>
              </a:ext>
            </a:extLst>
          </p:cNvPr>
          <p:cNvSpPr txBox="1"/>
          <p:nvPr/>
        </p:nvSpPr>
        <p:spPr>
          <a:xfrm>
            <a:off x="8330604" y="5026686"/>
            <a:ext cx="354419" cy="369332"/>
          </a:xfrm>
          <a:prstGeom prst="rect">
            <a:avLst/>
          </a:prstGeom>
          <a:noFill/>
        </p:spPr>
        <p:txBody>
          <a:bodyPr wrap="square" rtlCol="0">
            <a:spAutoFit/>
          </a:bodyPr>
          <a:lstStyle/>
          <a:p>
            <a:r>
              <a:rPr lang="en-US" dirty="0"/>
              <a:t>C</a:t>
            </a:r>
          </a:p>
        </p:txBody>
      </p:sp>
      <p:sp>
        <p:nvSpPr>
          <p:cNvPr id="74" name="TextBox 73">
            <a:extLst>
              <a:ext uri="{FF2B5EF4-FFF2-40B4-BE49-F238E27FC236}">
                <a16:creationId xmlns:a16="http://schemas.microsoft.com/office/drawing/2014/main" id="{EED46FDB-8693-5B9A-56CD-2174E1F91ABD}"/>
              </a:ext>
            </a:extLst>
          </p:cNvPr>
          <p:cNvSpPr txBox="1"/>
          <p:nvPr/>
        </p:nvSpPr>
        <p:spPr>
          <a:xfrm>
            <a:off x="8060734" y="3583702"/>
            <a:ext cx="354419" cy="369332"/>
          </a:xfrm>
          <a:prstGeom prst="rect">
            <a:avLst/>
          </a:prstGeom>
          <a:noFill/>
        </p:spPr>
        <p:txBody>
          <a:bodyPr wrap="square" rtlCol="0">
            <a:spAutoFit/>
          </a:bodyPr>
          <a:lstStyle/>
          <a:p>
            <a:r>
              <a:rPr lang="en-US" dirty="0"/>
              <a:t>A</a:t>
            </a:r>
          </a:p>
        </p:txBody>
      </p:sp>
      <p:sp>
        <p:nvSpPr>
          <p:cNvPr id="76" name="TextBox 75">
            <a:extLst>
              <a:ext uri="{FF2B5EF4-FFF2-40B4-BE49-F238E27FC236}">
                <a16:creationId xmlns:a16="http://schemas.microsoft.com/office/drawing/2014/main" id="{65D2F1D3-499D-FCAE-6B9A-6032A1B36B88}"/>
              </a:ext>
            </a:extLst>
          </p:cNvPr>
          <p:cNvSpPr txBox="1"/>
          <p:nvPr/>
        </p:nvSpPr>
        <p:spPr>
          <a:xfrm>
            <a:off x="8340467" y="3583702"/>
            <a:ext cx="354419" cy="369332"/>
          </a:xfrm>
          <a:prstGeom prst="rect">
            <a:avLst/>
          </a:prstGeom>
          <a:noFill/>
        </p:spPr>
        <p:txBody>
          <a:bodyPr wrap="square" rtlCol="0">
            <a:spAutoFit/>
          </a:bodyPr>
          <a:lstStyle/>
          <a:p>
            <a:r>
              <a:rPr lang="en-US" dirty="0"/>
              <a:t>B</a:t>
            </a:r>
          </a:p>
        </p:txBody>
      </p:sp>
      <p:sp>
        <p:nvSpPr>
          <p:cNvPr id="78" name="TextBox 77">
            <a:extLst>
              <a:ext uri="{FF2B5EF4-FFF2-40B4-BE49-F238E27FC236}">
                <a16:creationId xmlns:a16="http://schemas.microsoft.com/office/drawing/2014/main" id="{D1F39D7E-553F-5E16-C8F6-E9D36C9D3E98}"/>
              </a:ext>
            </a:extLst>
          </p:cNvPr>
          <p:cNvSpPr txBox="1"/>
          <p:nvPr/>
        </p:nvSpPr>
        <p:spPr>
          <a:xfrm>
            <a:off x="8066168" y="3885489"/>
            <a:ext cx="354419" cy="369332"/>
          </a:xfrm>
          <a:prstGeom prst="rect">
            <a:avLst/>
          </a:prstGeom>
          <a:noFill/>
        </p:spPr>
        <p:txBody>
          <a:bodyPr wrap="square" rtlCol="0">
            <a:spAutoFit/>
          </a:bodyPr>
          <a:lstStyle/>
          <a:p>
            <a:r>
              <a:rPr lang="en-US" dirty="0"/>
              <a:t>C</a:t>
            </a:r>
          </a:p>
        </p:txBody>
      </p:sp>
      <p:sp>
        <p:nvSpPr>
          <p:cNvPr id="80" name="TextBox 79">
            <a:extLst>
              <a:ext uri="{FF2B5EF4-FFF2-40B4-BE49-F238E27FC236}">
                <a16:creationId xmlns:a16="http://schemas.microsoft.com/office/drawing/2014/main" id="{7FAEDB53-0332-90C5-C84B-3FF03C6C6725}"/>
              </a:ext>
            </a:extLst>
          </p:cNvPr>
          <p:cNvSpPr txBox="1"/>
          <p:nvPr/>
        </p:nvSpPr>
        <p:spPr>
          <a:xfrm>
            <a:off x="8344801" y="3857250"/>
            <a:ext cx="354419" cy="369332"/>
          </a:xfrm>
          <a:prstGeom prst="rect">
            <a:avLst/>
          </a:prstGeom>
          <a:noFill/>
        </p:spPr>
        <p:txBody>
          <a:bodyPr wrap="square" rtlCol="0">
            <a:spAutoFit/>
          </a:bodyPr>
          <a:lstStyle/>
          <a:p>
            <a:r>
              <a:rPr lang="en-US" dirty="0"/>
              <a:t>D</a:t>
            </a:r>
          </a:p>
        </p:txBody>
      </p:sp>
      <p:sp>
        <p:nvSpPr>
          <p:cNvPr id="82" name="TextBox 81">
            <a:extLst>
              <a:ext uri="{FF2B5EF4-FFF2-40B4-BE49-F238E27FC236}">
                <a16:creationId xmlns:a16="http://schemas.microsoft.com/office/drawing/2014/main" id="{D0E5F4F3-C3D6-B616-70BA-23212B00E411}"/>
              </a:ext>
            </a:extLst>
          </p:cNvPr>
          <p:cNvSpPr txBox="1"/>
          <p:nvPr/>
        </p:nvSpPr>
        <p:spPr>
          <a:xfrm>
            <a:off x="8753119" y="2979769"/>
            <a:ext cx="354419" cy="369332"/>
          </a:xfrm>
          <a:prstGeom prst="rect">
            <a:avLst/>
          </a:prstGeom>
          <a:noFill/>
        </p:spPr>
        <p:txBody>
          <a:bodyPr wrap="square" rtlCol="0">
            <a:spAutoFit/>
          </a:bodyPr>
          <a:lstStyle/>
          <a:p>
            <a:r>
              <a:rPr lang="en-US" dirty="0"/>
              <a:t>A</a:t>
            </a:r>
          </a:p>
        </p:txBody>
      </p:sp>
      <p:sp>
        <p:nvSpPr>
          <p:cNvPr id="84" name="TextBox 83">
            <a:extLst>
              <a:ext uri="{FF2B5EF4-FFF2-40B4-BE49-F238E27FC236}">
                <a16:creationId xmlns:a16="http://schemas.microsoft.com/office/drawing/2014/main" id="{93E5D9AD-22BE-AC07-A1A6-E30D8E9420EE}"/>
              </a:ext>
            </a:extLst>
          </p:cNvPr>
          <p:cNvSpPr txBox="1"/>
          <p:nvPr/>
        </p:nvSpPr>
        <p:spPr>
          <a:xfrm>
            <a:off x="7007338" y="5532361"/>
            <a:ext cx="354419" cy="369332"/>
          </a:xfrm>
          <a:prstGeom prst="rect">
            <a:avLst/>
          </a:prstGeom>
          <a:noFill/>
        </p:spPr>
        <p:txBody>
          <a:bodyPr wrap="square" rtlCol="0">
            <a:spAutoFit/>
          </a:bodyPr>
          <a:lstStyle/>
          <a:p>
            <a:r>
              <a:rPr lang="en-US" dirty="0"/>
              <a:t>E</a:t>
            </a:r>
          </a:p>
        </p:txBody>
      </p:sp>
      <p:sp>
        <p:nvSpPr>
          <p:cNvPr id="86" name="TextBox 85">
            <a:extLst>
              <a:ext uri="{FF2B5EF4-FFF2-40B4-BE49-F238E27FC236}">
                <a16:creationId xmlns:a16="http://schemas.microsoft.com/office/drawing/2014/main" id="{1C20383A-5047-FE6D-0EC8-956B2DFD34FE}"/>
              </a:ext>
            </a:extLst>
          </p:cNvPr>
          <p:cNvSpPr txBox="1"/>
          <p:nvPr/>
        </p:nvSpPr>
        <p:spPr>
          <a:xfrm>
            <a:off x="8811863" y="3271231"/>
            <a:ext cx="354419" cy="369332"/>
          </a:xfrm>
          <a:prstGeom prst="rect">
            <a:avLst/>
          </a:prstGeom>
          <a:noFill/>
        </p:spPr>
        <p:txBody>
          <a:bodyPr wrap="square" rtlCol="0">
            <a:spAutoFit/>
          </a:bodyPr>
          <a:lstStyle/>
          <a:p>
            <a:r>
              <a:rPr lang="en-US" dirty="0"/>
              <a:t>F</a:t>
            </a:r>
          </a:p>
        </p:txBody>
      </p:sp>
      <p:sp>
        <p:nvSpPr>
          <p:cNvPr id="88" name="TextBox 87">
            <a:extLst>
              <a:ext uri="{FF2B5EF4-FFF2-40B4-BE49-F238E27FC236}">
                <a16:creationId xmlns:a16="http://schemas.microsoft.com/office/drawing/2014/main" id="{878E79BE-E472-8705-165F-43B59F22079A}"/>
              </a:ext>
            </a:extLst>
          </p:cNvPr>
          <p:cNvSpPr txBox="1"/>
          <p:nvPr/>
        </p:nvSpPr>
        <p:spPr>
          <a:xfrm>
            <a:off x="6393490" y="4378883"/>
            <a:ext cx="354419" cy="369332"/>
          </a:xfrm>
          <a:prstGeom prst="rect">
            <a:avLst/>
          </a:prstGeom>
          <a:noFill/>
        </p:spPr>
        <p:txBody>
          <a:bodyPr wrap="square" rtlCol="0">
            <a:spAutoFit/>
          </a:bodyPr>
          <a:lstStyle/>
          <a:p>
            <a:r>
              <a:rPr lang="en-US" dirty="0"/>
              <a:t>E</a:t>
            </a:r>
          </a:p>
        </p:txBody>
      </p:sp>
      <p:sp>
        <p:nvSpPr>
          <p:cNvPr id="983" name="Right Brace 982">
            <a:extLst>
              <a:ext uri="{FF2B5EF4-FFF2-40B4-BE49-F238E27FC236}">
                <a16:creationId xmlns:a16="http://schemas.microsoft.com/office/drawing/2014/main" id="{DAD71691-2F7F-6E09-D895-03E1F5F4104E}"/>
              </a:ext>
            </a:extLst>
          </p:cNvPr>
          <p:cNvSpPr/>
          <p:nvPr/>
        </p:nvSpPr>
        <p:spPr>
          <a:xfrm>
            <a:off x="10190077" y="3572194"/>
            <a:ext cx="173865" cy="26636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85" name="TextBox 984">
            <a:extLst>
              <a:ext uri="{FF2B5EF4-FFF2-40B4-BE49-F238E27FC236}">
                <a16:creationId xmlns:a16="http://schemas.microsoft.com/office/drawing/2014/main" id="{C9F9EC6A-7E36-BA7F-F17E-D19100E7F776}"/>
              </a:ext>
            </a:extLst>
          </p:cNvPr>
          <p:cNvSpPr txBox="1"/>
          <p:nvPr/>
        </p:nvSpPr>
        <p:spPr>
          <a:xfrm>
            <a:off x="10365662" y="4218389"/>
            <a:ext cx="1826338" cy="1754326"/>
          </a:xfrm>
          <a:prstGeom prst="rect">
            <a:avLst/>
          </a:prstGeom>
          <a:noFill/>
        </p:spPr>
        <p:txBody>
          <a:bodyPr wrap="square" rtlCol="0">
            <a:spAutoFit/>
          </a:bodyPr>
          <a:lstStyle/>
          <a:p>
            <a:r>
              <a:rPr lang="en-US" dirty="0"/>
              <a:t>Repeat Extraction of PD, RPD, PE, and RPD to collect all the randomized null values per cell </a:t>
            </a:r>
          </a:p>
        </p:txBody>
      </p:sp>
    </p:spTree>
    <p:extLst>
      <p:ext uri="{BB962C8B-B14F-4D97-AF65-F5344CB8AC3E}">
        <p14:creationId xmlns:p14="http://schemas.microsoft.com/office/powerpoint/2010/main" val="1085087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08E1-7F4E-1DCF-16C1-B5354723D0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1D01F6C-DED9-4F18-706B-DE9CC2D89821}"/>
              </a:ext>
            </a:extLst>
          </p:cNvPr>
          <p:cNvSpPr>
            <a:spLocks noGrp="1"/>
          </p:cNvSpPr>
          <p:nvPr>
            <p:ph type="title"/>
          </p:nvPr>
        </p:nvSpPr>
        <p:spPr>
          <a:xfrm>
            <a:off x="0" y="0"/>
            <a:ext cx="10515600" cy="1325563"/>
          </a:xfrm>
        </p:spPr>
        <p:txBody>
          <a:bodyPr/>
          <a:lstStyle/>
          <a:p>
            <a:r>
              <a:rPr lang="en-US" dirty="0"/>
              <a:t>Community Randomizations</a:t>
            </a:r>
          </a:p>
        </p:txBody>
      </p:sp>
      <p:sp>
        <p:nvSpPr>
          <p:cNvPr id="5" name="TextBox 4">
            <a:extLst>
              <a:ext uri="{FF2B5EF4-FFF2-40B4-BE49-F238E27FC236}">
                <a16:creationId xmlns:a16="http://schemas.microsoft.com/office/drawing/2014/main" id="{CBF36BC5-864A-4EB0-9215-34AA530EE73F}"/>
              </a:ext>
            </a:extLst>
          </p:cNvPr>
          <p:cNvSpPr txBox="1"/>
          <p:nvPr/>
        </p:nvSpPr>
        <p:spPr>
          <a:xfrm>
            <a:off x="191386" y="1229870"/>
            <a:ext cx="9877647" cy="707886"/>
          </a:xfrm>
          <a:prstGeom prst="rect">
            <a:avLst/>
          </a:prstGeom>
          <a:noFill/>
        </p:spPr>
        <p:txBody>
          <a:bodyPr wrap="square" rtlCol="0">
            <a:spAutoFit/>
          </a:bodyPr>
          <a:lstStyle/>
          <a:p>
            <a:r>
              <a:rPr lang="en-US" sz="2000" dirty="0"/>
              <a:t>Test whether your observed value is in either the lower or upper tail of the null distribution</a:t>
            </a:r>
          </a:p>
          <a:p>
            <a:endParaRPr lang="en-US" sz="2000" dirty="0"/>
          </a:p>
        </p:txBody>
      </p:sp>
      <p:pic>
        <p:nvPicPr>
          <p:cNvPr id="4" name="Picture 3">
            <a:extLst>
              <a:ext uri="{FF2B5EF4-FFF2-40B4-BE49-F238E27FC236}">
                <a16:creationId xmlns:a16="http://schemas.microsoft.com/office/drawing/2014/main" id="{C95A3D3C-3282-E490-259F-C1C43417D4BF}"/>
              </a:ext>
            </a:extLst>
          </p:cNvPr>
          <p:cNvPicPr>
            <a:picLocks noChangeAspect="1"/>
          </p:cNvPicPr>
          <p:nvPr/>
        </p:nvPicPr>
        <p:blipFill>
          <a:blip r:embed="rId2">
            <a:alphaModFix amt="48000"/>
          </a:blip>
          <a:srcRect l="58218" t="25214" r="22985" b="1"/>
          <a:stretch>
            <a:fillRect/>
          </a:stretch>
        </p:blipFill>
        <p:spPr>
          <a:xfrm>
            <a:off x="3581802" y="1847879"/>
            <a:ext cx="3595799" cy="5010121"/>
          </a:xfrm>
          <a:prstGeom prst="rect">
            <a:avLst/>
          </a:prstGeom>
        </p:spPr>
      </p:pic>
      <p:pic>
        <p:nvPicPr>
          <p:cNvPr id="7" name="Picture 6">
            <a:extLst>
              <a:ext uri="{FF2B5EF4-FFF2-40B4-BE49-F238E27FC236}">
                <a16:creationId xmlns:a16="http://schemas.microsoft.com/office/drawing/2014/main" id="{C759FC88-31A1-1A12-D5B7-F293FC00665A}"/>
              </a:ext>
            </a:extLst>
          </p:cNvPr>
          <p:cNvPicPr>
            <a:picLocks noChangeAspect="1"/>
          </p:cNvPicPr>
          <p:nvPr/>
        </p:nvPicPr>
        <p:blipFill>
          <a:blip r:embed="rId2"/>
          <a:srcRect l="70613" t="46955" r="23295"/>
          <a:stretch>
            <a:fillRect/>
          </a:stretch>
        </p:blipFill>
        <p:spPr>
          <a:xfrm>
            <a:off x="5930020" y="3304344"/>
            <a:ext cx="1165404" cy="3553656"/>
          </a:xfrm>
          <a:prstGeom prst="rect">
            <a:avLst/>
          </a:prstGeom>
        </p:spPr>
      </p:pic>
      <p:pic>
        <p:nvPicPr>
          <p:cNvPr id="14" name="Picture 13">
            <a:extLst>
              <a:ext uri="{FF2B5EF4-FFF2-40B4-BE49-F238E27FC236}">
                <a16:creationId xmlns:a16="http://schemas.microsoft.com/office/drawing/2014/main" id="{8C3B1C75-AA4F-C6F7-DF8B-4134FC28BCE2}"/>
              </a:ext>
            </a:extLst>
          </p:cNvPr>
          <p:cNvPicPr>
            <a:picLocks noChangeAspect="1"/>
          </p:cNvPicPr>
          <p:nvPr/>
        </p:nvPicPr>
        <p:blipFill>
          <a:blip r:embed="rId2">
            <a:alphaModFix amt="48000"/>
          </a:blip>
          <a:srcRect l="58218" t="25779" r="22985"/>
          <a:stretch>
            <a:fillRect/>
          </a:stretch>
        </p:blipFill>
        <p:spPr>
          <a:xfrm>
            <a:off x="191386" y="1747340"/>
            <a:ext cx="3695867" cy="5110660"/>
          </a:xfrm>
          <a:prstGeom prst="rect">
            <a:avLst/>
          </a:prstGeom>
        </p:spPr>
      </p:pic>
      <p:pic>
        <p:nvPicPr>
          <p:cNvPr id="16" name="Picture 15">
            <a:extLst>
              <a:ext uri="{FF2B5EF4-FFF2-40B4-BE49-F238E27FC236}">
                <a16:creationId xmlns:a16="http://schemas.microsoft.com/office/drawing/2014/main" id="{50F15B15-66D4-0BF6-FA44-25A53C27E2CC}"/>
              </a:ext>
            </a:extLst>
          </p:cNvPr>
          <p:cNvPicPr>
            <a:picLocks noChangeAspect="1"/>
          </p:cNvPicPr>
          <p:nvPr/>
        </p:nvPicPr>
        <p:blipFill>
          <a:blip r:embed="rId2"/>
          <a:srcRect l="58218" t="46955" r="35690"/>
          <a:stretch>
            <a:fillRect/>
          </a:stretch>
        </p:blipFill>
        <p:spPr>
          <a:xfrm>
            <a:off x="192766" y="3205448"/>
            <a:ext cx="1197836" cy="3652551"/>
          </a:xfrm>
          <a:prstGeom prst="rect">
            <a:avLst/>
          </a:prstGeom>
          <a:noFill/>
        </p:spPr>
      </p:pic>
      <p:sp>
        <p:nvSpPr>
          <p:cNvPr id="22" name="TextBox 21">
            <a:extLst>
              <a:ext uri="{FF2B5EF4-FFF2-40B4-BE49-F238E27FC236}">
                <a16:creationId xmlns:a16="http://schemas.microsoft.com/office/drawing/2014/main" id="{6770DE89-B29A-031E-C38A-5E4E40C69CA9}"/>
              </a:ext>
            </a:extLst>
          </p:cNvPr>
          <p:cNvSpPr txBox="1"/>
          <p:nvPr/>
        </p:nvSpPr>
        <p:spPr>
          <a:xfrm>
            <a:off x="7043111" y="6194097"/>
            <a:ext cx="2448560" cy="338554"/>
          </a:xfrm>
          <a:prstGeom prst="rect">
            <a:avLst/>
          </a:prstGeom>
          <a:noFill/>
        </p:spPr>
        <p:txBody>
          <a:bodyPr wrap="square" rtlCol="0">
            <a:spAutoFit/>
          </a:bodyPr>
          <a:lstStyle/>
          <a:p>
            <a:r>
              <a:rPr lang="en-US" sz="1600" dirty="0"/>
              <a:t>Thornhill et al. 2017</a:t>
            </a:r>
          </a:p>
        </p:txBody>
      </p:sp>
      <p:pic>
        <p:nvPicPr>
          <p:cNvPr id="24" name="Picture 23">
            <a:extLst>
              <a:ext uri="{FF2B5EF4-FFF2-40B4-BE49-F238E27FC236}">
                <a16:creationId xmlns:a16="http://schemas.microsoft.com/office/drawing/2014/main" id="{9537A436-3322-FCC1-F686-C928D1CEA07F}"/>
              </a:ext>
            </a:extLst>
          </p:cNvPr>
          <p:cNvPicPr>
            <a:picLocks noChangeAspect="1"/>
          </p:cNvPicPr>
          <p:nvPr/>
        </p:nvPicPr>
        <p:blipFill>
          <a:blip r:embed="rId3"/>
          <a:stretch>
            <a:fillRect/>
          </a:stretch>
        </p:blipFill>
        <p:spPr>
          <a:xfrm>
            <a:off x="7043111" y="2345865"/>
            <a:ext cx="5105575" cy="3848232"/>
          </a:xfrm>
          <a:prstGeom prst="rect">
            <a:avLst/>
          </a:prstGeom>
        </p:spPr>
      </p:pic>
    </p:spTree>
    <p:extLst>
      <p:ext uri="{BB962C8B-B14F-4D97-AF65-F5344CB8AC3E}">
        <p14:creationId xmlns:p14="http://schemas.microsoft.com/office/powerpoint/2010/main" val="68637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C9AAF-C9AC-0B4F-B461-24BF5137A363}"/>
              </a:ext>
            </a:extLst>
          </p:cNvPr>
          <p:cNvSpPr>
            <a:spLocks noGrp="1"/>
          </p:cNvSpPr>
          <p:nvPr>
            <p:ph type="title"/>
          </p:nvPr>
        </p:nvSpPr>
        <p:spPr/>
        <p:txBody>
          <a:bodyPr/>
          <a:lstStyle/>
          <a:p>
            <a:r>
              <a:rPr lang="en-US" dirty="0"/>
              <a:t>Categorization of Neo- and Paleo Endemism (CANAPE)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5DE5552-AC38-90AD-9BAD-0257FFC8CB56}"/>
                  </a:ext>
                </a:extLst>
              </p:cNvPr>
              <p:cNvSpPr txBox="1"/>
              <p:nvPr/>
            </p:nvSpPr>
            <p:spPr>
              <a:xfrm>
                <a:off x="113102" y="2951901"/>
                <a:ext cx="5086936" cy="1098762"/>
              </a:xfrm>
              <a:prstGeom prst="rect">
                <a:avLst/>
              </a:prstGeom>
              <a:noFill/>
            </p:spPr>
            <p:txBody>
              <a:bodyPr wrap="square" lIns="0" tIns="0" rIns="0" bIns="0" rtlCol="0">
                <a:spAutoFit/>
              </a:bodyPr>
              <a:lstStyle/>
              <a:p>
                <a:r>
                  <a:rPr lang="en-US" sz="2800" dirty="0"/>
                  <a:t>Relative PE = </a:t>
                </a: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𝑂𝑏𝑠𝑒𝑟𝑣𝑒𝑑</m:t>
                        </m:r>
                        <m:r>
                          <a:rPr lang="en-US" sz="2800" b="0" i="1" smtClean="0">
                            <a:latin typeface="Cambria Math" panose="02040503050406030204" pitchFamily="18" charset="0"/>
                          </a:rPr>
                          <m:t> </m:t>
                        </m:r>
                        <m:r>
                          <a:rPr lang="en-US" sz="2800" b="0" i="1" smtClean="0">
                            <a:latin typeface="Cambria Math" panose="02040503050406030204" pitchFamily="18" charset="0"/>
                          </a:rPr>
                          <m:t>𝑇𝑟𝑒𝑒</m:t>
                        </m:r>
                      </m:num>
                      <m:den>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𝐶𝑜𝑚𝑝𝑎𝑟𝑖𝑠𝑜𝑛</m:t>
                        </m:r>
                        <m:r>
                          <a:rPr lang="en-US" sz="2800" b="0" i="1" smtClean="0">
                            <a:latin typeface="Cambria Math" panose="02040503050406030204" pitchFamily="18" charset="0"/>
                          </a:rPr>
                          <m:t> </m:t>
                        </m:r>
                        <m:r>
                          <a:rPr lang="en-US" sz="2800" b="0" i="1" smtClean="0">
                            <a:latin typeface="Cambria Math" panose="02040503050406030204" pitchFamily="18" charset="0"/>
                          </a:rPr>
                          <m:t>𝑇𝑟𝑒𝑒</m:t>
                        </m:r>
                      </m:den>
                    </m:f>
                  </m:oMath>
                </a14:m>
                <a:endParaRPr lang="en-US" sz="2800" dirty="0"/>
              </a:p>
              <a:p>
                <a:endParaRPr lang="en-US" sz="2800" dirty="0"/>
              </a:p>
            </p:txBody>
          </p:sp>
        </mc:Choice>
        <mc:Fallback>
          <p:sp>
            <p:nvSpPr>
              <p:cNvPr id="7" name="TextBox 6">
                <a:extLst>
                  <a:ext uri="{FF2B5EF4-FFF2-40B4-BE49-F238E27FC236}">
                    <a16:creationId xmlns:a16="http://schemas.microsoft.com/office/drawing/2014/main" id="{05DE5552-AC38-90AD-9BAD-0257FFC8CB56}"/>
                  </a:ext>
                </a:extLst>
              </p:cNvPr>
              <p:cNvSpPr txBox="1">
                <a:spLocks noRot="1" noChangeAspect="1" noMove="1" noResize="1" noEditPoints="1" noAdjustHandles="1" noChangeArrowheads="1" noChangeShapeType="1" noTextEdit="1"/>
              </p:cNvSpPr>
              <p:nvPr/>
            </p:nvSpPr>
            <p:spPr>
              <a:xfrm>
                <a:off x="113102" y="2951901"/>
                <a:ext cx="5086936" cy="1098762"/>
              </a:xfrm>
              <a:prstGeom prst="rect">
                <a:avLst/>
              </a:prstGeom>
              <a:blipFill>
                <a:blip r:embed="rId2"/>
                <a:stretch>
                  <a:fillRect l="-4317" t="-556"/>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D2740608-F1B4-C4B7-F565-4E92698D9F83}"/>
              </a:ext>
            </a:extLst>
          </p:cNvPr>
          <p:cNvSpPr txBox="1"/>
          <p:nvPr/>
        </p:nvSpPr>
        <p:spPr>
          <a:xfrm>
            <a:off x="5150484" y="4754924"/>
            <a:ext cx="2448560" cy="338554"/>
          </a:xfrm>
          <a:prstGeom prst="rect">
            <a:avLst/>
          </a:prstGeom>
          <a:noFill/>
        </p:spPr>
        <p:txBody>
          <a:bodyPr wrap="square" rtlCol="0">
            <a:spAutoFit/>
          </a:bodyPr>
          <a:lstStyle/>
          <a:p>
            <a:r>
              <a:rPr lang="en-US" sz="1600" dirty="0"/>
              <a:t>Thornhill et al. 2017</a:t>
            </a:r>
          </a:p>
        </p:txBody>
      </p:sp>
      <p:pic>
        <p:nvPicPr>
          <p:cNvPr id="15" name="Picture 14">
            <a:extLst>
              <a:ext uri="{FF2B5EF4-FFF2-40B4-BE49-F238E27FC236}">
                <a16:creationId xmlns:a16="http://schemas.microsoft.com/office/drawing/2014/main" id="{FC442269-D8AF-F5C5-DE57-4A04CE9DBC97}"/>
              </a:ext>
            </a:extLst>
          </p:cNvPr>
          <p:cNvPicPr>
            <a:picLocks noChangeAspect="1"/>
          </p:cNvPicPr>
          <p:nvPr/>
        </p:nvPicPr>
        <p:blipFill>
          <a:blip r:embed="rId3"/>
          <a:stretch>
            <a:fillRect/>
          </a:stretch>
        </p:blipFill>
        <p:spPr>
          <a:xfrm>
            <a:off x="5200038" y="1027906"/>
            <a:ext cx="6323616" cy="3711801"/>
          </a:xfrm>
          <a:prstGeom prst="rect">
            <a:avLst/>
          </a:prstGeom>
        </p:spPr>
      </p:pic>
      <p:pic>
        <p:nvPicPr>
          <p:cNvPr id="16" name="Picture 15">
            <a:extLst>
              <a:ext uri="{FF2B5EF4-FFF2-40B4-BE49-F238E27FC236}">
                <a16:creationId xmlns:a16="http://schemas.microsoft.com/office/drawing/2014/main" id="{11619880-B748-ECE3-094A-41258D336920}"/>
              </a:ext>
            </a:extLst>
          </p:cNvPr>
          <p:cNvPicPr>
            <a:picLocks noChangeAspect="1"/>
          </p:cNvPicPr>
          <p:nvPr/>
        </p:nvPicPr>
        <p:blipFill>
          <a:blip r:embed="rId4">
            <a:alphaModFix amt="48000"/>
          </a:blip>
          <a:srcRect l="58218" t="25779" r="22985"/>
          <a:stretch>
            <a:fillRect/>
          </a:stretch>
        </p:blipFill>
        <p:spPr>
          <a:xfrm>
            <a:off x="9144247" y="4982272"/>
            <a:ext cx="1356467" cy="1875728"/>
          </a:xfrm>
          <a:prstGeom prst="rect">
            <a:avLst/>
          </a:prstGeom>
        </p:spPr>
      </p:pic>
      <p:pic>
        <p:nvPicPr>
          <p:cNvPr id="17" name="Picture 16">
            <a:extLst>
              <a:ext uri="{FF2B5EF4-FFF2-40B4-BE49-F238E27FC236}">
                <a16:creationId xmlns:a16="http://schemas.microsoft.com/office/drawing/2014/main" id="{81690602-752A-6972-F787-8F974354FD56}"/>
              </a:ext>
            </a:extLst>
          </p:cNvPr>
          <p:cNvPicPr>
            <a:picLocks noChangeAspect="1"/>
          </p:cNvPicPr>
          <p:nvPr/>
        </p:nvPicPr>
        <p:blipFill>
          <a:blip r:embed="rId4"/>
          <a:srcRect l="58218" t="46955" r="35690"/>
          <a:stretch>
            <a:fillRect/>
          </a:stretch>
        </p:blipFill>
        <p:spPr>
          <a:xfrm>
            <a:off x="9145626" y="5517431"/>
            <a:ext cx="439633" cy="1340569"/>
          </a:xfrm>
          <a:prstGeom prst="rect">
            <a:avLst/>
          </a:prstGeom>
          <a:noFill/>
        </p:spPr>
      </p:pic>
      <p:sp>
        <p:nvSpPr>
          <p:cNvPr id="18" name="TextBox 17">
            <a:extLst>
              <a:ext uri="{FF2B5EF4-FFF2-40B4-BE49-F238E27FC236}">
                <a16:creationId xmlns:a16="http://schemas.microsoft.com/office/drawing/2014/main" id="{2A9A1D7C-5453-EDC3-18B1-EFF6A5BA5DAC}"/>
              </a:ext>
            </a:extLst>
          </p:cNvPr>
          <p:cNvSpPr txBox="1"/>
          <p:nvPr/>
        </p:nvSpPr>
        <p:spPr>
          <a:xfrm>
            <a:off x="5557503" y="5726050"/>
            <a:ext cx="1356467" cy="923330"/>
          </a:xfrm>
          <a:prstGeom prst="rect">
            <a:avLst/>
          </a:prstGeom>
          <a:noFill/>
        </p:spPr>
        <p:txBody>
          <a:bodyPr wrap="square" rtlCol="0">
            <a:spAutoFit/>
          </a:bodyPr>
          <a:lstStyle/>
          <a:p>
            <a:r>
              <a:rPr lang="en-US" dirty="0"/>
              <a:t>1. Is a cell significant for RPE?</a:t>
            </a:r>
          </a:p>
        </p:txBody>
      </p:sp>
      <p:cxnSp>
        <p:nvCxnSpPr>
          <p:cNvPr id="19" name="Straight Arrow Connector 18">
            <a:extLst>
              <a:ext uri="{FF2B5EF4-FFF2-40B4-BE49-F238E27FC236}">
                <a16:creationId xmlns:a16="http://schemas.microsoft.com/office/drawing/2014/main" id="{8F168AE6-FF2A-37DD-1F45-E30FE82C322B}"/>
              </a:ext>
            </a:extLst>
          </p:cNvPr>
          <p:cNvCxnSpPr>
            <a:cxnSpLocks/>
            <a:stCxn id="18" idx="3"/>
          </p:cNvCxnSpPr>
          <p:nvPr/>
        </p:nvCxnSpPr>
        <p:spPr>
          <a:xfrm>
            <a:off x="6913970" y="6187715"/>
            <a:ext cx="4814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4E0B96E-CB6D-B025-D628-C8751CA74E7C}"/>
              </a:ext>
            </a:extLst>
          </p:cNvPr>
          <p:cNvSpPr txBox="1"/>
          <p:nvPr/>
        </p:nvSpPr>
        <p:spPr>
          <a:xfrm>
            <a:off x="7599044" y="5721253"/>
            <a:ext cx="1356467" cy="1200329"/>
          </a:xfrm>
          <a:prstGeom prst="rect">
            <a:avLst/>
          </a:prstGeom>
          <a:noFill/>
        </p:spPr>
        <p:txBody>
          <a:bodyPr wrap="square" rtlCol="0">
            <a:spAutoFit/>
          </a:bodyPr>
          <a:lstStyle/>
          <a:p>
            <a:r>
              <a:rPr lang="en-US" dirty="0"/>
              <a:t>2. Two-tailed Test on RPE ratio</a:t>
            </a:r>
          </a:p>
        </p:txBody>
      </p:sp>
      <p:cxnSp>
        <p:nvCxnSpPr>
          <p:cNvPr id="21" name="Straight Arrow Connector 20">
            <a:extLst>
              <a:ext uri="{FF2B5EF4-FFF2-40B4-BE49-F238E27FC236}">
                <a16:creationId xmlns:a16="http://schemas.microsoft.com/office/drawing/2014/main" id="{15580EA7-438C-877B-98E9-2A8766D9CD60}"/>
              </a:ext>
            </a:extLst>
          </p:cNvPr>
          <p:cNvCxnSpPr>
            <a:cxnSpLocks/>
            <a:stCxn id="16" idx="0"/>
          </p:cNvCxnSpPr>
          <p:nvPr/>
        </p:nvCxnSpPr>
        <p:spPr>
          <a:xfrm flipH="1" flipV="1">
            <a:off x="9249878" y="3060834"/>
            <a:ext cx="572603" cy="19214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3239C0A-4808-F597-F3C8-DD815BE513F7}"/>
              </a:ext>
            </a:extLst>
          </p:cNvPr>
          <p:cNvSpPr txBox="1"/>
          <p:nvPr/>
        </p:nvSpPr>
        <p:spPr>
          <a:xfrm>
            <a:off x="5660315" y="5353044"/>
            <a:ext cx="3470251" cy="338554"/>
          </a:xfrm>
          <a:prstGeom prst="rect">
            <a:avLst/>
          </a:prstGeom>
          <a:noFill/>
        </p:spPr>
        <p:txBody>
          <a:bodyPr wrap="square" rtlCol="0">
            <a:spAutoFit/>
          </a:bodyPr>
          <a:lstStyle/>
          <a:p>
            <a:r>
              <a:rPr lang="en-US" sz="1600" dirty="0"/>
              <a:t>CANAPE (Mishler et al. 2014)</a:t>
            </a:r>
          </a:p>
        </p:txBody>
      </p:sp>
    </p:spTree>
    <p:extLst>
      <p:ext uri="{BB962C8B-B14F-4D97-AF65-F5344CB8AC3E}">
        <p14:creationId xmlns:p14="http://schemas.microsoft.com/office/powerpoint/2010/main" val="2183003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5279B-569E-67FA-890A-627BEA6DC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6C9EB-0B1C-2DF3-25A6-FE06EA54624E}"/>
              </a:ext>
            </a:extLst>
          </p:cNvPr>
          <p:cNvSpPr>
            <a:spLocks noGrp="1"/>
          </p:cNvSpPr>
          <p:nvPr>
            <p:ph type="title"/>
          </p:nvPr>
        </p:nvSpPr>
        <p:spPr/>
        <p:txBody>
          <a:bodyPr/>
          <a:lstStyle/>
          <a:p>
            <a:r>
              <a:rPr lang="en-US" dirty="0"/>
              <a:t>Categorization of Neo- and Paleo Endemism (CANAPE)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E18D98B-8098-5432-AFF1-CA7F0214EF02}"/>
                  </a:ext>
                </a:extLst>
              </p:cNvPr>
              <p:cNvSpPr txBox="1"/>
              <p:nvPr/>
            </p:nvSpPr>
            <p:spPr>
              <a:xfrm>
                <a:off x="113102" y="2951901"/>
                <a:ext cx="5086936" cy="1098762"/>
              </a:xfrm>
              <a:prstGeom prst="rect">
                <a:avLst/>
              </a:prstGeom>
              <a:noFill/>
            </p:spPr>
            <p:txBody>
              <a:bodyPr wrap="square" lIns="0" tIns="0" rIns="0" bIns="0" rtlCol="0">
                <a:spAutoFit/>
              </a:bodyPr>
              <a:lstStyle/>
              <a:p>
                <a:r>
                  <a:rPr lang="en-US" sz="2800" dirty="0"/>
                  <a:t>Relative PE = </a:t>
                </a: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𝑂𝑏𝑠𝑒𝑟𝑣𝑒𝑑</m:t>
                        </m:r>
                        <m:r>
                          <a:rPr lang="en-US" sz="2800" b="0" i="1" smtClean="0">
                            <a:latin typeface="Cambria Math" panose="02040503050406030204" pitchFamily="18" charset="0"/>
                          </a:rPr>
                          <m:t> </m:t>
                        </m:r>
                        <m:r>
                          <a:rPr lang="en-US" sz="2800" b="0" i="1" smtClean="0">
                            <a:latin typeface="Cambria Math" panose="02040503050406030204" pitchFamily="18" charset="0"/>
                          </a:rPr>
                          <m:t>𝑇𝑟𝑒𝑒</m:t>
                        </m:r>
                      </m:num>
                      <m:den>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𝐶𝑜𝑚𝑝𝑎𝑟𝑖𝑠𝑜𝑛</m:t>
                        </m:r>
                        <m:r>
                          <a:rPr lang="en-US" sz="2800" b="0" i="1" smtClean="0">
                            <a:latin typeface="Cambria Math" panose="02040503050406030204" pitchFamily="18" charset="0"/>
                          </a:rPr>
                          <m:t> </m:t>
                        </m:r>
                        <m:r>
                          <a:rPr lang="en-US" sz="2800" b="0" i="1" smtClean="0">
                            <a:latin typeface="Cambria Math" panose="02040503050406030204" pitchFamily="18" charset="0"/>
                          </a:rPr>
                          <m:t>𝑇𝑟𝑒𝑒</m:t>
                        </m:r>
                      </m:den>
                    </m:f>
                  </m:oMath>
                </a14:m>
                <a:endParaRPr lang="en-US" sz="2800" dirty="0"/>
              </a:p>
              <a:p>
                <a:endParaRPr lang="en-US" sz="2800" dirty="0"/>
              </a:p>
            </p:txBody>
          </p:sp>
        </mc:Choice>
        <mc:Fallback>
          <p:sp>
            <p:nvSpPr>
              <p:cNvPr id="7" name="TextBox 6">
                <a:extLst>
                  <a:ext uri="{FF2B5EF4-FFF2-40B4-BE49-F238E27FC236}">
                    <a16:creationId xmlns:a16="http://schemas.microsoft.com/office/drawing/2014/main" id="{3E18D98B-8098-5432-AFF1-CA7F0214EF02}"/>
                  </a:ext>
                </a:extLst>
              </p:cNvPr>
              <p:cNvSpPr txBox="1">
                <a:spLocks noRot="1" noChangeAspect="1" noMove="1" noResize="1" noEditPoints="1" noAdjustHandles="1" noChangeArrowheads="1" noChangeShapeType="1" noTextEdit="1"/>
              </p:cNvSpPr>
              <p:nvPr/>
            </p:nvSpPr>
            <p:spPr>
              <a:xfrm>
                <a:off x="113102" y="2951901"/>
                <a:ext cx="5086936" cy="1098762"/>
              </a:xfrm>
              <a:prstGeom prst="rect">
                <a:avLst/>
              </a:prstGeom>
              <a:blipFill>
                <a:blip r:embed="rId2"/>
                <a:stretch>
                  <a:fillRect l="-4317" t="-556"/>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991BA00-D491-CCD9-1ABC-EDBDEAD979A4}"/>
              </a:ext>
            </a:extLst>
          </p:cNvPr>
          <p:cNvSpPr txBox="1"/>
          <p:nvPr/>
        </p:nvSpPr>
        <p:spPr>
          <a:xfrm>
            <a:off x="5557503" y="5726050"/>
            <a:ext cx="1356467" cy="923330"/>
          </a:xfrm>
          <a:prstGeom prst="rect">
            <a:avLst/>
          </a:prstGeom>
          <a:noFill/>
        </p:spPr>
        <p:txBody>
          <a:bodyPr wrap="square" rtlCol="0">
            <a:spAutoFit/>
          </a:bodyPr>
          <a:lstStyle/>
          <a:p>
            <a:r>
              <a:rPr lang="en-US" dirty="0"/>
              <a:t>1. Is a cell significant for RPE?</a:t>
            </a:r>
          </a:p>
        </p:txBody>
      </p:sp>
      <p:cxnSp>
        <p:nvCxnSpPr>
          <p:cNvPr id="19" name="Straight Arrow Connector 18">
            <a:extLst>
              <a:ext uri="{FF2B5EF4-FFF2-40B4-BE49-F238E27FC236}">
                <a16:creationId xmlns:a16="http://schemas.microsoft.com/office/drawing/2014/main" id="{2527E4E6-E3B4-B79B-A403-8D5F92D7DB61}"/>
              </a:ext>
            </a:extLst>
          </p:cNvPr>
          <p:cNvCxnSpPr>
            <a:cxnSpLocks/>
            <a:stCxn id="18" idx="3"/>
          </p:cNvCxnSpPr>
          <p:nvPr/>
        </p:nvCxnSpPr>
        <p:spPr>
          <a:xfrm>
            <a:off x="6913970" y="6187715"/>
            <a:ext cx="4814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5CE6477-7A45-E7AA-F1E0-CAE2E47149B0}"/>
              </a:ext>
            </a:extLst>
          </p:cNvPr>
          <p:cNvSpPr txBox="1"/>
          <p:nvPr/>
        </p:nvSpPr>
        <p:spPr>
          <a:xfrm>
            <a:off x="7599044" y="5721253"/>
            <a:ext cx="1356467" cy="1200329"/>
          </a:xfrm>
          <a:prstGeom prst="rect">
            <a:avLst/>
          </a:prstGeom>
          <a:noFill/>
        </p:spPr>
        <p:txBody>
          <a:bodyPr wrap="square" rtlCol="0">
            <a:spAutoFit/>
          </a:bodyPr>
          <a:lstStyle/>
          <a:p>
            <a:r>
              <a:rPr lang="en-US" dirty="0"/>
              <a:t>2. Two-tailed Test on RPE ratio</a:t>
            </a:r>
          </a:p>
        </p:txBody>
      </p:sp>
      <p:sp>
        <p:nvSpPr>
          <p:cNvPr id="22" name="TextBox 21">
            <a:extLst>
              <a:ext uri="{FF2B5EF4-FFF2-40B4-BE49-F238E27FC236}">
                <a16:creationId xmlns:a16="http://schemas.microsoft.com/office/drawing/2014/main" id="{7B2A960C-BB71-38BA-1EF6-F161B58AF07D}"/>
              </a:ext>
            </a:extLst>
          </p:cNvPr>
          <p:cNvSpPr txBox="1"/>
          <p:nvPr/>
        </p:nvSpPr>
        <p:spPr>
          <a:xfrm>
            <a:off x="5660315" y="5353044"/>
            <a:ext cx="3470251" cy="338554"/>
          </a:xfrm>
          <a:prstGeom prst="rect">
            <a:avLst/>
          </a:prstGeom>
          <a:noFill/>
        </p:spPr>
        <p:txBody>
          <a:bodyPr wrap="square" rtlCol="0">
            <a:spAutoFit/>
          </a:bodyPr>
          <a:lstStyle/>
          <a:p>
            <a:r>
              <a:rPr lang="en-US" sz="1600" dirty="0"/>
              <a:t>CANAPE (Mishler et al. 2014)</a:t>
            </a:r>
          </a:p>
        </p:txBody>
      </p:sp>
      <p:sp>
        <p:nvSpPr>
          <p:cNvPr id="9" name="TextBox 8">
            <a:extLst>
              <a:ext uri="{FF2B5EF4-FFF2-40B4-BE49-F238E27FC236}">
                <a16:creationId xmlns:a16="http://schemas.microsoft.com/office/drawing/2014/main" id="{E290C8FB-B6CE-3C8C-F6AE-B7458450B4E4}"/>
              </a:ext>
            </a:extLst>
          </p:cNvPr>
          <p:cNvSpPr txBox="1"/>
          <p:nvPr/>
        </p:nvSpPr>
        <p:spPr>
          <a:xfrm>
            <a:off x="5200038" y="4706243"/>
            <a:ext cx="2448560" cy="338554"/>
          </a:xfrm>
          <a:prstGeom prst="rect">
            <a:avLst/>
          </a:prstGeom>
          <a:noFill/>
        </p:spPr>
        <p:txBody>
          <a:bodyPr wrap="square" rtlCol="0">
            <a:spAutoFit/>
          </a:bodyPr>
          <a:lstStyle/>
          <a:p>
            <a:r>
              <a:rPr lang="en-US" sz="1600" dirty="0"/>
              <a:t>Thornhill et al. 2017</a:t>
            </a:r>
          </a:p>
        </p:txBody>
      </p:sp>
      <p:pic>
        <p:nvPicPr>
          <p:cNvPr id="10" name="Picture 9">
            <a:extLst>
              <a:ext uri="{FF2B5EF4-FFF2-40B4-BE49-F238E27FC236}">
                <a16:creationId xmlns:a16="http://schemas.microsoft.com/office/drawing/2014/main" id="{444B32FC-7B96-09B5-00F7-1781ABFE6D2C}"/>
              </a:ext>
            </a:extLst>
          </p:cNvPr>
          <p:cNvPicPr>
            <a:picLocks noChangeAspect="1"/>
          </p:cNvPicPr>
          <p:nvPr/>
        </p:nvPicPr>
        <p:blipFill>
          <a:blip r:embed="rId3"/>
          <a:stretch>
            <a:fillRect/>
          </a:stretch>
        </p:blipFill>
        <p:spPr>
          <a:xfrm>
            <a:off x="5249592" y="979225"/>
            <a:ext cx="6323616" cy="3711801"/>
          </a:xfrm>
          <a:prstGeom prst="rect">
            <a:avLst/>
          </a:prstGeom>
        </p:spPr>
      </p:pic>
      <p:cxnSp>
        <p:nvCxnSpPr>
          <p:cNvPr id="11" name="Straight Arrow Connector 10">
            <a:extLst>
              <a:ext uri="{FF2B5EF4-FFF2-40B4-BE49-F238E27FC236}">
                <a16:creationId xmlns:a16="http://schemas.microsoft.com/office/drawing/2014/main" id="{B20D9DF8-3800-5718-221E-4452FDC54967}"/>
              </a:ext>
            </a:extLst>
          </p:cNvPr>
          <p:cNvCxnSpPr>
            <a:cxnSpLocks/>
            <a:stCxn id="12" idx="0"/>
          </p:cNvCxnSpPr>
          <p:nvPr/>
        </p:nvCxnSpPr>
        <p:spPr>
          <a:xfrm flipH="1" flipV="1">
            <a:off x="9185316" y="3553669"/>
            <a:ext cx="837558" cy="142860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DE9C8D93-89F3-B813-850C-531719990026}"/>
              </a:ext>
            </a:extLst>
          </p:cNvPr>
          <p:cNvPicPr>
            <a:picLocks noChangeAspect="1"/>
          </p:cNvPicPr>
          <p:nvPr/>
        </p:nvPicPr>
        <p:blipFill>
          <a:blip r:embed="rId4">
            <a:alphaModFix amt="48000"/>
          </a:blip>
          <a:srcRect l="58218" t="25779" r="22985"/>
          <a:stretch>
            <a:fillRect/>
          </a:stretch>
        </p:blipFill>
        <p:spPr>
          <a:xfrm>
            <a:off x="9344640" y="4982272"/>
            <a:ext cx="1356467" cy="1875728"/>
          </a:xfrm>
          <a:prstGeom prst="rect">
            <a:avLst/>
          </a:prstGeom>
        </p:spPr>
      </p:pic>
      <p:pic>
        <p:nvPicPr>
          <p:cNvPr id="13" name="Picture 12">
            <a:extLst>
              <a:ext uri="{FF2B5EF4-FFF2-40B4-BE49-F238E27FC236}">
                <a16:creationId xmlns:a16="http://schemas.microsoft.com/office/drawing/2014/main" id="{47DA5533-E1CD-F6A3-F79E-8BE950DDC7E8}"/>
              </a:ext>
            </a:extLst>
          </p:cNvPr>
          <p:cNvPicPr>
            <a:picLocks noChangeAspect="1"/>
          </p:cNvPicPr>
          <p:nvPr/>
        </p:nvPicPr>
        <p:blipFill>
          <a:blip r:embed="rId4"/>
          <a:srcRect l="70613" t="46955" r="23295"/>
          <a:stretch>
            <a:fillRect/>
          </a:stretch>
        </p:blipFill>
        <p:spPr>
          <a:xfrm>
            <a:off x="10240512" y="5517431"/>
            <a:ext cx="439633" cy="1340569"/>
          </a:xfrm>
          <a:prstGeom prst="rect">
            <a:avLst/>
          </a:prstGeom>
        </p:spPr>
      </p:pic>
    </p:spTree>
    <p:extLst>
      <p:ext uri="{BB962C8B-B14F-4D97-AF65-F5344CB8AC3E}">
        <p14:creationId xmlns:p14="http://schemas.microsoft.com/office/powerpoint/2010/main" val="317288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70EF-00F0-3F24-78D3-D0CDAF1ED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1885D-FF9E-FADF-E06C-9C8F2C2CC630}"/>
              </a:ext>
            </a:extLst>
          </p:cNvPr>
          <p:cNvSpPr>
            <a:spLocks noGrp="1"/>
          </p:cNvSpPr>
          <p:nvPr>
            <p:ph type="title"/>
          </p:nvPr>
        </p:nvSpPr>
        <p:spPr/>
        <p:txBody>
          <a:bodyPr/>
          <a:lstStyle/>
          <a:p>
            <a:r>
              <a:rPr lang="en-US" dirty="0"/>
              <a:t>Categorization of Neo- and Paleo Endemism (CANAPE)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7F47543-4E8B-6F25-DF67-D70CF1AE9F54}"/>
                  </a:ext>
                </a:extLst>
              </p:cNvPr>
              <p:cNvSpPr txBox="1"/>
              <p:nvPr/>
            </p:nvSpPr>
            <p:spPr>
              <a:xfrm>
                <a:off x="113102" y="2951901"/>
                <a:ext cx="5086936" cy="1098762"/>
              </a:xfrm>
              <a:prstGeom prst="rect">
                <a:avLst/>
              </a:prstGeom>
              <a:noFill/>
            </p:spPr>
            <p:txBody>
              <a:bodyPr wrap="square" lIns="0" tIns="0" rIns="0" bIns="0" rtlCol="0">
                <a:spAutoFit/>
              </a:bodyPr>
              <a:lstStyle/>
              <a:p>
                <a:r>
                  <a:rPr lang="en-US" sz="2800" dirty="0"/>
                  <a:t>Relative PE = </a:t>
                </a: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𝑂𝑏𝑠𝑒𝑟𝑣𝑒𝑑</m:t>
                        </m:r>
                        <m:r>
                          <a:rPr lang="en-US" sz="2800" b="0" i="1" smtClean="0">
                            <a:latin typeface="Cambria Math" panose="02040503050406030204" pitchFamily="18" charset="0"/>
                          </a:rPr>
                          <m:t> </m:t>
                        </m:r>
                        <m:r>
                          <a:rPr lang="en-US" sz="2800" b="0" i="1" smtClean="0">
                            <a:latin typeface="Cambria Math" panose="02040503050406030204" pitchFamily="18" charset="0"/>
                          </a:rPr>
                          <m:t>𝑇𝑟𝑒𝑒</m:t>
                        </m:r>
                      </m:num>
                      <m:den>
                        <m:r>
                          <a:rPr lang="en-US" sz="2800" b="0" i="1" smtClean="0">
                            <a:latin typeface="Cambria Math" panose="02040503050406030204" pitchFamily="18" charset="0"/>
                          </a:rPr>
                          <m:t>𝑃𝐸</m:t>
                        </m:r>
                        <m:r>
                          <a:rPr lang="en-US" sz="2800" b="0" i="1" smtClean="0">
                            <a:latin typeface="Cambria Math" panose="02040503050406030204" pitchFamily="18" charset="0"/>
                          </a:rPr>
                          <m:t> </m:t>
                        </m:r>
                        <m:r>
                          <a:rPr lang="en-US" sz="2800" b="0" i="1" smtClean="0">
                            <a:latin typeface="Cambria Math" panose="02040503050406030204" pitchFamily="18" charset="0"/>
                          </a:rPr>
                          <m:t>𝐶𝑜𝑚𝑝𝑎𝑟𝑖𝑠𝑜𝑛</m:t>
                        </m:r>
                        <m:r>
                          <a:rPr lang="en-US" sz="2800" b="0" i="1" smtClean="0">
                            <a:latin typeface="Cambria Math" panose="02040503050406030204" pitchFamily="18" charset="0"/>
                          </a:rPr>
                          <m:t> </m:t>
                        </m:r>
                        <m:r>
                          <a:rPr lang="en-US" sz="2800" b="0" i="1" smtClean="0">
                            <a:latin typeface="Cambria Math" panose="02040503050406030204" pitchFamily="18" charset="0"/>
                          </a:rPr>
                          <m:t>𝑇𝑟𝑒𝑒</m:t>
                        </m:r>
                      </m:den>
                    </m:f>
                  </m:oMath>
                </a14:m>
                <a:endParaRPr lang="en-US" sz="2800" dirty="0"/>
              </a:p>
              <a:p>
                <a:endParaRPr lang="en-US" sz="2800" dirty="0"/>
              </a:p>
            </p:txBody>
          </p:sp>
        </mc:Choice>
        <mc:Fallback>
          <p:sp>
            <p:nvSpPr>
              <p:cNvPr id="7" name="TextBox 6">
                <a:extLst>
                  <a:ext uri="{FF2B5EF4-FFF2-40B4-BE49-F238E27FC236}">
                    <a16:creationId xmlns:a16="http://schemas.microsoft.com/office/drawing/2014/main" id="{27F47543-4E8B-6F25-DF67-D70CF1AE9F54}"/>
                  </a:ext>
                </a:extLst>
              </p:cNvPr>
              <p:cNvSpPr txBox="1">
                <a:spLocks noRot="1" noChangeAspect="1" noMove="1" noResize="1" noEditPoints="1" noAdjustHandles="1" noChangeArrowheads="1" noChangeShapeType="1" noTextEdit="1"/>
              </p:cNvSpPr>
              <p:nvPr/>
            </p:nvSpPr>
            <p:spPr>
              <a:xfrm>
                <a:off x="113102" y="2951901"/>
                <a:ext cx="5086936" cy="1098762"/>
              </a:xfrm>
              <a:prstGeom prst="rect">
                <a:avLst/>
              </a:prstGeom>
              <a:blipFill>
                <a:blip r:embed="rId2"/>
                <a:stretch>
                  <a:fillRect l="-4317" t="-556"/>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18C277A1-A93E-36A0-6FE5-3D9654730E7B}"/>
              </a:ext>
            </a:extLst>
          </p:cNvPr>
          <p:cNvSpPr txBox="1"/>
          <p:nvPr/>
        </p:nvSpPr>
        <p:spPr>
          <a:xfrm>
            <a:off x="5557503" y="5726050"/>
            <a:ext cx="1356467" cy="923330"/>
          </a:xfrm>
          <a:prstGeom prst="rect">
            <a:avLst/>
          </a:prstGeom>
          <a:noFill/>
        </p:spPr>
        <p:txBody>
          <a:bodyPr wrap="square" rtlCol="0">
            <a:spAutoFit/>
          </a:bodyPr>
          <a:lstStyle/>
          <a:p>
            <a:r>
              <a:rPr lang="en-US" dirty="0"/>
              <a:t>1. Is a cell significant for RPE?</a:t>
            </a:r>
          </a:p>
        </p:txBody>
      </p:sp>
      <p:cxnSp>
        <p:nvCxnSpPr>
          <p:cNvPr id="19" name="Straight Arrow Connector 18">
            <a:extLst>
              <a:ext uri="{FF2B5EF4-FFF2-40B4-BE49-F238E27FC236}">
                <a16:creationId xmlns:a16="http://schemas.microsoft.com/office/drawing/2014/main" id="{EFBF1955-CF6B-A0B6-36AE-0D9F3DD8765D}"/>
              </a:ext>
            </a:extLst>
          </p:cNvPr>
          <p:cNvCxnSpPr>
            <a:cxnSpLocks/>
            <a:stCxn id="18" idx="3"/>
          </p:cNvCxnSpPr>
          <p:nvPr/>
        </p:nvCxnSpPr>
        <p:spPr>
          <a:xfrm>
            <a:off x="6913970" y="6187715"/>
            <a:ext cx="4814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978CDD6-DF0A-FDEB-C5C9-CCB79741405C}"/>
              </a:ext>
            </a:extLst>
          </p:cNvPr>
          <p:cNvSpPr txBox="1"/>
          <p:nvPr/>
        </p:nvSpPr>
        <p:spPr>
          <a:xfrm>
            <a:off x="7599044" y="5721253"/>
            <a:ext cx="1356467" cy="1200329"/>
          </a:xfrm>
          <a:prstGeom prst="rect">
            <a:avLst/>
          </a:prstGeom>
          <a:noFill/>
        </p:spPr>
        <p:txBody>
          <a:bodyPr wrap="square" rtlCol="0">
            <a:spAutoFit/>
          </a:bodyPr>
          <a:lstStyle/>
          <a:p>
            <a:r>
              <a:rPr lang="en-US" dirty="0"/>
              <a:t>2. Two-tailed Test on RPE ratio</a:t>
            </a:r>
          </a:p>
        </p:txBody>
      </p:sp>
      <p:sp>
        <p:nvSpPr>
          <p:cNvPr id="22" name="TextBox 21">
            <a:extLst>
              <a:ext uri="{FF2B5EF4-FFF2-40B4-BE49-F238E27FC236}">
                <a16:creationId xmlns:a16="http://schemas.microsoft.com/office/drawing/2014/main" id="{8BAD7B61-F7B6-9FE9-05A7-4C798ED5F04E}"/>
              </a:ext>
            </a:extLst>
          </p:cNvPr>
          <p:cNvSpPr txBox="1"/>
          <p:nvPr/>
        </p:nvSpPr>
        <p:spPr>
          <a:xfrm>
            <a:off x="5660315" y="5353044"/>
            <a:ext cx="3470251" cy="338554"/>
          </a:xfrm>
          <a:prstGeom prst="rect">
            <a:avLst/>
          </a:prstGeom>
          <a:noFill/>
        </p:spPr>
        <p:txBody>
          <a:bodyPr wrap="square" rtlCol="0">
            <a:spAutoFit/>
          </a:bodyPr>
          <a:lstStyle/>
          <a:p>
            <a:r>
              <a:rPr lang="en-US" sz="1600" dirty="0"/>
              <a:t>CANAPE (Mishler et al. 2014)</a:t>
            </a:r>
          </a:p>
        </p:txBody>
      </p:sp>
      <p:sp>
        <p:nvSpPr>
          <p:cNvPr id="9" name="TextBox 8">
            <a:extLst>
              <a:ext uri="{FF2B5EF4-FFF2-40B4-BE49-F238E27FC236}">
                <a16:creationId xmlns:a16="http://schemas.microsoft.com/office/drawing/2014/main" id="{EFB16189-18CF-E87B-A4A4-01FF68A186A9}"/>
              </a:ext>
            </a:extLst>
          </p:cNvPr>
          <p:cNvSpPr txBox="1"/>
          <p:nvPr/>
        </p:nvSpPr>
        <p:spPr>
          <a:xfrm>
            <a:off x="5200038" y="4706243"/>
            <a:ext cx="2448560" cy="338554"/>
          </a:xfrm>
          <a:prstGeom prst="rect">
            <a:avLst/>
          </a:prstGeom>
          <a:noFill/>
        </p:spPr>
        <p:txBody>
          <a:bodyPr wrap="square" rtlCol="0">
            <a:spAutoFit/>
          </a:bodyPr>
          <a:lstStyle/>
          <a:p>
            <a:r>
              <a:rPr lang="en-US" sz="1600" dirty="0"/>
              <a:t>Thornhill et al. 2017</a:t>
            </a:r>
          </a:p>
        </p:txBody>
      </p:sp>
      <p:pic>
        <p:nvPicPr>
          <p:cNvPr id="4" name="Picture 3">
            <a:extLst>
              <a:ext uri="{FF2B5EF4-FFF2-40B4-BE49-F238E27FC236}">
                <a16:creationId xmlns:a16="http://schemas.microsoft.com/office/drawing/2014/main" id="{DD6B4B49-D073-62A4-8384-AB8091A59680}"/>
              </a:ext>
            </a:extLst>
          </p:cNvPr>
          <p:cNvPicPr>
            <a:picLocks noChangeAspect="1"/>
          </p:cNvPicPr>
          <p:nvPr/>
        </p:nvPicPr>
        <p:blipFill>
          <a:blip r:embed="rId3"/>
          <a:stretch>
            <a:fillRect/>
          </a:stretch>
        </p:blipFill>
        <p:spPr>
          <a:xfrm>
            <a:off x="5200038" y="994442"/>
            <a:ext cx="6323616" cy="3711801"/>
          </a:xfrm>
          <a:prstGeom prst="rect">
            <a:avLst/>
          </a:prstGeom>
        </p:spPr>
      </p:pic>
      <p:cxnSp>
        <p:nvCxnSpPr>
          <p:cNvPr id="5" name="Straight Arrow Connector 4">
            <a:extLst>
              <a:ext uri="{FF2B5EF4-FFF2-40B4-BE49-F238E27FC236}">
                <a16:creationId xmlns:a16="http://schemas.microsoft.com/office/drawing/2014/main" id="{827D6B0A-58BA-BCAD-907C-31B1D1A19594}"/>
              </a:ext>
            </a:extLst>
          </p:cNvPr>
          <p:cNvCxnSpPr>
            <a:cxnSpLocks/>
          </p:cNvCxnSpPr>
          <p:nvPr/>
        </p:nvCxnSpPr>
        <p:spPr>
          <a:xfrm flipH="1" flipV="1">
            <a:off x="8850086" y="3011067"/>
            <a:ext cx="711790" cy="22392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C68BC185-422D-79DC-296E-CA543164564D}"/>
              </a:ext>
            </a:extLst>
          </p:cNvPr>
          <p:cNvPicPr>
            <a:picLocks noChangeAspect="1"/>
          </p:cNvPicPr>
          <p:nvPr/>
        </p:nvPicPr>
        <p:blipFill>
          <a:blip r:embed="rId4">
            <a:alphaModFix amt="48000"/>
          </a:blip>
          <a:srcRect l="58218" t="25779" r="22985"/>
          <a:stretch>
            <a:fillRect/>
          </a:stretch>
        </p:blipFill>
        <p:spPr>
          <a:xfrm>
            <a:off x="9390571" y="4925694"/>
            <a:ext cx="1356467" cy="1875728"/>
          </a:xfrm>
          <a:prstGeom prst="rect">
            <a:avLst/>
          </a:prstGeom>
        </p:spPr>
      </p:pic>
      <p:pic>
        <p:nvPicPr>
          <p:cNvPr id="8" name="Picture 7">
            <a:extLst>
              <a:ext uri="{FF2B5EF4-FFF2-40B4-BE49-F238E27FC236}">
                <a16:creationId xmlns:a16="http://schemas.microsoft.com/office/drawing/2014/main" id="{CB5BA3FF-C2DC-ABB6-A6EB-E90D01D5E62A}"/>
              </a:ext>
            </a:extLst>
          </p:cNvPr>
          <p:cNvPicPr>
            <a:picLocks noChangeAspect="1"/>
          </p:cNvPicPr>
          <p:nvPr/>
        </p:nvPicPr>
        <p:blipFill>
          <a:blip r:embed="rId4">
            <a:alphaModFix/>
          </a:blip>
          <a:srcRect l="63354" t="38304" r="27496" b="2790"/>
          <a:stretch>
            <a:fillRect/>
          </a:stretch>
        </p:blipFill>
        <p:spPr>
          <a:xfrm>
            <a:off x="9747997" y="5250356"/>
            <a:ext cx="660319" cy="1488686"/>
          </a:xfrm>
          <a:prstGeom prst="rect">
            <a:avLst/>
          </a:prstGeom>
        </p:spPr>
      </p:pic>
    </p:spTree>
    <p:extLst>
      <p:ext uri="{BB962C8B-B14F-4D97-AF65-F5344CB8AC3E}">
        <p14:creationId xmlns:p14="http://schemas.microsoft.com/office/powerpoint/2010/main" val="3423441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ffee Cups Clipart Vector, Beautiful Coffee Cup Illustration, Coffee Mug  Clipart, Beautiful Coffee Cup, Black Coffee Beans PNG Image For Free  Download">
            <a:extLst>
              <a:ext uri="{FF2B5EF4-FFF2-40B4-BE49-F238E27FC236}">
                <a16:creationId xmlns:a16="http://schemas.microsoft.com/office/drawing/2014/main" id="{685E3EE9-FCC5-6BBE-7687-7B6CB6885CE8}"/>
              </a:ext>
            </a:extLst>
          </p:cNvPr>
          <p:cNvPicPr>
            <a:picLocks noChangeAspect="1"/>
          </p:cNvPicPr>
          <p:nvPr/>
        </p:nvPicPr>
        <p:blipFill>
          <a:blip r:embed="rId2"/>
          <a:stretch>
            <a:fillRect/>
          </a:stretch>
        </p:blipFill>
        <p:spPr>
          <a:xfrm>
            <a:off x="466059" y="1367613"/>
            <a:ext cx="5143500" cy="5143500"/>
          </a:xfrm>
          <a:prstGeom prst="rect">
            <a:avLst/>
          </a:prstGeom>
        </p:spPr>
      </p:pic>
      <p:sp>
        <p:nvSpPr>
          <p:cNvPr id="5" name="TextBox 4">
            <a:extLst>
              <a:ext uri="{FF2B5EF4-FFF2-40B4-BE49-F238E27FC236}">
                <a16:creationId xmlns:a16="http://schemas.microsoft.com/office/drawing/2014/main" id="{769B2095-3ECD-E9AA-3858-EA657C401FFC}"/>
              </a:ext>
            </a:extLst>
          </p:cNvPr>
          <p:cNvSpPr txBox="1"/>
          <p:nvPr/>
        </p:nvSpPr>
        <p:spPr>
          <a:xfrm>
            <a:off x="466059" y="93407"/>
            <a:ext cx="11430002" cy="1754326"/>
          </a:xfrm>
          <a:prstGeom prst="rect">
            <a:avLst/>
          </a:prstGeom>
          <a:noFill/>
        </p:spPr>
        <p:txBody>
          <a:bodyPr wrap="square" rtlCol="0">
            <a:spAutoFit/>
          </a:bodyPr>
          <a:lstStyle/>
          <a:p>
            <a:pPr algn="ctr"/>
            <a:r>
              <a:rPr lang="en-US" sz="3600" dirty="0"/>
              <a:t>Time for a well-deserved Coffee Break. Then we’ll look at applying these methods to the Sonoran Basin and Range’s Cacti </a:t>
            </a:r>
          </a:p>
        </p:txBody>
      </p:sp>
      <p:pic>
        <p:nvPicPr>
          <p:cNvPr id="6" name="Picture 5">
            <a:extLst>
              <a:ext uri="{FF2B5EF4-FFF2-40B4-BE49-F238E27FC236}">
                <a16:creationId xmlns:a16="http://schemas.microsoft.com/office/drawing/2014/main" id="{8773AD28-7F08-E6C9-1925-CF737C8D553B}"/>
              </a:ext>
            </a:extLst>
          </p:cNvPr>
          <p:cNvPicPr>
            <a:picLocks noChangeAspect="1"/>
          </p:cNvPicPr>
          <p:nvPr/>
        </p:nvPicPr>
        <p:blipFill>
          <a:blip r:embed="rId3"/>
          <a:stretch>
            <a:fillRect/>
          </a:stretch>
        </p:blipFill>
        <p:spPr>
          <a:xfrm>
            <a:off x="5712155" y="1886113"/>
            <a:ext cx="6183906" cy="4106500"/>
          </a:xfrm>
          <a:prstGeom prst="rect">
            <a:avLst/>
          </a:prstGeom>
        </p:spPr>
      </p:pic>
      <p:sp>
        <p:nvSpPr>
          <p:cNvPr id="8" name="TextBox 7">
            <a:extLst>
              <a:ext uri="{FF2B5EF4-FFF2-40B4-BE49-F238E27FC236}">
                <a16:creationId xmlns:a16="http://schemas.microsoft.com/office/drawing/2014/main" id="{854ECC89-8B20-3DA7-3761-9CCB094AC6AA}"/>
              </a:ext>
            </a:extLst>
          </p:cNvPr>
          <p:cNvSpPr txBox="1"/>
          <p:nvPr/>
        </p:nvSpPr>
        <p:spPr>
          <a:xfrm>
            <a:off x="5703924" y="5761781"/>
            <a:ext cx="6097772" cy="230832"/>
          </a:xfrm>
          <a:prstGeom prst="rect">
            <a:avLst/>
          </a:prstGeom>
          <a:noFill/>
        </p:spPr>
        <p:txBody>
          <a:bodyPr wrap="square">
            <a:spAutoFit/>
          </a:bodyPr>
          <a:lstStyle/>
          <a:p>
            <a:r>
              <a:rPr lang="en-US" sz="900" b="0" i="0" dirty="0">
                <a:solidFill>
                  <a:srgbClr val="FFFFFF"/>
                </a:solidFill>
                <a:effectLst/>
                <a:latin typeface="Helvetica Neue"/>
              </a:rPr>
              <a:t>© Ad </a:t>
            </a:r>
            <a:r>
              <a:rPr lang="en-US" sz="900" b="0" i="0" dirty="0" err="1">
                <a:solidFill>
                  <a:srgbClr val="FFFFFF"/>
                </a:solidFill>
                <a:effectLst/>
                <a:latin typeface="Helvetica Neue"/>
              </a:rPr>
              <a:t>Konings</a:t>
            </a:r>
            <a:endParaRPr lang="en-US" dirty="0"/>
          </a:p>
        </p:txBody>
      </p:sp>
      <p:sp>
        <p:nvSpPr>
          <p:cNvPr id="9" name="TextBox 8">
            <a:extLst>
              <a:ext uri="{FF2B5EF4-FFF2-40B4-BE49-F238E27FC236}">
                <a16:creationId xmlns:a16="http://schemas.microsoft.com/office/drawing/2014/main" id="{C11D4F13-36DB-5B48-E7F2-9DD19A767AC9}"/>
              </a:ext>
            </a:extLst>
          </p:cNvPr>
          <p:cNvSpPr txBox="1"/>
          <p:nvPr/>
        </p:nvSpPr>
        <p:spPr>
          <a:xfrm>
            <a:off x="5712155" y="6117257"/>
            <a:ext cx="4186757" cy="369332"/>
          </a:xfrm>
          <a:prstGeom prst="rect">
            <a:avLst/>
          </a:prstGeom>
          <a:noFill/>
        </p:spPr>
        <p:txBody>
          <a:bodyPr wrap="square" rtlCol="0">
            <a:spAutoFit/>
          </a:bodyPr>
          <a:lstStyle/>
          <a:p>
            <a:r>
              <a:rPr lang="en-US" dirty="0"/>
              <a:t>Western </a:t>
            </a:r>
            <a:r>
              <a:rPr lang="en-US" dirty="0" err="1"/>
              <a:t>Pricklypear</a:t>
            </a:r>
            <a:r>
              <a:rPr lang="en-US" dirty="0"/>
              <a:t> (</a:t>
            </a:r>
            <a:r>
              <a:rPr lang="en-US" i="1" dirty="0"/>
              <a:t>Opuntia orbiculate)</a:t>
            </a:r>
            <a:endParaRPr lang="en-US" dirty="0"/>
          </a:p>
        </p:txBody>
      </p:sp>
    </p:spTree>
    <p:extLst>
      <p:ext uri="{BB962C8B-B14F-4D97-AF65-F5344CB8AC3E}">
        <p14:creationId xmlns:p14="http://schemas.microsoft.com/office/powerpoint/2010/main" val="3666384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105BE8D95C9645BDB48A804185E3D5" ma:contentTypeVersion="11" ma:contentTypeDescription="Create a new document." ma:contentTypeScope="" ma:versionID="d01bd945dcb43d36f7c19caf7f7f1bfa">
  <xsd:schema xmlns:xsd="http://www.w3.org/2001/XMLSchema" xmlns:xs="http://www.w3.org/2001/XMLSchema" xmlns:p="http://schemas.microsoft.com/office/2006/metadata/properties" xmlns:ns3="084046d1-ddcb-4d5f-b287-59f9fc70ad98" xmlns:ns4="4e90abaa-7d0c-4a95-9b55-365b2d102a9f" targetNamespace="http://schemas.microsoft.com/office/2006/metadata/properties" ma:root="true" ma:fieldsID="934d06ee7fe91d7be66e2e5e37074de2" ns3:_="" ns4:_="">
    <xsd:import namespace="084046d1-ddcb-4d5f-b287-59f9fc70ad98"/>
    <xsd:import namespace="4e90abaa-7d0c-4a95-9b55-365b2d102a9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AutoTags" minOccurs="0"/>
                <xsd:element ref="ns3:MediaServiceGenerationTime" minOccurs="0"/>
                <xsd:element ref="ns3:MediaServiceEventHashCode" minOccurs="0"/>
                <xsd:element ref="ns3:MediaServiceOCR"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046d1-ddcb-4d5f-b287-59f9fc70ad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90abaa-7d0c-4a95-9b55-365b2d102a9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84046d1-ddcb-4d5f-b287-59f9fc70ad98" xsi:nil="true"/>
  </documentManagement>
</p:properties>
</file>

<file path=customXml/itemProps1.xml><?xml version="1.0" encoding="utf-8"?>
<ds:datastoreItem xmlns:ds="http://schemas.openxmlformats.org/officeDocument/2006/customXml" ds:itemID="{CFEBF0D3-AA4C-45A6-9CE5-C7EBAAE183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4046d1-ddcb-4d5f-b287-59f9fc70ad98"/>
    <ds:schemaRef ds:uri="4e90abaa-7d0c-4a95-9b55-365b2d102a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57B623-A917-4E27-8452-5BB6C8ABEC87}">
  <ds:schemaRefs>
    <ds:schemaRef ds:uri="http://schemas.microsoft.com/sharepoint/v3/contenttype/forms"/>
  </ds:schemaRefs>
</ds:datastoreItem>
</file>

<file path=customXml/itemProps3.xml><?xml version="1.0" encoding="utf-8"?>
<ds:datastoreItem xmlns:ds="http://schemas.openxmlformats.org/officeDocument/2006/customXml" ds:itemID="{4B7BAD9E-EA03-4D50-B0CC-78205248D8DF}">
  <ds:schemaRefs>
    <ds:schemaRef ds:uri="http://purl.org/dc/terms/"/>
    <ds:schemaRef ds:uri="http://www.w3.org/XML/1998/namespace"/>
    <ds:schemaRef ds:uri="http://purl.org/dc/elements/1.1/"/>
    <ds:schemaRef ds:uri="http://schemas.microsoft.com/office/2006/documentManagement/types"/>
    <ds:schemaRef ds:uri="http://schemas.openxmlformats.org/package/2006/metadata/core-properties"/>
    <ds:schemaRef ds:uri="084046d1-ddcb-4d5f-b287-59f9fc70ad98"/>
    <ds:schemaRef ds:uri="http://schemas.microsoft.com/office/2006/metadata/properties"/>
    <ds:schemaRef ds:uri="http://schemas.microsoft.com/office/infopath/2007/PartnerControls"/>
    <ds:schemaRef ds:uri="4e90abaa-7d0c-4a95-9b55-365b2d102a9f"/>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5129</TotalTime>
  <Words>2661</Words>
  <Application>Microsoft Office PowerPoint</Application>
  <PresentationFormat>Widescreen</PresentationFormat>
  <Paragraphs>647</Paragraphs>
  <Slides>34</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Arial</vt:lpstr>
      <vt:lpstr>Calibri</vt:lpstr>
      <vt:lpstr>Calibri Light</vt:lpstr>
      <vt:lpstr>Cambria Math</vt:lpstr>
      <vt:lpstr>Helvetica Neue</vt:lpstr>
      <vt:lpstr>Wingdings</vt:lpstr>
      <vt:lpstr>Office Theme</vt:lpstr>
      <vt:lpstr>Spatial Phylodiversity &amp; Phyloendemism </vt:lpstr>
      <vt:lpstr>Background: How can we measure Biodiversity?</vt:lpstr>
      <vt:lpstr>Background: How can we measure Biodiversity?</vt:lpstr>
      <vt:lpstr>Background: How can we measure Biodiversity?</vt:lpstr>
      <vt:lpstr>Background: How can we measure Biodiversity?</vt:lpstr>
      <vt:lpstr>Background: What is Phylodiversity?</vt:lpstr>
      <vt:lpstr>PD Calculation</vt:lpstr>
      <vt:lpstr>PD Calculation</vt:lpstr>
      <vt:lpstr>Background: How can we measure Biodiversity?</vt:lpstr>
      <vt:lpstr>Background: How can we measure Biodiversity?</vt:lpstr>
      <vt:lpstr>Background: How can we measure Biodiversity?</vt:lpstr>
      <vt:lpstr>Background: How can we measure Biodiversity?</vt:lpstr>
      <vt:lpstr>(Weighted) Phylogenetic Endemism</vt:lpstr>
      <vt:lpstr>(Weighted) Phylogenetic Endemism</vt:lpstr>
      <vt:lpstr>(Weighted) Phylogenetic Endemism</vt:lpstr>
      <vt:lpstr>(Weighted) Phylogenetic Endemism</vt:lpstr>
      <vt:lpstr>(Weighted) Phylogenetic Endemism</vt:lpstr>
      <vt:lpstr>(Weighted) Phylogenetic Endemism</vt:lpstr>
      <vt:lpstr>(Weighted) Phylogenetic Endemism</vt:lpstr>
      <vt:lpstr>(Weighted) Phylogenetic Endemism</vt:lpstr>
      <vt:lpstr>(Weighted) Phylogenetic Endemism</vt:lpstr>
      <vt:lpstr>(Weighted) Phylogenetic Endemism</vt:lpstr>
      <vt:lpstr>Intro to RPD and RPE</vt:lpstr>
      <vt:lpstr>Intro to RPD and RPE</vt:lpstr>
      <vt:lpstr>Intro to RPD and RPE</vt:lpstr>
      <vt:lpstr>So Many Metrics…But what is random noise vs biology? </vt:lpstr>
      <vt:lpstr>Community Randomizations</vt:lpstr>
      <vt:lpstr>Community Randomizations</vt:lpstr>
      <vt:lpstr>Community Randomizations</vt:lpstr>
      <vt:lpstr>Community Randomizations</vt:lpstr>
      <vt:lpstr>Categorization of Neo- and Paleo Endemism (CANAPE)</vt:lpstr>
      <vt:lpstr>Categorization of Neo- and Paleo Endemism (CANAPE)</vt:lpstr>
      <vt:lpstr>Categorization of Neo- and Paleo Endemism (CANAPE)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Occupancy Models</dc:title>
  <dc:creator>Miller, Jared</dc:creator>
  <cp:lastModifiedBy>Miller, Jared</cp:lastModifiedBy>
  <cp:revision>5</cp:revision>
  <dcterms:created xsi:type="dcterms:W3CDTF">2023-11-14T17:30:52Z</dcterms:created>
  <dcterms:modified xsi:type="dcterms:W3CDTF">2026-08-01T08:40:46Z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0x010100D8105BE8D95C9645BDB48A804185E3D5</vt:lpwstr>
  </property>
</Properties>
</file>
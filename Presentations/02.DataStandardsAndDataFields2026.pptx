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83" r:id="rId2"/>
    <p:sldId id="1003" r:id="rId3"/>
    <p:sldId id="544" r:id="rId4"/>
    <p:sldId id="1334" r:id="rId5"/>
    <p:sldId id="553" r:id="rId6"/>
    <p:sldId id="554" r:id="rId7"/>
    <p:sldId id="1335" r:id="rId8"/>
    <p:sldId id="55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009051"/>
    <a:srgbClr val="CDE8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3"/>
    <p:restoredTop sz="85075"/>
  </p:normalViewPr>
  <p:slideViewPr>
    <p:cSldViewPr snapToGrid="0" snapToObjects="1">
      <p:cViewPr varScale="1">
        <p:scale>
          <a:sx n="108" d="100"/>
          <a:sy n="108" d="100"/>
        </p:scale>
        <p:origin x="1216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0ED0A-8BFD-D54B-9A28-EFBE87F016A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718C1-BCA2-CC44-A0A9-96C5595E6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56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3D2E8-E5E6-8F4C-92B2-A264A0CA89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62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25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478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71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72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90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05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4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002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536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20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39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383D2-16C1-A947-8B3E-9A142385551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7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t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13" Type="http://schemas.openxmlformats.org/officeDocument/2006/relationships/image" Target="../media/image16.jpg"/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12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11" Type="http://schemas.openxmlformats.org/officeDocument/2006/relationships/image" Target="../media/image15.svg"/><Relationship Id="rId5" Type="http://schemas.openxmlformats.org/officeDocument/2006/relationships/image" Target="../media/image9.jpg"/><Relationship Id="rId10" Type="http://schemas.openxmlformats.org/officeDocument/2006/relationships/image" Target="../media/image14.png"/><Relationship Id="rId4" Type="http://schemas.openxmlformats.org/officeDocument/2006/relationships/image" Target="../media/image8.jpg"/><Relationship Id="rId9" Type="http://schemas.openxmlformats.org/officeDocument/2006/relationships/image" Target="../media/image13.jpg"/><Relationship Id="rId14" Type="http://schemas.openxmlformats.org/officeDocument/2006/relationships/image" Target="../media/image17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969" y="2548689"/>
            <a:ext cx="10603523" cy="1084431"/>
          </a:xfrm>
        </p:spPr>
        <p:txBody>
          <a:bodyPr>
            <a:noAutofit/>
          </a:bodyPr>
          <a:lstStyle/>
          <a:p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 Data Standards and Data Fields</a:t>
            </a:r>
            <a:br>
              <a:rPr lang="en-US" dirty="0">
                <a:solidFill>
                  <a:srgbClr val="0070C0"/>
                </a:solidFill>
              </a:rPr>
            </a:b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09800" y="3886200"/>
            <a:ext cx="77724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7" name="Picture 6" descr="ban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29" b="38036"/>
          <a:stretch/>
        </p:blipFill>
        <p:spPr>
          <a:xfrm>
            <a:off x="0" y="0"/>
            <a:ext cx="12192000" cy="1668162"/>
          </a:xfrm>
          <a:prstGeom prst="rect">
            <a:avLst/>
          </a:prstGeom>
        </p:spPr>
      </p:pic>
      <p:pic>
        <p:nvPicPr>
          <p:cNvPr id="8" name="Picture 6" descr="https://www.idigbio.org/wiki/_media/idigbio_logo_rgb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181" y="5638800"/>
            <a:ext cx="3299215" cy="101942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29089" y="4401558"/>
            <a:ext cx="39473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</a:rPr>
              <a:t>Pam Soltis</a:t>
            </a:r>
          </a:p>
          <a:p>
            <a:pPr algn="ctr"/>
            <a:r>
              <a:rPr lang="en-US" sz="3600" dirty="0">
                <a:solidFill>
                  <a:srgbClr val="0070C0"/>
                </a:solidFill>
              </a:rPr>
              <a:t>University of Florida</a:t>
            </a:r>
          </a:p>
        </p:txBody>
      </p:sp>
      <p:pic>
        <p:nvPicPr>
          <p:cNvPr id="10" name="Picture 9" descr="head.gif">
            <a:extLst>
              <a:ext uri="{FF2B5EF4-FFF2-40B4-BE49-F238E27FC236}">
                <a16:creationId xmlns:a16="http://schemas.microsoft.com/office/drawing/2014/main" id="{5D498141-9B41-DE4E-A0CC-582A2FDE03F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70" t="7500" r="81158"/>
          <a:stretch/>
        </p:blipFill>
        <p:spPr bwMode="auto">
          <a:xfrm>
            <a:off x="7476839" y="5599391"/>
            <a:ext cx="1185688" cy="1227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3EEA9C-9AD6-7D47-9786-A7CB51B2DD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2912" y="4763171"/>
            <a:ext cx="3558381" cy="6529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215981-E6DB-C840-9AF4-94FB69E865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707" y="4592911"/>
            <a:ext cx="2483157" cy="81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936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139652a1-sized.jpg">
            <a:extLst>
              <a:ext uri="{FF2B5EF4-FFF2-40B4-BE49-F238E27FC236}">
                <a16:creationId xmlns:a16="http://schemas.microsoft.com/office/drawing/2014/main" id="{BCC2EA5F-29FE-2542-B0EF-01E26BF26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37" y="1359460"/>
            <a:ext cx="2205445" cy="3178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E23FBD-0B3D-9249-8D5B-7A28EE89F1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6196" b="77477"/>
          <a:stretch/>
        </p:blipFill>
        <p:spPr>
          <a:xfrm>
            <a:off x="3019026" y="1362828"/>
            <a:ext cx="3176122" cy="7084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99F3DA5-5A10-5C42-A798-3293AECAAC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896"/>
          <a:stretch/>
        </p:blipFill>
        <p:spPr>
          <a:xfrm>
            <a:off x="2768916" y="3864716"/>
            <a:ext cx="3426232" cy="63839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B2C67F8-49F1-434C-B336-FADEDCDE07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3790" y="1416291"/>
            <a:ext cx="2843213" cy="5169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6C8A8DD-8237-1643-9D66-DB0BB9737E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2659" y="2011178"/>
            <a:ext cx="2986555" cy="79782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FC75707-1C58-A84D-B109-8BAA1989BBE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8522" b="9285"/>
          <a:stretch/>
        </p:blipFill>
        <p:spPr>
          <a:xfrm>
            <a:off x="8293377" y="2809005"/>
            <a:ext cx="2484818" cy="88798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24A5672-F8AC-0442-9962-C15BFF25BF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6127" y="4785090"/>
            <a:ext cx="3498541" cy="89178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39DF69F-D822-0B4A-AC2A-05F5F42441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98009" y="3826976"/>
            <a:ext cx="1857375" cy="88582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304E5B13-B448-6445-8CC8-37ABC7C1A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0"/>
            <a:ext cx="8201866" cy="994172"/>
          </a:xfrm>
        </p:spPr>
        <p:txBody>
          <a:bodyPr/>
          <a:lstStyle/>
          <a:p>
            <a:pPr>
              <a:tabLst>
                <a:tab pos="341710" algn="l"/>
              </a:tabLst>
            </a:pPr>
            <a:r>
              <a:rPr lang="en-US" dirty="0">
                <a:solidFill>
                  <a:schemeClr val="bg1"/>
                </a:solidFill>
                <a:latin typeface="+mn-lt"/>
              </a:rPr>
              <a:t>	Repositories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3CF957C-14E4-9E43-879F-F38BA8D326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80901" y="4479982"/>
            <a:ext cx="1830197" cy="2261570"/>
          </a:xfrm>
          <a:prstGeom prst="rect">
            <a:avLst/>
          </a:prstGeom>
        </p:spPr>
      </p:pic>
      <p:pic>
        <p:nvPicPr>
          <p:cNvPr id="19" name="Picture 6" descr="https://www.idigbio.org/wiki/_media/idigbio_logo_rgb.png">
            <a:extLst>
              <a:ext uri="{FF2B5EF4-FFF2-40B4-BE49-F238E27FC236}">
                <a16:creationId xmlns:a16="http://schemas.microsoft.com/office/drawing/2014/main" id="{14C6746A-F139-9B49-823A-B21DEAF3B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545" y="4750998"/>
            <a:ext cx="2660561" cy="82208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0139DF-9A3F-6D41-B615-2632D44BF5F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5778985"/>
            <a:ext cx="3101872" cy="9039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4825AB-C316-4040-AF0B-58AD5B47967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45820" y="5657430"/>
            <a:ext cx="3015443" cy="1147085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600EE0-F485-77F1-5DDB-610EFD160BD9}"/>
              </a:ext>
            </a:extLst>
          </p:cNvPr>
          <p:cNvSpPr/>
          <p:nvPr/>
        </p:nvSpPr>
        <p:spPr>
          <a:xfrm>
            <a:off x="0" y="0"/>
            <a:ext cx="12192000" cy="1286359"/>
          </a:xfrm>
          <a:prstGeom prst="rect">
            <a:avLst/>
          </a:prstGeom>
          <a:solidFill>
            <a:srgbClr val="349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bg1"/>
                </a:solidFill>
              </a:rPr>
              <a:t>   Repositories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2605F1-F0B3-252D-BD76-44C1E10200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963" t="69375" r="39595"/>
          <a:stretch/>
        </p:blipFill>
        <p:spPr>
          <a:xfrm>
            <a:off x="3913772" y="2107020"/>
            <a:ext cx="3925431" cy="189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518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473C379-8FC6-A340-AD3F-B8EB249F9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0"/>
            <a:ext cx="8201866" cy="994172"/>
          </a:xfrm>
        </p:spPr>
        <p:txBody>
          <a:bodyPr/>
          <a:lstStyle/>
          <a:p>
            <a:pPr>
              <a:tabLst>
                <a:tab pos="341710" algn="l"/>
              </a:tabLst>
            </a:pPr>
            <a:r>
              <a:rPr lang="en-US" dirty="0">
                <a:solidFill>
                  <a:schemeClr val="bg1"/>
                </a:solidFill>
                <a:latin typeface="+mn-lt"/>
              </a:rPr>
              <a:t>	Standards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E49F72-99B8-A747-B4AC-785166AC2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881" y="1392951"/>
            <a:ext cx="5146608" cy="537598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1401DCD-5779-9AFE-8710-D2E936B7ED9A}"/>
              </a:ext>
            </a:extLst>
          </p:cNvPr>
          <p:cNvSpPr/>
          <p:nvPr/>
        </p:nvSpPr>
        <p:spPr>
          <a:xfrm>
            <a:off x="0" y="0"/>
            <a:ext cx="12192000" cy="1286359"/>
          </a:xfrm>
          <a:prstGeom prst="rect">
            <a:avLst/>
          </a:prstGeom>
          <a:solidFill>
            <a:srgbClr val="349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bg1"/>
                </a:solidFill>
              </a:rPr>
              <a:t>   Standards</a:t>
            </a:r>
          </a:p>
        </p:txBody>
      </p:sp>
    </p:spTree>
    <p:extLst>
      <p:ext uri="{BB962C8B-B14F-4D97-AF65-F5344CB8AC3E}">
        <p14:creationId xmlns:p14="http://schemas.microsoft.com/office/powerpoint/2010/main" val="3153551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473C379-8FC6-A340-AD3F-B8EB249F9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0"/>
            <a:ext cx="8201866" cy="994172"/>
          </a:xfrm>
        </p:spPr>
        <p:txBody>
          <a:bodyPr/>
          <a:lstStyle/>
          <a:p>
            <a:pPr>
              <a:tabLst>
                <a:tab pos="341710" algn="l"/>
              </a:tabLst>
            </a:pPr>
            <a:r>
              <a:rPr lang="en-US" dirty="0">
                <a:solidFill>
                  <a:schemeClr val="bg1"/>
                </a:solidFill>
                <a:latin typeface="+mn-lt"/>
              </a:rPr>
              <a:t>	Standards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E49F72-99B8-A747-B4AC-785166AC2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881" y="1392951"/>
            <a:ext cx="5146608" cy="537598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1401DCD-5779-9AFE-8710-D2E936B7ED9A}"/>
              </a:ext>
            </a:extLst>
          </p:cNvPr>
          <p:cNvSpPr/>
          <p:nvPr/>
        </p:nvSpPr>
        <p:spPr>
          <a:xfrm>
            <a:off x="0" y="0"/>
            <a:ext cx="12192000" cy="1286359"/>
          </a:xfrm>
          <a:prstGeom prst="rect">
            <a:avLst/>
          </a:prstGeom>
          <a:solidFill>
            <a:srgbClr val="349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bg1"/>
                </a:solidFill>
              </a:rPr>
              <a:t>   Standards – ‘Adapters’</a:t>
            </a:r>
          </a:p>
        </p:txBody>
      </p:sp>
    </p:spTree>
    <p:extLst>
      <p:ext uri="{BB962C8B-B14F-4D97-AF65-F5344CB8AC3E}">
        <p14:creationId xmlns:p14="http://schemas.microsoft.com/office/powerpoint/2010/main" val="3146829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7B6B55B-4AA5-8C57-4C4E-D60C04423544}"/>
              </a:ext>
            </a:extLst>
          </p:cNvPr>
          <p:cNvSpPr/>
          <p:nvPr/>
        </p:nvSpPr>
        <p:spPr>
          <a:xfrm>
            <a:off x="0" y="0"/>
            <a:ext cx="12192000" cy="1286359"/>
          </a:xfrm>
          <a:prstGeom prst="rect">
            <a:avLst/>
          </a:prstGeom>
          <a:solidFill>
            <a:srgbClr val="349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bg1"/>
                </a:solidFill>
              </a:rPr>
              <a:t>   Standards – </a:t>
            </a:r>
            <a:r>
              <a:rPr lang="en-US" sz="4800" dirty="0" err="1">
                <a:solidFill>
                  <a:schemeClr val="bg1"/>
                </a:solidFill>
              </a:rPr>
              <a:t>tdwg.org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3" name="Picture 2" descr="A close-up of a website&#10;&#10;Description automatically generated">
            <a:extLst>
              <a:ext uri="{FF2B5EF4-FFF2-40B4-BE49-F238E27FC236}">
                <a16:creationId xmlns:a16="http://schemas.microsoft.com/office/drawing/2014/main" id="{80EAAD18-5197-4445-7F8B-0A3F4B414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955" y="1286359"/>
            <a:ext cx="8536089" cy="557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19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4170D1C-0425-8975-2C73-4303113879B0}"/>
              </a:ext>
            </a:extLst>
          </p:cNvPr>
          <p:cNvSpPr/>
          <p:nvPr/>
        </p:nvSpPr>
        <p:spPr>
          <a:xfrm>
            <a:off x="0" y="0"/>
            <a:ext cx="12192000" cy="1286359"/>
          </a:xfrm>
          <a:prstGeom prst="rect">
            <a:avLst/>
          </a:prstGeom>
          <a:solidFill>
            <a:srgbClr val="349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bg1"/>
                </a:solidFill>
              </a:rPr>
              <a:t>   Standards – </a:t>
            </a:r>
            <a:r>
              <a:rPr lang="en-US" sz="4800" dirty="0" err="1">
                <a:solidFill>
                  <a:schemeClr val="bg1"/>
                </a:solidFill>
              </a:rPr>
              <a:t>tdwg.org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3" name="Picture 2" descr="A screenshot of a website&#10;&#10;Description automatically generated">
            <a:extLst>
              <a:ext uri="{FF2B5EF4-FFF2-40B4-BE49-F238E27FC236}">
                <a16:creationId xmlns:a16="http://schemas.microsoft.com/office/drawing/2014/main" id="{62C7FC94-9715-B322-9498-F306A30E6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55" y="1412208"/>
            <a:ext cx="11759802" cy="393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85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330C8-4DF5-DD90-1062-B625C6211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84F5326-B5E7-C2E2-5E97-3EB786877ACD}"/>
              </a:ext>
            </a:extLst>
          </p:cNvPr>
          <p:cNvSpPr/>
          <p:nvPr/>
        </p:nvSpPr>
        <p:spPr>
          <a:xfrm>
            <a:off x="0" y="0"/>
            <a:ext cx="12192000" cy="1286359"/>
          </a:xfrm>
          <a:prstGeom prst="rect">
            <a:avLst/>
          </a:prstGeom>
          <a:solidFill>
            <a:srgbClr val="349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bg1"/>
                </a:solidFill>
              </a:rPr>
              <a:t>   Standards – </a:t>
            </a:r>
            <a:r>
              <a:rPr lang="en-US" sz="4800" dirty="0" err="1">
                <a:solidFill>
                  <a:schemeClr val="bg1"/>
                </a:solidFill>
              </a:rPr>
              <a:t>tdwg.org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3" name="Picture 2" descr="A screenshot of a website&#10;&#10;Description automatically generated">
            <a:extLst>
              <a:ext uri="{FF2B5EF4-FFF2-40B4-BE49-F238E27FC236}">
                <a16:creationId xmlns:a16="http://schemas.microsoft.com/office/drawing/2014/main" id="{0F9B0485-3EDE-09EE-BDC6-D5595D0C5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55" y="1412209"/>
            <a:ext cx="7959341" cy="2665522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E04C32A8-B062-3C71-3D9F-231709673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2121" y="1412209"/>
            <a:ext cx="3829879" cy="3507038"/>
          </a:xfrm>
        </p:spPr>
        <p:txBody>
          <a:bodyPr>
            <a:normAutofit/>
          </a:bodyPr>
          <a:lstStyle/>
          <a:p>
            <a:r>
              <a:rPr lang="en-US" sz="2800" dirty="0"/>
              <a:t>species name</a:t>
            </a:r>
          </a:p>
          <a:p>
            <a:r>
              <a:rPr lang="en-US" sz="2800" dirty="0"/>
              <a:t>collector name</a:t>
            </a:r>
          </a:p>
          <a:p>
            <a:r>
              <a:rPr lang="en-US" sz="2800" dirty="0"/>
              <a:t>date of collection</a:t>
            </a:r>
          </a:p>
          <a:p>
            <a:r>
              <a:rPr lang="en-US" sz="2800" dirty="0"/>
              <a:t>location of collection – country, state, county, latitude, longitude</a:t>
            </a:r>
          </a:p>
          <a:p>
            <a:r>
              <a:rPr lang="en-US" sz="2800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705563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5B6948D-0688-6845-A498-444E20683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50" y="1406343"/>
            <a:ext cx="10622058" cy="536259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682964-848C-A6B0-71AA-58A3E263BA00}"/>
              </a:ext>
            </a:extLst>
          </p:cNvPr>
          <p:cNvSpPr/>
          <p:nvPr/>
        </p:nvSpPr>
        <p:spPr>
          <a:xfrm>
            <a:off x="0" y="0"/>
            <a:ext cx="12192000" cy="1286359"/>
          </a:xfrm>
          <a:prstGeom prst="rect">
            <a:avLst/>
          </a:prstGeom>
          <a:solidFill>
            <a:srgbClr val="349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bg1"/>
                </a:solidFill>
              </a:rPr>
              <a:t>   Standards:  Darwin Core</a:t>
            </a:r>
          </a:p>
        </p:txBody>
      </p:sp>
    </p:spTree>
    <p:extLst>
      <p:ext uri="{BB962C8B-B14F-4D97-AF65-F5344CB8AC3E}">
        <p14:creationId xmlns:p14="http://schemas.microsoft.com/office/powerpoint/2010/main" val="2867350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1328</TotalTime>
  <Words>75</Words>
  <Application>Microsoft Macintosh PowerPoint</Application>
  <PresentationFormat>Widescreen</PresentationFormat>
  <Paragraphs>19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  Data Standards and Data Fields </vt:lpstr>
      <vt:lpstr> Repositories</vt:lpstr>
      <vt:lpstr> Standards</vt:lpstr>
      <vt:lpstr> Standards</vt:lpstr>
      <vt:lpstr>PowerPoint Presentation</vt:lpstr>
      <vt:lpstr>PowerPoint Presentation</vt:lpstr>
      <vt:lpstr>PowerPoint Presentation</vt:lpstr>
      <vt:lpstr>PowerPoint Presentation</vt:lpstr>
    </vt:vector>
  </TitlesOfParts>
  <Company>University of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Biodiversity and Climate Change</dc:title>
  <dc:creator>Pam Soltis</dc:creator>
  <cp:lastModifiedBy>Soltis,Pamela S</cp:lastModifiedBy>
  <cp:revision>236</cp:revision>
  <dcterms:created xsi:type="dcterms:W3CDTF">2014-07-02T03:39:48Z</dcterms:created>
  <dcterms:modified xsi:type="dcterms:W3CDTF">2026-08-01T04:24:42Z</dcterms:modified>
</cp:coreProperties>
</file>
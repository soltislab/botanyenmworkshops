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301" r:id="rId2"/>
    <p:sldId id="318" r:id="rId3"/>
    <p:sldId id="293" r:id="rId4"/>
    <p:sldId id="256" r:id="rId5"/>
    <p:sldId id="292" r:id="rId6"/>
    <p:sldId id="308" r:id="rId7"/>
    <p:sldId id="311" r:id="rId8"/>
    <p:sldId id="284" r:id="rId9"/>
    <p:sldId id="285" r:id="rId10"/>
    <p:sldId id="286" r:id="rId11"/>
    <p:sldId id="315" r:id="rId12"/>
    <p:sldId id="309" r:id="rId13"/>
    <p:sldId id="287" r:id="rId14"/>
    <p:sldId id="310" r:id="rId15"/>
    <p:sldId id="316" r:id="rId16"/>
    <p:sldId id="319" r:id="rId17"/>
    <p:sldId id="317" r:id="rId18"/>
    <p:sldId id="304" r:id="rId19"/>
    <p:sldId id="296" r:id="rId20"/>
    <p:sldId id="305" r:id="rId21"/>
    <p:sldId id="30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7FEC5D-27C2-4C54-BCE9-F10BC614844D}" v="2" dt="2026-08-02T04:36:59.1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658"/>
  </p:normalViewPr>
  <p:slideViewPr>
    <p:cSldViewPr snapToGrid="0" snapToObjects="1" showGuides="1">
      <p:cViewPr varScale="1">
        <p:scale>
          <a:sx n="120" d="100"/>
          <a:sy n="120" d="100"/>
        </p:scale>
        <p:origin x="568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kenzie Mabry" userId="wC5zpGcBeF/dXo9LvTWr0ugVTIDpBrI511JU3C9s4SI=" providerId="None" clId="Web-{177FEC5D-27C2-4C54-BCE9-F10BC614844D}"/>
    <pc:docChg chg="modSld">
      <pc:chgData name="Makenzie Mabry" userId="wC5zpGcBeF/dXo9LvTWr0ugVTIDpBrI511JU3C9s4SI=" providerId="None" clId="Web-{177FEC5D-27C2-4C54-BCE9-F10BC614844D}" dt="2026-08-02T04:36:59.172" v="1" actId="20577"/>
      <pc:docMkLst>
        <pc:docMk/>
      </pc:docMkLst>
      <pc:sldChg chg="modSp">
        <pc:chgData name="Makenzie Mabry" userId="wC5zpGcBeF/dXo9LvTWr0ugVTIDpBrI511JU3C9s4SI=" providerId="None" clId="Web-{177FEC5D-27C2-4C54-BCE9-F10BC614844D}" dt="2026-08-02T04:36:59.172" v="1" actId="20577"/>
        <pc:sldMkLst>
          <pc:docMk/>
          <pc:sldMk cId="1294479657" sldId="285"/>
        </pc:sldMkLst>
        <pc:spChg chg="mod">
          <ac:chgData name="Makenzie Mabry" userId="wC5zpGcBeF/dXo9LvTWr0ugVTIDpBrI511JU3C9s4SI=" providerId="None" clId="Web-{177FEC5D-27C2-4C54-BCE9-F10BC614844D}" dt="2026-08-02T04:36:59.172" v="1" actId="20577"/>
          <ac:spMkLst>
            <pc:docMk/>
            <pc:sldMk cId="1294479657" sldId="285"/>
            <ac:spMk id="3" creationId="{AC27EEF1-F348-A640-B8E0-A25E40E73ED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0B7D31-A360-2B4C-A768-B3AE7E7A620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726BD-6F8D-DD4D-A18C-ED75D4C9C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18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3D2E8-E5E6-8F4C-92B2-A264A0CA89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669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spocc</a:t>
            </a:r>
            <a:r>
              <a:rPr lang="en-US" dirty="0"/>
              <a:t>-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Global Biodiversity Information Facility ('GBIF'), 'USGSs' Biodiversity Information Serving Our Nation ('BISON'), '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iNaturalist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', Berkeley 'Ecoinformatics' Engine, '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eBird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', Integrated Digitized 'Biocollections' ('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iDigBio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'), '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VertNet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', Ocean 'Biogeographic' Information System ('OBIS'), and Atlas of Living Australia ('ALA'). Includes functionality for retrieving species occurrence data, and combining those data.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Ridigbio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</a:t>
            </a:r>
            <a:r>
              <a:rPr lang="en-US" b="1" i="0" dirty="0">
                <a:solidFill>
                  <a:srgbClr val="666666"/>
                </a:solidFill>
                <a:effectLst/>
                <a:latin typeface="Courier New" panose="02070309020205020404" pitchFamily="49" charset="0"/>
              </a:rPr>
              <a:t>Interface to the </a:t>
            </a:r>
            <a:r>
              <a:rPr lang="en-US" b="1" i="0" dirty="0" err="1">
                <a:solidFill>
                  <a:srgbClr val="666666"/>
                </a:solidFill>
                <a:effectLst/>
                <a:latin typeface="Courier New" panose="02070309020205020404" pitchFamily="49" charset="0"/>
              </a:rPr>
              <a:t>iDigBio</a:t>
            </a:r>
            <a:r>
              <a:rPr lang="en-US" b="1" i="0" dirty="0">
                <a:solidFill>
                  <a:srgbClr val="666666"/>
                </a:solidFill>
                <a:effectLst/>
                <a:latin typeface="Courier New" panose="02070309020205020404" pitchFamily="49" charset="0"/>
              </a:rPr>
              <a:t> Data 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726BD-6F8D-DD4D-A18C-ED75D4C9CAB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61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BB5D1-375E-EB4A-A1B2-18B7CA4DF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8BF7DF-0DEE-1B40-8766-79542ACA91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5244D-B141-084A-BC88-71C98C065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D4698-85BA-8B42-903F-55387751A43E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24A81-31D7-F544-915F-70B96562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18C23-29B2-3444-A1AA-213C2D76C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5EB5-10A3-9242-85AD-31ADE2F3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05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97A72-F82C-1D41-9DBA-75E66F854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D543B-86F0-2C4D-A91D-391582BC7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294A7-AAD3-4B47-B7A1-08DB556DA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D4698-85BA-8B42-903F-55387751A43E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345C5-4CCA-D04B-9C0F-2516AA8A9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9ED63-9A7D-354C-BF84-EE296FA69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5EB5-10A3-9242-85AD-31ADE2F3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1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B3AC-7986-464B-ADE2-4E3F53A33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BADE2-5C56-904A-9786-112D62134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D9215-53BB-5549-B554-FC932F4E5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D4698-85BA-8B42-903F-55387751A43E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3004D-C08A-D44E-B169-8928046B7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5933A-7FAF-DE43-AA74-E11C0E75D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5EB5-10A3-9242-85AD-31ADE2F3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443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B93D6-0649-0B47-90B0-2B55EC430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B4E28-B9B6-0543-8975-8D4064880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C7146-A0A0-294E-B185-9B92B6F12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D07FB-F250-4A4A-8818-ED111DE43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D4698-85BA-8B42-903F-55387751A43E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9D6B8E-1EC7-904F-8FCC-A83677643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400E42-B507-E246-822A-7EB2E12EC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5EB5-10A3-9242-85AD-31ADE2F3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03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5008D-4D41-8A47-98C8-087AEF73D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51F37-35DD-7545-A5BE-DCD92D794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51361B-52A8-0D41-936F-A575DBDD4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B5C5C1-E011-DA43-A3E8-F270245EA1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A0FF01-7774-1448-B751-033BDEB45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96C9A5-57BA-0E4D-9825-8F351A66F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D4698-85BA-8B42-903F-55387751A43E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6E0298-C879-8F45-B8F1-4A375374B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BC207D-5283-4E46-8A97-E90C94B5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5EB5-10A3-9242-85AD-31ADE2F3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74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798DE-54D4-814D-A012-92EE3144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F7E4F9-A856-BB4E-B896-9F1263F3A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D4698-85BA-8B42-903F-55387751A43E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44BF74-AE31-B342-9EA2-0EAA0D526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976CF9-875E-1F44-A37C-3B5824FC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5EB5-10A3-9242-85AD-31ADE2F3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5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A976D5-1359-5146-848D-020EBF89A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D4698-85BA-8B42-903F-55387751A43E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E9DA2C-2BA6-994E-B123-4639FD513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C4015-0CBC-2440-8681-3247A5B1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5EB5-10A3-9242-85AD-31ADE2F3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56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D5670-F95E-0C48-972F-45EEEB4BB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C15F4-7839-9B4D-9E24-FC5D3BB4B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62746-AC36-A149-8CDB-D5C7CC922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7BD6D-03C8-0248-A80F-D48EE71A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D4698-85BA-8B42-903F-55387751A43E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562DF-A7C1-4D44-8745-12C1DFF36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D092A-91E9-9D43-8A37-CAE4E1360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5EB5-10A3-9242-85AD-31ADE2F3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5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7A972-4C7C-F947-83ED-5C0165853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2256C-9566-C84D-A311-4174459255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D033B-4910-E442-9385-84D8690AC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1DAE7-0712-B649-B3A9-19BC096E4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D4698-85BA-8B42-903F-55387751A43E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3CBF6-2A85-784D-9E07-CBB7E2F44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F5ACE3-4C49-DB42-A5CC-487E79926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5EB5-10A3-9242-85AD-31ADE2F3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1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63BDA-3E89-2141-87E6-4DC998056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4C0D8-7712-A140-BE43-89ACE8AAB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800DF-299C-6242-B36F-B7F0FE592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D4698-85BA-8B42-903F-55387751A43E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6566E-F9B9-2D46-9D89-7AB6E079A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129CB-CC4D-D945-B8CF-62E0DBF6D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5EB5-10A3-9242-85AD-31ADE2F3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6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34030A-50A0-4C47-BA68-23B140D51F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BE5B4A-5F7C-2E4D-AE18-A21F883D5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BF291-F8F0-C34F-BADE-D94D455B5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D4698-85BA-8B42-903F-55387751A43E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48A5D-18F0-B54D-B417-D3490BAB2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5C414-026A-1C4E-A833-E2277679E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5EB5-10A3-9242-85AD-31ADE2F3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68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6598F8-595E-6A41-B8B6-AF929DB65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281E7-25A5-5143-955A-528D84F3A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7EE47-17AD-3041-A819-5CEC28BC9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D4698-85BA-8B42-903F-55387751A43E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33959-6B22-954D-950A-DF92D8A75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C6B37-6ECB-EE4D-A56B-2A783F958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55EB5-10A3-9242-85AD-31ADE2F35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3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iodiversity-specimen-data/specimen-data-use-case" TargetMode="External"/><Relationship Id="rId2" Type="http://schemas.openxmlformats.org/officeDocument/2006/relationships/hyperlink" Target="https://github.com/biodiversity-specimen-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iodiversity-specimen-data/specimen-data-use-case" TargetMode="External"/><Relationship Id="rId2" Type="http://schemas.openxmlformats.org/officeDocument/2006/relationships/hyperlink" Target="https://github.com/biodiversity-specimen-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3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hyperlink" Target="https://docs.ropensci.org/taxize/" TargetMode="External"/><Relationship Id="rId10" Type="http://schemas.openxmlformats.org/officeDocument/2006/relationships/image" Target="../media/image27.png"/><Relationship Id="rId4" Type="http://schemas.openxmlformats.org/officeDocument/2006/relationships/hyperlink" Target="https://tnrs.biendata.org/" TargetMode="External"/><Relationship Id="rId9" Type="http://schemas.openxmlformats.org/officeDocument/2006/relationships/image" Target="../media/image26.tif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gaynor1/OccurrenceArchive" TargetMode="External"/><Relationship Id="rId2" Type="http://schemas.openxmlformats.org/officeDocument/2006/relationships/hyperlink" Target="https://idigbio.gbif.us/en/faq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73653"/>
            <a:ext cx="9144000" cy="2630587"/>
          </a:xfrm>
        </p:spPr>
        <p:txBody>
          <a:bodyPr>
            <a:noAutofit/>
          </a:bodyPr>
          <a:lstStyle/>
          <a:p>
            <a:r>
              <a:rPr lang="en-US" sz="7000" b="1" dirty="0">
                <a:solidFill>
                  <a:srgbClr val="0070C0"/>
                </a:solidFill>
              </a:rPr>
              <a:t>R-based Data Downloads</a:t>
            </a:r>
            <a:endParaRPr lang="en-US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09800" y="3886200"/>
            <a:ext cx="77724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7" name="Picture 6" descr="ban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29" b="18633"/>
          <a:stretch/>
        </p:blipFill>
        <p:spPr>
          <a:xfrm>
            <a:off x="-108230" y="-378237"/>
            <a:ext cx="12367364" cy="2335735"/>
          </a:xfrm>
          <a:prstGeom prst="rect">
            <a:avLst/>
          </a:prstGeom>
        </p:spPr>
      </p:pic>
      <p:pic>
        <p:nvPicPr>
          <p:cNvPr id="8" name="Picture 6" descr="https://www.idigbio.org/wiki/_media/idigbio_logo_rgb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6393" y="5687065"/>
            <a:ext cx="3299215" cy="101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12229" y="4399062"/>
            <a:ext cx="43675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rgbClr val="0070C0"/>
                </a:solidFill>
              </a:rPr>
              <a:t>Shelly Gaynor</a:t>
            </a:r>
          </a:p>
          <a:p>
            <a:pPr algn="ctr"/>
            <a:r>
              <a:rPr lang="en-US" sz="4000" dirty="0">
                <a:solidFill>
                  <a:srgbClr val="0070C0"/>
                </a:solidFill>
              </a:rPr>
              <a:t>University of Florida</a:t>
            </a:r>
          </a:p>
        </p:txBody>
      </p:sp>
    </p:spTree>
    <p:extLst>
      <p:ext uri="{BB962C8B-B14F-4D97-AF65-F5344CB8AC3E}">
        <p14:creationId xmlns:p14="http://schemas.microsoft.com/office/powerpoint/2010/main" val="3987818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D994A-96CB-2CC0-BA23-7F21D577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: </a:t>
            </a:r>
            <a:r>
              <a:rPr lang="en-US" dirty="0" err="1"/>
              <a:t>soltislab</a:t>
            </a:r>
            <a:r>
              <a:rPr lang="en-US" dirty="0"/>
              <a:t>/</a:t>
            </a:r>
            <a:r>
              <a:rPr lang="en-US" dirty="0" err="1"/>
              <a:t>BotanyENMWorkshop</a:t>
            </a:r>
            <a:r>
              <a:rPr lang="en-US" dirty="0"/>
              <a:t>/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622FDB-17AF-A0BC-03EB-81D9C2BDFF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8972" y="1416652"/>
            <a:ext cx="9754055" cy="4891557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ECAEA2-67E7-1511-3EF9-24DC01C371D0}"/>
              </a:ext>
            </a:extLst>
          </p:cNvPr>
          <p:cNvSpPr txBox="1"/>
          <p:nvPr/>
        </p:nvSpPr>
        <p:spPr>
          <a:xfrm>
            <a:off x="1010093" y="6233782"/>
            <a:ext cx="9785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See the code: https://</a:t>
            </a:r>
            <a:r>
              <a:rPr lang="en-US" sz="2800" b="1" dirty="0" err="1"/>
              <a:t>soltislab.github.io</a:t>
            </a:r>
            <a:r>
              <a:rPr lang="en-US" sz="2800" b="1" dirty="0"/>
              <a:t>/</a:t>
            </a:r>
            <a:r>
              <a:rPr lang="en-US" sz="2800" b="1" dirty="0" err="1"/>
              <a:t>BotanyENMWorkshops</a:t>
            </a:r>
            <a:r>
              <a:rPr lang="en-US" sz="2800" b="1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180433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ABF41-150B-E744-A05D-19EA062F3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Allows users to interact with a system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EDD170-DB03-8C42-B8FF-C5ACB64288F2}"/>
              </a:ext>
            </a:extLst>
          </p:cNvPr>
          <p:cNvSpPr txBox="1">
            <a:spLocks/>
          </p:cNvSpPr>
          <p:nvPr/>
        </p:nvSpPr>
        <p:spPr>
          <a:xfrm>
            <a:off x="364731" y="470171"/>
            <a:ext cx="116354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</a:t>
            </a:r>
            <a:r>
              <a:rPr lang="en-US" sz="5400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540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5400" dirty="0">
                <a:latin typeface="Calibri" panose="020F0502020204030204" pitchFamily="34" charset="0"/>
                <a:cs typeface="Calibri" panose="020F0502020204030204" pitchFamily="34" charset="0"/>
              </a:rPr>
              <a:t>pplication </a:t>
            </a:r>
            <a:r>
              <a:rPr lang="en-US" sz="540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5400" dirty="0">
                <a:latin typeface="Calibri" panose="020F0502020204030204" pitchFamily="34" charset="0"/>
                <a:cs typeface="Calibri" panose="020F0502020204030204" pitchFamily="34" charset="0"/>
              </a:rPr>
              <a:t>rogramming </a:t>
            </a:r>
            <a:r>
              <a:rPr lang="en-US" sz="540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5400" dirty="0">
                <a:latin typeface="Calibri" panose="020F0502020204030204" pitchFamily="34" charset="0"/>
                <a:cs typeface="Calibri" panose="020F0502020204030204" pitchFamily="34" charset="0"/>
              </a:rPr>
              <a:t>nterface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657272-D3F6-AF48-A8EA-33D4C3B5D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20" y="3091676"/>
            <a:ext cx="2351092" cy="24921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4FD7BF-E218-854C-8989-32320BC8B0C9}"/>
              </a:ext>
            </a:extLst>
          </p:cNvPr>
          <p:cNvSpPr txBox="1"/>
          <p:nvPr/>
        </p:nvSpPr>
        <p:spPr>
          <a:xfrm>
            <a:off x="1540702" y="5505929"/>
            <a:ext cx="1541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Database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C2CEC6-241A-F842-8811-CE29AA147536}"/>
              </a:ext>
            </a:extLst>
          </p:cNvPr>
          <p:cNvSpPr txBox="1"/>
          <p:nvPr/>
        </p:nvSpPr>
        <p:spPr>
          <a:xfrm>
            <a:off x="4606732" y="5641937"/>
            <a:ext cx="1300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Interface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496C69-62B8-1348-A2A6-2C0374A35F74}"/>
              </a:ext>
            </a:extLst>
          </p:cNvPr>
          <p:cNvSpPr/>
          <p:nvPr/>
        </p:nvSpPr>
        <p:spPr>
          <a:xfrm>
            <a:off x="4741633" y="3198030"/>
            <a:ext cx="1013784" cy="23858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D51CABAC-62B5-054F-8E78-1FCC5637F311}"/>
              </a:ext>
            </a:extLst>
          </p:cNvPr>
          <p:cNvSpPr/>
          <p:nvPr/>
        </p:nvSpPr>
        <p:spPr>
          <a:xfrm>
            <a:off x="3486812" y="4069182"/>
            <a:ext cx="934336" cy="35898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3BFB81C3-4C81-C44A-AD91-EB288C737BE0}"/>
              </a:ext>
            </a:extLst>
          </p:cNvPr>
          <p:cNvSpPr/>
          <p:nvPr/>
        </p:nvSpPr>
        <p:spPr>
          <a:xfrm>
            <a:off x="5907666" y="4158265"/>
            <a:ext cx="934336" cy="35898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1599267F-DC74-584F-B38F-A216A71789DD}"/>
              </a:ext>
            </a:extLst>
          </p:cNvPr>
          <p:cNvSpPr/>
          <p:nvPr/>
        </p:nvSpPr>
        <p:spPr>
          <a:xfrm flipH="1">
            <a:off x="5866570" y="4503587"/>
            <a:ext cx="934336" cy="35898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9B03D318-2DD8-2940-B813-168B27387098}"/>
              </a:ext>
            </a:extLst>
          </p:cNvPr>
          <p:cNvSpPr/>
          <p:nvPr/>
        </p:nvSpPr>
        <p:spPr>
          <a:xfrm flipH="1">
            <a:off x="3401064" y="4401275"/>
            <a:ext cx="934336" cy="35898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C492C6C-E87D-A645-803D-0844228C407F}"/>
              </a:ext>
            </a:extLst>
          </p:cNvPr>
          <p:cNvGrpSpPr/>
          <p:nvPr/>
        </p:nvGrpSpPr>
        <p:grpSpPr>
          <a:xfrm>
            <a:off x="7432568" y="4683077"/>
            <a:ext cx="4489382" cy="1998794"/>
            <a:chOff x="7140539" y="4683077"/>
            <a:chExt cx="4489382" cy="199879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7ED0CDC-A2CF-6C4D-B1C5-770E93205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14053" y="4884235"/>
              <a:ext cx="1139747" cy="88330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0166436-3756-2D45-80CD-9657FDE485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7152" r="26015"/>
            <a:stretch/>
          </p:blipFill>
          <p:spPr>
            <a:xfrm>
              <a:off x="8906127" y="5299818"/>
              <a:ext cx="1294536" cy="138205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67F3F0E-9FD1-1640-9289-B4D9EF1C09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2639" t="32254" r="22018" b="32575"/>
            <a:stretch/>
          </p:blipFill>
          <p:spPr>
            <a:xfrm>
              <a:off x="7241996" y="5040800"/>
              <a:ext cx="1632739" cy="543034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51F8FA-9C8B-0241-9DF0-3B8A442543D0}"/>
                </a:ext>
              </a:extLst>
            </p:cNvPr>
            <p:cNvSpPr/>
            <p:nvPr/>
          </p:nvSpPr>
          <p:spPr>
            <a:xfrm>
              <a:off x="7140539" y="4683077"/>
              <a:ext cx="4489382" cy="198864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7F76181-F72E-2C45-AB15-970DD6FA204B}"/>
              </a:ext>
            </a:extLst>
          </p:cNvPr>
          <p:cNvGrpSpPr/>
          <p:nvPr/>
        </p:nvGrpSpPr>
        <p:grpSpPr>
          <a:xfrm>
            <a:off x="8459757" y="2153457"/>
            <a:ext cx="2435004" cy="1915725"/>
            <a:chOff x="8167728" y="2153457"/>
            <a:chExt cx="2435004" cy="191572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74E8413-6EBB-BA48-9C41-23E08DA9A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67728" y="2481937"/>
              <a:ext cx="2435004" cy="158724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AE2EEE-FA0A-9248-A743-3C0C12DC8FD6}"/>
                </a:ext>
              </a:extLst>
            </p:cNvPr>
            <p:cNvSpPr txBox="1"/>
            <p:nvPr/>
          </p:nvSpPr>
          <p:spPr>
            <a:xfrm>
              <a:off x="8795197" y="2153457"/>
              <a:ext cx="1232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Web portal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E78F38B-95DD-FE47-BD8A-BD59655C84DE}"/>
              </a:ext>
            </a:extLst>
          </p:cNvPr>
          <p:cNvSpPr txBox="1"/>
          <p:nvPr/>
        </p:nvSpPr>
        <p:spPr>
          <a:xfrm>
            <a:off x="4960603" y="4197329"/>
            <a:ext cx="598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2710175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36A515-9DA6-D84C-AF9B-2881BBA0C4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4762"/>
          <a:stretch/>
        </p:blipFill>
        <p:spPr>
          <a:xfrm>
            <a:off x="1524000" y="226627"/>
            <a:ext cx="9144000" cy="31221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A0D364D-B238-7541-97D7-830FD86A43BA}"/>
              </a:ext>
            </a:extLst>
          </p:cNvPr>
          <p:cNvSpPr/>
          <p:nvPr/>
        </p:nvSpPr>
        <p:spPr>
          <a:xfrm>
            <a:off x="5526505" y="3077994"/>
            <a:ext cx="1684421" cy="64465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FCE019-D194-46EE-8D99-10BA58C27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425" r="9575" b="10609"/>
          <a:stretch/>
        </p:blipFill>
        <p:spPr>
          <a:xfrm>
            <a:off x="1524000" y="538842"/>
            <a:ext cx="9144000" cy="592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654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C9108C-4D4B-A445-8BF1-6F5951F1D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 err="1">
                <a:latin typeface="Calibri" panose="020F0502020204030204" pitchFamily="34" charset="0"/>
                <a:cs typeface="Calibri" panose="020F0502020204030204" pitchFamily="34" charset="0"/>
              </a:rPr>
              <a:t>iDigBio</a:t>
            </a:r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 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364DB5-AE13-6841-A0CB-3EAD1FE011F0}"/>
              </a:ext>
            </a:extLst>
          </p:cNvPr>
          <p:cNvSpPr/>
          <p:nvPr/>
        </p:nvSpPr>
        <p:spPr>
          <a:xfrm>
            <a:off x="1572977" y="5969740"/>
            <a:ext cx="78544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u="sng" dirty="0">
                <a:solidFill>
                  <a:srgbClr val="0366D6"/>
                </a:solidFill>
                <a:latin typeface="-apple-system"/>
                <a:hlinkClick r:id="rId2"/>
              </a:rPr>
              <a:t>biodiversity-specimen-data</a:t>
            </a:r>
            <a:r>
              <a:rPr lang="en-US" sz="2800" dirty="0">
                <a:solidFill>
                  <a:srgbClr val="24292E"/>
                </a:solidFill>
                <a:latin typeface="-apple-system"/>
              </a:rPr>
              <a:t>/</a:t>
            </a:r>
            <a:r>
              <a:rPr lang="en-US" sz="2800" b="1" dirty="0">
                <a:solidFill>
                  <a:srgbClr val="0366D6"/>
                </a:solidFill>
                <a:latin typeface="-apple-system"/>
                <a:hlinkClick r:id="rId3"/>
              </a:rPr>
              <a:t>specimen-data-use-case</a:t>
            </a:r>
            <a:endParaRPr lang="en-US" sz="2800" b="0" i="0" dirty="0">
              <a:solidFill>
                <a:srgbClr val="24292E"/>
              </a:solidFill>
              <a:effectLst/>
              <a:latin typeface="-apple-system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8DB2570-52C9-C244-A024-9B875FA4ABC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1507"/>
          <a:stretch/>
        </p:blipFill>
        <p:spPr>
          <a:xfrm>
            <a:off x="-339822" y="5506279"/>
            <a:ext cx="2344314" cy="1450143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228E47F-0E1B-8F4F-8E88-756E48B32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Multiple ways to access the API:</a:t>
            </a:r>
          </a:p>
          <a:p>
            <a:endParaRPr lang="en-US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1896755-A12A-FE4C-8366-B40293B72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630952"/>
              </p:ext>
            </p:extLst>
          </p:nvPr>
        </p:nvGraphicFramePr>
        <p:xfrm>
          <a:off x="4079809" y="2519309"/>
          <a:ext cx="380796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9989">
                  <a:extLst>
                    <a:ext uri="{9D8B030D-6E8A-4147-A177-3AD203B41FA5}">
                      <a16:colId xmlns:a16="http://schemas.microsoft.com/office/drawing/2014/main" val="1051978584"/>
                    </a:ext>
                  </a:extLst>
                </a:gridCol>
                <a:gridCol w="2117979">
                  <a:extLst>
                    <a:ext uri="{9D8B030D-6E8A-4147-A177-3AD203B41FA5}">
                      <a16:colId xmlns:a16="http://schemas.microsoft.com/office/drawing/2014/main" val="4098192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API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11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Search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ridigbio R package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&lt;100,000 records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740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Download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&gt;100,000 records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182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Record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Single record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163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Media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Single record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828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2382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C9108C-4D4B-A445-8BF1-6F5951F1D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 err="1">
                <a:latin typeface="Calibri" panose="020F0502020204030204" pitchFamily="34" charset="0"/>
                <a:cs typeface="Calibri" panose="020F0502020204030204" pitchFamily="34" charset="0"/>
              </a:rPr>
              <a:t>iDigBio</a:t>
            </a:r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 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364DB5-AE13-6841-A0CB-3EAD1FE011F0}"/>
              </a:ext>
            </a:extLst>
          </p:cNvPr>
          <p:cNvSpPr/>
          <p:nvPr/>
        </p:nvSpPr>
        <p:spPr>
          <a:xfrm>
            <a:off x="1572977" y="5969740"/>
            <a:ext cx="78544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u="sng" dirty="0">
                <a:solidFill>
                  <a:srgbClr val="0366D6"/>
                </a:solidFill>
                <a:latin typeface="-apple-system"/>
                <a:hlinkClick r:id="rId2"/>
              </a:rPr>
              <a:t>biodiversity-specimen-data</a:t>
            </a:r>
            <a:r>
              <a:rPr lang="en-US" sz="2800" dirty="0">
                <a:solidFill>
                  <a:srgbClr val="24292E"/>
                </a:solidFill>
                <a:latin typeface="-apple-system"/>
              </a:rPr>
              <a:t>/</a:t>
            </a:r>
            <a:r>
              <a:rPr lang="en-US" sz="2800" b="1" dirty="0">
                <a:solidFill>
                  <a:srgbClr val="0366D6"/>
                </a:solidFill>
                <a:latin typeface="-apple-system"/>
                <a:hlinkClick r:id="rId3"/>
              </a:rPr>
              <a:t>specimen-data-use-case</a:t>
            </a:r>
            <a:endParaRPr lang="en-US" sz="2800" b="0" i="0" dirty="0">
              <a:solidFill>
                <a:srgbClr val="24292E"/>
              </a:solidFill>
              <a:effectLst/>
              <a:latin typeface="-apple-system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8DB2570-52C9-C244-A024-9B875FA4ABC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1507"/>
          <a:stretch/>
        </p:blipFill>
        <p:spPr>
          <a:xfrm>
            <a:off x="-339822" y="5506279"/>
            <a:ext cx="2344314" cy="1450143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228E47F-0E1B-8F4F-8E88-756E48B32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Multiple ways to access the API:</a:t>
            </a:r>
          </a:p>
          <a:p>
            <a:endParaRPr lang="en-US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1896755-A12A-FE4C-8366-B40293B726AE}"/>
              </a:ext>
            </a:extLst>
          </p:cNvPr>
          <p:cNvGraphicFramePr>
            <a:graphicFrameLocks noGrp="1"/>
          </p:cNvGraphicFramePr>
          <p:nvPr/>
        </p:nvGraphicFramePr>
        <p:xfrm>
          <a:off x="4079809" y="2519309"/>
          <a:ext cx="380796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9989">
                  <a:extLst>
                    <a:ext uri="{9D8B030D-6E8A-4147-A177-3AD203B41FA5}">
                      <a16:colId xmlns:a16="http://schemas.microsoft.com/office/drawing/2014/main" val="1051978584"/>
                    </a:ext>
                  </a:extLst>
                </a:gridCol>
                <a:gridCol w="2117979">
                  <a:extLst>
                    <a:ext uri="{9D8B030D-6E8A-4147-A177-3AD203B41FA5}">
                      <a16:colId xmlns:a16="http://schemas.microsoft.com/office/drawing/2014/main" val="4098192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API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11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Search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ridigbio R package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&lt;100,000 records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740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Download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&gt;100,000 records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182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Record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Single record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163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Media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Single record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828218"/>
                  </a:ext>
                </a:extLst>
              </a:tr>
            </a:tbl>
          </a:graphicData>
        </a:graphic>
      </p:graphicFrame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A5ADBB1-B493-F3F0-A64F-B9DCD0E21490}"/>
              </a:ext>
            </a:extLst>
          </p:cNvPr>
          <p:cNvSpPr/>
          <p:nvPr/>
        </p:nvSpPr>
        <p:spPr>
          <a:xfrm>
            <a:off x="3958225" y="2805830"/>
            <a:ext cx="4045907" cy="80166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79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44B361-D3FA-3A4A-0006-0E580FE17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84365"/>
            <a:ext cx="4397158" cy="167092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5C9108C-4D4B-A445-8BF1-6F5951F1D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GBIF API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228E47F-0E1B-8F4F-8E88-756E48B32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Multiple ways to access the API:</a:t>
            </a:r>
          </a:p>
          <a:p>
            <a:endParaRPr lang="en-US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1896755-A12A-FE4C-8366-B40293B72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983521"/>
              </p:ext>
            </p:extLst>
          </p:nvPr>
        </p:nvGraphicFramePr>
        <p:xfrm>
          <a:off x="4188665" y="2307602"/>
          <a:ext cx="4574333" cy="299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0104">
                  <a:extLst>
                    <a:ext uri="{9D8B030D-6E8A-4147-A177-3AD203B41FA5}">
                      <a16:colId xmlns:a16="http://schemas.microsoft.com/office/drawing/2014/main" val="1051978584"/>
                    </a:ext>
                  </a:extLst>
                </a:gridCol>
                <a:gridCol w="2544229">
                  <a:extLst>
                    <a:ext uri="{9D8B030D-6E8A-4147-A177-3AD203B41FA5}">
                      <a16:colId xmlns:a16="http://schemas.microsoft.com/office/drawing/2014/main" val="4098192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API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11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Registry API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Create, edit, update and search for information about datasets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2424740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Species API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Taxonomy API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4050182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Occurrence API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Record API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989163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Maps API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Show maps of GBIF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484828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News API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Search papers published using GBIF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3322135591"/>
                  </a:ext>
                </a:extLst>
              </a:tr>
            </a:tbl>
          </a:graphicData>
        </a:graphic>
      </p:graphicFrame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A5ADBB1-B493-F3F0-A64F-B9DCD0E21490}"/>
              </a:ext>
            </a:extLst>
          </p:cNvPr>
          <p:cNvSpPr/>
          <p:nvPr/>
        </p:nvSpPr>
        <p:spPr>
          <a:xfrm>
            <a:off x="4188666" y="3907971"/>
            <a:ext cx="4574332" cy="381183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F37DEF-6138-BDF6-8A08-A0DD12A9B0F5}"/>
              </a:ext>
            </a:extLst>
          </p:cNvPr>
          <p:cNvSpPr txBox="1"/>
          <p:nvPr/>
        </p:nvSpPr>
        <p:spPr>
          <a:xfrm>
            <a:off x="4735285" y="607670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www.gbif.org</a:t>
            </a:r>
            <a:r>
              <a:rPr lang="en-US" dirty="0"/>
              <a:t>/developer/summary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824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402713-602A-D143-BF20-06A54A76BA7B}"/>
              </a:ext>
            </a:extLst>
          </p:cNvPr>
          <p:cNvSpPr/>
          <p:nvPr/>
        </p:nvSpPr>
        <p:spPr>
          <a:xfrm>
            <a:off x="457200" y="457200"/>
            <a:ext cx="468185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dirty="0">
                <a:solidFill>
                  <a:prstClr val="black"/>
                </a:solidFill>
                <a:latin typeface="+mj-lt"/>
                <a:ea typeface="+mj-ea"/>
                <a:cs typeface="+mj-cs"/>
              </a:rPr>
              <a:t>Load Packages</a:t>
            </a:r>
            <a:endParaRPr lang="en-US" sz="2800" dirty="0">
              <a:latin typeface="+mj-lt"/>
            </a:endParaRPr>
          </a:p>
        </p:txBody>
      </p:sp>
      <p:sp>
        <p:nvSpPr>
          <p:cNvPr id="2" name="AutoShape 2" descr="iNaturalist">
            <a:extLst>
              <a:ext uri="{FF2B5EF4-FFF2-40B4-BE49-F238E27FC236}">
                <a16:creationId xmlns:a16="http://schemas.microsoft.com/office/drawing/2014/main" id="{24E08110-2325-447A-9CF7-619FF65346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1D2C867-3FE3-0E54-81AA-4BA94AE74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111" y="1890908"/>
            <a:ext cx="8004977" cy="16904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4A28B1-8A76-5470-FEF8-845D95137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604" y="4967092"/>
            <a:ext cx="1574800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86D4B7-190C-1E8F-2A8D-6F22FBC27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919" y="5373661"/>
            <a:ext cx="3364384" cy="10156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F53610-CFFF-10C7-690B-900F19E9F9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8704" y="5379842"/>
            <a:ext cx="38100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876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7EEF1-F348-A640-B8E0-A25E40E73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First, we are searching for the species </a:t>
            </a:r>
            <a:r>
              <a:rPr lang="en-US" i="1" dirty="0"/>
              <a:t>Galax urceolata</a:t>
            </a:r>
          </a:p>
          <a:p>
            <a:r>
              <a:rPr lang="en-US" dirty="0"/>
              <a:t>Next, download occurrence records for the family </a:t>
            </a:r>
            <a:r>
              <a:rPr lang="en-US" dirty="0" err="1"/>
              <a:t>Diapensiaceae</a:t>
            </a:r>
            <a:r>
              <a:rPr lang="en-US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E2C31B-B87F-CB4E-888E-03D4F8C05736}"/>
              </a:ext>
            </a:extLst>
          </p:cNvPr>
          <p:cNvSpPr/>
          <p:nvPr/>
        </p:nvSpPr>
        <p:spPr>
          <a:xfrm>
            <a:off x="457200" y="457200"/>
            <a:ext cx="1023844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>
                <a:solidFill>
                  <a:prstClr val="black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Downloading data using ridigbio</a:t>
            </a:r>
            <a:endParaRPr lang="en-US" sz="6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008F4F-A1D7-7940-AD39-DCAFBFB85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502" y="3006247"/>
            <a:ext cx="8656415" cy="338446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31D6514-9F5C-56D2-4A99-1CEDCDE61C8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870" b="99513" l="7185" r="91349">
                        <a14:foregroundMark x1="62170" y1="11364" x2="62170" y2="11364"/>
                        <a14:foregroundMark x1="61730" y1="8442" x2="61730" y2="8442"/>
                        <a14:foregroundMark x1="7918" y1="44481" x2="7918" y2="44481"/>
                        <a14:foregroundMark x1="7185" y1="48539" x2="7185" y2="48539"/>
                        <a14:foregroundMark x1="91056" y1="57305" x2="91056" y2="57305"/>
                        <a14:foregroundMark x1="91056" y1="53084" x2="91056" y2="53084"/>
                        <a14:foregroundMark x1="91202" y1="49675" x2="91202" y2="49675"/>
                        <a14:foregroundMark x1="91056" y1="45617" x2="91056" y2="45617"/>
                        <a14:foregroundMark x1="48094" y1="66558" x2="48094" y2="66558"/>
                        <a14:foregroundMark x1="56158" y1="5032" x2="56158" y2="5032"/>
                        <a14:foregroundMark x1="75367" y1="17695" x2="75367" y2="17695"/>
                        <a14:foregroundMark x1="91349" y1="62013" x2="91349" y2="620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12989" y="3194135"/>
            <a:ext cx="1788460" cy="161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479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5A79203-0744-D549-8A6C-7B865A6A1047}"/>
              </a:ext>
            </a:extLst>
          </p:cNvPr>
          <p:cNvSpPr/>
          <p:nvPr/>
        </p:nvSpPr>
        <p:spPr>
          <a:xfrm>
            <a:off x="457200" y="457200"/>
            <a:ext cx="953395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dirty="0">
                <a:solidFill>
                  <a:prstClr val="black"/>
                </a:solidFill>
                <a:latin typeface="Helvetica" pitchFamily="2" charset="0"/>
                <a:ea typeface="+mj-ea"/>
                <a:cs typeface="+mj-cs"/>
              </a:rPr>
              <a:t>Records only in North America</a:t>
            </a:r>
            <a:endParaRPr lang="en-US" sz="2400" dirty="0"/>
          </a:p>
        </p:txBody>
      </p:sp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A72BF9B6-10E9-E54F-8A24-52CABF7E7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033" y="1594372"/>
            <a:ext cx="8719935" cy="465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949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42608-30FE-4DEF-54BE-F16AF9CE0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map&#10;&#10;Description automatically generated">
            <a:extLst>
              <a:ext uri="{FF2B5EF4-FFF2-40B4-BE49-F238E27FC236}">
                <a16:creationId xmlns:a16="http://schemas.microsoft.com/office/drawing/2014/main" id="{A3C12E07-A66A-AE0B-DF90-40B858EFC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836" r="-1"/>
          <a:stretch/>
        </p:blipFill>
        <p:spPr>
          <a:xfrm>
            <a:off x="551144" y="365125"/>
            <a:ext cx="11184011" cy="6069706"/>
          </a:xfrm>
        </p:spPr>
      </p:pic>
    </p:spTree>
    <p:extLst>
      <p:ext uri="{BB962C8B-B14F-4D97-AF65-F5344CB8AC3E}">
        <p14:creationId xmlns:p14="http://schemas.microsoft.com/office/powerpoint/2010/main" val="256353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707893-B30B-FF29-9018-483588D6330E}"/>
              </a:ext>
            </a:extLst>
          </p:cNvPr>
          <p:cNvSpPr/>
          <p:nvPr/>
        </p:nvSpPr>
        <p:spPr>
          <a:xfrm>
            <a:off x="457200" y="457200"/>
            <a:ext cx="391645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dirty="0">
                <a:solidFill>
                  <a:prstClr val="black"/>
                </a:solidFill>
                <a:latin typeface="Helvetica" pitchFamily="2" charset="0"/>
                <a:ea typeface="+mj-ea"/>
                <a:cs typeface="+mj-cs"/>
              </a:rPr>
              <a:t>Save as csv</a:t>
            </a:r>
            <a:endParaRPr lang="en-US" sz="2400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638C4B-374B-0534-781A-EE918E4332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77"/>
          <a:stretch>
            <a:fillRect/>
          </a:stretch>
        </p:blipFill>
        <p:spPr>
          <a:xfrm>
            <a:off x="1001367" y="1736035"/>
            <a:ext cx="9896967" cy="235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962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24B0E6-3807-F14A-B112-4D1BCCBA5EF7}"/>
              </a:ext>
            </a:extLst>
          </p:cNvPr>
          <p:cNvSpPr/>
          <p:nvPr/>
        </p:nvSpPr>
        <p:spPr>
          <a:xfrm>
            <a:off x="647271" y="426700"/>
            <a:ext cx="900887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dirty="0">
                <a:solidFill>
                  <a:prstClr val="black"/>
                </a:solidFill>
                <a:ea typeface="+mj-ea"/>
                <a:cs typeface="+mj-cs"/>
              </a:rPr>
              <a:t>Data download using </a:t>
            </a:r>
            <a:r>
              <a:rPr lang="en-US" sz="6000" dirty="0" err="1">
                <a:solidFill>
                  <a:prstClr val="black"/>
                </a:solidFill>
                <a:ea typeface="+mj-ea"/>
                <a:cs typeface="+mj-cs"/>
              </a:rPr>
              <a:t>gatoRs</a:t>
            </a:r>
            <a:endParaRPr lang="en-US" sz="6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875125-10E0-CA4C-8F3D-FF7293DDD05D}"/>
              </a:ext>
            </a:extLst>
          </p:cNvPr>
          <p:cNvGrpSpPr>
            <a:grpSpLocks noChangeAspect="1"/>
          </p:cNvGrpSpPr>
          <p:nvPr/>
        </p:nvGrpSpPr>
        <p:grpSpPr>
          <a:xfrm>
            <a:off x="129010" y="2362998"/>
            <a:ext cx="2842419" cy="2132004"/>
            <a:chOff x="806165" y="405028"/>
            <a:chExt cx="1338036" cy="100361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4A6CD72-9DE9-6349-ABFC-4D4EFC9EF7D2}"/>
                </a:ext>
              </a:extLst>
            </p:cNvPr>
            <p:cNvSpPr/>
            <p:nvPr/>
          </p:nvSpPr>
          <p:spPr>
            <a:xfrm>
              <a:off x="806165" y="405028"/>
              <a:ext cx="1338036" cy="100361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ACF3BA3-A8F4-964E-B98B-54FB09186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7983" y="613780"/>
              <a:ext cx="914400" cy="28270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AA58BA2-3286-3247-9A77-A1E3FA8DE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6459" y="863690"/>
              <a:ext cx="917448" cy="45720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F6F925E-A669-6E48-94E0-96C8E142FD5C}"/>
              </a:ext>
            </a:extLst>
          </p:cNvPr>
          <p:cNvSpPr txBox="1"/>
          <p:nvPr/>
        </p:nvSpPr>
        <p:spPr>
          <a:xfrm>
            <a:off x="2971429" y="1622359"/>
            <a:ext cx="839288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To pull data from GBIF and iDigBio for a set of synonyms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Identifying synonyms: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Taxonomic Name Resolution Service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>
                <a:hlinkClick r:id="rId4"/>
              </a:rPr>
              <a:t>https://tnrs.biendata.org/</a:t>
            </a:r>
            <a:endParaRPr lang="en-US" sz="28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/>
              <a:t>Used in </a:t>
            </a:r>
            <a:r>
              <a:rPr lang="en-US" sz="2800" dirty="0" err="1"/>
              <a:t>soltislab</a:t>
            </a:r>
            <a:r>
              <a:rPr lang="en-US" sz="2800" dirty="0"/>
              <a:t>/</a:t>
            </a:r>
            <a:r>
              <a:rPr lang="en-US" sz="2800" dirty="0" err="1"/>
              <a:t>BotanyENMWorkshops</a:t>
            </a:r>
            <a:r>
              <a:rPr lang="en-US" sz="2800" dirty="0"/>
              <a:t> 2020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R package </a:t>
            </a:r>
            <a:r>
              <a:rPr lang="en-US" sz="2800" dirty="0" err="1"/>
              <a:t>taxize</a:t>
            </a:r>
            <a:endParaRPr lang="en-US" sz="28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/>
              <a:t>20 sources for synonyms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>
                <a:hlinkClick r:id="rId5"/>
              </a:rPr>
              <a:t>https://docs.ropensci.org/taxize/</a:t>
            </a:r>
            <a:endParaRPr lang="en-US" sz="2800" dirty="0"/>
          </a:p>
          <a:p>
            <a:pPr lvl="2"/>
            <a:endParaRPr 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F3DD5E-5C64-C84B-A8DE-4CBE0F71FD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010" y="6063342"/>
            <a:ext cx="1174269" cy="7404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4AEDC2-27EB-6441-8D1E-AB9235C0D7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3690" y="5978536"/>
            <a:ext cx="1709057" cy="9100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80A2BB-BD10-1946-A241-2EF2439D5A8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67320"/>
          <a:stretch/>
        </p:blipFill>
        <p:spPr>
          <a:xfrm>
            <a:off x="3453158" y="6141063"/>
            <a:ext cx="2490221" cy="685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14C074-E079-E944-8FC4-83185EF9031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46127"/>
          <a:stretch/>
        </p:blipFill>
        <p:spPr>
          <a:xfrm>
            <a:off x="6163790" y="6099594"/>
            <a:ext cx="1948956" cy="7036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5169D45-B042-8E49-8AEF-B9BC33E610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3157" y="5858038"/>
            <a:ext cx="968825" cy="968825"/>
          </a:xfrm>
          <a:prstGeom prst="rect">
            <a:avLst/>
          </a:prstGeom>
        </p:spPr>
      </p:pic>
      <p:pic>
        <p:nvPicPr>
          <p:cNvPr id="16" name="Picture 15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EB1D0622-6220-A847-BBB4-A7B944549B5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2392" y="6235983"/>
            <a:ext cx="2599871" cy="5908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907A21-66F0-9EAF-640F-E3BC38783C0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29935" y="31137"/>
            <a:ext cx="1692328" cy="16923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59EDE1-AE90-C73E-020F-8FA8EADC423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76164" y="3675033"/>
            <a:ext cx="1156583" cy="134312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B4AC502-3363-9E2F-2EB8-505F48BF73D8}"/>
              </a:ext>
            </a:extLst>
          </p:cNvPr>
          <p:cNvSpPr txBox="1"/>
          <p:nvPr/>
        </p:nvSpPr>
        <p:spPr>
          <a:xfrm>
            <a:off x="10521790" y="1634511"/>
            <a:ext cx="1508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Natalie Patten</a:t>
            </a:r>
          </a:p>
        </p:txBody>
      </p:sp>
    </p:spTree>
    <p:extLst>
      <p:ext uri="{BB962C8B-B14F-4D97-AF65-F5344CB8AC3E}">
        <p14:creationId xmlns:p14="http://schemas.microsoft.com/office/powerpoint/2010/main" val="1252229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graph with blue and orange squares&#10;&#10;Description automatically generated">
            <a:extLst>
              <a:ext uri="{FF2B5EF4-FFF2-40B4-BE49-F238E27FC236}">
                <a16:creationId xmlns:a16="http://schemas.microsoft.com/office/drawing/2014/main" id="{0973EFE9-9433-5C22-08C4-7C6B09F7E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1887"/>
          <a:stretch/>
        </p:blipFill>
        <p:spPr>
          <a:xfrm>
            <a:off x="1420680" y="1204909"/>
            <a:ext cx="10675879" cy="304052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CCFF45D-5123-E6B1-DC69-0752EC00D101}"/>
              </a:ext>
            </a:extLst>
          </p:cNvPr>
          <p:cNvSpPr/>
          <p:nvPr/>
        </p:nvSpPr>
        <p:spPr>
          <a:xfrm>
            <a:off x="1591562" y="457200"/>
            <a:ext cx="812440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dirty="0">
                <a:solidFill>
                  <a:prstClr val="black"/>
                </a:solidFill>
                <a:ea typeface="+mj-ea"/>
                <a:cs typeface="+mj-cs"/>
              </a:rPr>
              <a:t>Why should I use </a:t>
            </a:r>
            <a:r>
              <a:rPr lang="en-US" sz="6000" dirty="0" err="1">
                <a:solidFill>
                  <a:prstClr val="black"/>
                </a:solidFill>
                <a:ea typeface="+mj-ea"/>
                <a:cs typeface="+mj-cs"/>
              </a:rPr>
              <a:t>gatoRs</a:t>
            </a:r>
            <a:r>
              <a:rPr lang="en-US" sz="6000" dirty="0">
                <a:solidFill>
                  <a:prstClr val="black"/>
                </a:solidFill>
                <a:ea typeface="+mj-ea"/>
                <a:cs typeface="+mj-cs"/>
              </a:rPr>
              <a:t>?</a:t>
            </a:r>
            <a:endParaRPr lang="en-US" sz="6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B7A8C2-B52F-D849-2D1E-F5518B295019}"/>
              </a:ext>
            </a:extLst>
          </p:cNvPr>
          <p:cNvSpPr txBox="1"/>
          <p:nvPr/>
        </p:nvSpPr>
        <p:spPr>
          <a:xfrm>
            <a:off x="768354" y="4341871"/>
            <a:ext cx="51715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Patten et al. 2024. Applications in Plant Science.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E6F9E-EE05-C8C1-FB53-D4E03E208315}"/>
              </a:ext>
            </a:extLst>
          </p:cNvPr>
          <p:cNvSpPr txBox="1"/>
          <p:nvPr/>
        </p:nvSpPr>
        <p:spPr>
          <a:xfrm>
            <a:off x="5255223" y="3891662"/>
            <a:ext cx="2175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Downloaded Records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BF17C2-8933-83E1-0071-A1843839E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82" y="1982373"/>
            <a:ext cx="789432" cy="914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098E81-B641-77C1-18A9-D17CEAD3B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82" y="2906878"/>
            <a:ext cx="787401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2DF5E11-2DE2-DEC8-80F5-FA48590A0F10}"/>
              </a:ext>
            </a:extLst>
          </p:cNvPr>
          <p:cNvSpPr txBox="1"/>
          <p:nvPr/>
        </p:nvSpPr>
        <p:spPr>
          <a:xfrm>
            <a:off x="6659110" y="3059668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iDigBio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5EB075-5356-EF67-022B-2888A3730AAE}"/>
              </a:ext>
            </a:extLst>
          </p:cNvPr>
          <p:cNvSpPr txBox="1"/>
          <p:nvPr/>
        </p:nvSpPr>
        <p:spPr>
          <a:xfrm>
            <a:off x="4966567" y="3059668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GBIF</a:t>
            </a:r>
          </a:p>
        </p:txBody>
      </p:sp>
    </p:spTree>
    <p:extLst>
      <p:ext uri="{BB962C8B-B14F-4D97-AF65-F5344CB8AC3E}">
        <p14:creationId xmlns:p14="http://schemas.microsoft.com/office/powerpoint/2010/main" val="2071097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0397B-8659-DAE7-2198-91036FA4A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F0869A-009F-459B-4E15-EC08482BBB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870" b="99513" l="7185" r="91349">
                        <a14:foregroundMark x1="62170" y1="11364" x2="62170" y2="11364"/>
                        <a14:foregroundMark x1="61730" y1="8442" x2="61730" y2="8442"/>
                        <a14:foregroundMark x1="7918" y1="44481" x2="7918" y2="44481"/>
                        <a14:foregroundMark x1="7185" y1="48539" x2="7185" y2="48539"/>
                        <a14:foregroundMark x1="91056" y1="57305" x2="91056" y2="57305"/>
                        <a14:foregroundMark x1="91056" y1="53084" x2="91056" y2="53084"/>
                        <a14:foregroundMark x1="91202" y1="49675" x2="91202" y2="49675"/>
                        <a14:foregroundMark x1="91056" y1="45617" x2="91056" y2="45617"/>
                        <a14:foregroundMark x1="48094" y1="66558" x2="48094" y2="66558"/>
                        <a14:foregroundMark x1="56158" y1="5032" x2="56158" y2="5032"/>
                        <a14:foregroundMark x1="75367" y1="17695" x2="75367" y2="17695"/>
                        <a14:foregroundMark x1="91349" y1="62013" x2="91349" y2="620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18759" y="136650"/>
            <a:ext cx="2271094" cy="20499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82CCB9-7110-D4A6-7E67-42972FEE6780}"/>
              </a:ext>
            </a:extLst>
          </p:cNvPr>
          <p:cNvSpPr txBox="1"/>
          <p:nvPr/>
        </p:nvSpPr>
        <p:spPr>
          <a:xfrm>
            <a:off x="9532419" y="2321545"/>
            <a:ext cx="1658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Galax urceolata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11D6D49-014F-CB89-9369-81580E1CC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80663"/>
            <a:ext cx="7772400" cy="629667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916AD6B-DAC2-7333-D1DA-C31674F5F1EC}"/>
              </a:ext>
            </a:extLst>
          </p:cNvPr>
          <p:cNvSpPr txBox="1"/>
          <p:nvPr/>
        </p:nvSpPr>
        <p:spPr>
          <a:xfrm>
            <a:off x="5838853" y="6492875"/>
            <a:ext cx="6360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mlgaynor.com</a:t>
            </a:r>
            <a:r>
              <a:rPr lang="en-US" dirty="0"/>
              <a:t>/DEMO-Gaynor-2024/Gaynor-DEMO01.html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4B04CD-ED80-F2ED-CCF5-960E08178079}"/>
              </a:ext>
            </a:extLst>
          </p:cNvPr>
          <p:cNvSpPr txBox="1"/>
          <p:nvPr/>
        </p:nvSpPr>
        <p:spPr>
          <a:xfrm>
            <a:off x="2329578" y="977481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iDigBio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DFACD0-CE43-7C1B-AE95-602C2F6F44F5}"/>
              </a:ext>
            </a:extLst>
          </p:cNvPr>
          <p:cNvSpPr txBox="1"/>
          <p:nvPr/>
        </p:nvSpPr>
        <p:spPr>
          <a:xfrm>
            <a:off x="5587090" y="977481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GBIF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B5D01F-C45A-FE3F-397C-D512AE3175DA}"/>
              </a:ext>
            </a:extLst>
          </p:cNvPr>
          <p:cNvSpPr txBox="1"/>
          <p:nvPr/>
        </p:nvSpPr>
        <p:spPr>
          <a:xfrm>
            <a:off x="2329578" y="2346221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iDigBio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B5026B-DDF4-3A3C-AB2E-52E1EC4BDADB}"/>
              </a:ext>
            </a:extLst>
          </p:cNvPr>
          <p:cNvSpPr txBox="1"/>
          <p:nvPr/>
        </p:nvSpPr>
        <p:spPr>
          <a:xfrm>
            <a:off x="5436525" y="2346221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GBIF</a:t>
            </a:r>
          </a:p>
        </p:txBody>
      </p:sp>
    </p:spTree>
    <p:extLst>
      <p:ext uri="{BB962C8B-B14F-4D97-AF65-F5344CB8AC3E}">
        <p14:creationId xmlns:p14="http://schemas.microsoft.com/office/powerpoint/2010/main" val="469515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80114-F73C-ED8C-FC6B-415DAAE15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2026, </a:t>
            </a:r>
            <a:r>
              <a:rPr lang="en-US" sz="2400" u="sng" dirty="0">
                <a:hlinkClick r:id="rId2"/>
              </a:rPr>
              <a:t>iDigBio moved to a GBIF hosted portal</a:t>
            </a:r>
            <a:r>
              <a:rPr lang="en-US" sz="2400" dirty="0"/>
              <a:t> due to the end of their funding. </a:t>
            </a:r>
          </a:p>
          <a:p>
            <a:r>
              <a:rPr lang="en-US" sz="2400" dirty="0"/>
              <a:t>A small subset of data providers did not move their </a:t>
            </a:r>
            <a:r>
              <a:rPr lang="en-US" sz="2400" dirty="0" err="1"/>
              <a:t>recordsets</a:t>
            </a:r>
            <a:r>
              <a:rPr lang="en-US" sz="2400" dirty="0"/>
              <a:t> over to the new hosted portal. This includes about 1.7 million records. </a:t>
            </a:r>
          </a:p>
          <a:p>
            <a:r>
              <a:rPr lang="en-US" sz="2400" dirty="0"/>
              <a:t>In 2026, we modified </a:t>
            </a:r>
            <a:r>
              <a:rPr lang="en-US" sz="2400" dirty="0" err="1"/>
              <a:t>gators_download</a:t>
            </a:r>
            <a:r>
              <a:rPr lang="en-US" sz="2400" dirty="0"/>
              <a:t>() to pull these records from a GitHub-hosted archived download of these </a:t>
            </a:r>
            <a:r>
              <a:rPr lang="en-US" sz="2400" dirty="0" err="1"/>
              <a:t>recordsets</a:t>
            </a:r>
            <a:r>
              <a:rPr lang="en-US" sz="2400" dirty="0"/>
              <a:t> (downloaded on June 28, 2026). </a:t>
            </a:r>
          </a:p>
          <a:p>
            <a:r>
              <a:rPr lang="en-US" sz="2400" dirty="0"/>
              <a:t>The full archived data set can be found on </a:t>
            </a:r>
            <a:r>
              <a:rPr lang="en-US" sz="2400" u="sng" dirty="0">
                <a:hlinkClick r:id="rId3"/>
              </a:rPr>
              <a:t>mgaynor1/OccurrenceArchive</a:t>
            </a:r>
            <a:r>
              <a:rPr lang="en-US" sz="2400" dirty="0"/>
              <a:t>.</a:t>
            </a:r>
          </a:p>
          <a:p>
            <a:r>
              <a:rPr lang="en-US" sz="2400" dirty="0"/>
              <a:t>Increases time to download.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28E510-B73A-DF74-2DFA-2FB05D3D5EBF}"/>
              </a:ext>
            </a:extLst>
          </p:cNvPr>
          <p:cNvSpPr/>
          <p:nvPr/>
        </p:nvSpPr>
        <p:spPr>
          <a:xfrm>
            <a:off x="1591562" y="457200"/>
            <a:ext cx="768890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dirty="0" err="1">
                <a:solidFill>
                  <a:prstClr val="black"/>
                </a:solidFill>
                <a:ea typeface="+mj-ea"/>
                <a:cs typeface="+mj-cs"/>
              </a:rPr>
              <a:t>gatoRs</a:t>
            </a:r>
            <a:r>
              <a:rPr lang="en-US" sz="6000" dirty="0">
                <a:solidFill>
                  <a:prstClr val="black"/>
                </a:solidFill>
                <a:ea typeface="+mj-ea"/>
                <a:cs typeface="+mj-cs"/>
              </a:rPr>
              <a:t> Update - iDigBio 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523943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41F8F9A-A5CB-4257-E859-4F196E0DEBAA}"/>
              </a:ext>
            </a:extLst>
          </p:cNvPr>
          <p:cNvGrpSpPr/>
          <p:nvPr/>
        </p:nvGrpSpPr>
        <p:grpSpPr>
          <a:xfrm>
            <a:off x="531418" y="332623"/>
            <a:ext cx="2339833" cy="2257939"/>
            <a:chOff x="359300" y="4437125"/>
            <a:chExt cx="2339833" cy="225793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E06A0CD-7A63-3101-8D6E-3BD9D03E6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9300" y="4437125"/>
              <a:ext cx="2339833" cy="225793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3C24EF2-458A-6EE1-705B-36863247E931}"/>
                </a:ext>
              </a:extLst>
            </p:cNvPr>
            <p:cNvSpPr txBox="1"/>
            <p:nvPr/>
          </p:nvSpPr>
          <p:spPr>
            <a:xfrm>
              <a:off x="591908" y="6316173"/>
              <a:ext cx="18746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solidFill>
                    <a:schemeClr val="bg1"/>
                  </a:solidFill>
                </a:rPr>
                <a:t>Shortia galacifolia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25A55DD-B893-E5BB-2108-71F91D11196B}"/>
              </a:ext>
            </a:extLst>
          </p:cNvPr>
          <p:cNvGrpSpPr/>
          <p:nvPr/>
        </p:nvGrpSpPr>
        <p:grpSpPr>
          <a:xfrm>
            <a:off x="3263877" y="332623"/>
            <a:ext cx="1899080" cy="2257938"/>
            <a:chOff x="3091759" y="4437125"/>
            <a:chExt cx="1899080" cy="225793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FCBF987-5567-1BB6-4DB8-02CD989DC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294" b="15646"/>
            <a:stretch>
              <a:fillRect/>
            </a:stretch>
          </p:blipFill>
          <p:spPr>
            <a:xfrm>
              <a:off x="3091759" y="4437125"/>
              <a:ext cx="1899080" cy="225793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B31DE-98DE-8643-FD6D-816DA5A69649}"/>
                </a:ext>
              </a:extLst>
            </p:cNvPr>
            <p:cNvSpPr txBox="1"/>
            <p:nvPr/>
          </p:nvSpPr>
          <p:spPr>
            <a:xfrm>
              <a:off x="3212290" y="6316173"/>
              <a:ext cx="16580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solidFill>
                    <a:schemeClr val="bg1"/>
                  </a:solidFill>
                </a:rPr>
                <a:t>Galax urceolata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6670865-E3A3-9642-C29E-14908B341D63}"/>
              </a:ext>
            </a:extLst>
          </p:cNvPr>
          <p:cNvGrpSpPr/>
          <p:nvPr/>
        </p:nvGrpSpPr>
        <p:grpSpPr>
          <a:xfrm>
            <a:off x="8924904" y="361727"/>
            <a:ext cx="2937456" cy="2219276"/>
            <a:chOff x="8752786" y="4466229"/>
            <a:chExt cx="2937456" cy="221927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0CF9B2D-4714-B71C-8F4E-B77BDDFF6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14319"/>
            <a:stretch>
              <a:fillRect/>
            </a:stretch>
          </p:blipFill>
          <p:spPr>
            <a:xfrm>
              <a:off x="8752786" y="4466229"/>
              <a:ext cx="2937456" cy="219973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7B1E41-4E30-4078-1F83-71EB7F6B124C}"/>
                </a:ext>
              </a:extLst>
            </p:cNvPr>
            <p:cNvSpPr txBox="1"/>
            <p:nvPr/>
          </p:nvSpPr>
          <p:spPr>
            <a:xfrm>
              <a:off x="9050489" y="6316173"/>
              <a:ext cx="23420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solidFill>
                    <a:schemeClr val="bg1"/>
                  </a:solidFill>
                </a:rPr>
                <a:t>Pyxidanthera brevifolia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5C9E77-FF93-AB00-ED86-5D6234E0DBCF}"/>
              </a:ext>
            </a:extLst>
          </p:cNvPr>
          <p:cNvGrpSpPr/>
          <p:nvPr/>
        </p:nvGrpSpPr>
        <p:grpSpPr>
          <a:xfrm>
            <a:off x="5441095" y="382092"/>
            <a:ext cx="3251200" cy="2198911"/>
            <a:chOff x="5268977" y="4486594"/>
            <a:chExt cx="3251200" cy="219891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56E460E-BF48-3D34-6C66-AB674D94B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68977" y="4486594"/>
              <a:ext cx="3251200" cy="21590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F8360D8-FD72-8549-DDA4-4443CDF0571A}"/>
                </a:ext>
              </a:extLst>
            </p:cNvPr>
            <p:cNvSpPr txBox="1"/>
            <p:nvPr/>
          </p:nvSpPr>
          <p:spPr>
            <a:xfrm>
              <a:off x="5701334" y="6316173"/>
              <a:ext cx="23864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solidFill>
                    <a:schemeClr val="bg1"/>
                  </a:solidFill>
                </a:rPr>
                <a:t>Pyxidanthera barbulata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F20046FA-6F6B-88AA-E77D-6FDC9472C0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715" y="2848830"/>
            <a:ext cx="4002571" cy="283599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523B80C-F013-F431-7619-8FB35CB6D01F}"/>
              </a:ext>
            </a:extLst>
          </p:cNvPr>
          <p:cNvSpPr txBox="1"/>
          <p:nvPr/>
        </p:nvSpPr>
        <p:spPr>
          <a:xfrm>
            <a:off x="4427383" y="5657671"/>
            <a:ext cx="28921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Diapensiaceae</a:t>
            </a:r>
          </a:p>
          <a:p>
            <a:pPr algn="ctr"/>
            <a:r>
              <a:rPr lang="en-US" sz="3600" dirty="0"/>
              <a:t>Ericales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8D03199-A5C5-08D8-573A-C07541CF9DCD}"/>
              </a:ext>
            </a:extLst>
          </p:cNvPr>
          <p:cNvSpPr/>
          <p:nvPr/>
        </p:nvSpPr>
        <p:spPr>
          <a:xfrm>
            <a:off x="7242403" y="3886395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55AC9E9-47CC-EC5C-14CF-6947A5779AE1}"/>
              </a:ext>
            </a:extLst>
          </p:cNvPr>
          <p:cNvSpPr/>
          <p:nvPr/>
        </p:nvSpPr>
        <p:spPr>
          <a:xfrm>
            <a:off x="7105243" y="5229482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AFCEB1F-62B2-E4E9-E3DE-E8F6AEAB80D3}"/>
              </a:ext>
            </a:extLst>
          </p:cNvPr>
          <p:cNvSpPr/>
          <p:nvPr/>
        </p:nvSpPr>
        <p:spPr>
          <a:xfrm>
            <a:off x="7960126" y="4759193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1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box with red text&#10;&#10;Description automatically generated">
            <a:extLst>
              <a:ext uri="{FF2B5EF4-FFF2-40B4-BE49-F238E27FC236}">
                <a16:creationId xmlns:a16="http://schemas.microsoft.com/office/drawing/2014/main" id="{F2ECDD8C-9122-99B2-487B-673D6ECF9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285" y="1689136"/>
            <a:ext cx="10076574" cy="283251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F24B0E6-3807-F14A-B112-4D1BCCBA5EF7}"/>
              </a:ext>
            </a:extLst>
          </p:cNvPr>
          <p:cNvSpPr/>
          <p:nvPr/>
        </p:nvSpPr>
        <p:spPr>
          <a:xfrm>
            <a:off x="0" y="504611"/>
            <a:ext cx="1205477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dirty="0">
                <a:solidFill>
                  <a:prstClr val="black"/>
                </a:solidFill>
                <a:ea typeface="+mj-ea"/>
                <a:cs typeface="+mj-cs"/>
              </a:rPr>
              <a:t>Data download using </a:t>
            </a:r>
            <a:r>
              <a:rPr lang="en-US" sz="6000" dirty="0" err="1">
                <a:solidFill>
                  <a:prstClr val="black"/>
                </a:solidFill>
                <a:ea typeface="+mj-ea"/>
                <a:cs typeface="+mj-cs"/>
              </a:rPr>
              <a:t>gator_download</a:t>
            </a:r>
            <a:endParaRPr lang="en-US" sz="6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A2F86F-BA89-FF4A-BF95-19E6EF98E850}"/>
              </a:ext>
            </a:extLst>
          </p:cNvPr>
          <p:cNvSpPr txBox="1"/>
          <p:nvPr/>
        </p:nvSpPr>
        <p:spPr>
          <a:xfrm>
            <a:off x="2221746" y="2026859"/>
            <a:ext cx="119531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Object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C38C14-FBF1-0B4C-B311-C01AA85F2AB3}"/>
              </a:ext>
            </a:extLst>
          </p:cNvPr>
          <p:cNvSpPr txBox="1"/>
          <p:nvPr/>
        </p:nvSpPr>
        <p:spPr>
          <a:xfrm>
            <a:off x="6422572" y="1928889"/>
            <a:ext cx="2950027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List of strings</a:t>
            </a:r>
          </a:p>
        </p:txBody>
      </p:sp>
    </p:spTree>
    <p:extLst>
      <p:ext uri="{BB962C8B-B14F-4D97-AF65-F5344CB8AC3E}">
        <p14:creationId xmlns:p14="http://schemas.microsoft.com/office/powerpoint/2010/main" val="1627407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24B0E6-3807-F14A-B112-4D1BCCBA5EF7}"/>
              </a:ext>
            </a:extLst>
          </p:cNvPr>
          <p:cNvSpPr/>
          <p:nvPr/>
        </p:nvSpPr>
        <p:spPr>
          <a:xfrm>
            <a:off x="457200" y="457200"/>
            <a:ext cx="1113279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dirty="0">
                <a:solidFill>
                  <a:prstClr val="black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Data download using </a:t>
            </a:r>
            <a:r>
              <a:rPr lang="en-US" sz="5400" dirty="0" err="1">
                <a:solidFill>
                  <a:prstClr val="black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gators_download</a:t>
            </a:r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316A63-8C1E-E74A-BE74-C8F39D435EFB}"/>
              </a:ext>
            </a:extLst>
          </p:cNvPr>
          <p:cNvSpPr txBox="1"/>
          <p:nvPr/>
        </p:nvSpPr>
        <p:spPr>
          <a:xfrm>
            <a:off x="6159025" y="1509855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,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BB5B26-87F9-674D-EAA4-FABA0FD23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021" y="4986541"/>
            <a:ext cx="1574800" cy="1828800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2E361C6C-F8C0-B7E2-3399-2A1C3E649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301" y="2156185"/>
            <a:ext cx="8841720" cy="28436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3BE2FC-4746-684B-9885-12D0A657357A}"/>
              </a:ext>
            </a:extLst>
          </p:cNvPr>
          <p:cNvSpPr txBox="1"/>
          <p:nvPr/>
        </p:nvSpPr>
        <p:spPr>
          <a:xfrm>
            <a:off x="6662059" y="2345993"/>
            <a:ext cx="169817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Synonym list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55679F-CB99-FE45-8326-5E2CFF3E10BF}"/>
              </a:ext>
            </a:extLst>
          </p:cNvPr>
          <p:cNvSpPr txBox="1"/>
          <p:nvPr/>
        </p:nvSpPr>
        <p:spPr>
          <a:xfrm>
            <a:off x="9373178" y="2715325"/>
            <a:ext cx="230104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Save csv file</a:t>
            </a:r>
          </a:p>
        </p:txBody>
      </p:sp>
    </p:spTree>
    <p:extLst>
      <p:ext uri="{BB962C8B-B14F-4D97-AF65-F5344CB8AC3E}">
        <p14:creationId xmlns:p14="http://schemas.microsoft.com/office/powerpoint/2010/main" val="2195778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710585-67A3-6027-46FB-329BFFFA1242}"/>
              </a:ext>
            </a:extLst>
          </p:cNvPr>
          <p:cNvSpPr/>
          <p:nvPr/>
        </p:nvSpPr>
        <p:spPr>
          <a:xfrm>
            <a:off x="457200" y="457200"/>
            <a:ext cx="981813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dirty="0">
                <a:solidFill>
                  <a:prstClr val="black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Quick-look at downloaded files</a:t>
            </a:r>
            <a:endParaRPr lang="en-US" sz="6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screenshot of a data frame&#10;&#10;Description automatically generated">
            <a:extLst>
              <a:ext uri="{FF2B5EF4-FFF2-40B4-BE49-F238E27FC236}">
                <a16:creationId xmlns:a16="http://schemas.microsoft.com/office/drawing/2014/main" id="{FB449325-0482-CC5B-E429-A9EC0070E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968" y="1472863"/>
            <a:ext cx="9114065" cy="530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438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with blue points on it&#10;&#10;Description automatically generated">
            <a:extLst>
              <a:ext uri="{FF2B5EF4-FFF2-40B4-BE49-F238E27FC236}">
                <a16:creationId xmlns:a16="http://schemas.microsoft.com/office/drawing/2014/main" id="{BE9529EB-2BDD-B6FD-1518-E66A4D0CD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365" y="265814"/>
            <a:ext cx="7772400" cy="632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425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1479</TotalTime>
  <Words>505</Words>
  <Application>Microsoft Office PowerPoint</Application>
  <PresentationFormat>Widescreen</PresentationFormat>
  <Paragraphs>106</Paragraphs>
  <Slides>21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R-based Data Downloads</vt:lpstr>
      <vt:lpstr>Github: soltislab/BotanyENMWorkshop/</vt:lpstr>
      <vt:lpstr>PowerPoint Presentation</vt:lpstr>
      <vt:lpstr>PowerPoint Presentation</vt:lpstr>
      <vt:lpstr>iDigBio API</vt:lpstr>
      <vt:lpstr>iDigBio API</vt:lpstr>
      <vt:lpstr>GBIF API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Download </dc:title>
  <dc:creator>Michelle Gaynor</dc:creator>
  <cp:lastModifiedBy>Gaynor, Michelle</cp:lastModifiedBy>
  <cp:revision>55</cp:revision>
  <dcterms:created xsi:type="dcterms:W3CDTF">2019-06-24T18:56:17Z</dcterms:created>
  <dcterms:modified xsi:type="dcterms:W3CDTF">2026-08-02T04:37:09Z</dcterms:modified>
</cp:coreProperties>
</file>
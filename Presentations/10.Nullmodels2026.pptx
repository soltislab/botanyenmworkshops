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Lst>
  <p:notesMasterIdLst>
    <p:notesMasterId r:id="rId25"/>
  </p:notesMasterIdLst>
  <p:sldIdLst>
    <p:sldId id="630" r:id="rId2"/>
    <p:sldId id="257" r:id="rId3"/>
    <p:sldId id="258" r:id="rId4"/>
    <p:sldId id="259" r:id="rId5"/>
    <p:sldId id="631" r:id="rId6"/>
    <p:sldId id="260" r:id="rId7"/>
    <p:sldId id="261" r:id="rId8"/>
    <p:sldId id="633" r:id="rId9"/>
    <p:sldId id="634" r:id="rId10"/>
    <p:sldId id="635" r:id="rId11"/>
    <p:sldId id="636" r:id="rId12"/>
    <p:sldId id="262" r:id="rId13"/>
    <p:sldId id="263" r:id="rId14"/>
    <p:sldId id="264" r:id="rId15"/>
    <p:sldId id="632" r:id="rId16"/>
    <p:sldId id="265" r:id="rId17"/>
    <p:sldId id="266" r:id="rId18"/>
    <p:sldId id="639" r:id="rId19"/>
    <p:sldId id="641" r:id="rId20"/>
    <p:sldId id="267" r:id="rId21"/>
    <p:sldId id="642" r:id="rId22"/>
    <p:sldId id="269" r:id="rId23"/>
    <p:sldId id="640" r:id="rId24"/>
  </p:sldIdLst>
  <p:sldSz cx="9144000" cy="5143500" type="screen16x9"/>
  <p:notesSz cx="6858000" cy="9144000"/>
  <p:embeddedFontLst>
    <p:embeddedFont>
      <p:font typeface="Cambria Math" panose="02040503050406030204" pitchFamily="18" charset="0"/>
      <p:regular r:id="rId26"/>
    </p:embeddedFont>
    <p:embeddedFont>
      <p:font typeface="Helvetica Neue" panose="020B0604020202020204" charset="0"/>
      <p:regular r:id="rId27"/>
      <p:bold r:id="rId28"/>
      <p:italic r:id="rId29"/>
      <p:boldItalic r:id="rId30"/>
    </p:embeddedFont>
    <p:embeddedFont>
      <p:font typeface="Lato" panose="020F0502020204030203" pitchFamily="34" charset="0"/>
      <p:regular r:id="rId31"/>
      <p:bold r:id="rId32"/>
      <p:italic r:id="rId33"/>
      <p:boldItalic r:id="rId34"/>
    </p:embeddedFont>
    <p:embeddedFont>
      <p:font typeface="Lilita One" panose="020B0604020202020204" charset="0"/>
      <p:regular r:id="rId35"/>
    </p:embeddedFont>
    <p:embeddedFont>
      <p:font typeface="Raleway" pitchFamily="2"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C401"/>
    <a:srgbClr val="C3C500"/>
    <a:srgbClr val="F1C50A"/>
    <a:srgbClr val="FFFFFF"/>
    <a:srgbClr val="F7C30B"/>
    <a:srgbClr val="FBBF12"/>
    <a:srgbClr val="FBC30C"/>
    <a:srgbClr val="FEBE16"/>
    <a:srgbClr val="FEBA1B"/>
    <a:srgbClr val="FDAB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59" autoAdjust="0"/>
    <p:restoredTop sz="71362" autoAdjust="0"/>
  </p:normalViewPr>
  <p:slideViewPr>
    <p:cSldViewPr snapToGrid="0">
      <p:cViewPr varScale="1">
        <p:scale>
          <a:sx n="81" d="100"/>
          <a:sy n="81" d="100"/>
        </p:scale>
        <p:origin x="1362" y="1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ec477653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ec477653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(CITE IMAGE) So now that we’ve gone through a typical process of conducting an enviromental niche model, we’re going to dive a bit deeper into how to measure these model’s repsective prefromance. We’ve talked about AUC and OR in the previous section, which seek to provide metrics that tell us how well our model is doing given the data we have.</a:t>
            </a:r>
            <a:endParaRPr dirty="0"/>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ec97d49fa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ec97d49fa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(CITE IMAGE) </a:t>
            </a:r>
            <a:endParaRPr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ec4776536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ec4776536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(CITE IMAGE)</a:t>
            </a:r>
            <a:endParaRPr dirty="0"/>
          </a:p>
          <a:p>
            <a:pPr marL="0" lvl="0" indent="0" algn="l" rtl="0">
              <a:spcBef>
                <a:spcPts val="0"/>
              </a:spcBef>
              <a:spcAft>
                <a:spcPts val="0"/>
              </a:spcAft>
              <a:buNone/>
            </a:pPr>
            <a:r>
              <a:rPr lang="en-US" dirty="0"/>
              <a:t>Lets talk about Null models. Null models is ecology are a method that are commonly employed to test whether whatever your testing has significant biological signal as compared to a scenario where randomness would produce the same results. In regards to ENMs, this can be done by holding the niche model we’ve built constant, but randomizing the </a:t>
            </a:r>
            <a:r>
              <a:rPr lang="en-US" dirty="0" err="1"/>
              <a:t>underylign</a:t>
            </a:r>
            <a:r>
              <a:rPr lang="en-US" dirty="0"/>
              <a:t> occurrence points from the background over many repetitions, pulling out each metric per iteration to create a null distribution/expectation.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dirty="0"/>
          </a:p>
          <a:p>
            <a:pPr marL="139700" indent="0">
              <a:buNone/>
            </a:pPr>
            <a:r>
              <a:rPr lang="en-US" dirty="0"/>
              <a:t>In regards to how our models perform, you’ll often hear the terms False Positives and True Positives, which are some metrics used to understand how models are preforming. As an example, if I were to train a very basic model designed to identify apples from strawberries, my True Positives would be where I distinguish apples, while my False Positives would be where my model mistakes strawberries as apples. </a:t>
            </a:r>
          </a:p>
        </p:txBody>
      </p:sp>
    </p:spTree>
    <p:extLst>
      <p:ext uri="{BB962C8B-B14F-4D97-AF65-F5344CB8AC3E}">
        <p14:creationId xmlns:p14="http://schemas.microsoft.com/office/powerpoint/2010/main" val="312279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717f5c862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717f5c862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receiver operating </a:t>
            </a:r>
            <a:r>
              <a:rPr lang="en-US" dirty="0" err="1"/>
              <a:t>characterstic</a:t>
            </a:r>
            <a:r>
              <a:rPr lang="en-US" dirty="0"/>
              <a:t> (ROC) curve plots the true positive rate, or sensitivity on the y-axis, against the false positive rate on the x-axis. The area under the curve, or AUC, summarizes how well the model ranks presences above background points. In other words, AUC is the probability that a randomly sampled presence gets a higher predicted suitability than a randomly chosen background point. 1 would indicate 100% probability, 0.5 would indicate you have a 50/50 shot, therefore your model really is just flipping a coin, and anything below random is probably a sign something is wrong. </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ec838f9aa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ec838f9aa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Omission rate is the proportion of validation presences that fall below a threshold set using training presences. Under a 10 percent training presence threshold, about 10 percent omission is expected if the model generalizes well. A higher-than-expected omission rate suggests the model may be overfitting the training data or failing to generalize well to independent points. A lower than expected means the model is predicting validation presences well, but if this looks too good it could also be a sign that your presence data isn’t fully independent.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In </a:t>
            </a:r>
            <a:r>
              <a:rPr lang="en-US" dirty="0" err="1"/>
              <a:t>ENMeval</a:t>
            </a:r>
            <a:r>
              <a:rPr lang="en-US" dirty="0"/>
              <a:t>, CBI is calculated from the predicted values for background records (rather than the full raster), separately for training and validation data, and then summarized across folds for model selection. </a:t>
            </a:r>
          </a:p>
          <a:p>
            <a:pPr marL="139700" indent="0">
              <a:buNone/>
            </a:pPr>
            <a:r>
              <a:rPr lang="en-US" sz="1100" dirty="0">
                <a:latin typeface="Lato"/>
                <a:ea typeface="Lato"/>
                <a:cs typeface="Lato"/>
                <a:sym typeface="Lato"/>
              </a:rPr>
              <a:t>computed as the Spearman correlation between habitat suitability &amp; the predicted to expected (P/E) ratio of presences across the suitability range, using model predictions at presence and background points for each cross-validation fold. </a:t>
            </a:r>
            <a:endParaRPr lang="en-US" dirty="0"/>
          </a:p>
        </p:txBody>
      </p:sp>
    </p:spTree>
    <p:extLst>
      <p:ext uri="{BB962C8B-B14F-4D97-AF65-F5344CB8AC3E}">
        <p14:creationId xmlns:p14="http://schemas.microsoft.com/office/powerpoint/2010/main" val="3021577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4E32E-253E-F279-5E2B-8B7DD025B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78500-1258-715E-4240-2F519C1646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127ACDE-12A9-90A3-C625-AD4317A06ED5}"/>
              </a:ext>
            </a:extLst>
          </p:cNvPr>
          <p:cNvSpPr>
            <a:spLocks noGrp="1"/>
          </p:cNvSpPr>
          <p:nvPr>
            <p:ph type="body" idx="1"/>
          </p:nvPr>
        </p:nvSpPr>
        <p:spPr/>
        <p:txBody>
          <a:bodyPr/>
          <a:lstStyle/>
          <a:p>
            <a:pPr marL="139700" indent="0">
              <a:buNone/>
            </a:pPr>
            <a:r>
              <a:rPr lang="en-US" dirty="0"/>
              <a:t>In </a:t>
            </a:r>
            <a:r>
              <a:rPr lang="en-US" dirty="0" err="1"/>
              <a:t>ENMeval</a:t>
            </a:r>
            <a:r>
              <a:rPr lang="en-US" dirty="0"/>
              <a:t>, CBI is calculated from the predicted values for background records (rather than the full raster), separately for training and validation data, and then summarized across folds for model selection. </a:t>
            </a:r>
          </a:p>
          <a:p>
            <a:pPr marL="139700" indent="0">
              <a:buNone/>
            </a:pPr>
            <a:r>
              <a:rPr lang="en-US" sz="1100" dirty="0">
                <a:latin typeface="Lato"/>
                <a:ea typeface="Lato"/>
                <a:cs typeface="Lato"/>
                <a:sym typeface="Lato"/>
              </a:rPr>
              <a:t>computed as the Spearman correlation between habitat suitability &amp; the predicted to expected (P/E) ratio of presences across the suitability range, using model predictions at presence and background points for each cross-validation fold. </a:t>
            </a:r>
            <a:endParaRPr lang="en-US" dirty="0"/>
          </a:p>
        </p:txBody>
      </p:sp>
    </p:spTree>
    <p:extLst>
      <p:ext uri="{BB962C8B-B14F-4D97-AF65-F5344CB8AC3E}">
        <p14:creationId xmlns:p14="http://schemas.microsoft.com/office/powerpoint/2010/main" val="2560393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7AAF-177E-C7E2-5B53-2A5A37D64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046B2-CC64-1E27-809C-B5314B3184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115E94-55AE-4AB6-A261-B75D2BFA8342}"/>
              </a:ext>
            </a:extLst>
          </p:cNvPr>
          <p:cNvSpPr>
            <a:spLocks noGrp="1"/>
          </p:cNvSpPr>
          <p:nvPr>
            <p:ph type="body" idx="1"/>
          </p:nvPr>
        </p:nvSpPr>
        <p:spPr/>
        <p:txBody>
          <a:bodyPr/>
          <a:lstStyle/>
          <a:p>
            <a:pPr marL="139700" indent="0">
              <a:buNone/>
            </a:pPr>
            <a:r>
              <a:rPr lang="en-US" dirty="0"/>
              <a:t>In </a:t>
            </a:r>
            <a:r>
              <a:rPr lang="en-US" dirty="0" err="1"/>
              <a:t>ENMeval</a:t>
            </a:r>
            <a:r>
              <a:rPr lang="en-US" dirty="0"/>
              <a:t>, CBI is calculated from the predicted values for background records (rather than the full raster), separately for training and validation data, and then summarized across folds for model selection. </a:t>
            </a:r>
          </a:p>
          <a:p>
            <a:pPr marL="139700" indent="0">
              <a:buNone/>
            </a:pPr>
            <a:r>
              <a:rPr lang="en-US" sz="1100" dirty="0">
                <a:latin typeface="Lato"/>
                <a:ea typeface="Lato"/>
                <a:cs typeface="Lato"/>
                <a:sym typeface="Lato"/>
              </a:rPr>
              <a:t>computed as the Spearman correlation between habitat suitability &amp; the predicted to expected (P/E) ratio of presences across the suitability range, using model predictions at presence and background points for each cross-validation fold. </a:t>
            </a:r>
            <a:endParaRPr lang="en-US" dirty="0"/>
          </a:p>
        </p:txBody>
      </p:sp>
    </p:spTree>
    <p:extLst>
      <p:ext uri="{BB962C8B-B14F-4D97-AF65-F5344CB8AC3E}">
        <p14:creationId xmlns:p14="http://schemas.microsoft.com/office/powerpoint/2010/main" val="1261532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37C2F-E0A1-D924-EB86-1135AB1CE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332A0-6309-F98D-9E9F-D56E325159C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2B27BC8-361F-3DCD-46C4-118D200927EE}"/>
              </a:ext>
            </a:extLst>
          </p:cNvPr>
          <p:cNvSpPr>
            <a:spLocks noGrp="1"/>
          </p:cNvSpPr>
          <p:nvPr>
            <p:ph type="body" idx="1"/>
          </p:nvPr>
        </p:nvSpPr>
        <p:spPr/>
        <p:txBody>
          <a:bodyPr/>
          <a:lstStyle/>
          <a:p>
            <a:pPr marL="139700" indent="0">
              <a:buNone/>
            </a:pPr>
            <a:r>
              <a:rPr lang="en-US" dirty="0"/>
              <a:t>In </a:t>
            </a:r>
            <a:r>
              <a:rPr lang="en-US" dirty="0" err="1"/>
              <a:t>ENMeval</a:t>
            </a:r>
            <a:r>
              <a:rPr lang="en-US" dirty="0"/>
              <a:t>, CBI is calculated from the predicted values for background records (rather than the full raster), separately for training and validation data, and then summarized across folds for model selection. </a:t>
            </a:r>
          </a:p>
          <a:p>
            <a:pPr marL="139700" indent="0">
              <a:buNone/>
            </a:pPr>
            <a:r>
              <a:rPr lang="en-US" sz="1100" dirty="0">
                <a:latin typeface="Lato"/>
                <a:ea typeface="Lato"/>
                <a:cs typeface="Lato"/>
                <a:sym typeface="Lato"/>
              </a:rPr>
              <a:t>computed as the Spearman correlation between habitat suitability &amp; the predicted to expected (P/E) ratio of presences across the suitability range, using model predictions at presence and background points for each cross-validation fold. </a:t>
            </a:r>
            <a:endParaRPr lang="en-US" dirty="0"/>
          </a:p>
        </p:txBody>
      </p:sp>
    </p:spTree>
    <p:extLst>
      <p:ext uri="{BB962C8B-B14F-4D97-AF65-F5344CB8AC3E}">
        <p14:creationId xmlns:p14="http://schemas.microsoft.com/office/powerpoint/2010/main" val="295446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ec97d49fa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ec97d49fa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And here just as a reminder, the feature classes, response curves, &amp; reg multipliers are our underlying tool kit for trying to fit environmental relationships to our data that lead to the suitability map, while penalizing models for overfitting. </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c6fa3c89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c6fa3c89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the model we just fit, we used the Linear and Quadratic feature classes and allowed the RM to be 1 and 2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ec4a24600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1ec4a24600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does selection for best models look like in practicality? Well its pretty simple, we just use the filter function from </a:t>
            </a:r>
            <a:r>
              <a:rPr lang="en-US" dirty="0" err="1"/>
              <a:t>dplyr</a:t>
            </a:r>
            <a:r>
              <a:rPr lang="en-US" dirty="0"/>
              <a:t> on our </a:t>
            </a:r>
            <a:r>
              <a:rPr lang="en-US" dirty="0" err="1"/>
              <a:t>ENMeval</a:t>
            </a:r>
            <a:r>
              <a:rPr lang="en-US" dirty="0"/>
              <a:t> results to minimize/maximize for these metrics. You’ll notice that in the code we don’t currently filter for max on CBI but that’s an easy addition if your interested. </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ec4a24600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ec4a24600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ec4a24600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ec4a24600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A426030E-90F3-9FBE-9D41-A8612AF3DBCC}"/>
            </a:ext>
          </a:extLst>
        </p:cNvPr>
        <p:cNvGrpSpPr/>
        <p:nvPr/>
      </p:nvGrpSpPr>
      <p:grpSpPr>
        <a:xfrm>
          <a:off x="0" y="0"/>
          <a:ext cx="0" cy="0"/>
          <a:chOff x="0" y="0"/>
          <a:chExt cx="0" cy="0"/>
        </a:xfrm>
      </p:grpSpPr>
      <p:sp>
        <p:nvSpPr>
          <p:cNvPr id="186" name="Google Shape;186;g1ec4a246002_0_43:notes">
            <a:extLst>
              <a:ext uri="{FF2B5EF4-FFF2-40B4-BE49-F238E27FC236}">
                <a16:creationId xmlns:a16="http://schemas.microsoft.com/office/drawing/2014/main" id="{80CD34C1-5867-9731-4F30-9159E3F36D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ec4a246002_0_43:notes">
            <a:extLst>
              <a:ext uri="{FF2B5EF4-FFF2-40B4-BE49-F238E27FC236}">
                <a16:creationId xmlns:a16="http://schemas.microsoft.com/office/drawing/2014/main" id="{27D7D3D0-66DD-48FA-3C5B-2D43A81AD2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796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1C14C740-6B30-C1ED-E96B-A696C955AB34}"/>
            </a:ext>
          </a:extLst>
        </p:cNvPr>
        <p:cNvGrpSpPr/>
        <p:nvPr/>
      </p:nvGrpSpPr>
      <p:grpSpPr>
        <a:xfrm>
          <a:off x="0" y="0"/>
          <a:ext cx="0" cy="0"/>
          <a:chOff x="0" y="0"/>
          <a:chExt cx="0" cy="0"/>
        </a:xfrm>
      </p:grpSpPr>
      <p:sp>
        <p:nvSpPr>
          <p:cNvPr id="186" name="Google Shape;186;g1ec4a246002_0_43:notes">
            <a:extLst>
              <a:ext uri="{FF2B5EF4-FFF2-40B4-BE49-F238E27FC236}">
                <a16:creationId xmlns:a16="http://schemas.microsoft.com/office/drawing/2014/main" id="{0A18D64E-8EF2-F69B-8EA3-D7B168A10C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ec4a246002_0_43:notes">
            <a:extLst>
              <a:ext uri="{FF2B5EF4-FFF2-40B4-BE49-F238E27FC236}">
                <a16:creationId xmlns:a16="http://schemas.microsoft.com/office/drawing/2014/main" id="{660A10EC-8867-D737-DED1-C558F00CF1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Keep in mind where we’re shooting for on these metrics, the While OR and AUC are significant, they are significantly worse than expectation. CBI is currently preforming near random according to this Null Model. </a:t>
            </a:r>
            <a:endParaRPr dirty="0"/>
          </a:p>
        </p:txBody>
      </p:sp>
    </p:spTree>
    <p:extLst>
      <p:ext uri="{BB962C8B-B14F-4D97-AF65-F5344CB8AC3E}">
        <p14:creationId xmlns:p14="http://schemas.microsoft.com/office/powerpoint/2010/main" val="502855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3506e8df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3506e8df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632304EC-C61C-11D0-92EC-DE1292B6A911}"/>
            </a:ext>
          </a:extLst>
        </p:cNvPr>
        <p:cNvGrpSpPr/>
        <p:nvPr/>
      </p:nvGrpSpPr>
      <p:grpSpPr>
        <a:xfrm>
          <a:off x="0" y="0"/>
          <a:ext cx="0" cy="0"/>
          <a:chOff x="0" y="0"/>
          <a:chExt cx="0" cy="0"/>
        </a:xfrm>
      </p:grpSpPr>
      <p:sp>
        <p:nvSpPr>
          <p:cNvPr id="210" name="Google Shape;210;g363506e8df3_0_28:notes">
            <a:extLst>
              <a:ext uri="{FF2B5EF4-FFF2-40B4-BE49-F238E27FC236}">
                <a16:creationId xmlns:a16="http://schemas.microsoft.com/office/drawing/2014/main" id="{CFDCA8CA-F9EA-2D3F-C547-13F129E5FE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63506e8df3_0_28:notes">
            <a:extLst>
              <a:ext uri="{FF2B5EF4-FFF2-40B4-BE49-F238E27FC236}">
                <a16:creationId xmlns:a16="http://schemas.microsoft.com/office/drawing/2014/main" id="{DA082949-E5D6-A1A4-16FE-9D88228350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0707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ec97d49fa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ec97d49f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15CAD6FF-994F-C277-64E3-D7BEA4410E08}"/>
            </a:ext>
          </a:extLst>
        </p:cNvPr>
        <p:cNvGrpSpPr/>
        <p:nvPr/>
      </p:nvGrpSpPr>
      <p:grpSpPr>
        <a:xfrm>
          <a:off x="0" y="0"/>
          <a:ext cx="0" cy="0"/>
          <a:chOff x="0" y="0"/>
          <a:chExt cx="0" cy="0"/>
        </a:xfrm>
      </p:grpSpPr>
      <p:sp>
        <p:nvSpPr>
          <p:cNvPr id="225" name="Google Shape;225;g1ec97d49fac_0_0:notes">
            <a:extLst>
              <a:ext uri="{FF2B5EF4-FFF2-40B4-BE49-F238E27FC236}">
                <a16:creationId xmlns:a16="http://schemas.microsoft.com/office/drawing/2014/main" id="{704864B1-3CF1-D4C0-CCD1-5ED05AB76B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ec97d49fac_0_0:notes">
            <a:extLst>
              <a:ext uri="{FF2B5EF4-FFF2-40B4-BE49-F238E27FC236}">
                <a16:creationId xmlns:a16="http://schemas.microsoft.com/office/drawing/2014/main" id="{20459F72-6C81-A4BE-B049-E089DF09FC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8452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4E6957-9CBB-A342-AB63-7FAD0F9D688E}"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677453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E6957-9CBB-A342-AB63-7FAD0F9D688E}"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511131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E6957-9CBB-A342-AB63-7FAD0F9D688E}"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473739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4E6957-9CBB-A342-AB63-7FAD0F9D688E}"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678375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4E6957-9CBB-A342-AB63-7FAD0F9D688E}"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480602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4E6957-9CBB-A342-AB63-7FAD0F9D688E}"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6843389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E6957-9CBB-A342-AB63-7FAD0F9D688E}"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4948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94E6957-9CBB-A342-AB63-7FAD0F9D688E}"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601725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94E6957-9CBB-A342-AB63-7FAD0F9D688E}"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552736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E6957-9CBB-A342-AB63-7FAD0F9D688E}"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489073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E6957-9CBB-A342-AB63-7FAD0F9D688E}"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0205554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2673645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8"/>
        <p:cNvGrpSpPr/>
        <p:nvPr/>
      </p:nvGrpSpPr>
      <p:grpSpPr>
        <a:xfrm>
          <a:off x="0" y="0"/>
          <a:ext cx="0" cy="0"/>
          <a:chOff x="0" y="0"/>
          <a:chExt cx="0" cy="0"/>
        </a:xfrm>
      </p:grpSpPr>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23040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94E6957-9CBB-A342-AB63-7FAD0F9D688E}" type="datetimeFigureOut">
              <a:rPr lang="en-US" smtClean="0"/>
              <a:t>8/1/2026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6121805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ti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2DCA7A-ACCA-F044-84E8-575B0F464478}"/>
              </a:ext>
            </a:extLst>
          </p:cNvPr>
          <p:cNvPicPr>
            <a:picLocks noChangeAspect="1"/>
          </p:cNvPicPr>
          <p:nvPr/>
        </p:nvPicPr>
        <p:blipFill rotWithShape="1">
          <a:blip r:embed="rId2">
            <a:extLst>
              <a:ext uri="{28A0092B-C50C-407E-A947-70E740481C1C}">
                <a14:useLocalDpi xmlns:a14="http://schemas.microsoft.com/office/drawing/2010/main" val="0"/>
              </a:ext>
            </a:extLst>
          </a:blip>
          <a:srcRect t="15230" b="34173"/>
          <a:stretch/>
        </p:blipFill>
        <p:spPr>
          <a:xfrm>
            <a:off x="-8588" y="78"/>
            <a:ext cx="9161176" cy="1323655"/>
          </a:xfrm>
          <a:prstGeom prst="rect">
            <a:avLst/>
          </a:prstGeom>
          <a:ln>
            <a:noFill/>
          </a:ln>
        </p:spPr>
      </p:pic>
      <p:sp>
        <p:nvSpPr>
          <p:cNvPr id="5" name="Title 1">
            <a:extLst>
              <a:ext uri="{FF2B5EF4-FFF2-40B4-BE49-F238E27FC236}">
                <a16:creationId xmlns:a16="http://schemas.microsoft.com/office/drawing/2014/main" id="{6DC33C4B-F6F1-A642-83E1-7C3D71B89234}"/>
              </a:ext>
            </a:extLst>
          </p:cNvPr>
          <p:cNvSpPr txBox="1">
            <a:spLocks/>
          </p:cNvSpPr>
          <p:nvPr/>
        </p:nvSpPr>
        <p:spPr>
          <a:xfrm>
            <a:off x="78088" y="1706455"/>
            <a:ext cx="8965072" cy="1259048"/>
          </a:xfrm>
          <a:prstGeom prst="rect">
            <a:avLst/>
          </a:prstGeom>
        </p:spPr>
        <p:txBody>
          <a:bodyPr lIns="48219" tIns="24109" rIns="48219" bIns="24109" anchor="t"/>
          <a:lstStyle>
            <a:lvl1pPr marL="0" marR="0" indent="0"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1pPr>
            <a:lvl2pPr marL="0" marR="0" indent="304815"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2pPr>
            <a:lvl3pPr marL="0" marR="0" indent="609630"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3pPr>
            <a:lvl4pPr marL="0" marR="0" indent="914446"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4pPr>
            <a:lvl5pPr marL="0" marR="0" indent="1219261"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5pPr>
            <a:lvl6pPr marL="0" marR="0" indent="1524076"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6pPr>
            <a:lvl7pPr marL="0" marR="0" indent="1828891"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7pPr>
            <a:lvl8pPr marL="0" marR="0" indent="2133707"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8pPr>
            <a:lvl9pPr marL="0" marR="0" indent="2438522" algn="ctr" defTabSz="778972" rtl="0" latinLnBrk="0">
              <a:lnSpc>
                <a:spcPct val="100000"/>
              </a:lnSpc>
              <a:spcBef>
                <a:spcPts val="0"/>
              </a:spcBef>
              <a:spcAft>
                <a:spcPts val="0"/>
              </a:spcAft>
              <a:buClrTx/>
              <a:buSzTx/>
              <a:buFontTx/>
              <a:buNone/>
              <a:tabLst/>
              <a:defRPr sz="10667" b="0" i="0" u="none" strike="noStrike" cap="none" spc="0" baseline="0">
                <a:solidFill>
                  <a:srgbClr val="000000"/>
                </a:solidFill>
                <a:uFillTx/>
                <a:latin typeface="+mn-lt"/>
                <a:ea typeface="+mn-ea"/>
                <a:cs typeface="+mn-cs"/>
                <a:sym typeface="Helvetica Light"/>
              </a:defRPr>
            </a:lvl9pPr>
          </a:lstStyle>
          <a:p>
            <a:pPr hangingPunct="1"/>
            <a:r>
              <a:rPr lang="en-US" sz="3797" b="1" dirty="0">
                <a:solidFill>
                  <a:schemeClr val="accent1"/>
                </a:solidFill>
                <a:latin typeface="Calibri Light"/>
                <a:cs typeface="Calibri Light"/>
              </a:rPr>
              <a:t>EVALUATING ENM PERFORMANCE </a:t>
            </a:r>
          </a:p>
          <a:p>
            <a:pPr hangingPunct="1"/>
            <a:r>
              <a:rPr lang="en-US" sz="3797" b="1" dirty="0">
                <a:solidFill>
                  <a:schemeClr val="accent1"/>
                </a:solidFill>
                <a:latin typeface="Calibri Light"/>
                <a:cs typeface="Calibri Light"/>
              </a:rPr>
              <a:t>WITH NULL MODELS</a:t>
            </a:r>
          </a:p>
        </p:txBody>
      </p:sp>
      <p:sp>
        <p:nvSpPr>
          <p:cNvPr id="6" name="TextBox 5">
            <a:extLst>
              <a:ext uri="{FF2B5EF4-FFF2-40B4-BE49-F238E27FC236}">
                <a16:creationId xmlns:a16="http://schemas.microsoft.com/office/drawing/2014/main" id="{04C7BE0B-614A-E042-B001-2EE4EA766AA6}"/>
              </a:ext>
            </a:extLst>
          </p:cNvPr>
          <p:cNvSpPr txBox="1"/>
          <p:nvPr/>
        </p:nvSpPr>
        <p:spPr>
          <a:xfrm>
            <a:off x="2535303" y="2983620"/>
            <a:ext cx="3525049" cy="1022417"/>
          </a:xfrm>
          <a:prstGeom prst="rect">
            <a:avLst/>
          </a:prstGeom>
          <a:noFill/>
        </p:spPr>
        <p:txBody>
          <a:bodyPr wrap="none" lIns="48219" tIns="24109" rIns="48219" bIns="24109" rtlCol="0" anchor="t">
            <a:spAutoFit/>
          </a:bodyPr>
          <a:lstStyle/>
          <a:p>
            <a:pPr algn="ctr"/>
            <a:r>
              <a:rPr lang="en-US" sz="2109" dirty="0">
                <a:solidFill>
                  <a:srgbClr val="0070C0"/>
                </a:solidFill>
                <a:latin typeface="Calibri"/>
                <a:ea typeface="Calibri"/>
                <a:cs typeface="Calibri"/>
              </a:rPr>
              <a:t>Slides by Tyler Radtke</a:t>
            </a:r>
          </a:p>
          <a:p>
            <a:pPr algn="ctr"/>
            <a:r>
              <a:rPr lang="en-US" sz="2109" dirty="0">
                <a:solidFill>
                  <a:srgbClr val="0070C0"/>
                </a:solidFill>
                <a:latin typeface="Calibri"/>
                <a:ea typeface="Calibri"/>
                <a:cs typeface="Calibri"/>
              </a:rPr>
              <a:t>Edited &amp; Presented by JT Miller</a:t>
            </a:r>
            <a:endParaRPr lang="en-US" sz="2109" dirty="0">
              <a:solidFill>
                <a:srgbClr val="0070C0"/>
              </a:solidFill>
              <a:latin typeface="Calibri" panose="020F0502020204030204" pitchFamily="34" charset="0"/>
              <a:cs typeface="Calibri" panose="020F0502020204030204" pitchFamily="34" charset="0"/>
            </a:endParaRPr>
          </a:p>
          <a:p>
            <a:pPr algn="ctr"/>
            <a:r>
              <a:rPr lang="en-US" sz="2109" dirty="0">
                <a:solidFill>
                  <a:srgbClr val="0070C0"/>
                </a:solidFill>
                <a:latin typeface="Calibri" panose="020F0502020204030204" pitchFamily="34" charset="0"/>
                <a:cs typeface="Calibri" panose="020F0502020204030204" pitchFamily="34" charset="0"/>
              </a:rPr>
              <a:t>University of Florida</a:t>
            </a:r>
          </a:p>
        </p:txBody>
      </p:sp>
      <p:pic>
        <p:nvPicPr>
          <p:cNvPr id="3" name="Picture 2">
            <a:extLst>
              <a:ext uri="{FF2B5EF4-FFF2-40B4-BE49-F238E27FC236}">
                <a16:creationId xmlns:a16="http://schemas.microsoft.com/office/drawing/2014/main" id="{063F8834-53FB-17B1-CAF1-B897CB7316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3351" y="4329625"/>
            <a:ext cx="2239229" cy="691330"/>
          </a:xfrm>
          <a:prstGeom prst="rect">
            <a:avLst/>
          </a:prstGeom>
          <a:noFill/>
          <a:extLst>
            <a:ext uri="{909E8E84-426E-40dd-AFC4-6F175D3DCCD1}">
              <a14:hiddenFill xmlns="" xmlns:a14="http://schemas.microsoft.com/office/drawing/2010/main" xmlns:lc="http://schemas.openxmlformats.org/drawingml/2006/lockedCanvas">
                <a:solidFill>
                  <a:srgbClr val="FFFFFF"/>
                </a:solidFill>
              </a14:hiddenFill>
            </a:ext>
          </a:extLst>
        </p:spPr>
      </p:pic>
      <p:pic>
        <p:nvPicPr>
          <p:cNvPr id="9" name="Picture 8">
            <a:extLst>
              <a:ext uri="{FF2B5EF4-FFF2-40B4-BE49-F238E27FC236}">
                <a16:creationId xmlns:a16="http://schemas.microsoft.com/office/drawing/2014/main" id="{9ABE06C6-FA79-1E3D-FD31-F2B082C9471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78371" y="4458631"/>
            <a:ext cx="2460420" cy="436578"/>
          </a:xfrm>
          <a:prstGeom prst="rect">
            <a:avLst/>
          </a:prstGeom>
        </p:spPr>
      </p:pic>
      <p:pic>
        <p:nvPicPr>
          <p:cNvPr id="10" name="Picture 9">
            <a:extLst>
              <a:ext uri="{FF2B5EF4-FFF2-40B4-BE49-F238E27FC236}">
                <a16:creationId xmlns:a16="http://schemas.microsoft.com/office/drawing/2014/main" id="{D6E66CDE-77E9-3CBF-32C5-7FF73D4F05D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45265" y="4361144"/>
            <a:ext cx="2009007" cy="631115"/>
          </a:xfrm>
          <a:prstGeom prst="rect">
            <a:avLst/>
          </a:prstGeom>
        </p:spPr>
      </p:pic>
      <p:pic>
        <p:nvPicPr>
          <p:cNvPr id="7" name="Picture 6" descr="File:NSF Logo.jpg - Wikimedia Commons">
            <a:extLst>
              <a:ext uri="{FF2B5EF4-FFF2-40B4-BE49-F238E27FC236}">
                <a16:creationId xmlns:a16="http://schemas.microsoft.com/office/drawing/2014/main" id="{693BD4C2-73E8-9302-DF63-69EF3E269036}"/>
              </a:ext>
            </a:extLst>
          </p:cNvPr>
          <p:cNvPicPr>
            <a:picLocks noChangeAspect="1"/>
          </p:cNvPicPr>
          <p:nvPr/>
        </p:nvPicPr>
        <p:blipFill>
          <a:blip r:embed="rId6"/>
          <a:stretch>
            <a:fillRect/>
          </a:stretch>
        </p:blipFill>
        <p:spPr>
          <a:xfrm>
            <a:off x="5143759" y="4304843"/>
            <a:ext cx="820393" cy="806115"/>
          </a:xfrm>
          <a:prstGeom prst="rect">
            <a:avLst/>
          </a:prstGeom>
        </p:spPr>
      </p:pic>
    </p:spTree>
    <p:extLst>
      <p:ext uri="{BB962C8B-B14F-4D97-AF65-F5344CB8AC3E}">
        <p14:creationId xmlns:p14="http://schemas.microsoft.com/office/powerpoint/2010/main" val="31699257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4"/>
          <p:cNvPicPr preferRelativeResize="0"/>
          <p:nvPr/>
        </p:nvPicPr>
        <p:blipFill>
          <a:blip r:embed="rId3">
            <a:alphaModFix/>
          </a:blip>
          <a:stretch>
            <a:fillRect/>
          </a:stretch>
        </p:blipFill>
        <p:spPr>
          <a:xfrm>
            <a:off x="0" y="351695"/>
            <a:ext cx="9143999" cy="4791805"/>
          </a:xfrm>
          <a:prstGeom prst="rect">
            <a:avLst/>
          </a:prstGeom>
          <a:noFill/>
          <a:ln>
            <a:noFill/>
          </a:ln>
        </p:spPr>
      </p:pic>
      <p:sp>
        <p:nvSpPr>
          <p:cNvPr id="79" name="Google Shape;79;p14"/>
          <p:cNvSpPr/>
          <p:nvPr/>
        </p:nvSpPr>
        <p:spPr>
          <a:xfrm>
            <a:off x="6658425" y="1361575"/>
            <a:ext cx="2709000" cy="22941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0" name="Google Shape;80;p14"/>
          <p:cNvSpPr/>
          <p:nvPr/>
        </p:nvSpPr>
        <p:spPr>
          <a:xfrm>
            <a:off x="6119600" y="1239100"/>
            <a:ext cx="3024600" cy="25188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1" name="Google Shape;81;p14"/>
          <p:cNvSpPr/>
          <p:nvPr/>
        </p:nvSpPr>
        <p:spPr>
          <a:xfrm>
            <a:off x="1429789" y="2331175"/>
            <a:ext cx="2028306"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2" name="Google Shape;82;p14"/>
          <p:cNvSpPr/>
          <p:nvPr/>
        </p:nvSpPr>
        <p:spPr>
          <a:xfrm>
            <a:off x="2053025" y="2021450"/>
            <a:ext cx="1261325"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3" name="Google Shape;83;p14"/>
          <p:cNvSpPr/>
          <p:nvPr/>
        </p:nvSpPr>
        <p:spPr>
          <a:xfrm>
            <a:off x="4635875" y="2482400"/>
            <a:ext cx="1395900"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84" name="Google Shape;84;p14"/>
          <p:cNvPicPr preferRelativeResize="0"/>
          <p:nvPr/>
        </p:nvPicPr>
        <p:blipFill rotWithShape="1">
          <a:blip r:embed="rId4">
            <a:alphaModFix/>
          </a:blip>
          <a:srcRect l="6628" t="8039" r="4276" b="6160"/>
          <a:stretch/>
        </p:blipFill>
        <p:spPr>
          <a:xfrm>
            <a:off x="5921350" y="541150"/>
            <a:ext cx="3262099" cy="2670375"/>
          </a:xfrm>
          <a:prstGeom prst="rect">
            <a:avLst/>
          </a:prstGeom>
          <a:noFill/>
          <a:ln>
            <a:noFill/>
          </a:ln>
        </p:spPr>
      </p:pic>
      <p:cxnSp>
        <p:nvCxnSpPr>
          <p:cNvPr id="85" name="Google Shape;85;p14"/>
          <p:cNvCxnSpPr/>
          <p:nvPr/>
        </p:nvCxnSpPr>
        <p:spPr>
          <a:xfrm rot="10800000" flipH="1">
            <a:off x="6149950" y="1542425"/>
            <a:ext cx="1456500" cy="15300"/>
          </a:xfrm>
          <a:prstGeom prst="straightConnector1">
            <a:avLst/>
          </a:prstGeom>
          <a:noFill/>
          <a:ln w="9525" cap="flat" cmpd="sng">
            <a:solidFill>
              <a:schemeClr val="dk2"/>
            </a:solidFill>
            <a:prstDash val="solid"/>
            <a:round/>
            <a:headEnd type="none" w="med" len="med"/>
            <a:tailEnd type="triangle" w="med" len="med"/>
          </a:ln>
        </p:spPr>
      </p:cxnSp>
      <p:sp>
        <p:nvSpPr>
          <p:cNvPr id="86" name="Google Shape;86;p14"/>
          <p:cNvSpPr txBox="1">
            <a:spLocks noGrp="1"/>
          </p:cNvSpPr>
          <p:nvPr>
            <p:ph type="body" idx="4294967295"/>
          </p:nvPr>
        </p:nvSpPr>
        <p:spPr>
          <a:xfrm>
            <a:off x="7353300" y="2278063"/>
            <a:ext cx="1790700" cy="154781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Projection Model</a:t>
            </a:r>
            <a:endParaRPr sz="1500"/>
          </a:p>
          <a:p>
            <a:pPr marL="0" lvl="0" indent="0" algn="ctr" rtl="0">
              <a:spcBef>
                <a:spcPts val="1600"/>
              </a:spcBef>
              <a:spcAft>
                <a:spcPts val="1600"/>
              </a:spcAft>
              <a:buNone/>
            </a:pPr>
            <a:endParaRPr sz="1500"/>
          </a:p>
        </p:txBody>
      </p:sp>
      <p:sp>
        <p:nvSpPr>
          <p:cNvPr id="87" name="Google Shape;87;p14"/>
          <p:cNvSpPr/>
          <p:nvPr/>
        </p:nvSpPr>
        <p:spPr>
          <a:xfrm>
            <a:off x="-17845" y="3099415"/>
            <a:ext cx="9144000" cy="1805400"/>
          </a:xfrm>
          <a:prstGeom prst="roundRect">
            <a:avLst>
              <a:gd name="adj" fmla="val 16667"/>
            </a:avLst>
          </a:pr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Lato"/>
              <a:ea typeface="Lato"/>
              <a:cs typeface="Lato"/>
              <a:sym typeface="Lato"/>
            </a:endParaRPr>
          </a:p>
        </p:txBody>
      </p:sp>
      <p:sp>
        <p:nvSpPr>
          <p:cNvPr id="89" name="Google Shape;89;p14"/>
          <p:cNvSpPr txBox="1"/>
          <p:nvPr/>
        </p:nvSpPr>
        <p:spPr>
          <a:xfrm>
            <a:off x="-39450" y="4640231"/>
            <a:ext cx="8991600" cy="41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700" dirty="0">
                <a:solidFill>
                  <a:schemeClr val="dk2"/>
                </a:solidFill>
                <a:latin typeface="Helvetica Neue"/>
                <a:ea typeface="Helvetica Neue"/>
                <a:cs typeface="Helvetica Neue"/>
                <a:sym typeface="Helvetica Neue"/>
              </a:rPr>
              <a:t>Bohl, C. L., Kass, J. M., &amp; Anderson, R. P. (2019). A new null model approach to quantify performance and significance for ecological niche models of species distributions. </a:t>
            </a:r>
            <a:r>
              <a:rPr lang="en" sz="700" i="1" dirty="0">
                <a:solidFill>
                  <a:schemeClr val="dk2"/>
                </a:solidFill>
                <a:latin typeface="Helvetica Neue"/>
                <a:ea typeface="Helvetica Neue"/>
                <a:cs typeface="Helvetica Neue"/>
                <a:sym typeface="Helvetica Neue"/>
              </a:rPr>
              <a:t>Journal of Biogeography</a:t>
            </a:r>
            <a:r>
              <a:rPr lang="en" sz="700" dirty="0">
                <a:solidFill>
                  <a:schemeClr val="dk2"/>
                </a:solidFill>
                <a:latin typeface="Helvetica Neue"/>
                <a:ea typeface="Helvetica Neue"/>
                <a:cs typeface="Helvetica Neue"/>
                <a:sym typeface="Helvetica Neue"/>
              </a:rPr>
              <a:t>, </a:t>
            </a:r>
            <a:r>
              <a:rPr lang="en" sz="700" i="1" dirty="0">
                <a:solidFill>
                  <a:schemeClr val="dk2"/>
                </a:solidFill>
                <a:latin typeface="Helvetica Neue"/>
                <a:ea typeface="Helvetica Neue"/>
                <a:cs typeface="Helvetica Neue"/>
                <a:sym typeface="Helvetica Neue"/>
              </a:rPr>
              <a:t>46</a:t>
            </a:r>
            <a:r>
              <a:rPr lang="en" sz="700" dirty="0">
                <a:solidFill>
                  <a:schemeClr val="dk2"/>
                </a:solidFill>
                <a:latin typeface="Helvetica Neue"/>
                <a:ea typeface="Helvetica Neue"/>
                <a:cs typeface="Helvetica Neue"/>
                <a:sym typeface="Helvetica Neue"/>
              </a:rPr>
              <a:t>(6), 1101–1111. https://</a:t>
            </a:r>
            <a:r>
              <a:rPr lang="en" sz="700" dirty="0" err="1">
                <a:solidFill>
                  <a:schemeClr val="dk2"/>
                </a:solidFill>
                <a:latin typeface="Helvetica Neue"/>
                <a:ea typeface="Helvetica Neue"/>
                <a:cs typeface="Helvetica Neue"/>
                <a:sym typeface="Helvetica Neue"/>
              </a:rPr>
              <a:t>doi.org</a:t>
            </a:r>
            <a:r>
              <a:rPr lang="en" sz="700" dirty="0">
                <a:solidFill>
                  <a:schemeClr val="dk2"/>
                </a:solidFill>
                <a:latin typeface="Helvetica Neue"/>
                <a:ea typeface="Helvetica Neue"/>
                <a:cs typeface="Helvetica Neue"/>
                <a:sym typeface="Helvetica Neue"/>
              </a:rPr>
              <a:t>/10.1111/jbi.13573 </a:t>
            </a:r>
            <a:endParaRPr sz="900" dirty="0"/>
          </a:p>
        </p:txBody>
      </p:sp>
      <p:sp>
        <p:nvSpPr>
          <p:cNvPr id="88" name="Google Shape;88;p14"/>
          <p:cNvSpPr txBox="1">
            <a:spLocks noGrp="1"/>
          </p:cNvSpPr>
          <p:nvPr>
            <p:ph type="body" idx="4294967295"/>
          </p:nvPr>
        </p:nvSpPr>
        <p:spPr>
          <a:xfrm>
            <a:off x="0" y="3554413"/>
            <a:ext cx="8677275" cy="911225"/>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800" b="1" dirty="0">
                <a:solidFill>
                  <a:schemeClr val="lt1"/>
                </a:solidFill>
                <a:latin typeface="Raleway"/>
                <a:ea typeface="Raleway"/>
                <a:cs typeface="Raleway"/>
                <a:sym typeface="Raleway"/>
              </a:rPr>
              <a:t>The Typical ENM Process</a:t>
            </a:r>
            <a:endParaRPr sz="2600" dirty="0"/>
          </a:p>
          <a:p>
            <a:pPr marL="0" lvl="0" indent="0" algn="l" rtl="0">
              <a:spcBef>
                <a:spcPts val="1600"/>
              </a:spcBef>
              <a:spcAft>
                <a:spcPts val="1600"/>
              </a:spcAft>
              <a:buNone/>
            </a:pPr>
            <a:endParaRPr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5"/>
          <p:cNvPicPr preferRelativeResize="0"/>
          <p:nvPr/>
        </p:nvPicPr>
        <p:blipFill>
          <a:blip r:embed="rId3">
            <a:alphaModFix/>
          </a:blip>
          <a:stretch>
            <a:fillRect/>
          </a:stretch>
        </p:blipFill>
        <p:spPr>
          <a:xfrm>
            <a:off x="0" y="351695"/>
            <a:ext cx="9143999" cy="4791805"/>
          </a:xfrm>
          <a:prstGeom prst="rect">
            <a:avLst/>
          </a:prstGeom>
          <a:noFill/>
          <a:ln>
            <a:noFill/>
          </a:ln>
        </p:spPr>
      </p:pic>
      <p:sp>
        <p:nvSpPr>
          <p:cNvPr id="95" name="Google Shape;95;p15"/>
          <p:cNvSpPr/>
          <p:nvPr/>
        </p:nvSpPr>
        <p:spPr>
          <a:xfrm>
            <a:off x="6658425" y="1361575"/>
            <a:ext cx="2709000" cy="22941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 name="Google Shape;96;p15"/>
          <p:cNvSpPr/>
          <p:nvPr/>
        </p:nvSpPr>
        <p:spPr>
          <a:xfrm>
            <a:off x="6119600" y="1239100"/>
            <a:ext cx="3024600" cy="25188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 name="Google Shape;97;p15"/>
          <p:cNvSpPr/>
          <p:nvPr/>
        </p:nvSpPr>
        <p:spPr>
          <a:xfrm>
            <a:off x="1386425" y="2407375"/>
            <a:ext cx="2138700"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 name="Google Shape;98;p15"/>
          <p:cNvSpPr/>
          <p:nvPr/>
        </p:nvSpPr>
        <p:spPr>
          <a:xfrm>
            <a:off x="2038200" y="2028750"/>
            <a:ext cx="1395900"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9" name="Google Shape;99;p15"/>
          <p:cNvSpPr/>
          <p:nvPr/>
        </p:nvSpPr>
        <p:spPr>
          <a:xfrm>
            <a:off x="4648575" y="2482400"/>
            <a:ext cx="1395900" cy="2443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00" name="Google Shape;100;p15"/>
          <p:cNvPicPr preferRelativeResize="0"/>
          <p:nvPr/>
        </p:nvPicPr>
        <p:blipFill rotWithShape="1">
          <a:blip r:embed="rId4">
            <a:alphaModFix/>
          </a:blip>
          <a:srcRect l="6628" t="8039" r="4276" b="6160"/>
          <a:stretch/>
        </p:blipFill>
        <p:spPr>
          <a:xfrm>
            <a:off x="5921350" y="541150"/>
            <a:ext cx="3262099" cy="2670375"/>
          </a:xfrm>
          <a:prstGeom prst="rect">
            <a:avLst/>
          </a:prstGeom>
          <a:noFill/>
          <a:ln>
            <a:noFill/>
          </a:ln>
        </p:spPr>
      </p:pic>
      <p:cxnSp>
        <p:nvCxnSpPr>
          <p:cNvPr id="101" name="Google Shape;101;p15"/>
          <p:cNvCxnSpPr/>
          <p:nvPr/>
        </p:nvCxnSpPr>
        <p:spPr>
          <a:xfrm rot="10800000" flipH="1">
            <a:off x="6149950" y="1542425"/>
            <a:ext cx="1456500" cy="15300"/>
          </a:xfrm>
          <a:prstGeom prst="straightConnector1">
            <a:avLst/>
          </a:prstGeom>
          <a:noFill/>
          <a:ln w="9525" cap="flat" cmpd="sng">
            <a:solidFill>
              <a:schemeClr val="dk2"/>
            </a:solidFill>
            <a:prstDash val="solid"/>
            <a:round/>
            <a:headEnd type="none" w="med" len="med"/>
            <a:tailEnd type="triangle" w="med" len="med"/>
          </a:ln>
        </p:spPr>
      </p:cxnSp>
      <p:sp>
        <p:nvSpPr>
          <p:cNvPr id="102" name="Google Shape;102;p15"/>
          <p:cNvSpPr txBox="1">
            <a:spLocks noGrp="1"/>
          </p:cNvSpPr>
          <p:nvPr>
            <p:ph type="body" idx="4294967295"/>
          </p:nvPr>
        </p:nvSpPr>
        <p:spPr>
          <a:xfrm>
            <a:off x="7353300" y="2278063"/>
            <a:ext cx="1790700" cy="154781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Projection Model</a:t>
            </a:r>
            <a:endParaRPr sz="1500"/>
          </a:p>
          <a:p>
            <a:pPr marL="0" lvl="0" indent="0" algn="ctr" rtl="0">
              <a:spcBef>
                <a:spcPts val="1600"/>
              </a:spcBef>
              <a:spcAft>
                <a:spcPts val="1600"/>
              </a:spcAft>
              <a:buNone/>
            </a:pPr>
            <a:endParaRPr sz="1500"/>
          </a:p>
        </p:txBody>
      </p:sp>
      <p:sp>
        <p:nvSpPr>
          <p:cNvPr id="103" name="Google Shape;103;p15"/>
          <p:cNvSpPr/>
          <p:nvPr/>
        </p:nvSpPr>
        <p:spPr>
          <a:xfrm>
            <a:off x="0" y="3120500"/>
            <a:ext cx="9144000" cy="1805400"/>
          </a:xfrm>
          <a:prstGeom prst="roundRect">
            <a:avLst>
              <a:gd name="adj" fmla="val 16667"/>
            </a:avLst>
          </a:pr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04" name="Google Shape;104;p15"/>
          <p:cNvSpPr txBox="1">
            <a:spLocks noGrp="1"/>
          </p:cNvSpPr>
          <p:nvPr>
            <p:ph type="body" idx="4294967295"/>
          </p:nvPr>
        </p:nvSpPr>
        <p:spPr>
          <a:xfrm>
            <a:off x="0" y="3554413"/>
            <a:ext cx="8677275" cy="911225"/>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800" b="1">
                <a:solidFill>
                  <a:schemeClr val="lt1"/>
                </a:solidFill>
                <a:latin typeface="Raleway"/>
                <a:ea typeface="Raleway"/>
                <a:cs typeface="Raleway"/>
                <a:sym typeface="Raleway"/>
              </a:rPr>
              <a:t>The Typical ENM Process</a:t>
            </a:r>
            <a:endParaRPr sz="2600"/>
          </a:p>
          <a:p>
            <a:pPr marL="0" lvl="0" indent="0" algn="l" rtl="0">
              <a:spcBef>
                <a:spcPts val="1600"/>
              </a:spcBef>
              <a:spcAft>
                <a:spcPts val="1600"/>
              </a:spcAft>
              <a:buNone/>
            </a:pPr>
            <a:endParaRPr sz="1500"/>
          </a:p>
        </p:txBody>
      </p:sp>
      <p:sp>
        <p:nvSpPr>
          <p:cNvPr id="105" name="Google Shape;105;p15"/>
          <p:cNvSpPr txBox="1"/>
          <p:nvPr/>
        </p:nvSpPr>
        <p:spPr>
          <a:xfrm>
            <a:off x="-29925" y="4807275"/>
            <a:ext cx="8991600" cy="59859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600" dirty="0">
                <a:solidFill>
                  <a:schemeClr val="dk2"/>
                </a:solidFill>
                <a:latin typeface="Helvetica Neue"/>
                <a:ea typeface="Helvetica Neue"/>
                <a:cs typeface="Helvetica Neue"/>
                <a:sym typeface="Helvetica Neue"/>
              </a:rPr>
              <a:t>Bohl, C. L., Kass, J. M., &amp; Anderson, R. P. (2019). A new null model approach to quantify performance and significance for ecological niche models of species distributions. </a:t>
            </a:r>
            <a:r>
              <a:rPr lang="en" sz="600" i="1" dirty="0">
                <a:solidFill>
                  <a:schemeClr val="dk2"/>
                </a:solidFill>
                <a:latin typeface="Helvetica Neue"/>
                <a:ea typeface="Helvetica Neue"/>
                <a:cs typeface="Helvetica Neue"/>
                <a:sym typeface="Helvetica Neue"/>
              </a:rPr>
              <a:t>Journal of Biogeography</a:t>
            </a:r>
            <a:r>
              <a:rPr lang="en" sz="600" dirty="0">
                <a:solidFill>
                  <a:schemeClr val="dk2"/>
                </a:solidFill>
                <a:latin typeface="Helvetica Neue"/>
                <a:ea typeface="Helvetica Neue"/>
                <a:cs typeface="Helvetica Neue"/>
                <a:sym typeface="Helvetica Neue"/>
              </a:rPr>
              <a:t>, </a:t>
            </a:r>
            <a:r>
              <a:rPr lang="en" sz="600" i="1" dirty="0">
                <a:solidFill>
                  <a:schemeClr val="dk2"/>
                </a:solidFill>
                <a:latin typeface="Helvetica Neue"/>
                <a:ea typeface="Helvetica Neue"/>
                <a:cs typeface="Helvetica Neue"/>
                <a:sym typeface="Helvetica Neue"/>
              </a:rPr>
              <a:t>46</a:t>
            </a:r>
            <a:r>
              <a:rPr lang="en" sz="600" dirty="0">
                <a:solidFill>
                  <a:schemeClr val="dk2"/>
                </a:solidFill>
                <a:latin typeface="Helvetica Neue"/>
                <a:ea typeface="Helvetica Neue"/>
                <a:cs typeface="Helvetica Neue"/>
                <a:sym typeface="Helvetica Neue"/>
              </a:rPr>
              <a:t>(6), 1101–1111. https://</a:t>
            </a:r>
            <a:r>
              <a:rPr lang="en" sz="600" dirty="0" err="1">
                <a:solidFill>
                  <a:schemeClr val="dk2"/>
                </a:solidFill>
                <a:latin typeface="Helvetica Neue"/>
                <a:ea typeface="Helvetica Neue"/>
                <a:cs typeface="Helvetica Neue"/>
                <a:sym typeface="Helvetica Neue"/>
              </a:rPr>
              <a:t>doi.org</a:t>
            </a:r>
            <a:r>
              <a:rPr lang="en" sz="600" dirty="0">
                <a:solidFill>
                  <a:schemeClr val="dk2"/>
                </a:solidFill>
                <a:latin typeface="Helvetica Neue"/>
                <a:ea typeface="Helvetica Neue"/>
                <a:cs typeface="Helvetica Neue"/>
                <a:sym typeface="Helvetica Neue"/>
              </a:rPr>
              <a:t>/10.1111/jbi.13573 </a:t>
            </a:r>
            <a:endParaRPr sz="800" dirty="0"/>
          </a:p>
        </p:txBody>
      </p:sp>
      <p:sp>
        <p:nvSpPr>
          <p:cNvPr id="106" name="Google Shape;106;p15"/>
          <p:cNvSpPr txBox="1"/>
          <p:nvPr/>
        </p:nvSpPr>
        <p:spPr>
          <a:xfrm rot="-757418">
            <a:off x="202249" y="412185"/>
            <a:ext cx="3893007" cy="1091737"/>
          </a:xfrm>
          <a:prstGeom prst="rect">
            <a:avLst/>
          </a:prstGeom>
          <a:solidFill>
            <a:schemeClr val="accent4">
              <a:lumMod val="20000"/>
              <a:lumOff val="80000"/>
            </a:schemeClr>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solidFill>
                  <a:schemeClr val="dk2"/>
                </a:solidFill>
                <a:latin typeface="Lilita One"/>
                <a:ea typeface="Lilita One"/>
                <a:cs typeface="Lilita One"/>
                <a:sym typeface="Lilita One"/>
              </a:rPr>
              <a:t>Do these patterns truly exist?</a:t>
            </a:r>
            <a:endParaRPr sz="3400" dirty="0">
              <a:solidFill>
                <a:schemeClr val="dk2"/>
              </a:solidFill>
              <a:latin typeface="Lilita One"/>
              <a:ea typeface="Lilita One"/>
              <a:cs typeface="Lilita One"/>
              <a:sym typeface="Lilita One"/>
            </a:endParaRPr>
          </a:p>
        </p:txBody>
      </p:sp>
      <p:sp>
        <p:nvSpPr>
          <p:cNvPr id="107" name="Google Shape;107;p15"/>
          <p:cNvSpPr txBox="1"/>
          <p:nvPr/>
        </p:nvSpPr>
        <p:spPr>
          <a:xfrm rot="533813">
            <a:off x="5007657" y="529996"/>
            <a:ext cx="3893141" cy="1091599"/>
          </a:xfrm>
          <a:prstGeom prst="rect">
            <a:avLst/>
          </a:prstGeom>
          <a:solidFill>
            <a:schemeClr val="accent4">
              <a:lumMod val="20000"/>
              <a:lumOff val="80000"/>
            </a:schemeClr>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solidFill>
                  <a:schemeClr val="dk2"/>
                </a:solidFill>
                <a:latin typeface="Lilita One"/>
                <a:ea typeface="Lilita One"/>
                <a:cs typeface="Lilita One"/>
                <a:sym typeface="Lilita One"/>
              </a:rPr>
              <a:t>Is there collection bias?</a:t>
            </a:r>
            <a:endParaRPr sz="3400" dirty="0">
              <a:solidFill>
                <a:schemeClr val="dk2"/>
              </a:solidFill>
              <a:latin typeface="Lilita One"/>
              <a:ea typeface="Lilita One"/>
              <a:cs typeface="Lilita One"/>
              <a:sym typeface="Lilita One"/>
            </a:endParaRPr>
          </a:p>
        </p:txBody>
      </p:sp>
      <p:sp>
        <p:nvSpPr>
          <p:cNvPr id="108" name="Google Shape;108;p15"/>
          <p:cNvSpPr txBox="1"/>
          <p:nvPr/>
        </p:nvSpPr>
        <p:spPr>
          <a:xfrm rot="289822">
            <a:off x="2220217" y="1971876"/>
            <a:ext cx="4236045" cy="1167828"/>
          </a:xfrm>
          <a:prstGeom prst="rect">
            <a:avLst/>
          </a:prstGeom>
          <a:solidFill>
            <a:schemeClr val="accent4">
              <a:lumMod val="20000"/>
              <a:lumOff val="80000"/>
            </a:schemeClr>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solidFill>
                  <a:schemeClr val="dk2"/>
                </a:solidFill>
                <a:latin typeface="Lilita One"/>
                <a:ea typeface="Lilita One"/>
                <a:cs typeface="Lilita One"/>
                <a:sym typeface="Lilita One"/>
              </a:rPr>
              <a:t>Are our models better than random?</a:t>
            </a:r>
            <a:endParaRPr sz="3400" dirty="0">
              <a:solidFill>
                <a:schemeClr val="dk2"/>
              </a:solidFill>
              <a:latin typeface="Lilita One"/>
              <a:ea typeface="Lilita One"/>
              <a:cs typeface="Lilita One"/>
              <a:sym typeface="Lilita O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700"/>
                                        <p:tgtEl>
                                          <p:spTgt spid="106"/>
                                        </p:tgtEl>
                                      </p:cBhvr>
                                    </p:animEffect>
                                  </p:childTnLst>
                                </p:cTn>
                              </p:par>
                            </p:childTnLst>
                          </p:cTn>
                        </p:par>
                        <p:par>
                          <p:cTn id="8" fill="hold">
                            <p:stCondLst>
                              <p:cond delay="700"/>
                            </p:stCondLst>
                            <p:childTnLst>
                              <p:par>
                                <p:cTn id="9" presetID="10" presetClass="entr" presetSubtype="0" fill="hold" nodeType="afterEffect">
                                  <p:stCondLst>
                                    <p:cond delay="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600"/>
                                        <p:tgtEl>
                                          <p:spTgt spid="107"/>
                                        </p:tgtEl>
                                      </p:cBhvr>
                                    </p:animEffect>
                                  </p:childTnLst>
                                </p:cTn>
                              </p:par>
                            </p:childTnLst>
                          </p:cTn>
                        </p:par>
                        <p:par>
                          <p:cTn id="12" fill="hold">
                            <p:stCondLst>
                              <p:cond delay="1300"/>
                            </p:stCondLst>
                            <p:childTnLst>
                              <p:par>
                                <p:cTn id="13" presetID="10" presetClass="entr" presetSubtype="0" fill="hold" nodeType="afterEffect">
                                  <p:stCondLst>
                                    <p:cond delay="0"/>
                                  </p:stCondLst>
                                  <p:childTnLst>
                                    <p:set>
                                      <p:cBhvr>
                                        <p:cTn id="14" dur="1" fill="hold">
                                          <p:stCondLst>
                                            <p:cond delay="0"/>
                                          </p:stCondLst>
                                        </p:cTn>
                                        <p:tgtEl>
                                          <p:spTgt spid="108"/>
                                        </p:tgtEl>
                                        <p:attrNameLst>
                                          <p:attrName>style.visibility</p:attrName>
                                        </p:attrNameLst>
                                      </p:cBhvr>
                                      <p:to>
                                        <p:strVal val="visible"/>
                                      </p:to>
                                    </p:set>
                                    <p:animEffect transition="in" filter="fade">
                                      <p:cBhvr>
                                        <p:cTn id="15" dur="8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6"/>
          <p:cNvPicPr preferRelativeResize="0"/>
          <p:nvPr/>
        </p:nvPicPr>
        <p:blipFill>
          <a:blip r:embed="rId3">
            <a:alphaModFix/>
          </a:blip>
          <a:stretch>
            <a:fillRect/>
          </a:stretch>
        </p:blipFill>
        <p:spPr>
          <a:xfrm>
            <a:off x="0" y="351695"/>
            <a:ext cx="9143999" cy="4791805"/>
          </a:xfrm>
          <a:prstGeom prst="rect">
            <a:avLst/>
          </a:prstGeom>
          <a:noFill/>
          <a:ln>
            <a:noFill/>
          </a:ln>
        </p:spPr>
      </p:pic>
      <p:sp>
        <p:nvSpPr>
          <p:cNvPr id="114" name="Google Shape;114;p16"/>
          <p:cNvSpPr txBox="1"/>
          <p:nvPr/>
        </p:nvSpPr>
        <p:spPr>
          <a:xfrm>
            <a:off x="0" y="4791805"/>
            <a:ext cx="8991600" cy="59859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600" dirty="0">
                <a:solidFill>
                  <a:schemeClr val="dk2"/>
                </a:solidFill>
                <a:latin typeface="Helvetica Neue"/>
                <a:ea typeface="Helvetica Neue"/>
                <a:cs typeface="Helvetica Neue"/>
                <a:sym typeface="Helvetica Neue"/>
              </a:rPr>
              <a:t>Bohl, C. L., Kass, J. M., &amp; Anderson, R. P. (2019). A new null model approach to quantify performance and significance for ecological niche models of species distributions. </a:t>
            </a:r>
            <a:r>
              <a:rPr lang="en" sz="600" i="1" dirty="0">
                <a:solidFill>
                  <a:schemeClr val="dk2"/>
                </a:solidFill>
                <a:latin typeface="Helvetica Neue"/>
                <a:ea typeface="Helvetica Neue"/>
                <a:cs typeface="Helvetica Neue"/>
                <a:sym typeface="Helvetica Neue"/>
              </a:rPr>
              <a:t>Journal of Biogeography</a:t>
            </a:r>
            <a:r>
              <a:rPr lang="en" sz="600" dirty="0">
                <a:solidFill>
                  <a:schemeClr val="dk2"/>
                </a:solidFill>
                <a:latin typeface="Helvetica Neue"/>
                <a:ea typeface="Helvetica Neue"/>
                <a:cs typeface="Helvetica Neue"/>
                <a:sym typeface="Helvetica Neue"/>
              </a:rPr>
              <a:t>, </a:t>
            </a:r>
            <a:r>
              <a:rPr lang="en" sz="600" i="1" dirty="0">
                <a:solidFill>
                  <a:schemeClr val="dk2"/>
                </a:solidFill>
                <a:latin typeface="Helvetica Neue"/>
                <a:ea typeface="Helvetica Neue"/>
                <a:cs typeface="Helvetica Neue"/>
                <a:sym typeface="Helvetica Neue"/>
              </a:rPr>
              <a:t>46</a:t>
            </a:r>
            <a:r>
              <a:rPr lang="en" sz="600" dirty="0">
                <a:solidFill>
                  <a:schemeClr val="dk2"/>
                </a:solidFill>
                <a:latin typeface="Helvetica Neue"/>
                <a:ea typeface="Helvetica Neue"/>
                <a:cs typeface="Helvetica Neue"/>
                <a:sym typeface="Helvetica Neue"/>
              </a:rPr>
              <a:t>(6), 1101–1111. https://</a:t>
            </a:r>
            <a:r>
              <a:rPr lang="en" sz="600" dirty="0" err="1">
                <a:solidFill>
                  <a:schemeClr val="dk2"/>
                </a:solidFill>
                <a:latin typeface="Helvetica Neue"/>
                <a:ea typeface="Helvetica Neue"/>
                <a:cs typeface="Helvetica Neue"/>
                <a:sym typeface="Helvetica Neue"/>
              </a:rPr>
              <a:t>doi.org</a:t>
            </a:r>
            <a:r>
              <a:rPr lang="en" sz="600" dirty="0">
                <a:solidFill>
                  <a:schemeClr val="dk2"/>
                </a:solidFill>
                <a:latin typeface="Helvetica Neue"/>
                <a:ea typeface="Helvetica Neue"/>
                <a:cs typeface="Helvetica Neue"/>
                <a:sym typeface="Helvetica Neue"/>
              </a:rPr>
              <a:t>/10.1111/jbi.13573 </a:t>
            </a:r>
            <a:endParaRPr sz="800"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96ADB90-2D3B-229A-C2BD-86DD3401E3B1}"/>
              </a:ext>
            </a:extLst>
          </p:cNvPr>
          <p:cNvPicPr>
            <a:picLocks noChangeAspect="1"/>
          </p:cNvPicPr>
          <p:nvPr/>
        </p:nvPicPr>
        <p:blipFill>
          <a:blip r:embed="rId3"/>
          <a:stretch>
            <a:fillRect/>
          </a:stretch>
        </p:blipFill>
        <p:spPr>
          <a:xfrm>
            <a:off x="200313" y="2052320"/>
            <a:ext cx="4599229" cy="2245359"/>
          </a:xfrm>
          <a:prstGeom prst="rect">
            <a:avLst/>
          </a:prstGeom>
        </p:spPr>
      </p:pic>
      <p:pic>
        <p:nvPicPr>
          <p:cNvPr id="3" name="Picture 2">
            <a:extLst>
              <a:ext uri="{FF2B5EF4-FFF2-40B4-BE49-F238E27FC236}">
                <a16:creationId xmlns:a16="http://schemas.microsoft.com/office/drawing/2014/main" id="{4B249970-D843-530D-D864-9EAA982B10AB}"/>
              </a:ext>
            </a:extLst>
          </p:cNvPr>
          <p:cNvPicPr>
            <a:picLocks noChangeAspect="1"/>
          </p:cNvPicPr>
          <p:nvPr/>
        </p:nvPicPr>
        <p:blipFill>
          <a:blip r:embed="rId4"/>
          <a:stretch>
            <a:fillRect/>
          </a:stretch>
        </p:blipFill>
        <p:spPr>
          <a:xfrm>
            <a:off x="4835331" y="2052320"/>
            <a:ext cx="4108356" cy="2245359"/>
          </a:xfrm>
          <a:prstGeom prst="rect">
            <a:avLst/>
          </a:prstGeom>
        </p:spPr>
      </p:pic>
      <p:sp>
        <p:nvSpPr>
          <p:cNvPr id="5" name="TextBox 4">
            <a:extLst>
              <a:ext uri="{FF2B5EF4-FFF2-40B4-BE49-F238E27FC236}">
                <a16:creationId xmlns:a16="http://schemas.microsoft.com/office/drawing/2014/main" id="{F5959943-CACD-EF6E-3E04-FC12531670F1}"/>
              </a:ext>
            </a:extLst>
          </p:cNvPr>
          <p:cNvSpPr txBox="1"/>
          <p:nvPr/>
        </p:nvSpPr>
        <p:spPr>
          <a:xfrm>
            <a:off x="0" y="705535"/>
            <a:ext cx="9265190" cy="646331"/>
          </a:xfrm>
          <a:prstGeom prst="rect">
            <a:avLst/>
          </a:prstGeom>
          <a:noFill/>
        </p:spPr>
        <p:txBody>
          <a:bodyPr wrap="square" rtlCol="0">
            <a:spAutoFit/>
          </a:bodyPr>
          <a:lstStyle/>
          <a:p>
            <a:r>
              <a:rPr lang="en-US" sz="3600" dirty="0">
                <a:latin typeface="Lato" panose="020F0502020204030203" pitchFamily="34" charset="0"/>
                <a:ea typeface="Lato" panose="020F0502020204030203" pitchFamily="34" charset="0"/>
                <a:cs typeface="Lato" panose="020F0502020204030203" pitchFamily="34" charset="0"/>
              </a:rPr>
              <a:t>Actual vs. predicted habitat suitability values</a:t>
            </a:r>
          </a:p>
        </p:txBody>
      </p:sp>
    </p:spTree>
    <p:extLst>
      <p:ext uri="{BB962C8B-B14F-4D97-AF65-F5344CB8AC3E}">
        <p14:creationId xmlns:p14="http://schemas.microsoft.com/office/powerpoint/2010/main" val="264762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8"/>
        <p:cNvGrpSpPr/>
        <p:nvPr/>
      </p:nvGrpSpPr>
      <p:grpSpPr>
        <a:xfrm>
          <a:off x="0" y="0"/>
          <a:ext cx="0" cy="0"/>
          <a:chOff x="0" y="0"/>
          <a:chExt cx="0" cy="0"/>
        </a:xfrm>
      </p:grpSpPr>
      <p:pic>
        <p:nvPicPr>
          <p:cNvPr id="119" name="Google Shape;119;p17"/>
          <p:cNvPicPr preferRelativeResize="0"/>
          <p:nvPr/>
        </p:nvPicPr>
        <p:blipFill>
          <a:blip r:embed="rId3">
            <a:alphaModFix/>
          </a:blip>
          <a:stretch>
            <a:fillRect/>
          </a:stretch>
        </p:blipFill>
        <p:spPr>
          <a:xfrm>
            <a:off x="182775" y="1173938"/>
            <a:ext cx="4540300" cy="3405225"/>
          </a:xfrm>
          <a:prstGeom prst="rect">
            <a:avLst/>
          </a:prstGeom>
          <a:noFill/>
          <a:ln>
            <a:noFill/>
          </a:ln>
        </p:spPr>
      </p:pic>
      <p:sp>
        <p:nvSpPr>
          <p:cNvPr id="120" name="Google Shape;120;p17"/>
          <p:cNvSpPr txBox="1">
            <a:spLocks noGrp="1"/>
          </p:cNvSpPr>
          <p:nvPr>
            <p:ph type="body" idx="4294967295"/>
          </p:nvPr>
        </p:nvSpPr>
        <p:spPr>
          <a:xfrm>
            <a:off x="0" y="201613"/>
            <a:ext cx="8677275" cy="911225"/>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800" b="1" dirty="0">
                <a:latin typeface="Raleway"/>
                <a:ea typeface="Raleway"/>
                <a:cs typeface="Raleway"/>
                <a:sym typeface="Raleway"/>
              </a:rPr>
              <a:t>Area Under the Curve (AUC)</a:t>
            </a:r>
            <a:endParaRPr sz="2600" dirty="0"/>
          </a:p>
          <a:p>
            <a:pPr marL="0" lvl="0" indent="0" algn="l" rtl="0">
              <a:spcBef>
                <a:spcPts val="1600"/>
              </a:spcBef>
              <a:spcAft>
                <a:spcPts val="1600"/>
              </a:spcAft>
              <a:buNone/>
            </a:pPr>
            <a:endParaRPr sz="1500" dirty="0"/>
          </a:p>
        </p:txBody>
      </p:sp>
      <p:sp>
        <p:nvSpPr>
          <p:cNvPr id="121" name="Google Shape;121;p17"/>
          <p:cNvSpPr txBox="1"/>
          <p:nvPr/>
        </p:nvSpPr>
        <p:spPr>
          <a:xfrm>
            <a:off x="4977925" y="1391650"/>
            <a:ext cx="4243200" cy="3187500"/>
          </a:xfrm>
          <a:prstGeom prst="rect">
            <a:avLst/>
          </a:prstGeom>
          <a:noFill/>
          <a:ln>
            <a:noFill/>
          </a:ln>
        </p:spPr>
        <p:txBody>
          <a:bodyPr spcFirstLastPara="1" wrap="square" lIns="91425" tIns="91425" rIns="91425" bIns="91425" anchor="t" anchorCtr="0">
            <a:noAutofit/>
          </a:bodyPr>
          <a:lstStyle/>
          <a:p>
            <a:pPr lvl="0"/>
            <a:r>
              <a:rPr lang="en-US" dirty="0">
                <a:latin typeface="Lato" panose="020F0502020204030203" pitchFamily="34" charset="0"/>
                <a:ea typeface="Lato" panose="020F0502020204030203" pitchFamily="34" charset="0"/>
                <a:cs typeface="Lato" panose="020F0502020204030203" pitchFamily="34" charset="0"/>
              </a:rPr>
              <a:t>False positive rate (1 - specificity) vs. true positive rate (sensitivity)</a:t>
            </a:r>
            <a:endParaRPr sz="1800" dirty="0">
              <a:latin typeface="Lato" panose="020F0502020204030203" pitchFamily="34" charset="0"/>
              <a:ea typeface="Lato" panose="020F0502020204030203" pitchFamily="34" charset="0"/>
              <a:cs typeface="Lato" panose="020F0502020204030203" pitchFamily="34" charset="0"/>
              <a:sym typeface="Lato"/>
            </a:endParaRPr>
          </a:p>
          <a:p>
            <a:pPr marL="0" lvl="0" indent="0" algn="l" rtl="0">
              <a:spcBef>
                <a:spcPts val="0"/>
              </a:spcBef>
              <a:spcAft>
                <a:spcPts val="0"/>
              </a:spcAft>
              <a:buNone/>
            </a:pPr>
            <a:endParaRPr sz="1800" dirty="0">
              <a:latin typeface="Lato"/>
              <a:ea typeface="Lato"/>
              <a:cs typeface="Lato"/>
              <a:sym typeface="Lato"/>
            </a:endParaRPr>
          </a:p>
          <a:p>
            <a:pPr marL="0" lvl="0" indent="0" algn="l" rtl="0">
              <a:spcBef>
                <a:spcPts val="0"/>
              </a:spcBef>
              <a:spcAft>
                <a:spcPts val="0"/>
              </a:spcAft>
              <a:buNone/>
            </a:pPr>
            <a:r>
              <a:rPr lang="en" sz="1800" dirty="0">
                <a:latin typeface="Lato"/>
                <a:ea typeface="Lato"/>
                <a:cs typeface="Lato"/>
                <a:sym typeface="Lato"/>
              </a:rPr>
              <a:t>AUC = 1.0  -&gt;  perfect model </a:t>
            </a:r>
            <a:endParaRPr sz="1800" dirty="0">
              <a:latin typeface="Lato"/>
              <a:ea typeface="Lato"/>
              <a:cs typeface="Lato"/>
              <a:sym typeface="Lato"/>
            </a:endParaRPr>
          </a:p>
          <a:p>
            <a:pPr marL="0" lvl="0" indent="0" algn="l" rtl="0">
              <a:spcBef>
                <a:spcPts val="0"/>
              </a:spcBef>
              <a:spcAft>
                <a:spcPts val="0"/>
              </a:spcAft>
              <a:buNone/>
            </a:pPr>
            <a:r>
              <a:rPr lang="en" sz="1800" dirty="0">
                <a:latin typeface="Lato"/>
                <a:ea typeface="Lato"/>
                <a:cs typeface="Lato"/>
                <a:sym typeface="Lato"/>
              </a:rPr>
              <a:t>AUC = 0.5  -&gt;  model performs no better than  random</a:t>
            </a:r>
            <a:endParaRPr sz="1800" dirty="0">
              <a:latin typeface="Lato"/>
              <a:ea typeface="Lato"/>
              <a:cs typeface="Lato"/>
              <a:sym typeface="Lato"/>
            </a:endParaRPr>
          </a:p>
          <a:p>
            <a:pPr marL="0" lvl="0" indent="0" algn="l" rtl="0">
              <a:spcBef>
                <a:spcPts val="0"/>
              </a:spcBef>
              <a:spcAft>
                <a:spcPts val="0"/>
              </a:spcAft>
              <a:buNone/>
            </a:pPr>
            <a:r>
              <a:rPr lang="en" sz="1800" dirty="0">
                <a:latin typeface="Lato"/>
                <a:ea typeface="Lato"/>
                <a:cs typeface="Lato"/>
                <a:sym typeface="Lato"/>
              </a:rPr>
              <a:t>AUC = &lt;0.5  -&gt; a sign of error</a:t>
            </a:r>
            <a:endParaRPr sz="1800" dirty="0">
              <a:latin typeface="Lato"/>
              <a:ea typeface="Lato"/>
              <a:cs typeface="Lato"/>
              <a:sym typeface="Lato"/>
            </a:endParaRPr>
          </a:p>
          <a:p>
            <a:pPr marL="0" lvl="0" indent="0" algn="l" rtl="0">
              <a:spcBef>
                <a:spcPts val="0"/>
              </a:spcBef>
              <a:spcAft>
                <a:spcPts val="0"/>
              </a:spcAft>
              <a:buNone/>
            </a:pPr>
            <a:endParaRPr sz="1800" dirty="0">
              <a:latin typeface="Lato"/>
              <a:ea typeface="Lato"/>
              <a:cs typeface="Lato"/>
              <a:sym typeface="Lato"/>
            </a:endParaRPr>
          </a:p>
          <a:p>
            <a:pPr marL="0" lvl="0" indent="0" algn="l" rtl="0">
              <a:spcBef>
                <a:spcPts val="0"/>
              </a:spcBef>
              <a:spcAft>
                <a:spcPts val="0"/>
              </a:spcAft>
              <a:buNone/>
            </a:pPr>
            <a:r>
              <a:rPr lang="en" sz="1800" dirty="0">
                <a:latin typeface="Lato"/>
                <a:ea typeface="Lato"/>
                <a:cs typeface="Lato"/>
                <a:sym typeface="Lato"/>
              </a:rPr>
              <a:t>AUC evaluates a model’s ability to distinguish between presence/background points </a:t>
            </a:r>
            <a:endParaRPr sz="1800" dirty="0">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5"/>
        <p:cNvGrpSpPr/>
        <p:nvPr/>
      </p:nvGrpSpPr>
      <p:grpSpPr>
        <a:xfrm>
          <a:off x="0" y="0"/>
          <a:ext cx="0" cy="0"/>
          <a:chOff x="0" y="0"/>
          <a:chExt cx="0" cy="0"/>
        </a:xfrm>
      </p:grpSpPr>
      <p:pic>
        <p:nvPicPr>
          <p:cNvPr id="126" name="Google Shape;126;p18"/>
          <p:cNvPicPr preferRelativeResize="0"/>
          <p:nvPr/>
        </p:nvPicPr>
        <p:blipFill>
          <a:blip r:embed="rId3">
            <a:alphaModFix/>
          </a:blip>
          <a:stretch>
            <a:fillRect/>
          </a:stretch>
        </p:blipFill>
        <p:spPr>
          <a:xfrm flipH="1">
            <a:off x="4427675" y="1112251"/>
            <a:ext cx="3602861" cy="3405200"/>
          </a:xfrm>
          <a:prstGeom prst="rect">
            <a:avLst/>
          </a:prstGeom>
          <a:noFill/>
          <a:ln>
            <a:noFill/>
          </a:ln>
        </p:spPr>
      </p:pic>
      <p:sp>
        <p:nvSpPr>
          <p:cNvPr id="127" name="Google Shape;127;p18"/>
          <p:cNvSpPr/>
          <p:nvPr/>
        </p:nvSpPr>
        <p:spPr>
          <a:xfrm>
            <a:off x="7533675" y="3530975"/>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 name="Google Shape;128;p18"/>
          <p:cNvSpPr/>
          <p:nvPr/>
        </p:nvSpPr>
        <p:spPr>
          <a:xfrm>
            <a:off x="7534275" y="3801450"/>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 name="Google Shape;129;p18"/>
          <p:cNvSpPr/>
          <p:nvPr/>
        </p:nvSpPr>
        <p:spPr>
          <a:xfrm>
            <a:off x="7318675" y="3530975"/>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 name="Google Shape;130;p18"/>
          <p:cNvSpPr/>
          <p:nvPr/>
        </p:nvSpPr>
        <p:spPr>
          <a:xfrm>
            <a:off x="7381875" y="2757300"/>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 name="Google Shape;131;p18"/>
          <p:cNvSpPr/>
          <p:nvPr/>
        </p:nvSpPr>
        <p:spPr>
          <a:xfrm>
            <a:off x="6497700" y="1704600"/>
            <a:ext cx="151800" cy="166800"/>
          </a:xfrm>
          <a:prstGeom prst="flowChartConnector">
            <a:avLst/>
          </a:prstGeom>
          <a:solidFill>
            <a:srgbClr val="FFFF00"/>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2" name="Google Shape;132;p18"/>
          <p:cNvSpPr/>
          <p:nvPr/>
        </p:nvSpPr>
        <p:spPr>
          <a:xfrm>
            <a:off x="5482325" y="1410875"/>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 name="Google Shape;133;p18"/>
          <p:cNvSpPr/>
          <p:nvPr/>
        </p:nvSpPr>
        <p:spPr>
          <a:xfrm>
            <a:off x="7046750" y="2952750"/>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 name="Google Shape;134;p18"/>
          <p:cNvSpPr/>
          <p:nvPr/>
        </p:nvSpPr>
        <p:spPr>
          <a:xfrm>
            <a:off x="7318675" y="3195750"/>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5" name="Google Shape;135;p18"/>
          <p:cNvSpPr/>
          <p:nvPr/>
        </p:nvSpPr>
        <p:spPr>
          <a:xfrm>
            <a:off x="7713275" y="3287975"/>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6" name="Google Shape;136;p18"/>
          <p:cNvSpPr/>
          <p:nvPr/>
        </p:nvSpPr>
        <p:spPr>
          <a:xfrm>
            <a:off x="7122950" y="2125725"/>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 name="Google Shape;137;p18"/>
          <p:cNvSpPr txBox="1">
            <a:spLocks noGrp="1"/>
          </p:cNvSpPr>
          <p:nvPr>
            <p:ph type="body" idx="4294967295"/>
          </p:nvPr>
        </p:nvSpPr>
        <p:spPr>
          <a:xfrm>
            <a:off x="0" y="201613"/>
            <a:ext cx="8677275" cy="911225"/>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800" b="1" dirty="0">
                <a:latin typeface="Raleway"/>
                <a:ea typeface="Raleway"/>
                <a:cs typeface="Raleway"/>
                <a:sym typeface="Raleway"/>
              </a:rPr>
              <a:t>Omission Rate (OR)</a:t>
            </a:r>
            <a:endParaRPr sz="2600" dirty="0"/>
          </a:p>
          <a:p>
            <a:pPr marL="0" lvl="0" indent="0" algn="l" rtl="0">
              <a:spcBef>
                <a:spcPts val="1600"/>
              </a:spcBef>
              <a:spcAft>
                <a:spcPts val="1600"/>
              </a:spcAft>
              <a:buNone/>
            </a:pPr>
            <a:endParaRPr sz="1500" dirty="0"/>
          </a:p>
        </p:txBody>
      </p:sp>
      <p:sp>
        <p:nvSpPr>
          <p:cNvPr id="138" name="Google Shape;138;p18"/>
          <p:cNvSpPr txBox="1"/>
          <p:nvPr/>
        </p:nvSpPr>
        <p:spPr>
          <a:xfrm rot="702">
            <a:off x="4739477" y="2155875"/>
            <a:ext cx="1468500" cy="6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Lato"/>
                <a:ea typeface="Lato"/>
                <a:cs typeface="Lato"/>
                <a:sym typeface="Lato"/>
              </a:rPr>
              <a:t>Classified as “unsuitable”</a:t>
            </a:r>
            <a:endParaRPr sz="1500" dirty="0">
              <a:latin typeface="Lato"/>
              <a:ea typeface="Lato"/>
              <a:cs typeface="Lato"/>
              <a:sym typeface="Lato"/>
            </a:endParaRPr>
          </a:p>
        </p:txBody>
      </p:sp>
      <p:cxnSp>
        <p:nvCxnSpPr>
          <p:cNvPr id="139" name="Google Shape;139;p18"/>
          <p:cNvCxnSpPr>
            <a:endCxn id="131" idx="3"/>
          </p:cNvCxnSpPr>
          <p:nvPr/>
        </p:nvCxnSpPr>
        <p:spPr>
          <a:xfrm rot="10800000" flipH="1">
            <a:off x="6105931" y="1846973"/>
            <a:ext cx="414000" cy="366900"/>
          </a:xfrm>
          <a:prstGeom prst="straightConnector1">
            <a:avLst/>
          </a:prstGeom>
          <a:noFill/>
          <a:ln w="28575" cap="flat" cmpd="sng">
            <a:solidFill>
              <a:schemeClr val="dk2"/>
            </a:solidFill>
            <a:prstDash val="solid"/>
            <a:round/>
            <a:headEnd type="none" w="med" len="med"/>
            <a:tailEnd type="none" w="med" len="med"/>
          </a:ln>
        </p:spPr>
      </p:cxnSp>
      <p:sp>
        <p:nvSpPr>
          <p:cNvPr id="140" name="Google Shape;140;p18"/>
          <p:cNvSpPr txBox="1"/>
          <p:nvPr/>
        </p:nvSpPr>
        <p:spPr>
          <a:xfrm>
            <a:off x="848625" y="1479925"/>
            <a:ext cx="3094500" cy="30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latin typeface="Lato"/>
                <a:ea typeface="Lato"/>
                <a:cs typeface="Lato"/>
                <a:sym typeface="Lato"/>
              </a:rPr>
              <a:t>OR = the proportion of test/validation presence points that fall below a specific threshold in training.</a:t>
            </a:r>
            <a:endParaRPr sz="2500" dirty="0">
              <a:latin typeface="Lato"/>
              <a:ea typeface="Lato"/>
              <a:cs typeface="Lato"/>
              <a:sym typeface="Lato"/>
            </a:endParaRPr>
          </a:p>
        </p:txBody>
      </p:sp>
      <p:sp>
        <p:nvSpPr>
          <p:cNvPr id="141" name="Google Shape;141;p18"/>
          <p:cNvSpPr txBox="1"/>
          <p:nvPr/>
        </p:nvSpPr>
        <p:spPr>
          <a:xfrm rot="702">
            <a:off x="4824877" y="3454925"/>
            <a:ext cx="1468500" cy="6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Lato"/>
                <a:ea typeface="Lato"/>
                <a:cs typeface="Lato"/>
                <a:sym typeface="Lato"/>
              </a:rPr>
              <a:t>Classified as “suitable”</a:t>
            </a:r>
            <a:endParaRPr sz="1500" dirty="0">
              <a:latin typeface="Lato"/>
              <a:ea typeface="Lato"/>
              <a:cs typeface="Lato"/>
              <a:sym typeface="Lato"/>
            </a:endParaRPr>
          </a:p>
        </p:txBody>
      </p:sp>
      <p:cxnSp>
        <p:nvCxnSpPr>
          <p:cNvPr id="142" name="Google Shape;142;p18"/>
          <p:cNvCxnSpPr/>
          <p:nvPr/>
        </p:nvCxnSpPr>
        <p:spPr>
          <a:xfrm rot="10800000" flipH="1">
            <a:off x="6207975" y="3341975"/>
            <a:ext cx="953700" cy="312900"/>
          </a:xfrm>
          <a:prstGeom prst="straightConnector1">
            <a:avLst/>
          </a:prstGeom>
          <a:noFill/>
          <a:ln w="28575" cap="flat" cmpd="sng">
            <a:solidFill>
              <a:schemeClr val="dk2"/>
            </a:solidFill>
            <a:prstDash val="solid"/>
            <a:round/>
            <a:headEnd type="none" w="med" len="med"/>
            <a:tailEnd type="none" w="med" len="med"/>
          </a:ln>
        </p:spPr>
      </p:cxnSp>
      <p:sp>
        <p:nvSpPr>
          <p:cNvPr id="143" name="Google Shape;143;p18"/>
          <p:cNvSpPr txBox="1"/>
          <p:nvPr/>
        </p:nvSpPr>
        <p:spPr>
          <a:xfrm>
            <a:off x="848625" y="3245250"/>
            <a:ext cx="3976186" cy="127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latin typeface="Lato"/>
                <a:ea typeface="Lato"/>
                <a:cs typeface="Lato"/>
                <a:sym typeface="Lato"/>
              </a:rPr>
              <a:t>Example</a:t>
            </a:r>
            <a:r>
              <a:rPr lang="en" dirty="0">
                <a:latin typeface="Lato"/>
                <a:ea typeface="Lato"/>
                <a:cs typeface="Lato"/>
                <a:sym typeface="Lato"/>
              </a:rPr>
              <a:t> Threshold</a:t>
            </a:r>
            <a:r>
              <a:rPr lang="en" sz="1800" dirty="0">
                <a:latin typeface="Lato"/>
                <a:ea typeface="Lato"/>
                <a:cs typeface="Lato"/>
                <a:sym typeface="Lato"/>
              </a:rPr>
              <a:t>:</a:t>
            </a:r>
            <a:endParaRPr sz="1800" dirty="0">
              <a:latin typeface="Lato"/>
              <a:ea typeface="Lato"/>
              <a:cs typeface="Lato"/>
              <a:sym typeface="Lato"/>
            </a:endParaRPr>
          </a:p>
          <a:p>
            <a:pPr marL="0" lvl="0" indent="0" algn="l" rtl="0">
              <a:spcBef>
                <a:spcPts val="0"/>
              </a:spcBef>
              <a:spcAft>
                <a:spcPts val="0"/>
              </a:spcAft>
              <a:buNone/>
            </a:pPr>
            <a:r>
              <a:rPr lang="en" sz="1800" dirty="0">
                <a:latin typeface="Lato"/>
                <a:ea typeface="Lato"/>
                <a:cs typeface="Lato"/>
                <a:sym typeface="Lato"/>
              </a:rPr>
              <a:t>OR = 0.1 </a:t>
            </a:r>
          </a:p>
          <a:p>
            <a:pPr marL="0" lvl="0" indent="0" algn="l" rtl="0">
              <a:spcBef>
                <a:spcPts val="0"/>
              </a:spcBef>
              <a:spcAft>
                <a:spcPts val="0"/>
              </a:spcAft>
              <a:buNone/>
            </a:pPr>
            <a:r>
              <a:rPr lang="en" dirty="0">
                <a:latin typeface="Lato"/>
                <a:ea typeface="Lato"/>
                <a:cs typeface="Lato"/>
                <a:sym typeface="Lato"/>
              </a:rPr>
              <a:t>OR &gt; 0.1 Possible Overfitting</a:t>
            </a:r>
          </a:p>
          <a:p>
            <a:pPr marL="0" lvl="0" indent="0" algn="l" rtl="0">
              <a:spcBef>
                <a:spcPts val="0"/>
              </a:spcBef>
              <a:spcAft>
                <a:spcPts val="0"/>
              </a:spcAft>
              <a:buNone/>
            </a:pPr>
            <a:r>
              <a:rPr lang="en" sz="1800" dirty="0">
                <a:latin typeface="Lato"/>
                <a:ea typeface="Lato"/>
                <a:cs typeface="Lato"/>
                <a:sym typeface="Lato"/>
              </a:rPr>
              <a:t>OR </a:t>
            </a:r>
            <a:r>
              <a:rPr lang="en" dirty="0">
                <a:latin typeface="Lato"/>
                <a:ea typeface="Lato"/>
                <a:cs typeface="Lato"/>
                <a:sym typeface="Lato"/>
              </a:rPr>
              <a:t>&lt; 0.1 Doing better than expected</a:t>
            </a:r>
            <a:endParaRPr sz="1800" dirty="0">
              <a:latin typeface="Lato"/>
              <a:ea typeface="Lato"/>
              <a:cs typeface="Lato"/>
              <a:sym typeface="Lato"/>
            </a:endParaRPr>
          </a:p>
          <a:p>
            <a:pPr marL="0" lvl="0" indent="0" algn="l" rtl="0">
              <a:spcBef>
                <a:spcPts val="0"/>
              </a:spcBef>
              <a:spcAft>
                <a:spcPts val="0"/>
              </a:spcAft>
              <a:buNone/>
            </a:pPr>
            <a:endParaRPr sz="1800" dirty="0">
              <a:solidFill>
                <a:schemeClr val="lt1"/>
              </a:solidFill>
              <a:latin typeface="Lato"/>
              <a:ea typeface="Lato"/>
              <a:cs typeface="Lato"/>
              <a:sym typeface="Lato"/>
            </a:endParaRPr>
          </a:p>
        </p:txBody>
      </p:sp>
      <p:sp>
        <p:nvSpPr>
          <p:cNvPr id="2" name="Google Shape;136;p18">
            <a:extLst>
              <a:ext uri="{FF2B5EF4-FFF2-40B4-BE49-F238E27FC236}">
                <a16:creationId xmlns:a16="http://schemas.microsoft.com/office/drawing/2014/main" id="{57C92A3F-D78C-DD1D-8EC5-C25844A7B744}"/>
              </a:ext>
            </a:extLst>
          </p:cNvPr>
          <p:cNvSpPr/>
          <p:nvPr/>
        </p:nvSpPr>
        <p:spPr>
          <a:xfrm>
            <a:off x="5482325" y="1411092"/>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 name="Google Shape;136;p18">
            <a:extLst>
              <a:ext uri="{FF2B5EF4-FFF2-40B4-BE49-F238E27FC236}">
                <a16:creationId xmlns:a16="http://schemas.microsoft.com/office/drawing/2014/main" id="{DC91480B-BF15-7E6C-678A-C614FBB185EA}"/>
              </a:ext>
            </a:extLst>
          </p:cNvPr>
          <p:cNvSpPr/>
          <p:nvPr/>
        </p:nvSpPr>
        <p:spPr>
          <a:xfrm>
            <a:off x="7381875" y="2749748"/>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 name="Google Shape;136;p18">
            <a:extLst>
              <a:ext uri="{FF2B5EF4-FFF2-40B4-BE49-F238E27FC236}">
                <a16:creationId xmlns:a16="http://schemas.microsoft.com/office/drawing/2014/main" id="{88787C4F-6F96-5773-3C98-0CC06E40463D}"/>
              </a:ext>
            </a:extLst>
          </p:cNvPr>
          <p:cNvSpPr/>
          <p:nvPr/>
        </p:nvSpPr>
        <p:spPr>
          <a:xfrm>
            <a:off x="7046750" y="2952750"/>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 name="Google Shape;136;p18">
            <a:extLst>
              <a:ext uri="{FF2B5EF4-FFF2-40B4-BE49-F238E27FC236}">
                <a16:creationId xmlns:a16="http://schemas.microsoft.com/office/drawing/2014/main" id="{BF6A4E8C-D146-951E-82CB-7CF3656E57E4}"/>
              </a:ext>
            </a:extLst>
          </p:cNvPr>
          <p:cNvSpPr/>
          <p:nvPr/>
        </p:nvSpPr>
        <p:spPr>
          <a:xfrm>
            <a:off x="7325505" y="3201936"/>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 name="Google Shape;136;p18">
            <a:extLst>
              <a:ext uri="{FF2B5EF4-FFF2-40B4-BE49-F238E27FC236}">
                <a16:creationId xmlns:a16="http://schemas.microsoft.com/office/drawing/2014/main" id="{6211EB6F-11FA-196B-2AC2-5141C8F11A01}"/>
              </a:ext>
            </a:extLst>
          </p:cNvPr>
          <p:cNvSpPr/>
          <p:nvPr/>
        </p:nvSpPr>
        <p:spPr>
          <a:xfrm>
            <a:off x="7713275" y="3292592"/>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 name="Google Shape;136;p18">
            <a:extLst>
              <a:ext uri="{FF2B5EF4-FFF2-40B4-BE49-F238E27FC236}">
                <a16:creationId xmlns:a16="http://schemas.microsoft.com/office/drawing/2014/main" id="{9B1E7B29-C8EB-7739-1F4D-BC424FE95619}"/>
              </a:ext>
            </a:extLst>
          </p:cNvPr>
          <p:cNvSpPr/>
          <p:nvPr/>
        </p:nvSpPr>
        <p:spPr>
          <a:xfrm>
            <a:off x="7325505" y="3540049"/>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 name="Google Shape;136;p18">
            <a:extLst>
              <a:ext uri="{FF2B5EF4-FFF2-40B4-BE49-F238E27FC236}">
                <a16:creationId xmlns:a16="http://schemas.microsoft.com/office/drawing/2014/main" id="{723A635F-9552-FAD0-2D81-A5A4D6E0D0FE}"/>
              </a:ext>
            </a:extLst>
          </p:cNvPr>
          <p:cNvSpPr/>
          <p:nvPr/>
        </p:nvSpPr>
        <p:spPr>
          <a:xfrm>
            <a:off x="7533675" y="3531736"/>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 name="Google Shape;136;p18">
            <a:extLst>
              <a:ext uri="{FF2B5EF4-FFF2-40B4-BE49-F238E27FC236}">
                <a16:creationId xmlns:a16="http://schemas.microsoft.com/office/drawing/2014/main" id="{6B482592-2609-973A-B32B-A254D24933A7}"/>
              </a:ext>
            </a:extLst>
          </p:cNvPr>
          <p:cNvSpPr/>
          <p:nvPr/>
        </p:nvSpPr>
        <p:spPr>
          <a:xfrm>
            <a:off x="7533675" y="3800689"/>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7;p18">
            <a:extLst>
              <a:ext uri="{FF2B5EF4-FFF2-40B4-BE49-F238E27FC236}">
                <a16:creationId xmlns:a16="http://schemas.microsoft.com/office/drawing/2014/main" id="{C5DE01BB-014B-F4B1-EC41-764A81F0ACED}"/>
              </a:ext>
            </a:extLst>
          </p:cNvPr>
          <p:cNvSpPr txBox="1">
            <a:spLocks/>
          </p:cNvSpPr>
          <p:nvPr/>
        </p:nvSpPr>
        <p:spPr>
          <a:xfrm>
            <a:off x="0" y="201613"/>
            <a:ext cx="8677275" cy="911225"/>
          </a:xfrm>
          <a:prstGeom prst="rect">
            <a:avLst/>
          </a:prstGeom>
        </p:spPr>
        <p:txBody>
          <a:bodyPr spcFirstLastPara="1" vert="horz" wrap="square" lIns="91425" tIns="91425" rIns="91425" bIns="91425"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4800" b="1" dirty="0">
                <a:latin typeface="Raleway"/>
                <a:ea typeface="Raleway"/>
                <a:cs typeface="Raleway"/>
                <a:sym typeface="Raleway"/>
              </a:rPr>
              <a:t>Continuous Boyce Index (CBI)</a:t>
            </a:r>
            <a:endParaRPr lang="en-US" sz="2600" dirty="0"/>
          </a:p>
          <a:p>
            <a:pPr marL="0" indent="0">
              <a:spcBef>
                <a:spcPts val="1600"/>
              </a:spcBef>
              <a:spcAft>
                <a:spcPts val="1600"/>
              </a:spcAft>
              <a:buFont typeface="Arial" panose="020B0604020202020204" pitchFamily="34" charset="0"/>
              <a:buNone/>
            </a:pPr>
            <a:endParaRPr lang="en-US" sz="1500" dirty="0"/>
          </a:p>
        </p:txBody>
      </p:sp>
      <p:sp>
        <p:nvSpPr>
          <p:cNvPr id="4" name="Google Shape;140;p18">
            <a:extLst>
              <a:ext uri="{FF2B5EF4-FFF2-40B4-BE49-F238E27FC236}">
                <a16:creationId xmlns:a16="http://schemas.microsoft.com/office/drawing/2014/main" id="{C19694A7-100C-B260-8302-D4B600F490B7}"/>
              </a:ext>
            </a:extLst>
          </p:cNvPr>
          <p:cNvSpPr txBox="1"/>
          <p:nvPr/>
        </p:nvSpPr>
        <p:spPr>
          <a:xfrm>
            <a:off x="121553" y="1536687"/>
            <a:ext cx="3094500" cy="30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Lato"/>
                <a:ea typeface="Lato"/>
                <a:cs typeface="Lato"/>
                <a:sym typeface="Lato"/>
              </a:rPr>
              <a:t>Presence-only performance metric based on the relationship between predicted suitability and where presences actually occur. </a:t>
            </a:r>
          </a:p>
          <a:p>
            <a:pPr marL="0" lvl="0" indent="0" algn="l" rtl="0">
              <a:spcBef>
                <a:spcPts val="0"/>
              </a:spcBef>
              <a:spcAft>
                <a:spcPts val="0"/>
              </a:spcAft>
              <a:buNone/>
            </a:pPr>
            <a:endParaRPr lang="en-US" sz="1600" dirty="0">
              <a:latin typeface="Lato"/>
              <a:ea typeface="Lato"/>
              <a:cs typeface="Lato"/>
              <a:sym typeface="Lato"/>
            </a:endParaRPr>
          </a:p>
          <a:p>
            <a:pPr marL="0" lvl="0" indent="0" algn="l" rtl="0">
              <a:spcBef>
                <a:spcPts val="0"/>
              </a:spcBef>
              <a:spcAft>
                <a:spcPts val="0"/>
              </a:spcAft>
              <a:buNone/>
            </a:pPr>
            <a:r>
              <a:rPr lang="en-US" sz="1600" dirty="0">
                <a:latin typeface="Lato"/>
                <a:ea typeface="Lato"/>
                <a:cs typeface="Lato"/>
                <a:sym typeface="Lato"/>
              </a:rPr>
              <a:t>In </a:t>
            </a:r>
            <a:r>
              <a:rPr lang="en-US" sz="1600" dirty="0" err="1">
                <a:latin typeface="Lato"/>
                <a:ea typeface="Lato"/>
                <a:cs typeface="Lato"/>
                <a:sym typeface="Lato"/>
              </a:rPr>
              <a:t>ENMeval</a:t>
            </a:r>
            <a:r>
              <a:rPr lang="en-US" sz="1600" dirty="0">
                <a:latin typeface="Lato"/>
                <a:ea typeface="Lato"/>
                <a:cs typeface="Lato"/>
                <a:sym typeface="Lato"/>
              </a:rPr>
              <a:t>, its calculated by comparing the distribution of suitability at presences vs background across the continuous suitability range, and is summarized in a Spearman Correlation</a:t>
            </a:r>
          </a:p>
          <a:p>
            <a:pPr marL="0" lvl="0" indent="0" algn="l" rtl="0">
              <a:spcBef>
                <a:spcPts val="0"/>
              </a:spcBef>
              <a:spcAft>
                <a:spcPts val="0"/>
              </a:spcAft>
              <a:buNone/>
            </a:pPr>
            <a:endParaRPr lang="en-US" sz="1600" dirty="0">
              <a:latin typeface="Lato"/>
              <a:ea typeface="Lato"/>
              <a:cs typeface="Lato"/>
              <a:sym typeface="Lato"/>
            </a:endParaRPr>
          </a:p>
        </p:txBody>
      </p:sp>
      <p:pic>
        <p:nvPicPr>
          <p:cNvPr id="5" name="Google Shape;126;p18">
            <a:extLst>
              <a:ext uri="{FF2B5EF4-FFF2-40B4-BE49-F238E27FC236}">
                <a16:creationId xmlns:a16="http://schemas.microsoft.com/office/drawing/2014/main" id="{8A0443D1-612B-B6D0-135D-BA018ABF272A}"/>
              </a:ext>
            </a:extLst>
          </p:cNvPr>
          <p:cNvPicPr preferRelativeResize="0"/>
          <p:nvPr/>
        </p:nvPicPr>
        <p:blipFill>
          <a:blip r:embed="rId3">
            <a:alphaModFix/>
          </a:blip>
          <a:stretch>
            <a:fillRect/>
          </a:stretch>
        </p:blipFill>
        <p:spPr>
          <a:xfrm flipH="1">
            <a:off x="5154153" y="1536687"/>
            <a:ext cx="3602861" cy="3405200"/>
          </a:xfrm>
          <a:prstGeom prst="rect">
            <a:avLst/>
          </a:prstGeom>
          <a:noFill/>
          <a:ln>
            <a:noFill/>
          </a:ln>
        </p:spPr>
      </p:pic>
      <p:sp>
        <p:nvSpPr>
          <p:cNvPr id="6" name="Google Shape;127;p18">
            <a:extLst>
              <a:ext uri="{FF2B5EF4-FFF2-40B4-BE49-F238E27FC236}">
                <a16:creationId xmlns:a16="http://schemas.microsoft.com/office/drawing/2014/main" id="{600CF7BA-A91C-8912-D08B-AE5A526DBF1E}"/>
              </a:ext>
            </a:extLst>
          </p:cNvPr>
          <p:cNvSpPr/>
          <p:nvPr/>
        </p:nvSpPr>
        <p:spPr>
          <a:xfrm>
            <a:off x="8260153" y="3955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 name="Google Shape;128;p18">
            <a:extLst>
              <a:ext uri="{FF2B5EF4-FFF2-40B4-BE49-F238E27FC236}">
                <a16:creationId xmlns:a16="http://schemas.microsoft.com/office/drawing/2014/main" id="{A58E641E-B24F-B9DB-B1C2-46EDAEAAAE8D}"/>
              </a:ext>
            </a:extLst>
          </p:cNvPr>
          <p:cNvSpPr/>
          <p:nvPr/>
        </p:nvSpPr>
        <p:spPr>
          <a:xfrm>
            <a:off x="8260753" y="42258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 name="Google Shape;129;p18">
            <a:extLst>
              <a:ext uri="{FF2B5EF4-FFF2-40B4-BE49-F238E27FC236}">
                <a16:creationId xmlns:a16="http://schemas.microsoft.com/office/drawing/2014/main" id="{7E57E001-9D6D-BF58-E0EA-31C5FC94753C}"/>
              </a:ext>
            </a:extLst>
          </p:cNvPr>
          <p:cNvSpPr/>
          <p:nvPr/>
        </p:nvSpPr>
        <p:spPr>
          <a:xfrm>
            <a:off x="8045153" y="3955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 name="Google Shape;130;p18">
            <a:extLst>
              <a:ext uri="{FF2B5EF4-FFF2-40B4-BE49-F238E27FC236}">
                <a16:creationId xmlns:a16="http://schemas.microsoft.com/office/drawing/2014/main" id="{BC8B369C-19C2-7F10-53DA-98C94E15B467}"/>
              </a:ext>
            </a:extLst>
          </p:cNvPr>
          <p:cNvSpPr/>
          <p:nvPr/>
        </p:nvSpPr>
        <p:spPr>
          <a:xfrm>
            <a:off x="8108353" y="318173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 name="Google Shape;132;p18">
            <a:extLst>
              <a:ext uri="{FF2B5EF4-FFF2-40B4-BE49-F238E27FC236}">
                <a16:creationId xmlns:a16="http://schemas.microsoft.com/office/drawing/2014/main" id="{9EC1E84E-C6FF-BDE4-6269-790FC3E6D31B}"/>
              </a:ext>
            </a:extLst>
          </p:cNvPr>
          <p:cNvSpPr/>
          <p:nvPr/>
        </p:nvSpPr>
        <p:spPr>
          <a:xfrm>
            <a:off x="6208803" y="18353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33;p18">
            <a:extLst>
              <a:ext uri="{FF2B5EF4-FFF2-40B4-BE49-F238E27FC236}">
                <a16:creationId xmlns:a16="http://schemas.microsoft.com/office/drawing/2014/main" id="{7FAF3D70-E60D-02D9-4CCB-DE0FE137275C}"/>
              </a:ext>
            </a:extLst>
          </p:cNvPr>
          <p:cNvSpPr/>
          <p:nvPr/>
        </p:nvSpPr>
        <p:spPr>
          <a:xfrm>
            <a:off x="7773228" y="33771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34;p18">
            <a:extLst>
              <a:ext uri="{FF2B5EF4-FFF2-40B4-BE49-F238E27FC236}">
                <a16:creationId xmlns:a16="http://schemas.microsoft.com/office/drawing/2014/main" id="{813367B2-9774-F75A-0129-BD85D2065C5F}"/>
              </a:ext>
            </a:extLst>
          </p:cNvPr>
          <p:cNvSpPr/>
          <p:nvPr/>
        </p:nvSpPr>
        <p:spPr>
          <a:xfrm>
            <a:off x="8045153" y="36201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35;p18">
            <a:extLst>
              <a:ext uri="{FF2B5EF4-FFF2-40B4-BE49-F238E27FC236}">
                <a16:creationId xmlns:a16="http://schemas.microsoft.com/office/drawing/2014/main" id="{7EB0F5FF-B8B0-36BD-FE75-D2BC37B07BE9}"/>
              </a:ext>
            </a:extLst>
          </p:cNvPr>
          <p:cNvSpPr/>
          <p:nvPr/>
        </p:nvSpPr>
        <p:spPr>
          <a:xfrm>
            <a:off x="8439753" y="3712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36;p18">
            <a:extLst>
              <a:ext uri="{FF2B5EF4-FFF2-40B4-BE49-F238E27FC236}">
                <a16:creationId xmlns:a16="http://schemas.microsoft.com/office/drawing/2014/main" id="{CDE1473B-59F2-73A1-CEB8-19395F5F2ED6}"/>
              </a:ext>
            </a:extLst>
          </p:cNvPr>
          <p:cNvSpPr/>
          <p:nvPr/>
        </p:nvSpPr>
        <p:spPr>
          <a:xfrm>
            <a:off x="7849428" y="2550161"/>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136;p18">
            <a:extLst>
              <a:ext uri="{FF2B5EF4-FFF2-40B4-BE49-F238E27FC236}">
                <a16:creationId xmlns:a16="http://schemas.microsoft.com/office/drawing/2014/main" id="{2AE089BF-A470-F565-9801-C62DF09D76AF}"/>
              </a:ext>
            </a:extLst>
          </p:cNvPr>
          <p:cNvSpPr/>
          <p:nvPr/>
        </p:nvSpPr>
        <p:spPr>
          <a:xfrm>
            <a:off x="6208803" y="1835528"/>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36;p18">
            <a:extLst>
              <a:ext uri="{FF2B5EF4-FFF2-40B4-BE49-F238E27FC236}">
                <a16:creationId xmlns:a16="http://schemas.microsoft.com/office/drawing/2014/main" id="{CB574E26-2011-C9C1-E782-BBD4C4DBE4A4}"/>
              </a:ext>
            </a:extLst>
          </p:cNvPr>
          <p:cNvSpPr/>
          <p:nvPr/>
        </p:nvSpPr>
        <p:spPr>
          <a:xfrm>
            <a:off x="8108353" y="3174184"/>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36;p18">
            <a:extLst>
              <a:ext uri="{FF2B5EF4-FFF2-40B4-BE49-F238E27FC236}">
                <a16:creationId xmlns:a16="http://schemas.microsoft.com/office/drawing/2014/main" id="{2AF94BB8-88E6-DC8D-1402-6ECD45A4667C}"/>
              </a:ext>
            </a:extLst>
          </p:cNvPr>
          <p:cNvSpPr/>
          <p:nvPr/>
        </p:nvSpPr>
        <p:spPr>
          <a:xfrm>
            <a:off x="7773228" y="3377186"/>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36;p18">
            <a:extLst>
              <a:ext uri="{FF2B5EF4-FFF2-40B4-BE49-F238E27FC236}">
                <a16:creationId xmlns:a16="http://schemas.microsoft.com/office/drawing/2014/main" id="{1853FA3C-CC7C-215D-795A-30391A572636}"/>
              </a:ext>
            </a:extLst>
          </p:cNvPr>
          <p:cNvSpPr/>
          <p:nvPr/>
        </p:nvSpPr>
        <p:spPr>
          <a:xfrm>
            <a:off x="8051983" y="3626372"/>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36;p18">
            <a:extLst>
              <a:ext uri="{FF2B5EF4-FFF2-40B4-BE49-F238E27FC236}">
                <a16:creationId xmlns:a16="http://schemas.microsoft.com/office/drawing/2014/main" id="{B5F6F539-E059-8968-7D26-D03B0DEEF586}"/>
              </a:ext>
            </a:extLst>
          </p:cNvPr>
          <p:cNvSpPr/>
          <p:nvPr/>
        </p:nvSpPr>
        <p:spPr>
          <a:xfrm>
            <a:off x="8439753" y="3717028"/>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5" name="Google Shape;136;p18">
            <a:extLst>
              <a:ext uri="{FF2B5EF4-FFF2-40B4-BE49-F238E27FC236}">
                <a16:creationId xmlns:a16="http://schemas.microsoft.com/office/drawing/2014/main" id="{C2343BC5-2B9C-5388-7DEC-035178275F36}"/>
              </a:ext>
            </a:extLst>
          </p:cNvPr>
          <p:cNvSpPr/>
          <p:nvPr/>
        </p:nvSpPr>
        <p:spPr>
          <a:xfrm>
            <a:off x="8051983" y="3964485"/>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6" name="Google Shape;136;p18">
            <a:extLst>
              <a:ext uri="{FF2B5EF4-FFF2-40B4-BE49-F238E27FC236}">
                <a16:creationId xmlns:a16="http://schemas.microsoft.com/office/drawing/2014/main" id="{673C500D-2747-FC49-9E30-FC1944505431}"/>
              </a:ext>
            </a:extLst>
          </p:cNvPr>
          <p:cNvSpPr/>
          <p:nvPr/>
        </p:nvSpPr>
        <p:spPr>
          <a:xfrm>
            <a:off x="8260153" y="3956172"/>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 name="Google Shape;136;p18">
            <a:extLst>
              <a:ext uri="{FF2B5EF4-FFF2-40B4-BE49-F238E27FC236}">
                <a16:creationId xmlns:a16="http://schemas.microsoft.com/office/drawing/2014/main" id="{2F7F330B-7E5B-2BAC-8603-5AD68BC8E008}"/>
              </a:ext>
            </a:extLst>
          </p:cNvPr>
          <p:cNvSpPr/>
          <p:nvPr/>
        </p:nvSpPr>
        <p:spPr>
          <a:xfrm>
            <a:off x="8260153" y="4225125"/>
            <a:ext cx="151800" cy="166800"/>
          </a:xfrm>
          <a:prstGeom prst="flowChartConnector">
            <a:avLst/>
          </a:prstGeom>
          <a:solidFill>
            <a:schemeClr val="accent1">
              <a:lumMod val="75000"/>
            </a:schemeClr>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8" name="TextBox 27">
            <a:extLst>
              <a:ext uri="{FF2B5EF4-FFF2-40B4-BE49-F238E27FC236}">
                <a16:creationId xmlns:a16="http://schemas.microsoft.com/office/drawing/2014/main" id="{4738473F-88BA-70EE-A458-076F11125FE0}"/>
              </a:ext>
            </a:extLst>
          </p:cNvPr>
          <p:cNvSpPr txBox="1"/>
          <p:nvPr/>
        </p:nvSpPr>
        <p:spPr>
          <a:xfrm>
            <a:off x="3216053" y="2633561"/>
            <a:ext cx="1853098" cy="584775"/>
          </a:xfrm>
          <a:prstGeom prst="rect">
            <a:avLst/>
          </a:prstGeom>
          <a:noFill/>
        </p:spPr>
        <p:txBody>
          <a:bodyPr wrap="square" rtlCol="0">
            <a:spAutoFit/>
          </a:bodyPr>
          <a:lstStyle/>
          <a:p>
            <a:r>
              <a:rPr lang="en-US" sz="3200" dirty="0"/>
              <a:t>CBI: </a:t>
            </a:r>
            <a:r>
              <a:rPr lang="en-US" sz="3200" dirty="0">
                <a:solidFill>
                  <a:srgbClr val="FF0000"/>
                </a:solidFill>
              </a:rPr>
              <a:t>-1</a:t>
            </a:r>
            <a:r>
              <a:rPr lang="en-US" sz="3200" dirty="0"/>
              <a:t>:</a:t>
            </a:r>
            <a:r>
              <a:rPr lang="en-US" sz="3200" dirty="0">
                <a:solidFill>
                  <a:srgbClr val="00B050"/>
                </a:solidFill>
              </a:rPr>
              <a:t>1</a:t>
            </a:r>
          </a:p>
        </p:txBody>
      </p:sp>
    </p:spTree>
    <p:extLst>
      <p:ext uri="{BB962C8B-B14F-4D97-AF65-F5344CB8AC3E}">
        <p14:creationId xmlns:p14="http://schemas.microsoft.com/office/powerpoint/2010/main" val="165632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604A-2417-16A0-D6F5-FBDEF3DB7B45}"/>
            </a:ext>
          </a:extLst>
        </p:cNvPr>
        <p:cNvGrpSpPr/>
        <p:nvPr/>
      </p:nvGrpSpPr>
      <p:grpSpPr>
        <a:xfrm>
          <a:off x="0" y="0"/>
          <a:ext cx="0" cy="0"/>
          <a:chOff x="0" y="0"/>
          <a:chExt cx="0" cy="0"/>
        </a:xfrm>
      </p:grpSpPr>
      <p:sp>
        <p:nvSpPr>
          <p:cNvPr id="2" name="Google Shape;137;p18">
            <a:extLst>
              <a:ext uri="{FF2B5EF4-FFF2-40B4-BE49-F238E27FC236}">
                <a16:creationId xmlns:a16="http://schemas.microsoft.com/office/drawing/2014/main" id="{5EB16A8C-3317-1F61-11B8-5E543CDCC06E}"/>
              </a:ext>
            </a:extLst>
          </p:cNvPr>
          <p:cNvSpPr txBox="1">
            <a:spLocks/>
          </p:cNvSpPr>
          <p:nvPr/>
        </p:nvSpPr>
        <p:spPr>
          <a:xfrm>
            <a:off x="0" y="201613"/>
            <a:ext cx="8677275" cy="911225"/>
          </a:xfrm>
          <a:prstGeom prst="rect">
            <a:avLst/>
          </a:prstGeom>
        </p:spPr>
        <p:txBody>
          <a:bodyPr spcFirstLastPara="1" vert="horz" wrap="square" lIns="91425" tIns="91425" rIns="91425" bIns="91425"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4800" b="1" dirty="0">
                <a:latin typeface="Raleway"/>
                <a:ea typeface="Raleway"/>
                <a:cs typeface="Raleway"/>
                <a:sym typeface="Raleway"/>
              </a:rPr>
              <a:t>Continuous Boyce Index (CBI)</a:t>
            </a:r>
            <a:endParaRPr lang="en-US" sz="2600" dirty="0"/>
          </a:p>
          <a:p>
            <a:pPr marL="0" indent="0">
              <a:spcBef>
                <a:spcPts val="1600"/>
              </a:spcBef>
              <a:spcAft>
                <a:spcPts val="1600"/>
              </a:spcAft>
              <a:buFont typeface="Arial" panose="020B0604020202020204" pitchFamily="34" charset="0"/>
              <a:buNone/>
            </a:pPr>
            <a:endParaRPr lang="en-US" sz="1500" dirty="0"/>
          </a:p>
        </p:txBody>
      </p:sp>
      <p:sp>
        <p:nvSpPr>
          <p:cNvPr id="4" name="Google Shape;140;p18">
            <a:extLst>
              <a:ext uri="{FF2B5EF4-FFF2-40B4-BE49-F238E27FC236}">
                <a16:creationId xmlns:a16="http://schemas.microsoft.com/office/drawing/2014/main" id="{E4B10640-E7A0-3551-B430-34B19936AD4D}"/>
              </a:ext>
            </a:extLst>
          </p:cNvPr>
          <p:cNvSpPr txBox="1"/>
          <p:nvPr/>
        </p:nvSpPr>
        <p:spPr>
          <a:xfrm>
            <a:off x="121553" y="1536687"/>
            <a:ext cx="3094500" cy="30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Lato"/>
                <a:ea typeface="Lato"/>
                <a:cs typeface="Lato"/>
                <a:sym typeface="Lato"/>
              </a:rPr>
              <a:t>Presence-only performance metric based on the relationship between predicted suitability and where presences actually occur. </a:t>
            </a:r>
          </a:p>
          <a:p>
            <a:pPr marL="0" lvl="0" indent="0" algn="l" rtl="0">
              <a:spcBef>
                <a:spcPts val="0"/>
              </a:spcBef>
              <a:spcAft>
                <a:spcPts val="0"/>
              </a:spcAft>
              <a:buNone/>
            </a:pPr>
            <a:endParaRPr lang="en-US" sz="1600" dirty="0">
              <a:latin typeface="Lato"/>
              <a:ea typeface="Lato"/>
              <a:cs typeface="Lato"/>
              <a:sym typeface="Lato"/>
            </a:endParaRPr>
          </a:p>
          <a:p>
            <a:pPr marL="0" lvl="0" indent="0" algn="l" rtl="0">
              <a:spcBef>
                <a:spcPts val="0"/>
              </a:spcBef>
              <a:spcAft>
                <a:spcPts val="0"/>
              </a:spcAft>
              <a:buNone/>
            </a:pPr>
            <a:r>
              <a:rPr lang="en-US" sz="1600" dirty="0">
                <a:latin typeface="Lato"/>
                <a:ea typeface="Lato"/>
                <a:cs typeface="Lato"/>
                <a:sym typeface="Lato"/>
              </a:rPr>
              <a:t>In </a:t>
            </a:r>
            <a:r>
              <a:rPr lang="en-US" sz="1600" dirty="0" err="1">
                <a:latin typeface="Lato"/>
                <a:ea typeface="Lato"/>
                <a:cs typeface="Lato"/>
                <a:sym typeface="Lato"/>
              </a:rPr>
              <a:t>ENMeval</a:t>
            </a:r>
            <a:r>
              <a:rPr lang="en-US" sz="1600" dirty="0">
                <a:latin typeface="Lato"/>
                <a:ea typeface="Lato"/>
                <a:cs typeface="Lato"/>
                <a:sym typeface="Lato"/>
              </a:rPr>
              <a:t>, its calculated by comparing the distribution of suitability at presences vs background across the continuous suitability range, and is summarized in a Spearman Correlation</a:t>
            </a:r>
          </a:p>
          <a:p>
            <a:pPr marL="0" lvl="0" indent="0" algn="l" rtl="0">
              <a:spcBef>
                <a:spcPts val="0"/>
              </a:spcBef>
              <a:spcAft>
                <a:spcPts val="0"/>
              </a:spcAft>
              <a:buNone/>
            </a:pPr>
            <a:endParaRPr lang="en-US" sz="1600" dirty="0">
              <a:latin typeface="Lato"/>
              <a:ea typeface="Lato"/>
              <a:cs typeface="Lato"/>
              <a:sym typeface="Lato"/>
            </a:endParaRPr>
          </a:p>
        </p:txBody>
      </p:sp>
      <p:pic>
        <p:nvPicPr>
          <p:cNvPr id="5" name="Google Shape;126;p18">
            <a:extLst>
              <a:ext uri="{FF2B5EF4-FFF2-40B4-BE49-F238E27FC236}">
                <a16:creationId xmlns:a16="http://schemas.microsoft.com/office/drawing/2014/main" id="{4419AD5B-8D27-686C-4D41-93690B04F17B}"/>
              </a:ext>
            </a:extLst>
          </p:cNvPr>
          <p:cNvPicPr preferRelativeResize="0"/>
          <p:nvPr/>
        </p:nvPicPr>
        <p:blipFill>
          <a:blip r:embed="rId3">
            <a:alphaModFix/>
          </a:blip>
          <a:stretch>
            <a:fillRect/>
          </a:stretch>
        </p:blipFill>
        <p:spPr>
          <a:xfrm flipH="1">
            <a:off x="5154153" y="1536687"/>
            <a:ext cx="3602861" cy="3405200"/>
          </a:xfrm>
          <a:prstGeom prst="rect">
            <a:avLst/>
          </a:prstGeom>
          <a:noFill/>
          <a:ln>
            <a:noFill/>
          </a:ln>
        </p:spPr>
      </p:pic>
      <p:sp>
        <p:nvSpPr>
          <p:cNvPr id="6" name="Google Shape;127;p18">
            <a:extLst>
              <a:ext uri="{FF2B5EF4-FFF2-40B4-BE49-F238E27FC236}">
                <a16:creationId xmlns:a16="http://schemas.microsoft.com/office/drawing/2014/main" id="{A0B0EA2A-F403-8F7B-079F-EEDA300C0959}"/>
              </a:ext>
            </a:extLst>
          </p:cNvPr>
          <p:cNvSpPr/>
          <p:nvPr/>
        </p:nvSpPr>
        <p:spPr>
          <a:xfrm>
            <a:off x="8260153" y="3955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 name="Google Shape;128;p18">
            <a:extLst>
              <a:ext uri="{FF2B5EF4-FFF2-40B4-BE49-F238E27FC236}">
                <a16:creationId xmlns:a16="http://schemas.microsoft.com/office/drawing/2014/main" id="{2EFDF519-D540-5B89-BE4A-C6539C4884BB}"/>
              </a:ext>
            </a:extLst>
          </p:cNvPr>
          <p:cNvSpPr/>
          <p:nvPr/>
        </p:nvSpPr>
        <p:spPr>
          <a:xfrm>
            <a:off x="8260753" y="42258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8" name="Google Shape;129;p18">
            <a:extLst>
              <a:ext uri="{FF2B5EF4-FFF2-40B4-BE49-F238E27FC236}">
                <a16:creationId xmlns:a16="http://schemas.microsoft.com/office/drawing/2014/main" id="{076E95D5-F69D-B943-12BB-9B9D26EB0FFB}"/>
              </a:ext>
            </a:extLst>
          </p:cNvPr>
          <p:cNvSpPr/>
          <p:nvPr/>
        </p:nvSpPr>
        <p:spPr>
          <a:xfrm>
            <a:off x="8045153" y="3955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 name="Google Shape;130;p18">
            <a:extLst>
              <a:ext uri="{FF2B5EF4-FFF2-40B4-BE49-F238E27FC236}">
                <a16:creationId xmlns:a16="http://schemas.microsoft.com/office/drawing/2014/main" id="{0CDAFBBD-AE7C-B24C-DABE-DCD117CF857F}"/>
              </a:ext>
            </a:extLst>
          </p:cNvPr>
          <p:cNvSpPr/>
          <p:nvPr/>
        </p:nvSpPr>
        <p:spPr>
          <a:xfrm>
            <a:off x="8108353" y="318173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33;p18">
            <a:extLst>
              <a:ext uri="{FF2B5EF4-FFF2-40B4-BE49-F238E27FC236}">
                <a16:creationId xmlns:a16="http://schemas.microsoft.com/office/drawing/2014/main" id="{9CC6C073-D471-CED0-2EC4-291FBD7E7231}"/>
              </a:ext>
            </a:extLst>
          </p:cNvPr>
          <p:cNvSpPr/>
          <p:nvPr/>
        </p:nvSpPr>
        <p:spPr>
          <a:xfrm>
            <a:off x="7773228" y="33771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34;p18">
            <a:extLst>
              <a:ext uri="{FF2B5EF4-FFF2-40B4-BE49-F238E27FC236}">
                <a16:creationId xmlns:a16="http://schemas.microsoft.com/office/drawing/2014/main" id="{5F74A70B-9639-D27B-2EA3-E43D0F595C81}"/>
              </a:ext>
            </a:extLst>
          </p:cNvPr>
          <p:cNvSpPr/>
          <p:nvPr/>
        </p:nvSpPr>
        <p:spPr>
          <a:xfrm>
            <a:off x="8045153" y="3620186"/>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35;p18">
            <a:extLst>
              <a:ext uri="{FF2B5EF4-FFF2-40B4-BE49-F238E27FC236}">
                <a16:creationId xmlns:a16="http://schemas.microsoft.com/office/drawing/2014/main" id="{39A95BAF-67E7-4CF2-445E-50840F117D73}"/>
              </a:ext>
            </a:extLst>
          </p:cNvPr>
          <p:cNvSpPr/>
          <p:nvPr/>
        </p:nvSpPr>
        <p:spPr>
          <a:xfrm>
            <a:off x="8439753" y="3712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36;p18">
            <a:extLst>
              <a:ext uri="{FF2B5EF4-FFF2-40B4-BE49-F238E27FC236}">
                <a16:creationId xmlns:a16="http://schemas.microsoft.com/office/drawing/2014/main" id="{A4CE06C8-90B5-59A5-5203-E4790A673741}"/>
              </a:ext>
            </a:extLst>
          </p:cNvPr>
          <p:cNvSpPr/>
          <p:nvPr/>
        </p:nvSpPr>
        <p:spPr>
          <a:xfrm>
            <a:off x="7849428" y="2550161"/>
            <a:ext cx="151800" cy="166800"/>
          </a:xfrm>
          <a:prstGeom prst="flowChartConnector">
            <a:avLst/>
          </a:prstGeom>
          <a:solidFill>
            <a:srgbClr val="FAC110"/>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36;p18">
            <a:extLst>
              <a:ext uri="{FF2B5EF4-FFF2-40B4-BE49-F238E27FC236}">
                <a16:creationId xmlns:a16="http://schemas.microsoft.com/office/drawing/2014/main" id="{BB2B506E-6B05-EB55-8275-B25A503EAAAC}"/>
              </a:ext>
            </a:extLst>
          </p:cNvPr>
          <p:cNvSpPr/>
          <p:nvPr/>
        </p:nvSpPr>
        <p:spPr>
          <a:xfrm>
            <a:off x="8108353" y="3174184"/>
            <a:ext cx="151800" cy="166800"/>
          </a:xfrm>
          <a:prstGeom prst="flowChartConnector">
            <a:avLst/>
          </a:prstGeom>
          <a:solidFill>
            <a:srgbClr val="E5C405"/>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36;p18">
            <a:extLst>
              <a:ext uri="{FF2B5EF4-FFF2-40B4-BE49-F238E27FC236}">
                <a16:creationId xmlns:a16="http://schemas.microsoft.com/office/drawing/2014/main" id="{CB7BDF20-000B-F7CB-0AAF-6F0AF8586B68}"/>
              </a:ext>
            </a:extLst>
          </p:cNvPr>
          <p:cNvSpPr/>
          <p:nvPr/>
        </p:nvSpPr>
        <p:spPr>
          <a:xfrm>
            <a:off x="7773228" y="3377186"/>
            <a:ext cx="151800" cy="166800"/>
          </a:xfrm>
          <a:prstGeom prst="flowChartConnector">
            <a:avLst/>
          </a:prstGeom>
          <a:solidFill>
            <a:srgbClr val="E3C006"/>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36;p18">
            <a:extLst>
              <a:ext uri="{FF2B5EF4-FFF2-40B4-BE49-F238E27FC236}">
                <a16:creationId xmlns:a16="http://schemas.microsoft.com/office/drawing/2014/main" id="{2DD61ED7-5E4A-0797-8628-6BD8D303BF78}"/>
              </a:ext>
            </a:extLst>
          </p:cNvPr>
          <p:cNvSpPr/>
          <p:nvPr/>
        </p:nvSpPr>
        <p:spPr>
          <a:xfrm>
            <a:off x="8051983" y="3626372"/>
            <a:ext cx="151800" cy="166800"/>
          </a:xfrm>
          <a:prstGeom prst="flowChartConnector">
            <a:avLst/>
          </a:prstGeom>
          <a:solidFill>
            <a:srgbClr val="C3C500"/>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36;p18">
            <a:extLst>
              <a:ext uri="{FF2B5EF4-FFF2-40B4-BE49-F238E27FC236}">
                <a16:creationId xmlns:a16="http://schemas.microsoft.com/office/drawing/2014/main" id="{F5D3DDCA-5E81-BF47-91C6-B514AEB5681B}"/>
              </a:ext>
            </a:extLst>
          </p:cNvPr>
          <p:cNvSpPr/>
          <p:nvPr/>
        </p:nvSpPr>
        <p:spPr>
          <a:xfrm>
            <a:off x="8439753" y="3717028"/>
            <a:ext cx="151800" cy="166800"/>
          </a:xfrm>
          <a:prstGeom prst="flowChartConnector">
            <a:avLst/>
          </a:prstGeom>
          <a:solidFill>
            <a:srgbClr val="B4C50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5" name="Google Shape;136;p18">
            <a:extLst>
              <a:ext uri="{FF2B5EF4-FFF2-40B4-BE49-F238E27FC236}">
                <a16:creationId xmlns:a16="http://schemas.microsoft.com/office/drawing/2014/main" id="{A1A86863-F15F-91B7-B091-C88E7C631DBE}"/>
              </a:ext>
            </a:extLst>
          </p:cNvPr>
          <p:cNvSpPr/>
          <p:nvPr/>
        </p:nvSpPr>
        <p:spPr>
          <a:xfrm>
            <a:off x="8051983" y="3964485"/>
            <a:ext cx="151800" cy="166800"/>
          </a:xfrm>
          <a:prstGeom prst="flowChartConnector">
            <a:avLst/>
          </a:prstGeom>
          <a:solidFill>
            <a:srgbClr val="B6BC00"/>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6" name="Google Shape;136;p18">
            <a:extLst>
              <a:ext uri="{FF2B5EF4-FFF2-40B4-BE49-F238E27FC236}">
                <a16:creationId xmlns:a16="http://schemas.microsoft.com/office/drawing/2014/main" id="{F4B91682-2DE9-0EB1-38F6-CD2A18AD3E2B}"/>
              </a:ext>
            </a:extLst>
          </p:cNvPr>
          <p:cNvSpPr/>
          <p:nvPr/>
        </p:nvSpPr>
        <p:spPr>
          <a:xfrm>
            <a:off x="8260153" y="3956172"/>
            <a:ext cx="151800" cy="166800"/>
          </a:xfrm>
          <a:prstGeom prst="flowChartConnector">
            <a:avLst/>
          </a:prstGeom>
          <a:solidFill>
            <a:srgbClr val="99C201"/>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 name="Google Shape;136;p18">
            <a:extLst>
              <a:ext uri="{FF2B5EF4-FFF2-40B4-BE49-F238E27FC236}">
                <a16:creationId xmlns:a16="http://schemas.microsoft.com/office/drawing/2014/main" id="{B6183336-2555-DF7A-86E6-A1995BADE4D5}"/>
              </a:ext>
            </a:extLst>
          </p:cNvPr>
          <p:cNvSpPr/>
          <p:nvPr/>
        </p:nvSpPr>
        <p:spPr>
          <a:xfrm>
            <a:off x="8260153" y="4225125"/>
            <a:ext cx="151800" cy="166800"/>
          </a:xfrm>
          <a:prstGeom prst="flowChartConnector">
            <a:avLst/>
          </a:prstGeom>
          <a:solidFill>
            <a:srgbClr val="83BE02"/>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B050"/>
              </a:solidFill>
              <a:latin typeface="Lato"/>
              <a:ea typeface="Lato"/>
              <a:cs typeface="Lato"/>
              <a:sym typeface="Lato"/>
            </a:endParaRPr>
          </a:p>
        </p:txBody>
      </p:sp>
      <p:sp>
        <p:nvSpPr>
          <p:cNvPr id="28" name="TextBox 27">
            <a:extLst>
              <a:ext uri="{FF2B5EF4-FFF2-40B4-BE49-F238E27FC236}">
                <a16:creationId xmlns:a16="http://schemas.microsoft.com/office/drawing/2014/main" id="{385E9A80-4DDE-3377-130B-3E3DAE864AA9}"/>
              </a:ext>
            </a:extLst>
          </p:cNvPr>
          <p:cNvSpPr txBox="1"/>
          <p:nvPr/>
        </p:nvSpPr>
        <p:spPr>
          <a:xfrm>
            <a:off x="3216053" y="2633561"/>
            <a:ext cx="1853098" cy="584775"/>
          </a:xfrm>
          <a:prstGeom prst="rect">
            <a:avLst/>
          </a:prstGeom>
          <a:noFill/>
        </p:spPr>
        <p:txBody>
          <a:bodyPr wrap="square" rtlCol="0">
            <a:spAutoFit/>
          </a:bodyPr>
          <a:lstStyle/>
          <a:p>
            <a:r>
              <a:rPr lang="en-US" sz="3200" dirty="0"/>
              <a:t>CBI </a:t>
            </a:r>
            <a:r>
              <a:rPr lang="en-US" sz="3200" dirty="0">
                <a:latin typeface="Cambria Math" panose="02040503050406030204" pitchFamily="18" charset="0"/>
                <a:ea typeface="Cambria Math" panose="02040503050406030204" pitchFamily="18" charset="0"/>
              </a:rPr>
              <a:t>≈ </a:t>
            </a:r>
            <a:r>
              <a:rPr lang="en-US" sz="3200" dirty="0">
                <a:solidFill>
                  <a:srgbClr val="00B050"/>
                </a:solidFill>
                <a:latin typeface="Cambria Math" panose="02040503050406030204" pitchFamily="18" charset="0"/>
                <a:ea typeface="Cambria Math" panose="02040503050406030204" pitchFamily="18" charset="0"/>
              </a:rPr>
              <a:t>1</a:t>
            </a:r>
            <a:endParaRPr lang="en-US" sz="3200" dirty="0">
              <a:solidFill>
                <a:srgbClr val="00B050"/>
              </a:solidFill>
            </a:endParaRPr>
          </a:p>
        </p:txBody>
      </p:sp>
      <p:sp>
        <p:nvSpPr>
          <p:cNvPr id="16" name="TextBox 15">
            <a:extLst>
              <a:ext uri="{FF2B5EF4-FFF2-40B4-BE49-F238E27FC236}">
                <a16:creationId xmlns:a16="http://schemas.microsoft.com/office/drawing/2014/main" id="{A9955930-7F91-C50A-6EDB-C608A103D543}"/>
              </a:ext>
            </a:extLst>
          </p:cNvPr>
          <p:cNvSpPr txBox="1"/>
          <p:nvPr/>
        </p:nvSpPr>
        <p:spPr>
          <a:xfrm>
            <a:off x="3776813" y="3221209"/>
            <a:ext cx="1953360" cy="1200329"/>
          </a:xfrm>
          <a:prstGeom prst="rect">
            <a:avLst/>
          </a:prstGeom>
          <a:noFill/>
        </p:spPr>
        <p:txBody>
          <a:bodyPr wrap="square" rtlCol="0">
            <a:spAutoFit/>
          </a:bodyPr>
          <a:lstStyle/>
          <a:p>
            <a:r>
              <a:rPr lang="en-US" dirty="0"/>
              <a:t>Presences concentrated in </a:t>
            </a:r>
            <a:r>
              <a:rPr lang="en-US" dirty="0">
                <a:solidFill>
                  <a:srgbClr val="00B050"/>
                </a:solidFill>
              </a:rPr>
              <a:t>high suitability </a:t>
            </a:r>
            <a:r>
              <a:rPr lang="en-US" dirty="0"/>
              <a:t>habitats</a:t>
            </a:r>
          </a:p>
        </p:txBody>
      </p:sp>
    </p:spTree>
    <p:extLst>
      <p:ext uri="{BB962C8B-B14F-4D97-AF65-F5344CB8AC3E}">
        <p14:creationId xmlns:p14="http://schemas.microsoft.com/office/powerpoint/2010/main" val="291493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1CB0-83E1-BA62-B136-D6A7E08B8039}"/>
            </a:ext>
          </a:extLst>
        </p:cNvPr>
        <p:cNvGrpSpPr/>
        <p:nvPr/>
      </p:nvGrpSpPr>
      <p:grpSpPr>
        <a:xfrm>
          <a:off x="0" y="0"/>
          <a:ext cx="0" cy="0"/>
          <a:chOff x="0" y="0"/>
          <a:chExt cx="0" cy="0"/>
        </a:xfrm>
      </p:grpSpPr>
      <p:sp>
        <p:nvSpPr>
          <p:cNvPr id="2" name="Google Shape;137;p18">
            <a:extLst>
              <a:ext uri="{FF2B5EF4-FFF2-40B4-BE49-F238E27FC236}">
                <a16:creationId xmlns:a16="http://schemas.microsoft.com/office/drawing/2014/main" id="{DAD35174-FC0E-A3C1-288C-E8EED2539684}"/>
              </a:ext>
            </a:extLst>
          </p:cNvPr>
          <p:cNvSpPr txBox="1">
            <a:spLocks/>
          </p:cNvSpPr>
          <p:nvPr/>
        </p:nvSpPr>
        <p:spPr>
          <a:xfrm>
            <a:off x="0" y="201613"/>
            <a:ext cx="8677275" cy="911225"/>
          </a:xfrm>
          <a:prstGeom prst="rect">
            <a:avLst/>
          </a:prstGeom>
        </p:spPr>
        <p:txBody>
          <a:bodyPr spcFirstLastPara="1" vert="horz" wrap="square" lIns="91425" tIns="91425" rIns="91425" bIns="91425"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4800" b="1" dirty="0">
                <a:latin typeface="Raleway"/>
                <a:ea typeface="Raleway"/>
                <a:cs typeface="Raleway"/>
                <a:sym typeface="Raleway"/>
              </a:rPr>
              <a:t>Continuous Boyce Index (CBI)</a:t>
            </a:r>
            <a:endParaRPr lang="en-US" sz="2600" dirty="0"/>
          </a:p>
          <a:p>
            <a:pPr marL="0" indent="0">
              <a:spcBef>
                <a:spcPts val="1600"/>
              </a:spcBef>
              <a:spcAft>
                <a:spcPts val="1600"/>
              </a:spcAft>
              <a:buFont typeface="Arial" panose="020B0604020202020204" pitchFamily="34" charset="0"/>
              <a:buNone/>
            </a:pPr>
            <a:endParaRPr lang="en-US" sz="1500" dirty="0"/>
          </a:p>
        </p:txBody>
      </p:sp>
      <p:sp>
        <p:nvSpPr>
          <p:cNvPr id="4" name="Google Shape;140;p18">
            <a:extLst>
              <a:ext uri="{FF2B5EF4-FFF2-40B4-BE49-F238E27FC236}">
                <a16:creationId xmlns:a16="http://schemas.microsoft.com/office/drawing/2014/main" id="{5C0A28B9-9C39-44B2-7B5D-CFCFC996D593}"/>
              </a:ext>
            </a:extLst>
          </p:cNvPr>
          <p:cNvSpPr txBox="1"/>
          <p:nvPr/>
        </p:nvSpPr>
        <p:spPr>
          <a:xfrm>
            <a:off x="121553" y="1536687"/>
            <a:ext cx="3094500" cy="30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Lato"/>
                <a:ea typeface="Lato"/>
                <a:cs typeface="Lato"/>
                <a:sym typeface="Lato"/>
              </a:rPr>
              <a:t>Presence-only performance metric based on the relationship between predicted suitability and where presences actually occur. </a:t>
            </a:r>
          </a:p>
          <a:p>
            <a:pPr marL="0" lvl="0" indent="0" algn="l" rtl="0">
              <a:spcBef>
                <a:spcPts val="0"/>
              </a:spcBef>
              <a:spcAft>
                <a:spcPts val="0"/>
              </a:spcAft>
              <a:buNone/>
            </a:pPr>
            <a:endParaRPr lang="en-US" sz="1600" dirty="0">
              <a:latin typeface="Lato"/>
              <a:ea typeface="Lato"/>
              <a:cs typeface="Lato"/>
              <a:sym typeface="Lato"/>
            </a:endParaRPr>
          </a:p>
          <a:p>
            <a:pPr marL="0" lvl="0" indent="0" algn="l" rtl="0">
              <a:spcBef>
                <a:spcPts val="0"/>
              </a:spcBef>
              <a:spcAft>
                <a:spcPts val="0"/>
              </a:spcAft>
              <a:buNone/>
            </a:pPr>
            <a:r>
              <a:rPr lang="en-US" sz="1600" dirty="0">
                <a:latin typeface="Lato"/>
                <a:ea typeface="Lato"/>
                <a:cs typeface="Lato"/>
                <a:sym typeface="Lato"/>
              </a:rPr>
              <a:t>In </a:t>
            </a:r>
            <a:r>
              <a:rPr lang="en-US" sz="1600" dirty="0" err="1">
                <a:latin typeface="Lato"/>
                <a:ea typeface="Lato"/>
                <a:cs typeface="Lato"/>
                <a:sym typeface="Lato"/>
              </a:rPr>
              <a:t>ENMeval</a:t>
            </a:r>
            <a:r>
              <a:rPr lang="en-US" sz="1600" dirty="0">
                <a:latin typeface="Lato"/>
                <a:ea typeface="Lato"/>
                <a:cs typeface="Lato"/>
                <a:sym typeface="Lato"/>
              </a:rPr>
              <a:t>, its calculated by comparing the distribution of suitability at presences vs background across the continuous suitability range, and is summarized in a Spearman Correlation</a:t>
            </a:r>
          </a:p>
          <a:p>
            <a:pPr marL="0" lvl="0" indent="0" algn="l" rtl="0">
              <a:spcBef>
                <a:spcPts val="0"/>
              </a:spcBef>
              <a:spcAft>
                <a:spcPts val="0"/>
              </a:spcAft>
              <a:buNone/>
            </a:pPr>
            <a:endParaRPr lang="en-US" sz="1600" dirty="0">
              <a:latin typeface="Lato"/>
              <a:ea typeface="Lato"/>
              <a:cs typeface="Lato"/>
              <a:sym typeface="Lato"/>
            </a:endParaRPr>
          </a:p>
        </p:txBody>
      </p:sp>
      <p:pic>
        <p:nvPicPr>
          <p:cNvPr id="5" name="Google Shape;126;p18">
            <a:extLst>
              <a:ext uri="{FF2B5EF4-FFF2-40B4-BE49-F238E27FC236}">
                <a16:creationId xmlns:a16="http://schemas.microsoft.com/office/drawing/2014/main" id="{5310E1B4-705E-DCA7-C845-F7572C46A89E}"/>
              </a:ext>
            </a:extLst>
          </p:cNvPr>
          <p:cNvPicPr preferRelativeResize="0"/>
          <p:nvPr/>
        </p:nvPicPr>
        <p:blipFill>
          <a:blip r:embed="rId3">
            <a:alphaModFix/>
          </a:blip>
          <a:stretch>
            <a:fillRect/>
          </a:stretch>
        </p:blipFill>
        <p:spPr>
          <a:xfrm flipH="1">
            <a:off x="5154153" y="1536687"/>
            <a:ext cx="3602861" cy="3405200"/>
          </a:xfrm>
          <a:prstGeom prst="rect">
            <a:avLst/>
          </a:prstGeom>
          <a:noFill/>
          <a:ln>
            <a:noFill/>
          </a:ln>
        </p:spPr>
      </p:pic>
      <p:sp>
        <p:nvSpPr>
          <p:cNvPr id="6" name="Google Shape;127;p18">
            <a:extLst>
              <a:ext uri="{FF2B5EF4-FFF2-40B4-BE49-F238E27FC236}">
                <a16:creationId xmlns:a16="http://schemas.microsoft.com/office/drawing/2014/main" id="{38B3970F-ACBB-881C-55CD-654A79C36BCD}"/>
              </a:ext>
            </a:extLst>
          </p:cNvPr>
          <p:cNvSpPr/>
          <p:nvPr/>
        </p:nvSpPr>
        <p:spPr>
          <a:xfrm>
            <a:off x="6504239" y="1873199"/>
            <a:ext cx="151800" cy="166800"/>
          </a:xfrm>
          <a:prstGeom prst="flowChartConnector">
            <a:avLst/>
          </a:prstGeom>
          <a:solidFill>
            <a:srgbClr val="FE943F"/>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 name="Google Shape;130;p18">
            <a:extLst>
              <a:ext uri="{FF2B5EF4-FFF2-40B4-BE49-F238E27FC236}">
                <a16:creationId xmlns:a16="http://schemas.microsoft.com/office/drawing/2014/main" id="{01F0662C-B0BA-8CF2-ECA4-C4E63CE84D6B}"/>
              </a:ext>
            </a:extLst>
          </p:cNvPr>
          <p:cNvSpPr/>
          <p:nvPr/>
        </p:nvSpPr>
        <p:spPr>
          <a:xfrm>
            <a:off x="7059590" y="2031477"/>
            <a:ext cx="151800" cy="166800"/>
          </a:xfrm>
          <a:prstGeom prst="flowChartConnector">
            <a:avLst/>
          </a:prstGeom>
          <a:solidFill>
            <a:srgbClr val="FDAB2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33;p18">
            <a:extLst>
              <a:ext uri="{FF2B5EF4-FFF2-40B4-BE49-F238E27FC236}">
                <a16:creationId xmlns:a16="http://schemas.microsoft.com/office/drawing/2014/main" id="{A85C553F-0C6D-1155-4D0F-2FDB48ED29EE}"/>
              </a:ext>
            </a:extLst>
          </p:cNvPr>
          <p:cNvSpPr/>
          <p:nvPr/>
        </p:nvSpPr>
        <p:spPr>
          <a:xfrm>
            <a:off x="7790983" y="1937602"/>
            <a:ext cx="151800" cy="166800"/>
          </a:xfrm>
          <a:prstGeom prst="flowChartConnector">
            <a:avLst/>
          </a:prstGeom>
          <a:solidFill>
            <a:srgbClr val="FEBE16"/>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34;p18">
            <a:extLst>
              <a:ext uri="{FF2B5EF4-FFF2-40B4-BE49-F238E27FC236}">
                <a16:creationId xmlns:a16="http://schemas.microsoft.com/office/drawing/2014/main" id="{97A22929-84E8-02F0-4A99-5B96A1F94CAB}"/>
              </a:ext>
            </a:extLst>
          </p:cNvPr>
          <p:cNvSpPr/>
          <p:nvPr/>
        </p:nvSpPr>
        <p:spPr>
          <a:xfrm>
            <a:off x="7778043" y="2338517"/>
            <a:ext cx="151800" cy="166800"/>
          </a:xfrm>
          <a:prstGeom prst="flowChartConnector">
            <a:avLst/>
          </a:prstGeom>
          <a:solidFill>
            <a:srgbClr val="FBC30C"/>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35;p18">
            <a:extLst>
              <a:ext uri="{FF2B5EF4-FFF2-40B4-BE49-F238E27FC236}">
                <a16:creationId xmlns:a16="http://schemas.microsoft.com/office/drawing/2014/main" id="{B120E372-9702-420C-A561-D015585FB973}"/>
              </a:ext>
            </a:extLst>
          </p:cNvPr>
          <p:cNvSpPr/>
          <p:nvPr/>
        </p:nvSpPr>
        <p:spPr>
          <a:xfrm>
            <a:off x="8439753" y="3712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36;p18">
            <a:extLst>
              <a:ext uri="{FF2B5EF4-FFF2-40B4-BE49-F238E27FC236}">
                <a16:creationId xmlns:a16="http://schemas.microsoft.com/office/drawing/2014/main" id="{ADFD8B40-88A4-D589-36F0-8ECE6DAA0EED}"/>
              </a:ext>
            </a:extLst>
          </p:cNvPr>
          <p:cNvSpPr/>
          <p:nvPr/>
        </p:nvSpPr>
        <p:spPr>
          <a:xfrm>
            <a:off x="6269203" y="1937602"/>
            <a:ext cx="151800" cy="166800"/>
          </a:xfrm>
          <a:prstGeom prst="flowChartConnector">
            <a:avLst/>
          </a:prstGeom>
          <a:solidFill>
            <a:srgbClr val="FE7D46"/>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36;p18">
            <a:extLst>
              <a:ext uri="{FF2B5EF4-FFF2-40B4-BE49-F238E27FC236}">
                <a16:creationId xmlns:a16="http://schemas.microsoft.com/office/drawing/2014/main" id="{8D8BCC81-465D-8634-6B9C-E3A8F8722969}"/>
              </a:ext>
            </a:extLst>
          </p:cNvPr>
          <p:cNvSpPr/>
          <p:nvPr/>
        </p:nvSpPr>
        <p:spPr>
          <a:xfrm>
            <a:off x="5559878" y="1622999"/>
            <a:ext cx="151800" cy="166800"/>
          </a:xfrm>
          <a:prstGeom prst="flowChartConnector">
            <a:avLst/>
          </a:prstGeom>
          <a:solidFill>
            <a:srgbClr val="FE684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36;p18">
            <a:extLst>
              <a:ext uri="{FF2B5EF4-FFF2-40B4-BE49-F238E27FC236}">
                <a16:creationId xmlns:a16="http://schemas.microsoft.com/office/drawing/2014/main" id="{458FDA98-D451-0D64-DFD1-FA0D2664643F}"/>
              </a:ext>
            </a:extLst>
          </p:cNvPr>
          <p:cNvSpPr/>
          <p:nvPr/>
        </p:nvSpPr>
        <p:spPr>
          <a:xfrm>
            <a:off x="6117403" y="1706399"/>
            <a:ext cx="151800" cy="166800"/>
          </a:xfrm>
          <a:prstGeom prst="flowChartConnector">
            <a:avLst/>
          </a:prstGeom>
          <a:solidFill>
            <a:srgbClr val="FF6A4A"/>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36;p18">
            <a:extLst>
              <a:ext uri="{FF2B5EF4-FFF2-40B4-BE49-F238E27FC236}">
                <a16:creationId xmlns:a16="http://schemas.microsoft.com/office/drawing/2014/main" id="{345A1E3A-A229-07C4-1FD0-FEFFFBF02F0D}"/>
              </a:ext>
            </a:extLst>
          </p:cNvPr>
          <p:cNvSpPr/>
          <p:nvPr/>
        </p:nvSpPr>
        <p:spPr>
          <a:xfrm>
            <a:off x="7445905" y="2114877"/>
            <a:ext cx="151800" cy="166800"/>
          </a:xfrm>
          <a:prstGeom prst="flowChartConnector">
            <a:avLst/>
          </a:prstGeom>
          <a:solidFill>
            <a:srgbClr val="FEBA1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36;p18">
            <a:extLst>
              <a:ext uri="{FF2B5EF4-FFF2-40B4-BE49-F238E27FC236}">
                <a16:creationId xmlns:a16="http://schemas.microsoft.com/office/drawing/2014/main" id="{4D214DD3-369A-2867-384E-B36A92255FC1}"/>
              </a:ext>
            </a:extLst>
          </p:cNvPr>
          <p:cNvSpPr/>
          <p:nvPr/>
        </p:nvSpPr>
        <p:spPr>
          <a:xfrm>
            <a:off x="8439753" y="3717028"/>
            <a:ext cx="151800" cy="166800"/>
          </a:xfrm>
          <a:prstGeom prst="flowChartConnector">
            <a:avLst/>
          </a:prstGeom>
          <a:solidFill>
            <a:srgbClr val="B4C50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6" name="Google Shape;136;p18">
            <a:extLst>
              <a:ext uri="{FF2B5EF4-FFF2-40B4-BE49-F238E27FC236}">
                <a16:creationId xmlns:a16="http://schemas.microsoft.com/office/drawing/2014/main" id="{2B0FA4F5-34C4-CF8B-781C-92DA5C8D7C04}"/>
              </a:ext>
            </a:extLst>
          </p:cNvPr>
          <p:cNvSpPr/>
          <p:nvPr/>
        </p:nvSpPr>
        <p:spPr>
          <a:xfrm>
            <a:off x="7682707" y="2596290"/>
            <a:ext cx="151800" cy="166800"/>
          </a:xfrm>
          <a:prstGeom prst="flowChartConnector">
            <a:avLst/>
          </a:prstGeom>
          <a:solidFill>
            <a:srgbClr val="F7C30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 name="Google Shape;136;p18">
            <a:extLst>
              <a:ext uri="{FF2B5EF4-FFF2-40B4-BE49-F238E27FC236}">
                <a16:creationId xmlns:a16="http://schemas.microsoft.com/office/drawing/2014/main" id="{2806359A-E712-C1BC-7697-73FA3A1C651B}"/>
              </a:ext>
            </a:extLst>
          </p:cNvPr>
          <p:cNvSpPr/>
          <p:nvPr/>
        </p:nvSpPr>
        <p:spPr>
          <a:xfrm>
            <a:off x="7445905" y="2505317"/>
            <a:ext cx="151800" cy="166800"/>
          </a:xfrm>
          <a:prstGeom prst="flowChartConnector">
            <a:avLst/>
          </a:prstGeom>
          <a:solidFill>
            <a:srgbClr val="FBBF12"/>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B050"/>
              </a:solidFill>
              <a:latin typeface="Lato"/>
              <a:ea typeface="Lato"/>
              <a:cs typeface="Lato"/>
              <a:sym typeface="Lato"/>
            </a:endParaRPr>
          </a:p>
        </p:txBody>
      </p:sp>
      <p:sp>
        <p:nvSpPr>
          <p:cNvPr id="28" name="TextBox 27">
            <a:extLst>
              <a:ext uri="{FF2B5EF4-FFF2-40B4-BE49-F238E27FC236}">
                <a16:creationId xmlns:a16="http://schemas.microsoft.com/office/drawing/2014/main" id="{0AD59A90-1340-6071-93CB-87D4D3B67A36}"/>
              </a:ext>
            </a:extLst>
          </p:cNvPr>
          <p:cNvSpPr txBox="1"/>
          <p:nvPr/>
        </p:nvSpPr>
        <p:spPr>
          <a:xfrm>
            <a:off x="3216053" y="2633561"/>
            <a:ext cx="1853098" cy="584775"/>
          </a:xfrm>
          <a:prstGeom prst="rect">
            <a:avLst/>
          </a:prstGeom>
          <a:noFill/>
        </p:spPr>
        <p:txBody>
          <a:bodyPr wrap="square" rtlCol="0">
            <a:spAutoFit/>
          </a:bodyPr>
          <a:lstStyle/>
          <a:p>
            <a:r>
              <a:rPr lang="en-US" sz="3200" dirty="0"/>
              <a:t>CBI </a:t>
            </a:r>
            <a:r>
              <a:rPr lang="en-US" sz="3200" dirty="0">
                <a:latin typeface="Cambria Math" panose="02040503050406030204" pitchFamily="18" charset="0"/>
                <a:ea typeface="Cambria Math" panose="02040503050406030204" pitchFamily="18" charset="0"/>
              </a:rPr>
              <a:t>≈ </a:t>
            </a:r>
            <a:r>
              <a:rPr lang="en-US" sz="3200" dirty="0">
                <a:solidFill>
                  <a:srgbClr val="FF0000"/>
                </a:solidFill>
                <a:latin typeface="Cambria Math" panose="02040503050406030204" pitchFamily="18" charset="0"/>
                <a:ea typeface="Cambria Math" panose="02040503050406030204" pitchFamily="18" charset="0"/>
              </a:rPr>
              <a:t>-1</a:t>
            </a:r>
            <a:endParaRPr lang="en-US" sz="3200" dirty="0">
              <a:solidFill>
                <a:srgbClr val="FF0000"/>
              </a:solidFill>
            </a:endParaRPr>
          </a:p>
        </p:txBody>
      </p:sp>
      <p:sp>
        <p:nvSpPr>
          <p:cNvPr id="10" name="TextBox 9">
            <a:extLst>
              <a:ext uri="{FF2B5EF4-FFF2-40B4-BE49-F238E27FC236}">
                <a16:creationId xmlns:a16="http://schemas.microsoft.com/office/drawing/2014/main" id="{8B269717-CDD3-8340-EA4E-A49D141814C0}"/>
              </a:ext>
            </a:extLst>
          </p:cNvPr>
          <p:cNvSpPr txBox="1"/>
          <p:nvPr/>
        </p:nvSpPr>
        <p:spPr>
          <a:xfrm>
            <a:off x="3776813" y="3221209"/>
            <a:ext cx="1953360" cy="1200329"/>
          </a:xfrm>
          <a:prstGeom prst="rect">
            <a:avLst/>
          </a:prstGeom>
          <a:noFill/>
        </p:spPr>
        <p:txBody>
          <a:bodyPr wrap="square" rtlCol="0">
            <a:spAutoFit/>
          </a:bodyPr>
          <a:lstStyle/>
          <a:p>
            <a:r>
              <a:rPr lang="en-US" dirty="0"/>
              <a:t>Presences concentrated in </a:t>
            </a:r>
            <a:r>
              <a:rPr lang="en-US" dirty="0">
                <a:solidFill>
                  <a:srgbClr val="FF0000"/>
                </a:solidFill>
              </a:rPr>
              <a:t>low suitability </a:t>
            </a:r>
            <a:r>
              <a:rPr lang="en-US" dirty="0"/>
              <a:t>habitats</a:t>
            </a:r>
          </a:p>
        </p:txBody>
      </p:sp>
    </p:spTree>
    <p:extLst>
      <p:ext uri="{BB962C8B-B14F-4D97-AF65-F5344CB8AC3E}">
        <p14:creationId xmlns:p14="http://schemas.microsoft.com/office/powerpoint/2010/main" val="2555800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D6E4-5FEC-730B-1B77-7CFC048F61B9}"/>
            </a:ext>
          </a:extLst>
        </p:cNvPr>
        <p:cNvGrpSpPr/>
        <p:nvPr/>
      </p:nvGrpSpPr>
      <p:grpSpPr>
        <a:xfrm>
          <a:off x="0" y="0"/>
          <a:ext cx="0" cy="0"/>
          <a:chOff x="0" y="0"/>
          <a:chExt cx="0" cy="0"/>
        </a:xfrm>
      </p:grpSpPr>
      <p:sp>
        <p:nvSpPr>
          <p:cNvPr id="2" name="Google Shape;137;p18">
            <a:extLst>
              <a:ext uri="{FF2B5EF4-FFF2-40B4-BE49-F238E27FC236}">
                <a16:creationId xmlns:a16="http://schemas.microsoft.com/office/drawing/2014/main" id="{6E31E398-310D-A59F-7C65-55172F9B61F2}"/>
              </a:ext>
            </a:extLst>
          </p:cNvPr>
          <p:cNvSpPr txBox="1">
            <a:spLocks/>
          </p:cNvSpPr>
          <p:nvPr/>
        </p:nvSpPr>
        <p:spPr>
          <a:xfrm>
            <a:off x="0" y="201613"/>
            <a:ext cx="8677275" cy="911225"/>
          </a:xfrm>
          <a:prstGeom prst="rect">
            <a:avLst/>
          </a:prstGeom>
        </p:spPr>
        <p:txBody>
          <a:bodyPr spcFirstLastPara="1" vert="horz" wrap="square" lIns="91425" tIns="91425" rIns="91425" bIns="91425"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4800" b="1" dirty="0">
                <a:latin typeface="Raleway"/>
                <a:ea typeface="Raleway"/>
                <a:cs typeface="Raleway"/>
                <a:sym typeface="Raleway"/>
              </a:rPr>
              <a:t>Continuous Boyce Index (CBI)</a:t>
            </a:r>
            <a:endParaRPr lang="en-US" sz="2600" dirty="0"/>
          </a:p>
          <a:p>
            <a:pPr marL="0" indent="0">
              <a:spcBef>
                <a:spcPts val="1600"/>
              </a:spcBef>
              <a:spcAft>
                <a:spcPts val="1600"/>
              </a:spcAft>
              <a:buFont typeface="Arial" panose="020B0604020202020204" pitchFamily="34" charset="0"/>
              <a:buNone/>
            </a:pPr>
            <a:endParaRPr lang="en-US" sz="1500" dirty="0"/>
          </a:p>
        </p:txBody>
      </p:sp>
      <p:sp>
        <p:nvSpPr>
          <p:cNvPr id="4" name="Google Shape;140;p18">
            <a:extLst>
              <a:ext uri="{FF2B5EF4-FFF2-40B4-BE49-F238E27FC236}">
                <a16:creationId xmlns:a16="http://schemas.microsoft.com/office/drawing/2014/main" id="{1E9DC34F-F13C-7DAD-67B4-649C5167F6AC}"/>
              </a:ext>
            </a:extLst>
          </p:cNvPr>
          <p:cNvSpPr txBox="1"/>
          <p:nvPr/>
        </p:nvSpPr>
        <p:spPr>
          <a:xfrm>
            <a:off x="121553" y="1536687"/>
            <a:ext cx="3094500" cy="309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Lato"/>
                <a:ea typeface="Lato"/>
                <a:cs typeface="Lato"/>
                <a:sym typeface="Lato"/>
              </a:rPr>
              <a:t>Presence-only performance metric based on the relationship between predicted suitability and where presences actually occur. </a:t>
            </a:r>
          </a:p>
          <a:p>
            <a:pPr marL="0" lvl="0" indent="0" algn="l" rtl="0">
              <a:spcBef>
                <a:spcPts val="0"/>
              </a:spcBef>
              <a:spcAft>
                <a:spcPts val="0"/>
              </a:spcAft>
              <a:buNone/>
            </a:pPr>
            <a:endParaRPr lang="en-US" sz="1600" dirty="0">
              <a:latin typeface="Lato"/>
              <a:ea typeface="Lato"/>
              <a:cs typeface="Lato"/>
              <a:sym typeface="Lato"/>
            </a:endParaRPr>
          </a:p>
          <a:p>
            <a:pPr marL="0" lvl="0" indent="0" algn="l" rtl="0">
              <a:spcBef>
                <a:spcPts val="0"/>
              </a:spcBef>
              <a:spcAft>
                <a:spcPts val="0"/>
              </a:spcAft>
              <a:buNone/>
            </a:pPr>
            <a:r>
              <a:rPr lang="en-US" sz="1600" dirty="0">
                <a:latin typeface="Lato"/>
                <a:ea typeface="Lato"/>
                <a:cs typeface="Lato"/>
                <a:sym typeface="Lato"/>
              </a:rPr>
              <a:t>In </a:t>
            </a:r>
            <a:r>
              <a:rPr lang="en-US" sz="1600" dirty="0" err="1">
                <a:latin typeface="Lato"/>
                <a:ea typeface="Lato"/>
                <a:cs typeface="Lato"/>
                <a:sym typeface="Lato"/>
              </a:rPr>
              <a:t>ENMeval</a:t>
            </a:r>
            <a:r>
              <a:rPr lang="en-US" sz="1600" dirty="0">
                <a:latin typeface="Lato"/>
                <a:ea typeface="Lato"/>
                <a:cs typeface="Lato"/>
                <a:sym typeface="Lato"/>
              </a:rPr>
              <a:t>, its calculated by comparing the distribution of suitability at presences vs background across the continuous suitability range, and is summarized in a Spearman Correlation</a:t>
            </a:r>
          </a:p>
          <a:p>
            <a:pPr marL="0" lvl="0" indent="0" algn="l" rtl="0">
              <a:spcBef>
                <a:spcPts val="0"/>
              </a:spcBef>
              <a:spcAft>
                <a:spcPts val="0"/>
              </a:spcAft>
              <a:buNone/>
            </a:pPr>
            <a:endParaRPr lang="en-US" sz="1600" dirty="0">
              <a:latin typeface="Lato"/>
              <a:ea typeface="Lato"/>
              <a:cs typeface="Lato"/>
              <a:sym typeface="Lato"/>
            </a:endParaRPr>
          </a:p>
        </p:txBody>
      </p:sp>
      <p:pic>
        <p:nvPicPr>
          <p:cNvPr id="5" name="Google Shape;126;p18">
            <a:extLst>
              <a:ext uri="{FF2B5EF4-FFF2-40B4-BE49-F238E27FC236}">
                <a16:creationId xmlns:a16="http://schemas.microsoft.com/office/drawing/2014/main" id="{72FDA770-F07F-C32A-0104-7B0CA4BC40F3}"/>
              </a:ext>
            </a:extLst>
          </p:cNvPr>
          <p:cNvPicPr preferRelativeResize="0"/>
          <p:nvPr/>
        </p:nvPicPr>
        <p:blipFill>
          <a:blip r:embed="rId3">
            <a:alphaModFix/>
          </a:blip>
          <a:stretch>
            <a:fillRect/>
          </a:stretch>
        </p:blipFill>
        <p:spPr>
          <a:xfrm flipH="1">
            <a:off x="5154153" y="1536687"/>
            <a:ext cx="3602861" cy="3405200"/>
          </a:xfrm>
          <a:prstGeom prst="rect">
            <a:avLst/>
          </a:prstGeom>
          <a:noFill/>
          <a:ln>
            <a:noFill/>
          </a:ln>
        </p:spPr>
      </p:pic>
      <p:sp>
        <p:nvSpPr>
          <p:cNvPr id="6" name="Google Shape;127;p18">
            <a:extLst>
              <a:ext uri="{FF2B5EF4-FFF2-40B4-BE49-F238E27FC236}">
                <a16:creationId xmlns:a16="http://schemas.microsoft.com/office/drawing/2014/main" id="{3003AF56-2655-304D-6B45-39768C8F41AF}"/>
              </a:ext>
            </a:extLst>
          </p:cNvPr>
          <p:cNvSpPr/>
          <p:nvPr/>
        </p:nvSpPr>
        <p:spPr>
          <a:xfrm>
            <a:off x="8287953" y="4136260"/>
            <a:ext cx="151800" cy="166800"/>
          </a:xfrm>
          <a:prstGeom prst="flowChartConnector">
            <a:avLst/>
          </a:prstGeom>
          <a:solidFill>
            <a:srgbClr val="C2C401"/>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 name="Google Shape;130;p18">
            <a:extLst>
              <a:ext uri="{FF2B5EF4-FFF2-40B4-BE49-F238E27FC236}">
                <a16:creationId xmlns:a16="http://schemas.microsoft.com/office/drawing/2014/main" id="{3BF6527F-7797-1649-1EBD-705E098DBE31}"/>
              </a:ext>
            </a:extLst>
          </p:cNvPr>
          <p:cNvSpPr/>
          <p:nvPr/>
        </p:nvSpPr>
        <p:spPr>
          <a:xfrm>
            <a:off x="7983058" y="2739432"/>
            <a:ext cx="151800" cy="166800"/>
          </a:xfrm>
          <a:prstGeom prst="flowChartConnector">
            <a:avLst/>
          </a:prstGeom>
          <a:solidFill>
            <a:srgbClr val="F1C50A"/>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33;p18">
            <a:extLst>
              <a:ext uri="{FF2B5EF4-FFF2-40B4-BE49-F238E27FC236}">
                <a16:creationId xmlns:a16="http://schemas.microsoft.com/office/drawing/2014/main" id="{86423F90-4F90-D05C-5AA9-86431873F078}"/>
              </a:ext>
            </a:extLst>
          </p:cNvPr>
          <p:cNvSpPr/>
          <p:nvPr/>
        </p:nvSpPr>
        <p:spPr>
          <a:xfrm>
            <a:off x="7790983" y="1937602"/>
            <a:ext cx="151800" cy="166800"/>
          </a:xfrm>
          <a:prstGeom prst="flowChartConnector">
            <a:avLst/>
          </a:prstGeom>
          <a:solidFill>
            <a:srgbClr val="FEBE16"/>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34;p18">
            <a:extLst>
              <a:ext uri="{FF2B5EF4-FFF2-40B4-BE49-F238E27FC236}">
                <a16:creationId xmlns:a16="http://schemas.microsoft.com/office/drawing/2014/main" id="{F6893DA2-DA7A-104D-41AE-1FC44C093664}"/>
              </a:ext>
            </a:extLst>
          </p:cNvPr>
          <p:cNvSpPr/>
          <p:nvPr/>
        </p:nvSpPr>
        <p:spPr>
          <a:xfrm>
            <a:off x="7778043" y="2338517"/>
            <a:ext cx="151800" cy="166800"/>
          </a:xfrm>
          <a:prstGeom prst="flowChartConnector">
            <a:avLst/>
          </a:prstGeom>
          <a:solidFill>
            <a:srgbClr val="FBC30C"/>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35;p18">
            <a:extLst>
              <a:ext uri="{FF2B5EF4-FFF2-40B4-BE49-F238E27FC236}">
                <a16:creationId xmlns:a16="http://schemas.microsoft.com/office/drawing/2014/main" id="{5A1A36A7-33F5-192C-AB88-BC0E55784CD8}"/>
              </a:ext>
            </a:extLst>
          </p:cNvPr>
          <p:cNvSpPr/>
          <p:nvPr/>
        </p:nvSpPr>
        <p:spPr>
          <a:xfrm>
            <a:off x="8439753" y="3712411"/>
            <a:ext cx="151800" cy="166800"/>
          </a:xfrm>
          <a:prstGeom prst="flowChartConnector">
            <a:avLst/>
          </a:prstGeom>
          <a:solidFill>
            <a:schemeClr val="accent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36;p18">
            <a:extLst>
              <a:ext uri="{FF2B5EF4-FFF2-40B4-BE49-F238E27FC236}">
                <a16:creationId xmlns:a16="http://schemas.microsoft.com/office/drawing/2014/main" id="{FFE29995-B091-5297-B212-FFA00BC17C92}"/>
              </a:ext>
            </a:extLst>
          </p:cNvPr>
          <p:cNvSpPr/>
          <p:nvPr/>
        </p:nvSpPr>
        <p:spPr>
          <a:xfrm>
            <a:off x="7942783" y="3629011"/>
            <a:ext cx="151800" cy="166800"/>
          </a:xfrm>
          <a:prstGeom prst="flowChartConnector">
            <a:avLst/>
          </a:prstGeom>
          <a:solidFill>
            <a:srgbClr val="C2C401"/>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36;p18">
            <a:extLst>
              <a:ext uri="{FF2B5EF4-FFF2-40B4-BE49-F238E27FC236}">
                <a16:creationId xmlns:a16="http://schemas.microsoft.com/office/drawing/2014/main" id="{D335FC47-B7EA-8CDB-2AEF-96FFB2DD02F4}"/>
              </a:ext>
            </a:extLst>
          </p:cNvPr>
          <p:cNvSpPr/>
          <p:nvPr/>
        </p:nvSpPr>
        <p:spPr>
          <a:xfrm>
            <a:off x="5559878" y="1622999"/>
            <a:ext cx="151800" cy="166800"/>
          </a:xfrm>
          <a:prstGeom prst="flowChartConnector">
            <a:avLst/>
          </a:prstGeom>
          <a:solidFill>
            <a:srgbClr val="FE684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36;p18">
            <a:extLst>
              <a:ext uri="{FF2B5EF4-FFF2-40B4-BE49-F238E27FC236}">
                <a16:creationId xmlns:a16="http://schemas.microsoft.com/office/drawing/2014/main" id="{38AE2076-44EC-ECBB-CE49-54A223370C31}"/>
              </a:ext>
            </a:extLst>
          </p:cNvPr>
          <p:cNvSpPr/>
          <p:nvPr/>
        </p:nvSpPr>
        <p:spPr>
          <a:xfrm>
            <a:off x="6117403" y="1706399"/>
            <a:ext cx="151800" cy="166800"/>
          </a:xfrm>
          <a:prstGeom prst="flowChartConnector">
            <a:avLst/>
          </a:prstGeom>
          <a:solidFill>
            <a:srgbClr val="FF6A4A"/>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36;p18">
            <a:extLst>
              <a:ext uri="{FF2B5EF4-FFF2-40B4-BE49-F238E27FC236}">
                <a16:creationId xmlns:a16="http://schemas.microsoft.com/office/drawing/2014/main" id="{4FF64DB8-FC7A-4644-E6CA-7D47FFAB6BC3}"/>
              </a:ext>
            </a:extLst>
          </p:cNvPr>
          <p:cNvSpPr/>
          <p:nvPr/>
        </p:nvSpPr>
        <p:spPr>
          <a:xfrm>
            <a:off x="7445905" y="2114877"/>
            <a:ext cx="151800" cy="166800"/>
          </a:xfrm>
          <a:prstGeom prst="flowChartConnector">
            <a:avLst/>
          </a:prstGeom>
          <a:solidFill>
            <a:srgbClr val="FEBA1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36;p18">
            <a:extLst>
              <a:ext uri="{FF2B5EF4-FFF2-40B4-BE49-F238E27FC236}">
                <a16:creationId xmlns:a16="http://schemas.microsoft.com/office/drawing/2014/main" id="{E9E922F6-251F-BAC5-E991-0DCC4D8D1B29}"/>
              </a:ext>
            </a:extLst>
          </p:cNvPr>
          <p:cNvSpPr/>
          <p:nvPr/>
        </p:nvSpPr>
        <p:spPr>
          <a:xfrm>
            <a:off x="8439753" y="3717028"/>
            <a:ext cx="151800" cy="166800"/>
          </a:xfrm>
          <a:prstGeom prst="flowChartConnector">
            <a:avLst/>
          </a:prstGeom>
          <a:solidFill>
            <a:srgbClr val="B4C503"/>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6" name="Google Shape;136;p18">
            <a:extLst>
              <a:ext uri="{FF2B5EF4-FFF2-40B4-BE49-F238E27FC236}">
                <a16:creationId xmlns:a16="http://schemas.microsoft.com/office/drawing/2014/main" id="{2583754C-1023-20F6-CE55-EC661E9FE717}"/>
              </a:ext>
            </a:extLst>
          </p:cNvPr>
          <p:cNvSpPr/>
          <p:nvPr/>
        </p:nvSpPr>
        <p:spPr>
          <a:xfrm>
            <a:off x="7682707" y="2596290"/>
            <a:ext cx="151800" cy="166800"/>
          </a:xfrm>
          <a:prstGeom prst="flowChartConnector">
            <a:avLst/>
          </a:prstGeom>
          <a:solidFill>
            <a:srgbClr val="F7C30B"/>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7" name="Google Shape;136;p18">
            <a:extLst>
              <a:ext uri="{FF2B5EF4-FFF2-40B4-BE49-F238E27FC236}">
                <a16:creationId xmlns:a16="http://schemas.microsoft.com/office/drawing/2014/main" id="{FD7CA4E7-CDE0-4FE3-FFBB-B9102751A81A}"/>
              </a:ext>
            </a:extLst>
          </p:cNvPr>
          <p:cNvSpPr/>
          <p:nvPr/>
        </p:nvSpPr>
        <p:spPr>
          <a:xfrm>
            <a:off x="7445905" y="2505317"/>
            <a:ext cx="151800" cy="166800"/>
          </a:xfrm>
          <a:prstGeom prst="flowChartConnector">
            <a:avLst/>
          </a:prstGeom>
          <a:solidFill>
            <a:srgbClr val="FBBF12"/>
          </a:solidFill>
          <a:ln w="28575" cap="flat" cmpd="sng">
            <a:solidFill>
              <a:srgbClr val="04092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B050"/>
              </a:solidFill>
              <a:latin typeface="Lato"/>
              <a:ea typeface="Lato"/>
              <a:cs typeface="Lato"/>
              <a:sym typeface="Lato"/>
            </a:endParaRPr>
          </a:p>
        </p:txBody>
      </p:sp>
      <p:sp>
        <p:nvSpPr>
          <p:cNvPr id="28" name="TextBox 27">
            <a:extLst>
              <a:ext uri="{FF2B5EF4-FFF2-40B4-BE49-F238E27FC236}">
                <a16:creationId xmlns:a16="http://schemas.microsoft.com/office/drawing/2014/main" id="{08929614-D2BE-75B8-BD1F-97A49B9D637D}"/>
              </a:ext>
            </a:extLst>
          </p:cNvPr>
          <p:cNvSpPr txBox="1"/>
          <p:nvPr/>
        </p:nvSpPr>
        <p:spPr>
          <a:xfrm>
            <a:off x="3216053" y="2633561"/>
            <a:ext cx="1853098" cy="584775"/>
          </a:xfrm>
          <a:prstGeom prst="rect">
            <a:avLst/>
          </a:prstGeom>
          <a:noFill/>
        </p:spPr>
        <p:txBody>
          <a:bodyPr wrap="square" rtlCol="0">
            <a:spAutoFit/>
          </a:bodyPr>
          <a:lstStyle/>
          <a:p>
            <a:r>
              <a:rPr lang="en-US" sz="3200" dirty="0"/>
              <a:t>CBI </a:t>
            </a:r>
            <a:r>
              <a:rPr lang="en-US" sz="3200" dirty="0">
                <a:latin typeface="Cambria Math" panose="02040503050406030204" pitchFamily="18" charset="0"/>
                <a:ea typeface="Cambria Math" panose="02040503050406030204" pitchFamily="18" charset="0"/>
              </a:rPr>
              <a:t>≈ </a:t>
            </a:r>
            <a:r>
              <a:rPr lang="en-US" sz="3200" dirty="0">
                <a:solidFill>
                  <a:schemeClr val="tx1">
                    <a:lumMod val="50000"/>
                    <a:lumOff val="50000"/>
                  </a:schemeClr>
                </a:solidFill>
                <a:latin typeface="Cambria Math" panose="02040503050406030204" pitchFamily="18" charset="0"/>
                <a:ea typeface="Cambria Math" panose="02040503050406030204" pitchFamily="18" charset="0"/>
              </a:rPr>
              <a:t>0</a:t>
            </a:r>
            <a:endParaRPr lang="en-US" sz="3200" dirty="0">
              <a:solidFill>
                <a:schemeClr val="tx1">
                  <a:lumMod val="50000"/>
                  <a:lumOff val="50000"/>
                </a:schemeClr>
              </a:solidFill>
            </a:endParaRPr>
          </a:p>
        </p:txBody>
      </p:sp>
      <p:sp>
        <p:nvSpPr>
          <p:cNvPr id="7" name="TextBox 6">
            <a:extLst>
              <a:ext uri="{FF2B5EF4-FFF2-40B4-BE49-F238E27FC236}">
                <a16:creationId xmlns:a16="http://schemas.microsoft.com/office/drawing/2014/main" id="{960F831E-0AFE-60F8-ED7E-5C74B46C1353}"/>
              </a:ext>
            </a:extLst>
          </p:cNvPr>
          <p:cNvSpPr txBox="1"/>
          <p:nvPr/>
        </p:nvSpPr>
        <p:spPr>
          <a:xfrm>
            <a:off x="3776813" y="3221209"/>
            <a:ext cx="1953360" cy="646331"/>
          </a:xfrm>
          <a:prstGeom prst="rect">
            <a:avLst/>
          </a:prstGeom>
          <a:noFill/>
        </p:spPr>
        <p:txBody>
          <a:bodyPr wrap="square" rtlCol="0">
            <a:spAutoFit/>
          </a:bodyPr>
          <a:lstStyle/>
          <a:p>
            <a:r>
              <a:rPr lang="en-US" dirty="0"/>
              <a:t>Suggests </a:t>
            </a:r>
            <a:r>
              <a:rPr lang="en-US" dirty="0">
                <a:solidFill>
                  <a:schemeClr val="tx1">
                    <a:lumMod val="50000"/>
                    <a:lumOff val="50000"/>
                  </a:schemeClr>
                </a:solidFill>
              </a:rPr>
              <a:t>random</a:t>
            </a:r>
            <a:r>
              <a:rPr lang="en-US" dirty="0"/>
              <a:t> performance</a:t>
            </a:r>
          </a:p>
        </p:txBody>
      </p:sp>
    </p:spTree>
    <p:extLst>
      <p:ext uri="{BB962C8B-B14F-4D97-AF65-F5344CB8AC3E}">
        <p14:creationId xmlns:p14="http://schemas.microsoft.com/office/powerpoint/2010/main" val="1242159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9"/>
          <p:cNvSpPr txBox="1"/>
          <p:nvPr/>
        </p:nvSpPr>
        <p:spPr>
          <a:xfrm>
            <a:off x="4784450" y="4475175"/>
            <a:ext cx="1327200" cy="2487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Lato"/>
              <a:ea typeface="Lato"/>
              <a:cs typeface="Lato"/>
              <a:sym typeface="Lato"/>
            </a:endParaRPr>
          </a:p>
        </p:txBody>
      </p:sp>
      <p:sp>
        <p:nvSpPr>
          <p:cNvPr id="149" name="Google Shape;149;p19"/>
          <p:cNvSpPr txBox="1">
            <a:spLocks noGrp="1"/>
          </p:cNvSpPr>
          <p:nvPr>
            <p:ph type="title"/>
          </p:nvPr>
        </p:nvSpPr>
        <p:spPr>
          <a:xfrm>
            <a:off x="208325" y="295718"/>
            <a:ext cx="4045200" cy="175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400" dirty="0">
                <a:latin typeface="Lato" panose="020F0502020204030203" pitchFamily="34" charset="0"/>
                <a:ea typeface="Lato" panose="020F0502020204030203" pitchFamily="34" charset="0"/>
                <a:cs typeface="Lato" panose="020F0502020204030203" pitchFamily="34" charset="0"/>
              </a:rPr>
              <a:t>Feature classes and regularization multiplier</a:t>
            </a:r>
            <a:endParaRPr sz="3400" dirty="0">
              <a:latin typeface="Lato" panose="020F0502020204030203" pitchFamily="34" charset="0"/>
              <a:ea typeface="Lato" panose="020F0502020204030203" pitchFamily="34" charset="0"/>
              <a:cs typeface="Lato" panose="020F0502020204030203" pitchFamily="34" charset="0"/>
            </a:endParaRPr>
          </a:p>
        </p:txBody>
      </p:sp>
      <p:sp>
        <p:nvSpPr>
          <p:cNvPr id="151" name="Google Shape;151;p19"/>
          <p:cNvSpPr txBox="1">
            <a:spLocks noGrp="1"/>
          </p:cNvSpPr>
          <p:nvPr>
            <p:ph type="subTitle" idx="1"/>
          </p:nvPr>
        </p:nvSpPr>
        <p:spPr>
          <a:xfrm>
            <a:off x="4807338" y="111335"/>
            <a:ext cx="4045200" cy="4496400"/>
          </a:xfrm>
          <a:prstGeom prst="rect">
            <a:avLst/>
          </a:prstGeom>
        </p:spPr>
        <p:txBody>
          <a:bodyPr spcFirstLastPara="1" wrap="square" lIns="91425" tIns="91425" rIns="91425" bIns="91425" anchor="t" anchorCtr="0">
            <a:noAutofit/>
          </a:bodyPr>
          <a:lstStyle/>
          <a:p>
            <a:pPr marL="457200" lvl="0" indent="-361950" algn="l" rtl="0">
              <a:spcBef>
                <a:spcPts val="0"/>
              </a:spcBef>
              <a:spcAft>
                <a:spcPts val="0"/>
              </a:spcAft>
              <a:buClr>
                <a:schemeClr val="lt1"/>
              </a:buClr>
              <a:buSzPts val="2100"/>
              <a:buChar char="-"/>
            </a:pPr>
            <a:r>
              <a:rPr lang="en" u="sng" dirty="0"/>
              <a:t>Balance complexity and fit</a:t>
            </a:r>
            <a:endParaRPr u="sng" dirty="0"/>
          </a:p>
          <a:p>
            <a:pPr marL="457200" lvl="0" indent="-361950" algn="l" rtl="0">
              <a:spcBef>
                <a:spcPts val="0"/>
              </a:spcBef>
              <a:spcAft>
                <a:spcPts val="0"/>
              </a:spcAft>
              <a:buClr>
                <a:schemeClr val="lt1"/>
              </a:buClr>
              <a:buSzPts val="2100"/>
              <a:buChar char="-"/>
            </a:pPr>
            <a:r>
              <a:rPr lang="en-US" dirty="0"/>
              <a:t>- </a:t>
            </a:r>
            <a:r>
              <a:rPr lang="en" dirty="0"/>
              <a:t>Feature classes: shape of the expected response curve </a:t>
            </a:r>
            <a:endParaRPr dirty="0"/>
          </a:p>
          <a:p>
            <a:pPr marL="457200" lvl="0" indent="-361950" algn="l" rtl="0">
              <a:spcBef>
                <a:spcPts val="0"/>
              </a:spcBef>
              <a:spcAft>
                <a:spcPts val="0"/>
              </a:spcAft>
              <a:buClr>
                <a:schemeClr val="lt1"/>
              </a:buClr>
              <a:buSzPts val="2100"/>
              <a:buChar char="-"/>
            </a:pPr>
            <a:r>
              <a:rPr lang="en" dirty="0"/>
              <a:t>- Response curve: the relationship between environmental variables and suitability</a:t>
            </a:r>
            <a:endParaRPr dirty="0"/>
          </a:p>
          <a:p>
            <a:pPr marL="457200" lvl="0" indent="-361950" algn="l" rtl="0">
              <a:spcBef>
                <a:spcPts val="0"/>
              </a:spcBef>
              <a:spcAft>
                <a:spcPts val="0"/>
              </a:spcAft>
              <a:buClr>
                <a:schemeClr val="lt1"/>
              </a:buClr>
              <a:buSzPts val="2100"/>
              <a:buChar char="-"/>
            </a:pPr>
            <a:r>
              <a:rPr lang="en" dirty="0"/>
              <a:t>- Regularization multiplier: penalty applied to reduce overfitting</a:t>
            </a:r>
            <a:endParaRPr dirty="0"/>
          </a:p>
          <a:p>
            <a:pPr marL="457200" lvl="0" indent="0" algn="l" rtl="0">
              <a:spcBef>
                <a:spcPts val="0"/>
              </a:spcBef>
              <a:spcAft>
                <a:spcPts val="0"/>
              </a:spcAft>
              <a:buNone/>
            </a:pPr>
            <a:endParaRPr dirty="0">
              <a:solidFill>
                <a:schemeClr val="lt1"/>
              </a:solidFill>
            </a:endParaRPr>
          </a:p>
        </p:txBody>
      </p:sp>
      <p:pic>
        <p:nvPicPr>
          <p:cNvPr id="150" name="Google Shape;150;p19"/>
          <p:cNvPicPr preferRelativeResize="0"/>
          <p:nvPr/>
        </p:nvPicPr>
        <p:blipFill>
          <a:blip r:embed="rId3">
            <a:alphaModFix/>
          </a:blip>
          <a:stretch>
            <a:fillRect/>
          </a:stretch>
        </p:blipFill>
        <p:spPr>
          <a:xfrm>
            <a:off x="99549" y="2000840"/>
            <a:ext cx="3408925" cy="2567375"/>
          </a:xfrm>
          <a:prstGeom prst="rect">
            <a:avLst/>
          </a:prstGeom>
          <a:noFill/>
          <a:ln>
            <a:noFill/>
          </a:ln>
        </p:spPr>
      </p:pic>
      <p:pic>
        <p:nvPicPr>
          <p:cNvPr id="152" name="Google Shape;152;p19"/>
          <p:cNvPicPr preferRelativeResize="0"/>
          <p:nvPr/>
        </p:nvPicPr>
        <p:blipFill>
          <a:blip r:embed="rId4">
            <a:alphaModFix/>
          </a:blip>
          <a:stretch>
            <a:fillRect/>
          </a:stretch>
        </p:blipFill>
        <p:spPr>
          <a:xfrm>
            <a:off x="4336663" y="3486290"/>
            <a:ext cx="4760879" cy="1545875"/>
          </a:xfrm>
          <a:prstGeom prst="rect">
            <a:avLst/>
          </a:prstGeom>
          <a:noFill/>
          <a:ln>
            <a:noFill/>
          </a:ln>
        </p:spPr>
      </p:pic>
      <p:pic>
        <p:nvPicPr>
          <p:cNvPr id="153" name="Google Shape;153;p19"/>
          <p:cNvPicPr preferRelativeResize="0"/>
          <p:nvPr/>
        </p:nvPicPr>
        <p:blipFill>
          <a:blip r:embed="rId5">
            <a:alphaModFix/>
          </a:blip>
          <a:stretch>
            <a:fillRect/>
          </a:stretch>
        </p:blipFill>
        <p:spPr>
          <a:xfrm>
            <a:off x="3436350" y="2000840"/>
            <a:ext cx="811375" cy="25673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94649" y="232575"/>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dirty="0">
                <a:latin typeface="Lato" panose="020F0502020204030203" pitchFamily="34" charset="0"/>
                <a:ea typeface="Lato" panose="020F0502020204030203" pitchFamily="34" charset="0"/>
                <a:cs typeface="Lato" panose="020F0502020204030203" pitchFamily="34" charset="0"/>
              </a:rPr>
              <a:t>Sample code</a:t>
            </a:r>
            <a:endParaRPr sz="4500" dirty="0">
              <a:latin typeface="Lato" panose="020F0502020204030203" pitchFamily="34" charset="0"/>
              <a:ea typeface="Lato" panose="020F0502020204030203" pitchFamily="34" charset="0"/>
              <a:cs typeface="Lato" panose="020F0502020204030203" pitchFamily="34" charset="0"/>
            </a:endParaRPr>
          </a:p>
        </p:txBody>
      </p:sp>
      <p:sp>
        <p:nvSpPr>
          <p:cNvPr id="159" name="Google Shape;159;p20"/>
          <p:cNvSpPr txBox="1"/>
          <p:nvPr/>
        </p:nvSpPr>
        <p:spPr>
          <a:xfrm>
            <a:off x="344975" y="1124725"/>
            <a:ext cx="3748200" cy="76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dirty="0">
                <a:latin typeface="Lato"/>
                <a:ea typeface="Lato"/>
                <a:cs typeface="Lato"/>
                <a:sym typeface="Lato"/>
              </a:rPr>
              <a:t>Using tools in the </a:t>
            </a:r>
            <a:r>
              <a:rPr lang="en" sz="1700" b="1" dirty="0" err="1">
                <a:latin typeface="Lato"/>
                <a:ea typeface="Lato"/>
                <a:cs typeface="Lato"/>
                <a:sym typeface="Lato"/>
              </a:rPr>
              <a:t>ENMeval</a:t>
            </a:r>
            <a:r>
              <a:rPr lang="en" sz="1700" b="1" dirty="0">
                <a:latin typeface="Lato"/>
                <a:ea typeface="Lato"/>
                <a:cs typeface="Lato"/>
                <a:sym typeface="Lato"/>
              </a:rPr>
              <a:t> package</a:t>
            </a:r>
            <a:endParaRPr sz="1700" b="1" dirty="0">
              <a:latin typeface="Lato"/>
              <a:ea typeface="Lato"/>
              <a:cs typeface="Lato"/>
              <a:sym typeface="Lato"/>
            </a:endParaRPr>
          </a:p>
        </p:txBody>
      </p:sp>
      <p:sp>
        <p:nvSpPr>
          <p:cNvPr id="160" name="Google Shape;160;p20"/>
          <p:cNvSpPr txBox="1"/>
          <p:nvPr/>
        </p:nvSpPr>
        <p:spPr>
          <a:xfrm>
            <a:off x="5193451" y="699149"/>
            <a:ext cx="3330900" cy="10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err="1">
                <a:latin typeface="Lato"/>
                <a:ea typeface="Lato"/>
                <a:cs typeface="Lato"/>
                <a:sym typeface="Lato"/>
              </a:rPr>
              <a:t>ENMevaluate</a:t>
            </a:r>
            <a:r>
              <a:rPr lang="en" sz="1800" b="1" dirty="0">
                <a:latin typeface="Lato"/>
                <a:ea typeface="Lato"/>
                <a:cs typeface="Lato"/>
                <a:sym typeface="Lato"/>
              </a:rPr>
              <a:t> generates models with different combinations of feature classes and RMs</a:t>
            </a:r>
            <a:endParaRPr sz="1800" b="1" dirty="0">
              <a:latin typeface="Lato"/>
              <a:ea typeface="Lato"/>
              <a:cs typeface="Lato"/>
              <a:sym typeface="Lato"/>
            </a:endParaRPr>
          </a:p>
        </p:txBody>
      </p:sp>
      <p:pic>
        <p:nvPicPr>
          <p:cNvPr id="161" name="Google Shape;161;p20"/>
          <p:cNvPicPr preferRelativeResize="0"/>
          <p:nvPr/>
        </p:nvPicPr>
        <p:blipFill>
          <a:blip r:embed="rId3">
            <a:alphaModFix/>
          </a:blip>
          <a:stretch>
            <a:fillRect/>
          </a:stretch>
        </p:blipFill>
        <p:spPr>
          <a:xfrm>
            <a:off x="1889637" y="2240247"/>
            <a:ext cx="5364726" cy="2029896"/>
          </a:xfrm>
          <a:prstGeom prst="rect">
            <a:avLst/>
          </a:prstGeom>
          <a:noFill/>
          <a:ln>
            <a:noFill/>
          </a:ln>
        </p:spPr>
      </p:pic>
      <p:sp>
        <p:nvSpPr>
          <p:cNvPr id="162" name="Google Shape;162;p20"/>
          <p:cNvSpPr/>
          <p:nvPr/>
        </p:nvSpPr>
        <p:spPr>
          <a:xfrm>
            <a:off x="4093175" y="2780075"/>
            <a:ext cx="2545800" cy="4338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61220" y="316126"/>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dirty="0">
                <a:latin typeface="Lato" panose="020F0502020204030203" pitchFamily="34" charset="0"/>
                <a:ea typeface="Lato" panose="020F0502020204030203" pitchFamily="34" charset="0"/>
                <a:cs typeface="Lato" panose="020F0502020204030203" pitchFamily="34" charset="0"/>
              </a:rPr>
              <a:t>Sample code</a:t>
            </a:r>
            <a:endParaRPr sz="4500" dirty="0">
              <a:latin typeface="Lato" panose="020F0502020204030203" pitchFamily="34" charset="0"/>
              <a:ea typeface="Lato" panose="020F0502020204030203" pitchFamily="34" charset="0"/>
              <a:cs typeface="Lato" panose="020F0502020204030203" pitchFamily="34" charset="0"/>
            </a:endParaRPr>
          </a:p>
        </p:txBody>
      </p:sp>
      <p:sp>
        <p:nvSpPr>
          <p:cNvPr id="168" name="Google Shape;168;p21"/>
          <p:cNvSpPr txBox="1">
            <a:spLocks noGrp="1"/>
          </p:cNvSpPr>
          <p:nvPr>
            <p:ph type="body" idx="2"/>
          </p:nvPr>
        </p:nvSpPr>
        <p:spPr>
          <a:xfrm>
            <a:off x="4939500" y="858400"/>
            <a:ext cx="3837000" cy="12009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sz="1900" b="1" dirty="0">
                <a:solidFill>
                  <a:schemeClr val="tx1"/>
                </a:solidFill>
              </a:rPr>
              <a:t>Filter the resulting models by selecting for the one with the lowest omission rate and highest area under the curve value. Not ran but optional: select for highest CBI value</a:t>
            </a:r>
            <a:endParaRPr sz="1900" b="1" dirty="0">
              <a:solidFill>
                <a:schemeClr val="tx1"/>
              </a:solidFill>
            </a:endParaRPr>
          </a:p>
        </p:txBody>
      </p:sp>
      <p:sp>
        <p:nvSpPr>
          <p:cNvPr id="169" name="Google Shape;169;p21"/>
          <p:cNvSpPr txBox="1"/>
          <p:nvPr/>
        </p:nvSpPr>
        <p:spPr>
          <a:xfrm>
            <a:off x="4939500" y="3753775"/>
            <a:ext cx="3456600" cy="8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dirty="0">
                <a:solidFill>
                  <a:schemeClr val="lt1"/>
                </a:solidFill>
                <a:latin typeface="Lato"/>
                <a:ea typeface="Lato"/>
                <a:cs typeface="Lato"/>
                <a:sym typeface="Lato"/>
              </a:rPr>
              <a:t>Optimal model parameters: </a:t>
            </a:r>
            <a:endParaRPr sz="1900" b="1" dirty="0">
              <a:solidFill>
                <a:schemeClr val="lt1"/>
              </a:solidFill>
              <a:latin typeface="Lato"/>
              <a:ea typeface="Lato"/>
              <a:cs typeface="Lato"/>
              <a:sym typeface="Lato"/>
            </a:endParaRPr>
          </a:p>
          <a:p>
            <a:pPr marL="0" lvl="0" indent="0" algn="l" rtl="0">
              <a:spcBef>
                <a:spcPts val="0"/>
              </a:spcBef>
              <a:spcAft>
                <a:spcPts val="0"/>
              </a:spcAft>
              <a:buNone/>
            </a:pPr>
            <a:r>
              <a:rPr lang="en" sz="1900" b="1" dirty="0">
                <a:solidFill>
                  <a:schemeClr val="lt1"/>
                </a:solidFill>
                <a:latin typeface="Lato"/>
                <a:ea typeface="Lato"/>
                <a:cs typeface="Lato"/>
                <a:sym typeface="Lato"/>
              </a:rPr>
              <a:t>fc = L, rm = 1</a:t>
            </a:r>
            <a:endParaRPr sz="1900" b="1" dirty="0">
              <a:solidFill>
                <a:schemeClr val="lt1"/>
              </a:solidFill>
              <a:latin typeface="Lato"/>
              <a:ea typeface="Lato"/>
              <a:cs typeface="Lato"/>
              <a:sym typeface="Lato"/>
            </a:endParaRPr>
          </a:p>
          <a:p>
            <a:pPr marL="0" lvl="0" indent="0" algn="l" rtl="0">
              <a:spcBef>
                <a:spcPts val="0"/>
              </a:spcBef>
              <a:spcAft>
                <a:spcPts val="0"/>
              </a:spcAft>
              <a:buNone/>
            </a:pPr>
            <a:endParaRPr sz="1800" dirty="0">
              <a:solidFill>
                <a:schemeClr val="dk2"/>
              </a:solidFill>
              <a:latin typeface="Lato"/>
              <a:ea typeface="Lato"/>
              <a:cs typeface="Lato"/>
              <a:sym typeface="Lato"/>
            </a:endParaRPr>
          </a:p>
        </p:txBody>
      </p:sp>
      <p:sp>
        <p:nvSpPr>
          <p:cNvPr id="170" name="Google Shape;170;p21"/>
          <p:cNvSpPr txBox="1"/>
          <p:nvPr/>
        </p:nvSpPr>
        <p:spPr>
          <a:xfrm>
            <a:off x="344975" y="1124725"/>
            <a:ext cx="3748200" cy="76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dirty="0">
                <a:latin typeface="Lato"/>
                <a:ea typeface="Lato"/>
                <a:cs typeface="Lato"/>
                <a:sym typeface="Lato"/>
              </a:rPr>
              <a:t>Using tools in the </a:t>
            </a:r>
            <a:r>
              <a:rPr lang="en" sz="1700" b="1" dirty="0" err="1">
                <a:latin typeface="Lato"/>
                <a:ea typeface="Lato"/>
                <a:cs typeface="Lato"/>
                <a:sym typeface="Lato"/>
              </a:rPr>
              <a:t>ENMeval</a:t>
            </a:r>
            <a:r>
              <a:rPr lang="en" sz="1700" b="1" dirty="0">
                <a:latin typeface="Lato"/>
                <a:ea typeface="Lato"/>
                <a:cs typeface="Lato"/>
                <a:sym typeface="Lato"/>
              </a:rPr>
              <a:t> package</a:t>
            </a:r>
            <a:endParaRPr sz="1700" b="1" dirty="0">
              <a:latin typeface="Lato"/>
              <a:ea typeface="Lato"/>
              <a:cs typeface="Lato"/>
              <a:sym typeface="Lato"/>
            </a:endParaRPr>
          </a:p>
        </p:txBody>
      </p:sp>
      <p:pic>
        <p:nvPicPr>
          <p:cNvPr id="171" name="Google Shape;171;p21"/>
          <p:cNvPicPr preferRelativeResize="0"/>
          <p:nvPr/>
        </p:nvPicPr>
        <p:blipFill>
          <a:blip r:embed="rId3">
            <a:alphaModFix/>
          </a:blip>
          <a:stretch>
            <a:fillRect/>
          </a:stretch>
        </p:blipFill>
        <p:spPr>
          <a:xfrm>
            <a:off x="378518" y="2466400"/>
            <a:ext cx="8397982" cy="1694475"/>
          </a:xfrm>
          <a:prstGeom prst="rect">
            <a:avLst/>
          </a:prstGeom>
          <a:noFill/>
          <a:ln>
            <a:noFill/>
          </a:ln>
        </p:spPr>
      </p:pic>
      <p:sp>
        <p:nvSpPr>
          <p:cNvPr id="172" name="Google Shape;172;p21"/>
          <p:cNvSpPr/>
          <p:nvPr/>
        </p:nvSpPr>
        <p:spPr>
          <a:xfrm>
            <a:off x="204788" y="3387575"/>
            <a:ext cx="5397300" cy="6312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 name="TextBox 1">
            <a:extLst>
              <a:ext uri="{FF2B5EF4-FFF2-40B4-BE49-F238E27FC236}">
                <a16:creationId xmlns:a16="http://schemas.microsoft.com/office/drawing/2014/main" id="{9C68FE0A-4CD2-E72D-FC45-123FAD2BC35A}"/>
              </a:ext>
            </a:extLst>
          </p:cNvPr>
          <p:cNvSpPr txBox="1"/>
          <p:nvPr/>
        </p:nvSpPr>
        <p:spPr>
          <a:xfrm>
            <a:off x="515474" y="4047259"/>
            <a:ext cx="3636330" cy="369332"/>
          </a:xfrm>
          <a:prstGeom prst="rect">
            <a:avLst/>
          </a:prstGeom>
          <a:noFill/>
        </p:spPr>
        <p:txBody>
          <a:bodyPr wrap="square" rtlCol="0">
            <a:spAutoFit/>
          </a:bodyPr>
          <a:lstStyle/>
          <a:p>
            <a:r>
              <a:rPr lang="en-US" dirty="0"/>
              <a:t>filter(</a:t>
            </a:r>
            <a:r>
              <a:rPr lang="en-US" dirty="0" err="1"/>
              <a:t>cbi.val.avg</a:t>
            </a:r>
            <a:r>
              <a:rPr lang="en-US" dirty="0"/>
              <a:t> == max(</a:t>
            </a:r>
            <a:r>
              <a:rPr lang="en-US" dirty="0" err="1"/>
              <a:t>cbi.val.avg</a:t>
            </a:r>
            <a:r>
              <a:rPr 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5608-B525-B4E0-602F-5A032C9A08E9}"/>
              </a:ext>
            </a:extLst>
          </p:cNvPr>
          <p:cNvSpPr>
            <a:spLocks noGrp="1"/>
          </p:cNvSpPr>
          <p:nvPr>
            <p:ph type="title"/>
          </p:nvPr>
        </p:nvSpPr>
        <p:spPr>
          <a:xfrm>
            <a:off x="-394855" y="266006"/>
            <a:ext cx="9933709" cy="619931"/>
          </a:xfrm>
        </p:spPr>
        <p:txBody>
          <a:bodyPr/>
          <a:lstStyle/>
          <a:p>
            <a:r>
              <a:rPr lang="en-US" sz="3200" dirty="0">
                <a:latin typeface="Lato" panose="020F0502020204030203" pitchFamily="34" charset="0"/>
                <a:ea typeface="Lato" panose="020F0502020204030203" pitchFamily="34" charset="0"/>
                <a:cs typeface="Lato" panose="020F0502020204030203" pitchFamily="34" charset="0"/>
              </a:rPr>
              <a:t>How does </a:t>
            </a:r>
            <a:r>
              <a:rPr lang="en-US" sz="3200" dirty="0" err="1">
                <a:latin typeface="Lato" panose="020F0502020204030203" pitchFamily="34" charset="0"/>
                <a:ea typeface="Lato" panose="020F0502020204030203" pitchFamily="34" charset="0"/>
                <a:cs typeface="Lato" panose="020F0502020204030203" pitchFamily="34" charset="0"/>
              </a:rPr>
              <a:t>ENMevaluate</a:t>
            </a:r>
            <a:r>
              <a:rPr lang="en-US" sz="3200" dirty="0">
                <a:latin typeface="Lato" panose="020F0502020204030203" pitchFamily="34" charset="0"/>
                <a:ea typeface="Lato" panose="020F0502020204030203" pitchFamily="34" charset="0"/>
                <a:cs typeface="Lato" panose="020F0502020204030203" pitchFamily="34" charset="0"/>
              </a:rPr>
              <a:t> generate null models?</a:t>
            </a:r>
          </a:p>
        </p:txBody>
      </p:sp>
      <p:sp>
        <p:nvSpPr>
          <p:cNvPr id="4" name="Text Placeholder 3">
            <a:extLst>
              <a:ext uri="{FF2B5EF4-FFF2-40B4-BE49-F238E27FC236}">
                <a16:creationId xmlns:a16="http://schemas.microsoft.com/office/drawing/2014/main" id="{F93952AB-0938-737B-6739-364FF1F04DB7}"/>
              </a:ext>
            </a:extLst>
          </p:cNvPr>
          <p:cNvSpPr>
            <a:spLocks noGrp="1"/>
          </p:cNvSpPr>
          <p:nvPr>
            <p:ph type="body" idx="2"/>
          </p:nvPr>
        </p:nvSpPr>
        <p:spPr>
          <a:xfrm>
            <a:off x="174059" y="944126"/>
            <a:ext cx="8602441" cy="3993634"/>
          </a:xfrm>
        </p:spPr>
        <p:txBody>
          <a:bodyPr/>
          <a:lstStyle/>
          <a:p>
            <a:pPr marL="114300" indent="0">
              <a:buNone/>
            </a:pPr>
            <a:r>
              <a:rPr lang="en-US" dirty="0">
                <a:solidFill>
                  <a:schemeClr val="tx1"/>
                </a:solidFill>
              </a:rPr>
              <a:t>1 - Use the same number of presence points as the empirical model, but sample them randomly from the background</a:t>
            </a:r>
          </a:p>
          <a:p>
            <a:pPr marL="114300" indent="0">
              <a:buNone/>
            </a:pPr>
            <a:endParaRPr lang="en-US" dirty="0">
              <a:solidFill>
                <a:schemeClr val="tx1"/>
              </a:solidFill>
            </a:endParaRPr>
          </a:p>
          <a:p>
            <a:pPr marL="114300" indent="0">
              <a:buNone/>
            </a:pPr>
            <a:r>
              <a:rPr lang="en-US" dirty="0">
                <a:solidFill>
                  <a:schemeClr val="tx1"/>
                </a:solidFill>
              </a:rPr>
              <a:t>2 -  Fit models with those random points using the same algorithm and environmental predictors</a:t>
            </a:r>
          </a:p>
          <a:p>
            <a:pPr marL="114300" indent="0">
              <a:buNone/>
            </a:pPr>
            <a:endParaRPr lang="en-US" dirty="0">
              <a:solidFill>
                <a:schemeClr val="tx1"/>
              </a:solidFill>
            </a:endParaRPr>
          </a:p>
          <a:p>
            <a:pPr marL="114300" indent="0">
              <a:buNone/>
            </a:pPr>
            <a:r>
              <a:rPr lang="en-US" dirty="0">
                <a:solidFill>
                  <a:schemeClr val="tx1"/>
                </a:solidFill>
              </a:rPr>
              <a:t>3 - Evaluate performance using real withheld presence data</a:t>
            </a:r>
          </a:p>
          <a:p>
            <a:pPr marL="114300" indent="0">
              <a:buNone/>
            </a:pPr>
            <a:endParaRPr lang="en-US" dirty="0">
              <a:solidFill>
                <a:schemeClr val="tx1"/>
              </a:solidFill>
            </a:endParaRPr>
          </a:p>
          <a:p>
            <a:pPr marL="114300" indent="0">
              <a:buNone/>
            </a:pPr>
            <a:r>
              <a:rPr lang="en-US" dirty="0">
                <a:solidFill>
                  <a:schemeClr val="tx1"/>
                </a:solidFill>
              </a:rPr>
              <a:t>4 - Repeat many times to generate a </a:t>
            </a:r>
            <a:r>
              <a:rPr lang="en-US" b="1" dirty="0">
                <a:solidFill>
                  <a:schemeClr val="tx1"/>
                </a:solidFill>
              </a:rPr>
              <a:t>null distribution</a:t>
            </a:r>
            <a:r>
              <a:rPr lang="en-US" dirty="0">
                <a:solidFill>
                  <a:schemeClr val="tx1"/>
                </a:solidFill>
              </a:rPr>
              <a:t> of performance metrics</a:t>
            </a:r>
          </a:p>
          <a:p>
            <a:pPr marL="114300" indent="0">
              <a:buNone/>
            </a:pPr>
            <a:endParaRPr lang="en-US" dirty="0">
              <a:solidFill>
                <a:schemeClr val="tx1"/>
              </a:solidFill>
            </a:endParaRPr>
          </a:p>
          <a:p>
            <a:pPr marL="114300" indent="0">
              <a:buNone/>
            </a:pPr>
            <a:r>
              <a:rPr lang="en-US" dirty="0">
                <a:solidFill>
                  <a:schemeClr val="tx1"/>
                </a:solidFill>
              </a:rPr>
              <a:t>5 - Compare the </a:t>
            </a:r>
            <a:r>
              <a:rPr lang="en-US" b="1" dirty="0">
                <a:solidFill>
                  <a:schemeClr val="tx1"/>
                </a:solidFill>
              </a:rPr>
              <a:t>empirical model’s AUC, omission rate, and CBI </a:t>
            </a:r>
            <a:r>
              <a:rPr lang="en-US" dirty="0">
                <a:solidFill>
                  <a:schemeClr val="tx1"/>
                </a:solidFill>
              </a:rPr>
              <a:t>to the null distribution to assess significance</a:t>
            </a:r>
          </a:p>
        </p:txBody>
      </p:sp>
    </p:spTree>
    <p:extLst>
      <p:ext uri="{BB962C8B-B14F-4D97-AF65-F5344CB8AC3E}">
        <p14:creationId xmlns:p14="http://schemas.microsoft.com/office/powerpoint/2010/main" val="3705773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22"/>
          <p:cNvPicPr preferRelativeResize="0"/>
          <p:nvPr/>
        </p:nvPicPr>
        <p:blipFill>
          <a:blip r:embed="rId3">
            <a:alphaModFix/>
          </a:blip>
          <a:stretch>
            <a:fillRect/>
          </a:stretch>
        </p:blipFill>
        <p:spPr>
          <a:xfrm>
            <a:off x="907125" y="3406513"/>
            <a:ext cx="4702855" cy="1158825"/>
          </a:xfrm>
          <a:prstGeom prst="rect">
            <a:avLst/>
          </a:prstGeom>
          <a:noFill/>
          <a:ln>
            <a:noFill/>
          </a:ln>
        </p:spPr>
      </p:pic>
      <p:sp>
        <p:nvSpPr>
          <p:cNvPr id="178" name="Google Shape;178;p22"/>
          <p:cNvSpPr txBox="1">
            <a:spLocks noGrp="1"/>
          </p:cNvSpPr>
          <p:nvPr>
            <p:ph type="title"/>
          </p:nvPr>
        </p:nvSpPr>
        <p:spPr>
          <a:xfrm>
            <a:off x="-69533" y="257118"/>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dirty="0"/>
              <a:t>Sample code</a:t>
            </a:r>
            <a:endParaRPr sz="4500" dirty="0"/>
          </a:p>
        </p:txBody>
      </p:sp>
      <p:sp>
        <p:nvSpPr>
          <p:cNvPr id="179" name="Google Shape;179;p22"/>
          <p:cNvSpPr txBox="1">
            <a:spLocks noGrp="1"/>
          </p:cNvSpPr>
          <p:nvPr>
            <p:ph type="body" idx="2"/>
          </p:nvPr>
        </p:nvSpPr>
        <p:spPr>
          <a:xfrm>
            <a:off x="4939500" y="656275"/>
            <a:ext cx="3837000" cy="12009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sz="1900" b="1" dirty="0">
                <a:solidFill>
                  <a:schemeClr val="tx1"/>
                </a:solidFill>
              </a:rPr>
              <a:t>Generate null models using  parameters from optimal model</a:t>
            </a:r>
            <a:endParaRPr sz="1900" b="1" dirty="0">
              <a:solidFill>
                <a:schemeClr val="tx1"/>
              </a:solidFill>
            </a:endParaRPr>
          </a:p>
        </p:txBody>
      </p:sp>
      <p:sp>
        <p:nvSpPr>
          <p:cNvPr id="180" name="Google Shape;180;p22"/>
          <p:cNvSpPr/>
          <p:nvPr/>
        </p:nvSpPr>
        <p:spPr>
          <a:xfrm>
            <a:off x="2146000" y="3917825"/>
            <a:ext cx="2225100" cy="3225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1" name="Google Shape;181;p22"/>
          <p:cNvSpPr txBox="1"/>
          <p:nvPr/>
        </p:nvSpPr>
        <p:spPr>
          <a:xfrm>
            <a:off x="344975" y="1124725"/>
            <a:ext cx="3748200" cy="76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dirty="0">
                <a:latin typeface="Lato"/>
                <a:ea typeface="Lato"/>
                <a:cs typeface="Lato"/>
                <a:sym typeface="Lato"/>
              </a:rPr>
              <a:t>Using tools in the </a:t>
            </a:r>
            <a:r>
              <a:rPr lang="en" sz="1700" b="1" dirty="0" err="1">
                <a:latin typeface="Lato"/>
                <a:ea typeface="Lato"/>
                <a:cs typeface="Lato"/>
                <a:sym typeface="Lato"/>
              </a:rPr>
              <a:t>ENMeval</a:t>
            </a:r>
            <a:r>
              <a:rPr lang="en" sz="1700" b="1" dirty="0">
                <a:latin typeface="Lato"/>
                <a:ea typeface="Lato"/>
                <a:cs typeface="Lato"/>
                <a:sym typeface="Lato"/>
              </a:rPr>
              <a:t> package</a:t>
            </a:r>
            <a:endParaRPr sz="1700" b="1" dirty="0">
              <a:latin typeface="Lato"/>
              <a:ea typeface="Lato"/>
              <a:cs typeface="Lato"/>
              <a:sym typeface="Lato"/>
            </a:endParaRPr>
          </a:p>
        </p:txBody>
      </p:sp>
      <p:pic>
        <p:nvPicPr>
          <p:cNvPr id="182" name="Google Shape;182;p22"/>
          <p:cNvPicPr preferRelativeResize="0"/>
          <p:nvPr/>
        </p:nvPicPr>
        <p:blipFill>
          <a:blip r:embed="rId4">
            <a:alphaModFix/>
          </a:blip>
          <a:stretch>
            <a:fillRect/>
          </a:stretch>
        </p:blipFill>
        <p:spPr>
          <a:xfrm>
            <a:off x="907125" y="1857175"/>
            <a:ext cx="5529249" cy="1158825"/>
          </a:xfrm>
          <a:prstGeom prst="rect">
            <a:avLst/>
          </a:prstGeom>
          <a:noFill/>
          <a:ln>
            <a:noFill/>
          </a:ln>
        </p:spPr>
      </p:pic>
      <p:sp>
        <p:nvSpPr>
          <p:cNvPr id="183" name="Google Shape;183;p22"/>
          <p:cNvSpPr txBox="1"/>
          <p:nvPr/>
        </p:nvSpPr>
        <p:spPr>
          <a:xfrm>
            <a:off x="807225" y="4532900"/>
            <a:ext cx="579600" cy="3225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Lato"/>
              <a:ea typeface="Lato"/>
              <a:cs typeface="Lato"/>
              <a:sym typeface="Lato"/>
            </a:endParaRPr>
          </a:p>
        </p:txBody>
      </p:sp>
      <p:cxnSp>
        <p:nvCxnSpPr>
          <p:cNvPr id="184" name="Google Shape;184;p22"/>
          <p:cNvCxnSpPr/>
          <p:nvPr/>
        </p:nvCxnSpPr>
        <p:spPr>
          <a:xfrm>
            <a:off x="237825" y="2794250"/>
            <a:ext cx="569400" cy="0"/>
          </a:xfrm>
          <a:prstGeom prst="straightConnector1">
            <a:avLst/>
          </a:prstGeom>
          <a:noFill/>
          <a:ln w="28575" cap="flat" cmpd="sng">
            <a:solidFill>
              <a:srgbClr val="DF000F"/>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8"/>
        <p:cNvGrpSpPr/>
        <p:nvPr/>
      </p:nvGrpSpPr>
      <p:grpSpPr>
        <a:xfrm>
          <a:off x="0" y="0"/>
          <a:ext cx="0" cy="0"/>
          <a:chOff x="0" y="0"/>
          <a:chExt cx="0" cy="0"/>
        </a:xfrm>
      </p:grpSpPr>
      <p:sp>
        <p:nvSpPr>
          <p:cNvPr id="190" name="Google Shape;190;p2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Output:</a:t>
            </a:r>
            <a:endParaRPr dirty="0"/>
          </a:p>
        </p:txBody>
      </p:sp>
      <p:pic>
        <p:nvPicPr>
          <p:cNvPr id="3" name="Picture 2">
            <a:extLst>
              <a:ext uri="{FF2B5EF4-FFF2-40B4-BE49-F238E27FC236}">
                <a16:creationId xmlns:a16="http://schemas.microsoft.com/office/drawing/2014/main" id="{E1D4584F-BE4F-D948-CF66-4C9386961415}"/>
              </a:ext>
            </a:extLst>
          </p:cNvPr>
          <p:cNvPicPr>
            <a:picLocks noChangeAspect="1"/>
          </p:cNvPicPr>
          <p:nvPr/>
        </p:nvPicPr>
        <p:blipFill>
          <a:blip r:embed="rId3"/>
          <a:stretch>
            <a:fillRect/>
          </a:stretch>
        </p:blipFill>
        <p:spPr>
          <a:xfrm>
            <a:off x="4000500" y="0"/>
            <a:ext cx="5143500" cy="5143500"/>
          </a:xfrm>
          <a:prstGeom prst="rect">
            <a:avLst/>
          </a:prstGeom>
        </p:spPr>
      </p:pic>
      <p:sp>
        <p:nvSpPr>
          <p:cNvPr id="26" name="Google Shape;198;p23">
            <a:extLst>
              <a:ext uri="{FF2B5EF4-FFF2-40B4-BE49-F238E27FC236}">
                <a16:creationId xmlns:a16="http://schemas.microsoft.com/office/drawing/2014/main" id="{7262D240-B8A8-D419-D39F-B497469104DE}"/>
              </a:ext>
            </a:extLst>
          </p:cNvPr>
          <p:cNvSpPr txBox="1"/>
          <p:nvPr/>
        </p:nvSpPr>
        <p:spPr>
          <a:xfrm>
            <a:off x="5118662" y="180230"/>
            <a:ext cx="17490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Omission rate</a:t>
            </a:r>
            <a:endParaRPr sz="1800" dirty="0">
              <a:solidFill>
                <a:schemeClr val="dk2"/>
              </a:solidFill>
              <a:latin typeface="Lato"/>
              <a:ea typeface="Lato"/>
              <a:cs typeface="Lato"/>
              <a:sym typeface="Lato"/>
            </a:endParaRPr>
          </a:p>
        </p:txBody>
      </p:sp>
      <p:sp>
        <p:nvSpPr>
          <p:cNvPr id="28" name="Google Shape;199;p23">
            <a:extLst>
              <a:ext uri="{FF2B5EF4-FFF2-40B4-BE49-F238E27FC236}">
                <a16:creationId xmlns:a16="http://schemas.microsoft.com/office/drawing/2014/main" id="{A786E8E0-EABC-9287-1F69-05E77E3A4182}"/>
              </a:ext>
            </a:extLst>
          </p:cNvPr>
          <p:cNvSpPr txBox="1"/>
          <p:nvPr/>
        </p:nvSpPr>
        <p:spPr>
          <a:xfrm>
            <a:off x="4782638" y="1593324"/>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AUC</a:t>
            </a:r>
            <a:endParaRPr sz="1800" dirty="0">
              <a:solidFill>
                <a:schemeClr val="dk2"/>
              </a:solidFill>
              <a:latin typeface="Lato"/>
              <a:ea typeface="Lato"/>
              <a:cs typeface="Lato"/>
              <a:sym typeface="Lato"/>
            </a:endParaRPr>
          </a:p>
        </p:txBody>
      </p:sp>
      <p:sp>
        <p:nvSpPr>
          <p:cNvPr id="30" name="Google Shape;199;p23">
            <a:extLst>
              <a:ext uri="{FF2B5EF4-FFF2-40B4-BE49-F238E27FC236}">
                <a16:creationId xmlns:a16="http://schemas.microsoft.com/office/drawing/2014/main" id="{6B77849A-9AEA-66AC-536E-D3FE142F5C5A}"/>
              </a:ext>
            </a:extLst>
          </p:cNvPr>
          <p:cNvSpPr txBox="1"/>
          <p:nvPr/>
        </p:nvSpPr>
        <p:spPr>
          <a:xfrm>
            <a:off x="4823697" y="3126501"/>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CBI</a:t>
            </a:r>
            <a:endParaRPr sz="1800" dirty="0">
              <a:solidFill>
                <a:schemeClr val="dk2"/>
              </a:solidFill>
              <a:latin typeface="Lato"/>
              <a:ea typeface="Lato"/>
              <a:cs typeface="Lato"/>
              <a:sym typeface="Lato"/>
            </a:endParaRPr>
          </a:p>
        </p:txBody>
      </p:sp>
      <p:sp>
        <p:nvSpPr>
          <p:cNvPr id="32" name="Google Shape;191;p23">
            <a:extLst>
              <a:ext uri="{FF2B5EF4-FFF2-40B4-BE49-F238E27FC236}">
                <a16:creationId xmlns:a16="http://schemas.microsoft.com/office/drawing/2014/main" id="{BED4E2E8-F07E-4A16-1927-DDE0D93AD610}"/>
              </a:ext>
            </a:extLst>
          </p:cNvPr>
          <p:cNvSpPr txBox="1"/>
          <p:nvPr/>
        </p:nvSpPr>
        <p:spPr>
          <a:xfrm>
            <a:off x="312800" y="1347625"/>
            <a:ext cx="2949600" cy="31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dirty="0">
                <a:latin typeface="Lato"/>
                <a:ea typeface="Lato"/>
                <a:cs typeface="Lato"/>
                <a:sym typeface="Lato"/>
              </a:rPr>
              <a:t>Plot shows the median  AUC value, OR, and CBI for the empirical model (red) against the null distribution Quantiles (blue)</a:t>
            </a:r>
            <a:endParaRPr sz="2100" dirty="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586E6108-4667-D8A7-613B-70C3B2EC4137}"/>
            </a:ext>
          </a:extLst>
        </p:cNvPr>
        <p:cNvGrpSpPr/>
        <p:nvPr/>
      </p:nvGrpSpPr>
      <p:grpSpPr>
        <a:xfrm>
          <a:off x="0" y="0"/>
          <a:ext cx="0" cy="0"/>
          <a:chOff x="0" y="0"/>
          <a:chExt cx="0" cy="0"/>
        </a:xfrm>
      </p:grpSpPr>
      <p:sp>
        <p:nvSpPr>
          <p:cNvPr id="190" name="Google Shape;190;p23">
            <a:extLst>
              <a:ext uri="{FF2B5EF4-FFF2-40B4-BE49-F238E27FC236}">
                <a16:creationId xmlns:a16="http://schemas.microsoft.com/office/drawing/2014/main" id="{C6CEA124-424D-4A1F-50E6-C2CDFF59C587}"/>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Output:</a:t>
            </a:r>
            <a:endParaRPr dirty="0"/>
          </a:p>
        </p:txBody>
      </p:sp>
      <p:sp>
        <p:nvSpPr>
          <p:cNvPr id="191" name="Google Shape;191;p23">
            <a:extLst>
              <a:ext uri="{FF2B5EF4-FFF2-40B4-BE49-F238E27FC236}">
                <a16:creationId xmlns:a16="http://schemas.microsoft.com/office/drawing/2014/main" id="{1A1B5764-CAC7-DCB3-1B81-297FB46F71E6}"/>
              </a:ext>
            </a:extLst>
          </p:cNvPr>
          <p:cNvSpPr txBox="1"/>
          <p:nvPr/>
        </p:nvSpPr>
        <p:spPr>
          <a:xfrm>
            <a:off x="312800" y="1347625"/>
            <a:ext cx="2949600" cy="31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dirty="0">
                <a:latin typeface="Lato"/>
                <a:ea typeface="Lato"/>
                <a:cs typeface="Lato"/>
                <a:sym typeface="Lato"/>
              </a:rPr>
              <a:t>Plot shows the median  AUC value, OR, and CBI for the empirical model (red) against the null distribution Quantiles (blue)</a:t>
            </a:r>
            <a:endParaRPr sz="2100" dirty="0">
              <a:latin typeface="Lato"/>
              <a:ea typeface="Lato"/>
              <a:cs typeface="Lato"/>
              <a:sym typeface="Lato"/>
            </a:endParaRPr>
          </a:p>
        </p:txBody>
      </p:sp>
      <p:pic>
        <p:nvPicPr>
          <p:cNvPr id="3" name="Picture 2">
            <a:extLst>
              <a:ext uri="{FF2B5EF4-FFF2-40B4-BE49-F238E27FC236}">
                <a16:creationId xmlns:a16="http://schemas.microsoft.com/office/drawing/2014/main" id="{41174EB5-7051-2970-7BE3-F303740A0B5E}"/>
              </a:ext>
            </a:extLst>
          </p:cNvPr>
          <p:cNvPicPr>
            <a:picLocks noChangeAspect="1"/>
          </p:cNvPicPr>
          <p:nvPr/>
        </p:nvPicPr>
        <p:blipFill>
          <a:blip r:embed="rId3"/>
          <a:stretch>
            <a:fillRect/>
          </a:stretch>
        </p:blipFill>
        <p:spPr>
          <a:xfrm>
            <a:off x="4000500" y="0"/>
            <a:ext cx="5143500" cy="5143500"/>
          </a:xfrm>
          <a:prstGeom prst="rect">
            <a:avLst/>
          </a:prstGeom>
        </p:spPr>
      </p:pic>
      <p:sp>
        <p:nvSpPr>
          <p:cNvPr id="5" name="Google Shape;193;p23">
            <a:extLst>
              <a:ext uri="{FF2B5EF4-FFF2-40B4-BE49-F238E27FC236}">
                <a16:creationId xmlns:a16="http://schemas.microsoft.com/office/drawing/2014/main" id="{0F093584-EA8C-102B-3B03-FAEEA94120B6}"/>
              </a:ext>
            </a:extLst>
          </p:cNvPr>
          <p:cNvSpPr txBox="1"/>
          <p:nvPr/>
        </p:nvSpPr>
        <p:spPr>
          <a:xfrm>
            <a:off x="6083837" y="522080"/>
            <a:ext cx="1344000" cy="4977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0000FF"/>
                </a:solidFill>
                <a:latin typeface="Lato"/>
                <a:ea typeface="Lato"/>
                <a:cs typeface="Lato"/>
                <a:sym typeface="Lato"/>
              </a:rPr>
              <a:t>Null Model average</a:t>
            </a:r>
            <a:endParaRPr sz="1800" dirty="0">
              <a:solidFill>
                <a:srgbClr val="0000FF"/>
              </a:solidFill>
              <a:latin typeface="Lato"/>
              <a:ea typeface="Lato"/>
              <a:cs typeface="Lato"/>
              <a:sym typeface="Lato"/>
            </a:endParaRPr>
          </a:p>
        </p:txBody>
      </p:sp>
      <p:cxnSp>
        <p:nvCxnSpPr>
          <p:cNvPr id="6" name="Google Shape;197;p23">
            <a:extLst>
              <a:ext uri="{FF2B5EF4-FFF2-40B4-BE49-F238E27FC236}">
                <a16:creationId xmlns:a16="http://schemas.microsoft.com/office/drawing/2014/main" id="{F0675866-892E-70F0-2AE6-0BC98C36A0F9}"/>
              </a:ext>
            </a:extLst>
          </p:cNvPr>
          <p:cNvCxnSpPr>
            <a:cxnSpLocks/>
          </p:cNvCxnSpPr>
          <p:nvPr/>
        </p:nvCxnSpPr>
        <p:spPr>
          <a:xfrm flipH="1">
            <a:off x="4696287" y="780530"/>
            <a:ext cx="1387550" cy="0"/>
          </a:xfrm>
          <a:prstGeom prst="straightConnector1">
            <a:avLst/>
          </a:prstGeom>
          <a:noFill/>
          <a:ln w="28575" cap="flat" cmpd="sng">
            <a:solidFill>
              <a:schemeClr val="accent3"/>
            </a:solidFill>
            <a:prstDash val="solid"/>
            <a:round/>
            <a:headEnd type="none" w="med" len="med"/>
            <a:tailEnd type="triangle" w="med" len="med"/>
          </a:ln>
        </p:spPr>
      </p:cxnSp>
      <p:cxnSp>
        <p:nvCxnSpPr>
          <p:cNvPr id="8" name="Google Shape;194;p23">
            <a:extLst>
              <a:ext uri="{FF2B5EF4-FFF2-40B4-BE49-F238E27FC236}">
                <a16:creationId xmlns:a16="http://schemas.microsoft.com/office/drawing/2014/main" id="{7D478BF2-EFAC-2D8C-A3EC-A1D2B33DAB2A}"/>
              </a:ext>
            </a:extLst>
          </p:cNvPr>
          <p:cNvCxnSpPr/>
          <p:nvPr/>
        </p:nvCxnSpPr>
        <p:spPr>
          <a:xfrm>
            <a:off x="6889637" y="1153660"/>
            <a:ext cx="538200" cy="776400"/>
          </a:xfrm>
          <a:prstGeom prst="straightConnector1">
            <a:avLst/>
          </a:prstGeom>
          <a:noFill/>
          <a:ln w="28575" cap="flat" cmpd="sng">
            <a:solidFill>
              <a:schemeClr val="accent3"/>
            </a:solidFill>
            <a:prstDash val="solid"/>
            <a:round/>
            <a:headEnd type="none" w="med" len="med"/>
            <a:tailEnd type="triangle" w="med" len="med"/>
          </a:ln>
        </p:spPr>
      </p:cxnSp>
      <p:sp>
        <p:nvSpPr>
          <p:cNvPr id="10" name="Google Shape;192;p23">
            <a:extLst>
              <a:ext uri="{FF2B5EF4-FFF2-40B4-BE49-F238E27FC236}">
                <a16:creationId xmlns:a16="http://schemas.microsoft.com/office/drawing/2014/main" id="{768EE99A-FC89-1406-4508-8C1DC7A266F3}"/>
              </a:ext>
            </a:extLst>
          </p:cNvPr>
          <p:cNvSpPr txBox="1"/>
          <p:nvPr/>
        </p:nvSpPr>
        <p:spPr>
          <a:xfrm>
            <a:off x="4935137" y="2229900"/>
            <a:ext cx="1148700" cy="6837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DF000F"/>
                </a:solidFill>
                <a:latin typeface="Lato"/>
                <a:ea typeface="Lato"/>
                <a:cs typeface="Lato"/>
                <a:sym typeface="Lato"/>
              </a:rPr>
              <a:t>Empirical Model</a:t>
            </a:r>
            <a:endParaRPr sz="1800" dirty="0">
              <a:solidFill>
                <a:srgbClr val="DF000F"/>
              </a:solidFill>
              <a:latin typeface="Lato"/>
              <a:ea typeface="Lato"/>
              <a:cs typeface="Lato"/>
              <a:sym typeface="Lato"/>
            </a:endParaRPr>
          </a:p>
        </p:txBody>
      </p:sp>
      <p:cxnSp>
        <p:nvCxnSpPr>
          <p:cNvPr id="11" name="Google Shape;195;p23">
            <a:extLst>
              <a:ext uri="{FF2B5EF4-FFF2-40B4-BE49-F238E27FC236}">
                <a16:creationId xmlns:a16="http://schemas.microsoft.com/office/drawing/2014/main" id="{75248DBA-C8B0-3333-8FA4-98EAE55778A1}"/>
              </a:ext>
            </a:extLst>
          </p:cNvPr>
          <p:cNvCxnSpPr>
            <a:cxnSpLocks/>
          </p:cNvCxnSpPr>
          <p:nvPr/>
        </p:nvCxnSpPr>
        <p:spPr>
          <a:xfrm flipH="1" flipV="1">
            <a:off x="4696287" y="2388093"/>
            <a:ext cx="238850" cy="183657"/>
          </a:xfrm>
          <a:prstGeom prst="straightConnector1">
            <a:avLst/>
          </a:prstGeom>
          <a:noFill/>
          <a:ln w="28575" cap="flat" cmpd="sng">
            <a:solidFill>
              <a:srgbClr val="DF000F"/>
            </a:solidFill>
            <a:prstDash val="solid"/>
            <a:round/>
            <a:headEnd type="none" w="med" len="med"/>
            <a:tailEnd type="triangle" w="med" len="med"/>
          </a:ln>
        </p:spPr>
      </p:cxnSp>
      <p:cxnSp>
        <p:nvCxnSpPr>
          <p:cNvPr id="14" name="Google Shape;195;p23">
            <a:extLst>
              <a:ext uri="{FF2B5EF4-FFF2-40B4-BE49-F238E27FC236}">
                <a16:creationId xmlns:a16="http://schemas.microsoft.com/office/drawing/2014/main" id="{0E8CC8EB-957E-6D4D-48D3-64E3A4001950}"/>
              </a:ext>
            </a:extLst>
          </p:cNvPr>
          <p:cNvCxnSpPr>
            <a:cxnSpLocks/>
            <a:stCxn id="10" idx="0"/>
          </p:cNvCxnSpPr>
          <p:nvPr/>
        </p:nvCxnSpPr>
        <p:spPr>
          <a:xfrm flipV="1">
            <a:off x="5509487" y="559477"/>
            <a:ext cx="3208385" cy="1670423"/>
          </a:xfrm>
          <a:prstGeom prst="straightConnector1">
            <a:avLst/>
          </a:prstGeom>
          <a:noFill/>
          <a:ln w="28575" cap="flat" cmpd="sng">
            <a:solidFill>
              <a:srgbClr val="DF000F"/>
            </a:solidFill>
            <a:prstDash val="solid"/>
            <a:round/>
            <a:headEnd type="none" w="med" len="med"/>
            <a:tailEnd type="triangle" w="med" len="med"/>
          </a:ln>
        </p:spPr>
      </p:cxnSp>
      <p:cxnSp>
        <p:nvCxnSpPr>
          <p:cNvPr id="17" name="Google Shape;195;p23">
            <a:extLst>
              <a:ext uri="{FF2B5EF4-FFF2-40B4-BE49-F238E27FC236}">
                <a16:creationId xmlns:a16="http://schemas.microsoft.com/office/drawing/2014/main" id="{5223429C-6B3E-3148-E0B8-FD5E2F535BFB}"/>
              </a:ext>
            </a:extLst>
          </p:cNvPr>
          <p:cNvCxnSpPr>
            <a:cxnSpLocks/>
            <a:stCxn id="10" idx="3"/>
          </p:cNvCxnSpPr>
          <p:nvPr/>
        </p:nvCxnSpPr>
        <p:spPr>
          <a:xfrm>
            <a:off x="6083837" y="2571750"/>
            <a:ext cx="1231363" cy="1068095"/>
          </a:xfrm>
          <a:prstGeom prst="straightConnector1">
            <a:avLst/>
          </a:prstGeom>
          <a:noFill/>
          <a:ln w="28575" cap="flat" cmpd="sng">
            <a:solidFill>
              <a:srgbClr val="DF000F"/>
            </a:solidFill>
            <a:prstDash val="solid"/>
            <a:round/>
            <a:headEnd type="none" w="med" len="med"/>
            <a:tailEnd type="triangle" w="med" len="med"/>
          </a:ln>
        </p:spPr>
      </p:cxnSp>
      <p:cxnSp>
        <p:nvCxnSpPr>
          <p:cNvPr id="21" name="Google Shape;197;p23">
            <a:extLst>
              <a:ext uri="{FF2B5EF4-FFF2-40B4-BE49-F238E27FC236}">
                <a16:creationId xmlns:a16="http://schemas.microsoft.com/office/drawing/2014/main" id="{3FFF70F4-60D3-726F-3E26-EA1D29BC3467}"/>
              </a:ext>
            </a:extLst>
          </p:cNvPr>
          <p:cNvCxnSpPr>
            <a:cxnSpLocks/>
          </p:cNvCxnSpPr>
          <p:nvPr/>
        </p:nvCxnSpPr>
        <p:spPr>
          <a:xfrm>
            <a:off x="6676998" y="1136903"/>
            <a:ext cx="915826" cy="2156713"/>
          </a:xfrm>
          <a:prstGeom prst="straightConnector1">
            <a:avLst/>
          </a:prstGeom>
          <a:noFill/>
          <a:ln w="28575" cap="flat" cmpd="sng">
            <a:solidFill>
              <a:schemeClr val="accent3"/>
            </a:solidFill>
            <a:prstDash val="solid"/>
            <a:round/>
            <a:headEnd type="none" w="med" len="med"/>
            <a:tailEnd type="triangle" w="med" len="med"/>
          </a:ln>
        </p:spPr>
      </p:cxnSp>
      <p:sp>
        <p:nvSpPr>
          <p:cNvPr id="26" name="Google Shape;198;p23">
            <a:extLst>
              <a:ext uri="{FF2B5EF4-FFF2-40B4-BE49-F238E27FC236}">
                <a16:creationId xmlns:a16="http://schemas.microsoft.com/office/drawing/2014/main" id="{7209596B-9CAE-2061-7C9D-E4023AB636BF}"/>
              </a:ext>
            </a:extLst>
          </p:cNvPr>
          <p:cNvSpPr txBox="1"/>
          <p:nvPr/>
        </p:nvSpPr>
        <p:spPr>
          <a:xfrm>
            <a:off x="5118662" y="180230"/>
            <a:ext cx="17490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Omission rate</a:t>
            </a:r>
            <a:endParaRPr sz="1800" dirty="0">
              <a:solidFill>
                <a:schemeClr val="dk2"/>
              </a:solidFill>
              <a:latin typeface="Lato"/>
              <a:ea typeface="Lato"/>
              <a:cs typeface="Lato"/>
              <a:sym typeface="Lato"/>
            </a:endParaRPr>
          </a:p>
        </p:txBody>
      </p:sp>
      <p:sp>
        <p:nvSpPr>
          <p:cNvPr id="28" name="Google Shape;199;p23">
            <a:extLst>
              <a:ext uri="{FF2B5EF4-FFF2-40B4-BE49-F238E27FC236}">
                <a16:creationId xmlns:a16="http://schemas.microsoft.com/office/drawing/2014/main" id="{429CC03F-4AD7-4C85-59B0-49F7A4A5F4BB}"/>
              </a:ext>
            </a:extLst>
          </p:cNvPr>
          <p:cNvSpPr txBox="1"/>
          <p:nvPr/>
        </p:nvSpPr>
        <p:spPr>
          <a:xfrm>
            <a:off x="4782638" y="1593324"/>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AUC</a:t>
            </a:r>
            <a:endParaRPr sz="1800" dirty="0">
              <a:solidFill>
                <a:schemeClr val="dk2"/>
              </a:solidFill>
              <a:latin typeface="Lato"/>
              <a:ea typeface="Lato"/>
              <a:cs typeface="Lato"/>
              <a:sym typeface="Lato"/>
            </a:endParaRPr>
          </a:p>
        </p:txBody>
      </p:sp>
      <p:sp>
        <p:nvSpPr>
          <p:cNvPr id="30" name="Google Shape;199;p23">
            <a:extLst>
              <a:ext uri="{FF2B5EF4-FFF2-40B4-BE49-F238E27FC236}">
                <a16:creationId xmlns:a16="http://schemas.microsoft.com/office/drawing/2014/main" id="{AB43F05F-0A29-DE58-6B7F-89A04611EE70}"/>
              </a:ext>
            </a:extLst>
          </p:cNvPr>
          <p:cNvSpPr txBox="1"/>
          <p:nvPr/>
        </p:nvSpPr>
        <p:spPr>
          <a:xfrm>
            <a:off x="4823697" y="3126501"/>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CBI</a:t>
            </a:r>
            <a:endParaRPr sz="1800" dirty="0">
              <a:solidFill>
                <a:schemeClr val="dk2"/>
              </a:solidFill>
              <a:latin typeface="Lato"/>
              <a:ea typeface="Lato"/>
              <a:cs typeface="Lato"/>
              <a:sym typeface="Lato"/>
            </a:endParaRPr>
          </a:p>
        </p:txBody>
      </p:sp>
      <p:sp>
        <p:nvSpPr>
          <p:cNvPr id="4" name="TextBox 3">
            <a:extLst>
              <a:ext uri="{FF2B5EF4-FFF2-40B4-BE49-F238E27FC236}">
                <a16:creationId xmlns:a16="http://schemas.microsoft.com/office/drawing/2014/main" id="{AC6399D1-A2B5-7E81-FD3F-FA22238FDCAE}"/>
              </a:ext>
            </a:extLst>
          </p:cNvPr>
          <p:cNvSpPr txBox="1"/>
          <p:nvPr/>
        </p:nvSpPr>
        <p:spPr>
          <a:xfrm>
            <a:off x="349148" y="3293616"/>
            <a:ext cx="2959304" cy="1754326"/>
          </a:xfrm>
          <a:prstGeom prst="rect">
            <a:avLst/>
          </a:prstGeom>
          <a:noFill/>
        </p:spPr>
        <p:txBody>
          <a:bodyPr wrap="square" rtlCol="0">
            <a:spAutoFit/>
          </a:bodyPr>
          <a:lstStyle/>
          <a:p>
            <a:r>
              <a:rPr lang="en-US" dirty="0"/>
              <a:t>Meaning: If its </a:t>
            </a:r>
            <a:r>
              <a:rPr lang="en-US" b="1" dirty="0"/>
              <a:t>outside</a:t>
            </a:r>
            <a:r>
              <a:rPr lang="en-US" dirty="0"/>
              <a:t> the Null Distribution, then it differs </a:t>
            </a:r>
            <a:r>
              <a:rPr lang="en-US" b="1" dirty="0"/>
              <a:t>significantly from random</a:t>
            </a:r>
          </a:p>
          <a:p>
            <a:endParaRPr lang="en-US" dirty="0"/>
          </a:p>
          <a:p>
            <a:endParaRPr lang="en-US" dirty="0"/>
          </a:p>
        </p:txBody>
      </p:sp>
    </p:spTree>
    <p:extLst>
      <p:ext uri="{BB962C8B-B14F-4D97-AF65-F5344CB8AC3E}">
        <p14:creationId xmlns:p14="http://schemas.microsoft.com/office/powerpoint/2010/main" val="1158659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681311EC-0C3A-E692-8286-B5F2C11D78B8}"/>
            </a:ext>
          </a:extLst>
        </p:cNvPr>
        <p:cNvGrpSpPr/>
        <p:nvPr/>
      </p:nvGrpSpPr>
      <p:grpSpPr>
        <a:xfrm>
          <a:off x="0" y="0"/>
          <a:ext cx="0" cy="0"/>
          <a:chOff x="0" y="0"/>
          <a:chExt cx="0" cy="0"/>
        </a:xfrm>
      </p:grpSpPr>
      <p:sp>
        <p:nvSpPr>
          <p:cNvPr id="190" name="Google Shape;190;p23">
            <a:extLst>
              <a:ext uri="{FF2B5EF4-FFF2-40B4-BE49-F238E27FC236}">
                <a16:creationId xmlns:a16="http://schemas.microsoft.com/office/drawing/2014/main" id="{3767226A-AE01-17C3-C8E5-24BD70FA9474}"/>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Output:</a:t>
            </a:r>
            <a:endParaRPr dirty="0"/>
          </a:p>
        </p:txBody>
      </p:sp>
      <p:sp>
        <p:nvSpPr>
          <p:cNvPr id="191" name="Google Shape;191;p23">
            <a:extLst>
              <a:ext uri="{FF2B5EF4-FFF2-40B4-BE49-F238E27FC236}">
                <a16:creationId xmlns:a16="http://schemas.microsoft.com/office/drawing/2014/main" id="{A8C50A79-928F-5CF2-FDE5-47C6927BA19C}"/>
              </a:ext>
            </a:extLst>
          </p:cNvPr>
          <p:cNvSpPr txBox="1"/>
          <p:nvPr/>
        </p:nvSpPr>
        <p:spPr>
          <a:xfrm>
            <a:off x="312800" y="1347625"/>
            <a:ext cx="2949600" cy="31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dirty="0">
                <a:latin typeface="Lato"/>
                <a:ea typeface="Lato"/>
                <a:cs typeface="Lato"/>
                <a:sym typeface="Lato"/>
              </a:rPr>
              <a:t>Plot shows the median  AUC value, OR, and CBI for the empirical model (red) against the null distribution Quantiles (blue)</a:t>
            </a:r>
            <a:endParaRPr sz="2100" dirty="0">
              <a:latin typeface="Lato"/>
              <a:ea typeface="Lato"/>
              <a:cs typeface="Lato"/>
              <a:sym typeface="Lato"/>
            </a:endParaRPr>
          </a:p>
        </p:txBody>
      </p:sp>
      <p:pic>
        <p:nvPicPr>
          <p:cNvPr id="3" name="Picture 2">
            <a:extLst>
              <a:ext uri="{FF2B5EF4-FFF2-40B4-BE49-F238E27FC236}">
                <a16:creationId xmlns:a16="http://schemas.microsoft.com/office/drawing/2014/main" id="{B4C91071-8986-6FE3-AA1E-889042F26F06}"/>
              </a:ext>
            </a:extLst>
          </p:cNvPr>
          <p:cNvPicPr>
            <a:picLocks noChangeAspect="1"/>
          </p:cNvPicPr>
          <p:nvPr/>
        </p:nvPicPr>
        <p:blipFill>
          <a:blip r:embed="rId3"/>
          <a:stretch>
            <a:fillRect/>
          </a:stretch>
        </p:blipFill>
        <p:spPr>
          <a:xfrm>
            <a:off x="4000500" y="0"/>
            <a:ext cx="5143500" cy="5143500"/>
          </a:xfrm>
          <a:prstGeom prst="rect">
            <a:avLst/>
          </a:prstGeom>
        </p:spPr>
      </p:pic>
      <p:sp>
        <p:nvSpPr>
          <p:cNvPr id="26" name="Google Shape;198;p23">
            <a:extLst>
              <a:ext uri="{FF2B5EF4-FFF2-40B4-BE49-F238E27FC236}">
                <a16:creationId xmlns:a16="http://schemas.microsoft.com/office/drawing/2014/main" id="{6881D6F2-60C0-932D-413F-D4F9ABACC01C}"/>
              </a:ext>
            </a:extLst>
          </p:cNvPr>
          <p:cNvSpPr txBox="1"/>
          <p:nvPr/>
        </p:nvSpPr>
        <p:spPr>
          <a:xfrm>
            <a:off x="5118662" y="180230"/>
            <a:ext cx="17490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Omission rate</a:t>
            </a:r>
            <a:endParaRPr sz="1800" dirty="0">
              <a:solidFill>
                <a:schemeClr val="dk2"/>
              </a:solidFill>
              <a:latin typeface="Lato"/>
              <a:ea typeface="Lato"/>
              <a:cs typeface="Lato"/>
              <a:sym typeface="Lato"/>
            </a:endParaRPr>
          </a:p>
        </p:txBody>
      </p:sp>
      <p:sp>
        <p:nvSpPr>
          <p:cNvPr id="28" name="Google Shape;199;p23">
            <a:extLst>
              <a:ext uri="{FF2B5EF4-FFF2-40B4-BE49-F238E27FC236}">
                <a16:creationId xmlns:a16="http://schemas.microsoft.com/office/drawing/2014/main" id="{B6616EB0-A708-32CA-E43B-56485F3CCC9B}"/>
              </a:ext>
            </a:extLst>
          </p:cNvPr>
          <p:cNvSpPr txBox="1"/>
          <p:nvPr/>
        </p:nvSpPr>
        <p:spPr>
          <a:xfrm>
            <a:off x="4782638" y="1593324"/>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AUC</a:t>
            </a:r>
            <a:endParaRPr sz="1800" dirty="0">
              <a:solidFill>
                <a:schemeClr val="dk2"/>
              </a:solidFill>
              <a:latin typeface="Lato"/>
              <a:ea typeface="Lato"/>
              <a:cs typeface="Lato"/>
              <a:sym typeface="Lato"/>
            </a:endParaRPr>
          </a:p>
        </p:txBody>
      </p:sp>
      <p:sp>
        <p:nvSpPr>
          <p:cNvPr id="30" name="Google Shape;199;p23">
            <a:extLst>
              <a:ext uri="{FF2B5EF4-FFF2-40B4-BE49-F238E27FC236}">
                <a16:creationId xmlns:a16="http://schemas.microsoft.com/office/drawing/2014/main" id="{3E43ED82-A6E4-822C-6AB6-6C2DA88F8F2A}"/>
              </a:ext>
            </a:extLst>
          </p:cNvPr>
          <p:cNvSpPr txBox="1"/>
          <p:nvPr/>
        </p:nvSpPr>
        <p:spPr>
          <a:xfrm>
            <a:off x="4823697" y="3126501"/>
            <a:ext cx="861900" cy="4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Lato"/>
                <a:ea typeface="Lato"/>
                <a:cs typeface="Lato"/>
                <a:sym typeface="Lato"/>
              </a:rPr>
              <a:t>CBI</a:t>
            </a:r>
            <a:endParaRPr sz="1800" dirty="0">
              <a:solidFill>
                <a:schemeClr val="dk2"/>
              </a:solidFill>
              <a:latin typeface="Lato"/>
              <a:ea typeface="Lato"/>
              <a:cs typeface="Lato"/>
              <a:sym typeface="Lato"/>
            </a:endParaRPr>
          </a:p>
        </p:txBody>
      </p:sp>
      <p:sp>
        <p:nvSpPr>
          <p:cNvPr id="4" name="TextBox 3">
            <a:extLst>
              <a:ext uri="{FF2B5EF4-FFF2-40B4-BE49-F238E27FC236}">
                <a16:creationId xmlns:a16="http://schemas.microsoft.com/office/drawing/2014/main" id="{1196228B-35A3-200D-B4B3-38657C33CBCC}"/>
              </a:ext>
            </a:extLst>
          </p:cNvPr>
          <p:cNvSpPr txBox="1"/>
          <p:nvPr/>
        </p:nvSpPr>
        <p:spPr>
          <a:xfrm>
            <a:off x="349148" y="3293616"/>
            <a:ext cx="2959304" cy="1754326"/>
          </a:xfrm>
          <a:prstGeom prst="rect">
            <a:avLst/>
          </a:prstGeom>
          <a:noFill/>
        </p:spPr>
        <p:txBody>
          <a:bodyPr wrap="square" rtlCol="0">
            <a:spAutoFit/>
          </a:bodyPr>
          <a:lstStyle/>
          <a:p>
            <a:r>
              <a:rPr lang="en-US" dirty="0"/>
              <a:t>Meaning: If its </a:t>
            </a:r>
            <a:r>
              <a:rPr lang="en-US" b="1" dirty="0"/>
              <a:t>outside</a:t>
            </a:r>
            <a:r>
              <a:rPr lang="en-US" dirty="0"/>
              <a:t> the Null Distribution, then it differs </a:t>
            </a:r>
            <a:r>
              <a:rPr lang="en-US" b="1" dirty="0"/>
              <a:t>significantly from random</a:t>
            </a:r>
          </a:p>
          <a:p>
            <a:endParaRPr lang="en-US" dirty="0"/>
          </a:p>
          <a:p>
            <a:endParaRPr lang="en-US" dirty="0"/>
          </a:p>
        </p:txBody>
      </p:sp>
    </p:spTree>
    <p:extLst>
      <p:ext uri="{BB962C8B-B14F-4D97-AF65-F5344CB8AC3E}">
        <p14:creationId xmlns:p14="http://schemas.microsoft.com/office/powerpoint/2010/main" val="3408174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102783" y="23850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500" dirty="0"/>
              <a:t>Sample code</a:t>
            </a:r>
            <a:endParaRPr sz="4500" dirty="0"/>
          </a:p>
        </p:txBody>
      </p:sp>
      <p:sp>
        <p:nvSpPr>
          <p:cNvPr id="205" name="Google Shape;205;p24"/>
          <p:cNvSpPr txBox="1">
            <a:spLocks noGrp="1"/>
          </p:cNvSpPr>
          <p:nvPr>
            <p:ph type="body" idx="2"/>
          </p:nvPr>
        </p:nvSpPr>
        <p:spPr>
          <a:xfrm>
            <a:off x="4962025" y="1717950"/>
            <a:ext cx="3837000" cy="85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900" b="1" dirty="0">
                <a:solidFill>
                  <a:schemeClr val="tx1"/>
                </a:solidFill>
              </a:rPr>
              <a:t>Generate a new suite of models with a wider range of parameters</a:t>
            </a:r>
            <a:endParaRPr sz="1900" b="1" dirty="0">
              <a:solidFill>
                <a:schemeClr val="tx1"/>
              </a:solidFill>
            </a:endParaRPr>
          </a:p>
          <a:p>
            <a:pPr marL="0" lvl="0" indent="0" algn="l" rtl="0">
              <a:spcBef>
                <a:spcPts val="1600"/>
              </a:spcBef>
              <a:spcAft>
                <a:spcPts val="1600"/>
              </a:spcAft>
              <a:buNone/>
            </a:pPr>
            <a:endParaRPr sz="1900" b="1" dirty="0"/>
          </a:p>
        </p:txBody>
      </p:sp>
      <p:sp>
        <p:nvSpPr>
          <p:cNvPr id="206" name="Google Shape;206;p24"/>
          <p:cNvSpPr txBox="1"/>
          <p:nvPr/>
        </p:nvSpPr>
        <p:spPr>
          <a:xfrm>
            <a:off x="344975" y="1124725"/>
            <a:ext cx="3748200" cy="76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700" b="1" dirty="0">
                <a:latin typeface="Lato"/>
                <a:ea typeface="Lato"/>
                <a:cs typeface="Lato"/>
                <a:sym typeface="Lato"/>
              </a:rPr>
              <a:t>Using tools in the </a:t>
            </a:r>
            <a:r>
              <a:rPr lang="en" sz="1700" b="1" dirty="0" err="1">
                <a:latin typeface="Lato"/>
                <a:ea typeface="Lato"/>
                <a:cs typeface="Lato"/>
                <a:sym typeface="Lato"/>
              </a:rPr>
              <a:t>ENMeval</a:t>
            </a:r>
            <a:r>
              <a:rPr lang="en" sz="1700" b="1" dirty="0">
                <a:latin typeface="Lato"/>
                <a:ea typeface="Lato"/>
                <a:cs typeface="Lato"/>
                <a:sym typeface="Lato"/>
              </a:rPr>
              <a:t> package</a:t>
            </a:r>
            <a:endParaRPr sz="1700" b="1" dirty="0">
              <a:latin typeface="Lato"/>
              <a:ea typeface="Lato"/>
              <a:cs typeface="Lato"/>
              <a:sym typeface="Lato"/>
            </a:endParaRPr>
          </a:p>
        </p:txBody>
      </p:sp>
      <p:pic>
        <p:nvPicPr>
          <p:cNvPr id="207" name="Google Shape;207;p24"/>
          <p:cNvPicPr preferRelativeResize="0"/>
          <p:nvPr/>
        </p:nvPicPr>
        <p:blipFill>
          <a:blip r:embed="rId3">
            <a:alphaModFix/>
          </a:blip>
          <a:stretch>
            <a:fillRect/>
          </a:stretch>
        </p:blipFill>
        <p:spPr>
          <a:xfrm>
            <a:off x="899070" y="2456725"/>
            <a:ext cx="7023565" cy="2029875"/>
          </a:xfrm>
          <a:prstGeom prst="rect">
            <a:avLst/>
          </a:prstGeom>
          <a:noFill/>
          <a:ln>
            <a:noFill/>
          </a:ln>
        </p:spPr>
      </p:pic>
      <p:sp>
        <p:nvSpPr>
          <p:cNvPr id="208" name="Google Shape;208;p24"/>
          <p:cNvSpPr/>
          <p:nvPr/>
        </p:nvSpPr>
        <p:spPr>
          <a:xfrm>
            <a:off x="2959850" y="2968562"/>
            <a:ext cx="5100900" cy="5031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36F7FDFA-6918-FF12-4CBF-B8C1646B6641}"/>
            </a:ext>
          </a:extLst>
        </p:cNvPr>
        <p:cNvGrpSpPr/>
        <p:nvPr/>
      </p:nvGrpSpPr>
      <p:grpSpPr>
        <a:xfrm>
          <a:off x="0" y="0"/>
          <a:ext cx="0" cy="0"/>
          <a:chOff x="0" y="0"/>
          <a:chExt cx="0" cy="0"/>
        </a:xfrm>
      </p:grpSpPr>
      <p:sp>
        <p:nvSpPr>
          <p:cNvPr id="214" name="Google Shape;214;p25">
            <a:extLst>
              <a:ext uri="{FF2B5EF4-FFF2-40B4-BE49-F238E27FC236}">
                <a16:creationId xmlns:a16="http://schemas.microsoft.com/office/drawing/2014/main" id="{4D544215-33BA-6B42-DCCF-49CDB5B1B38F}"/>
              </a:ext>
            </a:extLst>
          </p:cNvPr>
          <p:cNvSpPr txBox="1">
            <a:spLocks noGrp="1"/>
          </p:cNvSpPr>
          <p:nvPr>
            <p:ph type="title"/>
          </p:nvPr>
        </p:nvSpPr>
        <p:spPr>
          <a:xfrm>
            <a:off x="303300" y="411575"/>
            <a:ext cx="42603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latin typeface="Lato" panose="020F0502020204030203" pitchFamily="34" charset="0"/>
                <a:ea typeface="Lato" panose="020F0502020204030203" pitchFamily="34" charset="0"/>
                <a:cs typeface="Lato" panose="020F0502020204030203" pitchFamily="34" charset="0"/>
              </a:rPr>
              <a:t>Output:</a:t>
            </a:r>
            <a:endParaRPr dirty="0">
              <a:latin typeface="Lato" panose="020F0502020204030203" pitchFamily="34" charset="0"/>
              <a:ea typeface="Lato" panose="020F0502020204030203" pitchFamily="34" charset="0"/>
              <a:cs typeface="Lato" panose="020F0502020204030203" pitchFamily="34" charset="0"/>
            </a:endParaRPr>
          </a:p>
        </p:txBody>
      </p:sp>
      <p:sp>
        <p:nvSpPr>
          <p:cNvPr id="215" name="Google Shape;215;p25">
            <a:extLst>
              <a:ext uri="{FF2B5EF4-FFF2-40B4-BE49-F238E27FC236}">
                <a16:creationId xmlns:a16="http://schemas.microsoft.com/office/drawing/2014/main" id="{B003FB66-DA57-96F3-948F-45411D2A07EC}"/>
              </a:ext>
            </a:extLst>
          </p:cNvPr>
          <p:cNvSpPr txBox="1"/>
          <p:nvPr/>
        </p:nvSpPr>
        <p:spPr>
          <a:xfrm>
            <a:off x="344938" y="1896265"/>
            <a:ext cx="3226500" cy="31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dirty="0">
                <a:latin typeface="Lato"/>
                <a:ea typeface="Lato"/>
                <a:cs typeface="Lato"/>
                <a:sym typeface="Lato"/>
              </a:rPr>
              <a:t>New optimal model: </a:t>
            </a:r>
            <a:endParaRPr sz="1900" b="1" dirty="0">
              <a:latin typeface="Lato"/>
              <a:ea typeface="Lato"/>
              <a:cs typeface="Lato"/>
              <a:sym typeface="Lato"/>
            </a:endParaRPr>
          </a:p>
          <a:p>
            <a:pPr marL="0" lvl="0" indent="0" algn="l" rtl="0">
              <a:spcBef>
                <a:spcPts val="0"/>
              </a:spcBef>
              <a:spcAft>
                <a:spcPts val="0"/>
              </a:spcAft>
              <a:buNone/>
            </a:pPr>
            <a:r>
              <a:rPr lang="en" sz="1900" b="1" dirty="0">
                <a:latin typeface="Lato"/>
                <a:ea typeface="Lato"/>
                <a:cs typeface="Lato"/>
                <a:sym typeface="Lato"/>
              </a:rPr>
              <a:t>fc=LH, rm=1</a:t>
            </a:r>
            <a:endParaRPr sz="1900" b="1" dirty="0">
              <a:latin typeface="Lato"/>
              <a:ea typeface="Lato"/>
              <a:cs typeface="Lato"/>
              <a:sym typeface="Lato"/>
            </a:endParaRPr>
          </a:p>
          <a:p>
            <a:pPr marL="0" lvl="0" indent="0" algn="l" rtl="0">
              <a:spcBef>
                <a:spcPts val="0"/>
              </a:spcBef>
              <a:spcAft>
                <a:spcPts val="0"/>
              </a:spcAft>
              <a:buNone/>
            </a:pPr>
            <a:endParaRPr sz="1900" b="1" dirty="0">
              <a:solidFill>
                <a:schemeClr val="lt1"/>
              </a:solidFill>
              <a:latin typeface="Lato"/>
              <a:ea typeface="Lato"/>
              <a:cs typeface="Lato"/>
              <a:sym typeface="Lato"/>
            </a:endParaRPr>
          </a:p>
          <a:p>
            <a:pPr marL="0" lvl="0" indent="0" algn="l" rtl="0">
              <a:spcBef>
                <a:spcPts val="0"/>
              </a:spcBef>
              <a:spcAft>
                <a:spcPts val="0"/>
              </a:spcAft>
              <a:buNone/>
            </a:pPr>
            <a:r>
              <a:rPr lang="en" sz="1900" b="1" dirty="0">
                <a:solidFill>
                  <a:schemeClr val="lt1"/>
                </a:solidFill>
                <a:latin typeface="Lato"/>
                <a:ea typeface="Lato"/>
                <a:cs typeface="Lato"/>
                <a:sym typeface="Lato"/>
              </a:rPr>
              <a:t>Significant improvement compared to null models after incorporating a wider range of parameters</a:t>
            </a:r>
            <a:endParaRPr sz="2100" dirty="0">
              <a:solidFill>
                <a:schemeClr val="dk2"/>
              </a:solidFill>
              <a:latin typeface="Lato"/>
              <a:ea typeface="Lato"/>
              <a:cs typeface="Lato"/>
              <a:sym typeface="Lato"/>
            </a:endParaRPr>
          </a:p>
        </p:txBody>
      </p:sp>
      <p:pic>
        <p:nvPicPr>
          <p:cNvPr id="3" name="Picture 2">
            <a:extLst>
              <a:ext uri="{FF2B5EF4-FFF2-40B4-BE49-F238E27FC236}">
                <a16:creationId xmlns:a16="http://schemas.microsoft.com/office/drawing/2014/main" id="{61FCF9D0-B5F7-9283-DCB4-95D47D4E10D4}"/>
              </a:ext>
            </a:extLst>
          </p:cNvPr>
          <p:cNvPicPr>
            <a:picLocks noChangeAspect="1"/>
          </p:cNvPicPr>
          <p:nvPr/>
        </p:nvPicPr>
        <p:blipFill>
          <a:blip r:embed="rId3"/>
          <a:stretch>
            <a:fillRect/>
          </a:stretch>
        </p:blipFill>
        <p:spPr>
          <a:xfrm>
            <a:off x="3926705" y="0"/>
            <a:ext cx="5143500" cy="5143500"/>
          </a:xfrm>
          <a:prstGeom prst="rect">
            <a:avLst/>
          </a:prstGeom>
        </p:spPr>
      </p:pic>
    </p:spTree>
    <p:extLst>
      <p:ext uri="{BB962C8B-B14F-4D97-AF65-F5344CB8AC3E}">
        <p14:creationId xmlns:p14="http://schemas.microsoft.com/office/powerpoint/2010/main" val="556916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473494" y="597072"/>
            <a:ext cx="6534135" cy="59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latin typeface="Lato" panose="020F0502020204030203" pitchFamily="34" charset="0"/>
                <a:ea typeface="Lato" panose="020F0502020204030203" pitchFamily="34" charset="0"/>
                <a:cs typeface="Lato" panose="020F0502020204030203" pitchFamily="34" charset="0"/>
              </a:rPr>
              <a:t>Why create null models? </a:t>
            </a:r>
            <a:endParaRPr sz="4400" dirty="0">
              <a:latin typeface="Lato" panose="020F0502020204030203" pitchFamily="34" charset="0"/>
              <a:ea typeface="Lato" panose="020F0502020204030203" pitchFamily="34" charset="0"/>
              <a:cs typeface="Lato" panose="020F0502020204030203" pitchFamily="34" charset="0"/>
            </a:endParaRPr>
          </a:p>
        </p:txBody>
      </p:sp>
      <p:sp>
        <p:nvSpPr>
          <p:cNvPr id="229" name="Google Shape;229;p26"/>
          <p:cNvSpPr txBox="1"/>
          <p:nvPr/>
        </p:nvSpPr>
        <p:spPr>
          <a:xfrm>
            <a:off x="296439" y="1576200"/>
            <a:ext cx="7974724" cy="356730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Clr>
                <a:schemeClr val="dk2"/>
              </a:buClr>
              <a:buSzPts val="1100"/>
              <a:buFontTx/>
              <a:buChar char="-"/>
            </a:pPr>
            <a:r>
              <a:rPr lang="en-US" sz="2400" dirty="0">
                <a:latin typeface="Lato" panose="020F0502020204030203" pitchFamily="34" charset="0"/>
                <a:ea typeface="Lato" panose="020F0502020204030203" pitchFamily="34" charset="0"/>
                <a:cs typeface="Lato" panose="020F0502020204030203" pitchFamily="34" charset="0"/>
              </a:rPr>
              <a:t>Determine whether model performance is better than expected by </a:t>
            </a:r>
            <a:r>
              <a:rPr lang="en-US" sz="2400" b="1" dirty="0">
                <a:latin typeface="Lato" panose="020F0502020204030203" pitchFamily="34" charset="0"/>
                <a:ea typeface="Lato" panose="020F0502020204030203" pitchFamily="34" charset="0"/>
                <a:cs typeface="Lato" panose="020F0502020204030203" pitchFamily="34" charset="0"/>
              </a:rPr>
              <a:t>chance</a:t>
            </a:r>
            <a:r>
              <a:rPr lang="en-US" sz="2400" dirty="0">
                <a:latin typeface="Lato" panose="020F0502020204030203" pitchFamily="34" charset="0"/>
                <a:ea typeface="Lato" panose="020F0502020204030203" pitchFamily="34" charset="0"/>
                <a:cs typeface="Lato" panose="020F0502020204030203" pitchFamily="34" charset="0"/>
              </a:rPr>
              <a:t>.</a:t>
            </a:r>
          </a:p>
          <a:p>
            <a:pPr marL="342900" lvl="0" indent="-342900" algn="l" rtl="0">
              <a:lnSpc>
                <a:spcPct val="115000"/>
              </a:lnSpc>
              <a:spcBef>
                <a:spcPts val="0"/>
              </a:spcBef>
              <a:spcAft>
                <a:spcPts val="0"/>
              </a:spcAft>
              <a:buClr>
                <a:schemeClr val="dk2"/>
              </a:buClr>
              <a:buSzPts val="1100"/>
              <a:buFontTx/>
              <a:buChar char="-"/>
            </a:pPr>
            <a:r>
              <a:rPr lang="en-US" sz="2400" dirty="0">
                <a:latin typeface="Lato" panose="020F0502020204030203" pitchFamily="34" charset="0"/>
                <a:ea typeface="Lato" panose="020F0502020204030203" pitchFamily="34" charset="0"/>
                <a:cs typeface="Lato" panose="020F0502020204030203" pitchFamily="34" charset="0"/>
              </a:rPr>
              <a:t>Quantify how much better your model is than a null expectation.</a:t>
            </a:r>
          </a:p>
          <a:p>
            <a:pPr marL="342900" lvl="0" indent="-342900" algn="l" rtl="0">
              <a:lnSpc>
                <a:spcPct val="115000"/>
              </a:lnSpc>
              <a:spcBef>
                <a:spcPts val="0"/>
              </a:spcBef>
              <a:spcAft>
                <a:spcPts val="0"/>
              </a:spcAft>
              <a:buClr>
                <a:schemeClr val="dk2"/>
              </a:buClr>
              <a:buSzPts val="1100"/>
              <a:buFontTx/>
              <a:buChar char="-"/>
            </a:pPr>
            <a:r>
              <a:rPr lang="en-US" sz="2400" dirty="0">
                <a:latin typeface="Lato" panose="020F0502020204030203" pitchFamily="34" charset="0"/>
                <a:ea typeface="Lato" panose="020F0502020204030203" pitchFamily="34" charset="0"/>
                <a:cs typeface="Lato" panose="020F0502020204030203" pitchFamily="34" charset="0"/>
                <a:sym typeface="Lato"/>
              </a:rPr>
              <a:t>Avoid false confidence by evaluating for bias, spatial autocorrelation and overfitting</a:t>
            </a:r>
            <a:endParaRPr lang="en-US" sz="2100" dirty="0">
              <a:latin typeface="Lato" panose="020F0502020204030203" pitchFamily="34" charset="0"/>
              <a:ea typeface="Lato" panose="020F0502020204030203" pitchFamily="34" charset="0"/>
              <a:cs typeface="Lato" panose="020F0502020204030203" pitchFamily="34" charset="0"/>
              <a:sym typeface="Lato"/>
            </a:endParaRPr>
          </a:p>
          <a:p>
            <a:pPr marL="342900" lvl="0" indent="-342900" algn="l" rtl="0">
              <a:lnSpc>
                <a:spcPct val="115000"/>
              </a:lnSpc>
              <a:spcBef>
                <a:spcPts val="0"/>
              </a:spcBef>
              <a:spcAft>
                <a:spcPts val="0"/>
              </a:spcAft>
              <a:buClr>
                <a:schemeClr val="dk2"/>
              </a:buClr>
              <a:buSzPts val="1100"/>
              <a:buFontTx/>
              <a:buChar char="-"/>
            </a:pPr>
            <a:r>
              <a:rPr lang="en-US" sz="2400" dirty="0">
                <a:latin typeface="Lato" panose="020F0502020204030203" pitchFamily="34" charset="0"/>
                <a:ea typeface="Lato" panose="020F0502020204030203" pitchFamily="34" charset="0"/>
                <a:cs typeface="Lato" panose="020F0502020204030203" pitchFamily="34" charset="0"/>
              </a:rPr>
              <a:t>Add rigor to model selection and interpretation</a:t>
            </a:r>
            <a:endParaRPr lang="en-US" sz="2400" dirty="0">
              <a:solidFill>
                <a:srgbClr val="434343"/>
              </a:solidFill>
              <a:latin typeface="Lato" panose="020F0502020204030203" pitchFamily="34" charset="0"/>
              <a:ea typeface="Lato" panose="020F0502020204030203" pitchFamily="34" charset="0"/>
              <a:cs typeface="Lato" panose="020F0502020204030203" pitchFamily="34" charset="0"/>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1406A96B-23C7-3C04-12EA-53C1BCA8E8C8}"/>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1E6EDFA2-067C-4E1A-6116-892FA9A40C40}"/>
              </a:ext>
            </a:extLst>
          </p:cNvPr>
          <p:cNvSpPr txBox="1">
            <a:spLocks noGrp="1"/>
          </p:cNvSpPr>
          <p:nvPr>
            <p:ph type="title"/>
          </p:nvPr>
        </p:nvSpPr>
        <p:spPr>
          <a:xfrm>
            <a:off x="-539921" y="134846"/>
            <a:ext cx="4823722" cy="59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latin typeface="Lato" panose="020F0502020204030203" pitchFamily="34" charset="0"/>
                <a:ea typeface="Lato" panose="020F0502020204030203" pitchFamily="34" charset="0"/>
                <a:cs typeface="Lato" panose="020F0502020204030203" pitchFamily="34" charset="0"/>
              </a:rPr>
              <a:t>Some Caveats</a:t>
            </a:r>
            <a:endParaRPr sz="4400" dirty="0">
              <a:latin typeface="Lato" panose="020F0502020204030203" pitchFamily="34" charset="0"/>
              <a:ea typeface="Lato" panose="020F0502020204030203" pitchFamily="34" charset="0"/>
              <a:cs typeface="Lato" panose="020F0502020204030203" pitchFamily="34" charset="0"/>
            </a:endParaRPr>
          </a:p>
        </p:txBody>
      </p:sp>
      <p:sp>
        <p:nvSpPr>
          <p:cNvPr id="229" name="Google Shape;229;p26">
            <a:extLst>
              <a:ext uri="{FF2B5EF4-FFF2-40B4-BE49-F238E27FC236}">
                <a16:creationId xmlns:a16="http://schemas.microsoft.com/office/drawing/2014/main" id="{64B2EBCE-B89C-C2E8-6205-882DC46B21BB}"/>
              </a:ext>
            </a:extLst>
          </p:cNvPr>
          <p:cNvSpPr txBox="1"/>
          <p:nvPr/>
        </p:nvSpPr>
        <p:spPr>
          <a:xfrm>
            <a:off x="184705" y="788100"/>
            <a:ext cx="7974724" cy="3567300"/>
          </a:xfrm>
          <a:prstGeom prst="rect">
            <a:avLst/>
          </a:prstGeom>
          <a:noFill/>
          <a:ln>
            <a:noFill/>
          </a:ln>
        </p:spPr>
        <p:txBody>
          <a:bodyPr spcFirstLastPara="1" wrap="square" lIns="91425" tIns="91425" rIns="91425" bIns="91425" anchor="t" anchorCtr="0">
            <a:noAutofit/>
          </a:bodyPr>
          <a:lstStyle/>
          <a:p>
            <a:pPr marL="342900" lvl="0" indent="-342900" algn="l" rtl="0">
              <a:lnSpc>
                <a:spcPct val="115000"/>
              </a:lnSpc>
              <a:spcBef>
                <a:spcPts val="0"/>
              </a:spcBef>
              <a:spcAft>
                <a:spcPts val="0"/>
              </a:spcAft>
              <a:buClr>
                <a:schemeClr val="dk2"/>
              </a:buClr>
              <a:buSzPts val="1100"/>
              <a:buFontTx/>
              <a:buChar char="-"/>
            </a:pPr>
            <a:r>
              <a:rPr lang="en-US" sz="2000" dirty="0">
                <a:latin typeface="Lato" panose="020F0502020204030203" pitchFamily="34" charset="0"/>
                <a:ea typeface="Lato" panose="020F0502020204030203" pitchFamily="34" charset="0"/>
                <a:cs typeface="Lato" panose="020F0502020204030203" pitchFamily="34" charset="0"/>
              </a:rPr>
              <a:t>Null models rely on a balance between constraining randomizations</a:t>
            </a:r>
          </a:p>
          <a:p>
            <a:pPr marL="342900" lvl="0" indent="-342900" algn="l" rtl="0">
              <a:lnSpc>
                <a:spcPct val="115000"/>
              </a:lnSpc>
              <a:spcBef>
                <a:spcPts val="0"/>
              </a:spcBef>
              <a:spcAft>
                <a:spcPts val="0"/>
              </a:spcAft>
              <a:buClr>
                <a:schemeClr val="dk2"/>
              </a:buClr>
              <a:buSzPts val="1100"/>
              <a:buFontTx/>
              <a:buChar char="-"/>
            </a:pPr>
            <a:r>
              <a:rPr lang="en-US" sz="2000" dirty="0">
                <a:solidFill>
                  <a:srgbClr val="434343"/>
                </a:solidFill>
                <a:latin typeface="Lato" panose="020F0502020204030203" pitchFamily="34" charset="0"/>
                <a:ea typeface="Lato" panose="020F0502020204030203" pitchFamily="34" charset="0"/>
                <a:cs typeface="Lato" panose="020F0502020204030203" pitchFamily="34" charset="0"/>
                <a:sym typeface="Lato"/>
              </a:rPr>
              <a:t>Bohl et al. 2019 (what </a:t>
            </a:r>
            <a:r>
              <a:rPr lang="en-US" sz="2000" dirty="0" err="1">
                <a:solidFill>
                  <a:srgbClr val="434343"/>
                </a:solidFill>
                <a:latin typeface="Lato" panose="020F0502020204030203" pitchFamily="34" charset="0"/>
                <a:ea typeface="Lato" panose="020F0502020204030203" pitchFamily="34" charset="0"/>
                <a:cs typeface="Lato" panose="020F0502020204030203" pitchFamily="34" charset="0"/>
                <a:sym typeface="Lato"/>
              </a:rPr>
              <a:t>ENMnulls</a:t>
            </a:r>
            <a:r>
              <a:rPr lang="en-US" sz="2000" dirty="0">
                <a:solidFill>
                  <a:srgbClr val="434343"/>
                </a:solidFill>
                <a:latin typeface="Lato" panose="020F0502020204030203" pitchFamily="34" charset="0"/>
                <a:ea typeface="Lato" panose="020F0502020204030203" pitchFamily="34" charset="0"/>
                <a:cs typeface="Lato" panose="020F0502020204030203" pitchFamily="34" charset="0"/>
                <a:sym typeface="Lato"/>
              </a:rPr>
              <a:t>() methodology uses) uses fake occurrences from the background that are drawn w/out replacement.</a:t>
            </a:r>
          </a:p>
          <a:p>
            <a:pPr marL="342900" lvl="0" indent="-342900" algn="l" rtl="0">
              <a:lnSpc>
                <a:spcPct val="115000"/>
              </a:lnSpc>
              <a:spcBef>
                <a:spcPts val="0"/>
              </a:spcBef>
              <a:spcAft>
                <a:spcPts val="0"/>
              </a:spcAft>
              <a:buClr>
                <a:schemeClr val="dk2"/>
              </a:buClr>
              <a:buSzPts val="1100"/>
              <a:buFontTx/>
              <a:buChar char="-"/>
            </a:pPr>
            <a:r>
              <a:rPr lang="en-US" sz="2000" dirty="0">
                <a:solidFill>
                  <a:srgbClr val="434343"/>
                </a:solidFill>
                <a:latin typeface="Lato" panose="020F0502020204030203" pitchFamily="34" charset="0"/>
                <a:ea typeface="Lato" panose="020F0502020204030203" pitchFamily="34" charset="0"/>
                <a:cs typeface="Lato" panose="020F0502020204030203" pitchFamily="34" charset="0"/>
                <a:sym typeface="Lato"/>
              </a:rPr>
              <a:t>Fails to account for spatial autocorrelation and spatial biases, which may inflate Type 1 Error</a:t>
            </a:r>
          </a:p>
        </p:txBody>
      </p:sp>
      <p:sp>
        <p:nvSpPr>
          <p:cNvPr id="2" name="Arrow: Right 1">
            <a:extLst>
              <a:ext uri="{FF2B5EF4-FFF2-40B4-BE49-F238E27FC236}">
                <a16:creationId xmlns:a16="http://schemas.microsoft.com/office/drawing/2014/main" id="{97B02C22-CA66-1D4D-DC33-0DE8469F7A94}"/>
              </a:ext>
            </a:extLst>
          </p:cNvPr>
          <p:cNvSpPr/>
          <p:nvPr/>
        </p:nvSpPr>
        <p:spPr>
          <a:xfrm>
            <a:off x="4283801" y="3801397"/>
            <a:ext cx="1136341" cy="4971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64C6FBAC-1432-B6D5-FAA0-1B6D25F3F909}"/>
              </a:ext>
            </a:extLst>
          </p:cNvPr>
          <p:cNvSpPr/>
          <p:nvPr/>
        </p:nvSpPr>
        <p:spPr>
          <a:xfrm rot="10800000">
            <a:off x="2833457" y="3801396"/>
            <a:ext cx="1136341" cy="497150"/>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E2D4EAB-6F94-27B7-9570-8B855AF21BC8}"/>
              </a:ext>
            </a:extLst>
          </p:cNvPr>
          <p:cNvSpPr txBox="1"/>
          <p:nvPr/>
        </p:nvSpPr>
        <p:spPr>
          <a:xfrm>
            <a:off x="104710" y="3588306"/>
            <a:ext cx="2643281" cy="1323439"/>
          </a:xfrm>
          <a:prstGeom prst="rect">
            <a:avLst/>
          </a:prstGeom>
          <a:noFill/>
        </p:spPr>
        <p:txBody>
          <a:bodyPr wrap="square" rtlCol="0">
            <a:spAutoFit/>
          </a:bodyPr>
          <a:lstStyle/>
          <a:p>
            <a:r>
              <a:rPr lang="en-US" sz="1600" dirty="0"/>
              <a:t>Risk of Type 1 Error</a:t>
            </a:r>
          </a:p>
          <a:p>
            <a:r>
              <a:rPr lang="en-US" sz="1600" dirty="0"/>
              <a:t>(Empirical has too </a:t>
            </a:r>
            <a:r>
              <a:rPr lang="en-US" sz="1600" dirty="0">
                <a:solidFill>
                  <a:srgbClr val="C00000"/>
                </a:solidFill>
              </a:rPr>
              <a:t>easy</a:t>
            </a:r>
            <a:r>
              <a:rPr lang="en-US" sz="1600" dirty="0"/>
              <a:t> of a time beating Null) Risks a bad model appearing to have strong ecological signal</a:t>
            </a:r>
          </a:p>
        </p:txBody>
      </p:sp>
      <p:sp>
        <p:nvSpPr>
          <p:cNvPr id="11" name="TextBox 10">
            <a:extLst>
              <a:ext uri="{FF2B5EF4-FFF2-40B4-BE49-F238E27FC236}">
                <a16:creationId xmlns:a16="http://schemas.microsoft.com/office/drawing/2014/main" id="{4FFC9DE3-4EBF-7ACF-B746-D5AAE6BA3DA6}"/>
              </a:ext>
            </a:extLst>
          </p:cNvPr>
          <p:cNvSpPr txBox="1"/>
          <p:nvPr/>
        </p:nvSpPr>
        <p:spPr>
          <a:xfrm>
            <a:off x="5619808" y="3588306"/>
            <a:ext cx="3201358" cy="1323439"/>
          </a:xfrm>
          <a:prstGeom prst="rect">
            <a:avLst/>
          </a:prstGeom>
          <a:noFill/>
        </p:spPr>
        <p:txBody>
          <a:bodyPr wrap="square" rtlCol="0">
            <a:spAutoFit/>
          </a:bodyPr>
          <a:lstStyle/>
          <a:p>
            <a:r>
              <a:rPr lang="en-US" sz="1600" dirty="0"/>
              <a:t>Risk of Type 2 Error</a:t>
            </a:r>
          </a:p>
          <a:p>
            <a:r>
              <a:rPr lang="en-US" sz="1600" dirty="0"/>
              <a:t>(Empirical has </a:t>
            </a:r>
            <a:r>
              <a:rPr lang="en-US" sz="1600" dirty="0">
                <a:solidFill>
                  <a:srgbClr val="0070C0"/>
                </a:solidFill>
              </a:rPr>
              <a:t>too difficult </a:t>
            </a:r>
            <a:r>
              <a:rPr lang="en-US" sz="1600" dirty="0"/>
              <a:t>of a time beating Null) Risks a good model appearing to have weak ecological signal</a:t>
            </a:r>
          </a:p>
        </p:txBody>
      </p:sp>
    </p:spTree>
    <p:extLst>
      <p:ext uri="{BB962C8B-B14F-4D97-AF65-F5344CB8AC3E}">
        <p14:creationId xmlns:p14="http://schemas.microsoft.com/office/powerpoint/2010/main" val="40548703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1818</TotalTime>
  <Words>2034</Words>
  <Application>Microsoft Office PowerPoint</Application>
  <PresentationFormat>On-screen Show (16:9)</PresentationFormat>
  <Paragraphs>142</Paragraphs>
  <Slides>23</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Helvetica Neue</vt:lpstr>
      <vt:lpstr>Raleway</vt:lpstr>
      <vt:lpstr>Calibri</vt:lpstr>
      <vt:lpstr>Cambria Math</vt:lpstr>
      <vt:lpstr>Lilita One</vt:lpstr>
      <vt:lpstr>Lato</vt:lpstr>
      <vt:lpstr>Calibri Light</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 classes and regularization multiplier</vt:lpstr>
      <vt:lpstr>Sample code</vt:lpstr>
      <vt:lpstr>Sample code</vt:lpstr>
      <vt:lpstr>How does ENMevaluate generate null models?</vt:lpstr>
      <vt:lpstr>Sample code</vt:lpstr>
      <vt:lpstr>Output:</vt:lpstr>
      <vt:lpstr>Output:</vt:lpstr>
      <vt:lpstr>Output:</vt:lpstr>
      <vt:lpstr>Sample code</vt:lpstr>
      <vt:lpstr>Output:</vt:lpstr>
      <vt:lpstr>Why create null models? </vt:lpstr>
      <vt:lpstr>Some Caveats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JT Miller</dc:creator>
  <cp:lastModifiedBy>Miller, Jared</cp:lastModifiedBy>
  <cp:revision>8</cp:revision>
  <dcterms:modified xsi:type="dcterms:W3CDTF">2026-08-02T14:37:20Z</dcterms:modified>
</cp:coreProperties>
</file>
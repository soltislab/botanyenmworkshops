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630" r:id="rId2"/>
    <p:sldId id="654" r:id="rId3"/>
    <p:sldId id="632" r:id="rId4"/>
    <p:sldId id="665" r:id="rId5"/>
    <p:sldId id="658" r:id="rId6"/>
    <p:sldId id="670" r:id="rId7"/>
    <p:sldId id="666" r:id="rId8"/>
    <p:sldId id="667" r:id="rId9"/>
    <p:sldId id="668" r:id="rId10"/>
    <p:sldId id="669" r:id="rId11"/>
    <p:sldId id="671" r:id="rId12"/>
    <p:sldId id="636" r:id="rId13"/>
    <p:sldId id="664" r:id="rId14"/>
    <p:sldId id="672" r:id="rId15"/>
    <p:sldId id="673" r:id="rId16"/>
    <p:sldId id="674" r:id="rId17"/>
    <p:sldId id="675" r:id="rId18"/>
    <p:sldId id="653" r:id="rId19"/>
    <p:sldId id="657" r:id="rId20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DB54"/>
    <a:srgbClr val="F4F7FD"/>
    <a:srgbClr val="EBECED"/>
    <a:srgbClr val="BFA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557B1-646D-486B-9255-93D5A2F20DBF}" v="70" dt="2026-07-29T00:30:11.446"/>
    <p1510:client id="{9C823BCA-E635-49EC-B700-D35C91EAFD06}" v="56" dt="2026-07-28T16:47:17.044"/>
    <p1510:client id="{E29C648A-F5E1-4449-BC91-813B0F58FC41}" v="327" dt="2026-07-29T01:07:06.88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9"/>
    <p:restoredTop sz="80000"/>
  </p:normalViewPr>
  <p:slideViewPr>
    <p:cSldViewPr snapToGrid="0" snapToObjects="1" showGuides="1">
      <p:cViewPr varScale="1">
        <p:scale>
          <a:sx n="59" d="100"/>
          <a:sy n="59" d="100"/>
        </p:scale>
        <p:origin x="1616" y="192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enzie Mabry" userId="wC5zpGcBeF/dXo9LvTWr0ugVTIDpBrI511JU3C9s4SI=" providerId="None" clId="Web-{E29C648A-F5E1-4449-BC91-813B0F58FC41}"/>
    <pc:docChg chg="addSld modSld">
      <pc:chgData name="Makenzie Mabry" userId="wC5zpGcBeF/dXo9LvTWr0ugVTIDpBrI511JU3C9s4SI=" providerId="None" clId="Web-{E29C648A-F5E1-4449-BC91-813B0F58FC41}" dt="2026-07-29T01:07:06.881" v="230"/>
      <pc:docMkLst>
        <pc:docMk/>
      </pc:docMkLst>
      <pc:sldChg chg="addSp delSp modSp new">
        <pc:chgData name="Makenzie Mabry" userId="wC5zpGcBeF/dXo9LvTWr0ugVTIDpBrI511JU3C9s4SI=" providerId="None" clId="Web-{E29C648A-F5E1-4449-BC91-813B0F58FC41}" dt="2026-07-29T01:07:06.881" v="230"/>
        <pc:sldMkLst>
          <pc:docMk/>
          <pc:sldMk cId="1656773529" sldId="673"/>
        </pc:sldMkLst>
        <pc:spChg chg="add">
          <ac:chgData name="Makenzie Mabry" userId="wC5zpGcBeF/dXo9LvTWr0ugVTIDpBrI511JU3C9s4SI=" providerId="None" clId="Web-{E29C648A-F5E1-4449-BC91-813B0F58FC41}" dt="2026-07-29T00:50:40.443" v="1"/>
          <ac:spMkLst>
            <pc:docMk/>
            <pc:sldMk cId="1656773529" sldId="673"/>
            <ac:spMk id="3" creationId="{A61D7074-C755-1D61-7411-EDD5334143CF}"/>
          </ac:spMkLst>
        </pc:spChg>
        <pc:spChg chg="add del mod ord">
          <ac:chgData name="Makenzie Mabry" userId="wC5zpGcBeF/dXo9LvTWr0ugVTIDpBrI511JU3C9s4SI=" providerId="None" clId="Web-{E29C648A-F5E1-4449-BC91-813B0F58FC41}" dt="2026-07-29T01:01:32.006" v="88"/>
          <ac:spMkLst>
            <pc:docMk/>
            <pc:sldMk cId="1656773529" sldId="673"/>
            <ac:spMk id="5" creationId="{F8B65F9D-1218-CC2E-56E2-87AAD0300A5E}"/>
          </ac:spMkLst>
        </pc:spChg>
        <pc:spChg chg="add">
          <ac:chgData name="Makenzie Mabry" userId="wC5zpGcBeF/dXo9LvTWr0ugVTIDpBrI511JU3C9s4SI=" providerId="None" clId="Web-{E29C648A-F5E1-4449-BC91-813B0F58FC41}" dt="2026-07-29T00:59:18.490" v="20"/>
          <ac:spMkLst>
            <pc:docMk/>
            <pc:sldMk cId="1656773529" sldId="673"/>
            <ac:spMk id="6" creationId="{AD5DB3EB-3A80-D2E0-67DC-729733F52383}"/>
          </ac:spMkLst>
        </pc:spChg>
        <pc:spChg chg="add mod ord">
          <ac:chgData name="Makenzie Mabry" userId="wC5zpGcBeF/dXo9LvTWr0ugVTIDpBrI511JU3C9s4SI=" providerId="None" clId="Web-{E29C648A-F5E1-4449-BC91-813B0F58FC41}" dt="2026-07-29T01:07:02.068" v="226"/>
          <ac:spMkLst>
            <pc:docMk/>
            <pc:sldMk cId="1656773529" sldId="673"/>
            <ac:spMk id="7" creationId="{03B298C5-C74B-86B7-7BD3-3504C8F80CA0}"/>
          </ac:spMkLst>
        </pc:spChg>
        <pc:spChg chg="add mod ord">
          <ac:chgData name="Makenzie Mabry" userId="wC5zpGcBeF/dXo9LvTWr0ugVTIDpBrI511JU3C9s4SI=" providerId="None" clId="Web-{E29C648A-F5E1-4449-BC91-813B0F58FC41}" dt="2026-07-29T01:02:30.834" v="104" actId="20577"/>
          <ac:spMkLst>
            <pc:docMk/>
            <pc:sldMk cId="1656773529" sldId="673"/>
            <ac:spMk id="8" creationId="{220AA769-F585-C700-5B64-2D9B1F9B246B}"/>
          </ac:spMkLst>
        </pc:spChg>
        <pc:spChg chg="add mod ord">
          <ac:chgData name="Makenzie Mabry" userId="wC5zpGcBeF/dXo9LvTWr0ugVTIDpBrI511JU3C9s4SI=" providerId="None" clId="Web-{E29C648A-F5E1-4449-BC91-813B0F58FC41}" dt="2026-07-29T01:07:01.850" v="222"/>
          <ac:spMkLst>
            <pc:docMk/>
            <pc:sldMk cId="1656773529" sldId="673"/>
            <ac:spMk id="9" creationId="{3291570F-A533-0A9A-8053-FC6C2044C149}"/>
          </ac:spMkLst>
        </pc:spChg>
        <pc:spChg chg="add mod">
          <ac:chgData name="Makenzie Mabry" userId="wC5zpGcBeF/dXo9LvTWr0ugVTIDpBrI511JU3C9s4SI=" providerId="None" clId="Web-{E29C648A-F5E1-4449-BC91-813B0F58FC41}" dt="2026-07-29T01:07:06.834" v="227"/>
          <ac:spMkLst>
            <pc:docMk/>
            <pc:sldMk cId="1656773529" sldId="673"/>
            <ac:spMk id="10" creationId="{93046AE6-0570-83EC-5861-6778B0EE9FD1}"/>
          </ac:spMkLst>
        </pc:spChg>
        <pc:spChg chg="add mod">
          <ac:chgData name="Makenzie Mabry" userId="wC5zpGcBeF/dXo9LvTWr0ugVTIDpBrI511JU3C9s4SI=" providerId="None" clId="Web-{E29C648A-F5E1-4449-BC91-813B0F58FC41}" dt="2026-07-29T01:07:06.834" v="228"/>
          <ac:spMkLst>
            <pc:docMk/>
            <pc:sldMk cId="1656773529" sldId="673"/>
            <ac:spMk id="11" creationId="{59C51978-8F27-03BD-79F4-E5A1029C421A}"/>
          </ac:spMkLst>
        </pc:spChg>
        <pc:spChg chg="add mod">
          <ac:chgData name="Makenzie Mabry" userId="wC5zpGcBeF/dXo9LvTWr0ugVTIDpBrI511JU3C9s4SI=" providerId="None" clId="Web-{E29C648A-F5E1-4449-BC91-813B0F58FC41}" dt="2026-07-29T01:07:06.834" v="229"/>
          <ac:spMkLst>
            <pc:docMk/>
            <pc:sldMk cId="1656773529" sldId="673"/>
            <ac:spMk id="12" creationId="{DEE2F0A0-B0A6-19CD-0B0F-13F26EBCA998}"/>
          </ac:spMkLst>
        </pc:spChg>
        <pc:spChg chg="add mod">
          <ac:chgData name="Makenzie Mabry" userId="wC5zpGcBeF/dXo9LvTWr0ugVTIDpBrI511JU3C9s4SI=" providerId="None" clId="Web-{E29C648A-F5E1-4449-BC91-813B0F58FC41}" dt="2026-07-29T01:07:06.881" v="230"/>
          <ac:spMkLst>
            <pc:docMk/>
            <pc:sldMk cId="1656773529" sldId="673"/>
            <ac:spMk id="13" creationId="{B1077488-6C97-7C6E-D1E5-1B283C057307}"/>
          </ac:spMkLst>
        </pc:spChg>
        <pc:picChg chg="add mod modCrop">
          <ac:chgData name="Makenzie Mabry" userId="wC5zpGcBeF/dXo9LvTWr0ugVTIDpBrI511JU3C9s4SI=" providerId="None" clId="Web-{E29C648A-F5E1-4449-BC91-813B0F58FC41}" dt="2026-07-29T00:59:53.819" v="63" actId="1076"/>
          <ac:picMkLst>
            <pc:docMk/>
            <pc:sldMk cId="1656773529" sldId="673"/>
            <ac:picMk id="4" creationId="{73A3F8A4-C6CA-58A5-CC28-78B527769018}"/>
          </ac:picMkLst>
        </pc:picChg>
      </pc:sldChg>
    </pc:docChg>
  </pc:docChgLst>
  <pc:docChgLst>
    <pc:chgData name="Makenzie Mabry" userId="wC5zpGcBeF/dXo9LvTWr0ugVTIDpBrI511JU3C9s4SI=" providerId="None" clId="Web-{9C823BCA-E635-49EC-B700-D35C91EAFD06}"/>
    <pc:docChg chg="modSld">
      <pc:chgData name="Makenzie Mabry" userId="wC5zpGcBeF/dXo9LvTWr0ugVTIDpBrI511JU3C9s4SI=" providerId="None" clId="Web-{9C823BCA-E635-49EC-B700-D35C91EAFD06}" dt="2026-07-28T16:47:17.044" v="49" actId="1076"/>
      <pc:docMkLst>
        <pc:docMk/>
      </pc:docMkLst>
      <pc:sldChg chg="modSp">
        <pc:chgData name="Makenzie Mabry" userId="wC5zpGcBeF/dXo9LvTWr0ugVTIDpBrI511JU3C9s4SI=" providerId="None" clId="Web-{9C823BCA-E635-49EC-B700-D35C91EAFD06}" dt="2026-07-28T16:43:08.518" v="4" actId="20577"/>
        <pc:sldMkLst>
          <pc:docMk/>
          <pc:sldMk cId="1897100711" sldId="670"/>
        </pc:sldMkLst>
        <pc:spChg chg="mod">
          <ac:chgData name="Makenzie Mabry" userId="wC5zpGcBeF/dXo9LvTWr0ugVTIDpBrI511JU3C9s4SI=" providerId="None" clId="Web-{9C823BCA-E635-49EC-B700-D35C91EAFD06}" dt="2026-07-28T16:43:08.518" v="4" actId="20577"/>
          <ac:spMkLst>
            <pc:docMk/>
            <pc:sldMk cId="1897100711" sldId="670"/>
            <ac:spMk id="5" creationId="{5A162A83-E2CB-6B7C-E1D6-3C837C1F8AB9}"/>
          </ac:spMkLst>
        </pc:spChg>
      </pc:sldChg>
      <pc:sldChg chg="addSp modSp">
        <pc:chgData name="Makenzie Mabry" userId="wC5zpGcBeF/dXo9LvTWr0ugVTIDpBrI511JU3C9s4SI=" providerId="None" clId="Web-{9C823BCA-E635-49EC-B700-D35C91EAFD06}" dt="2026-07-28T16:47:17.044" v="49" actId="1076"/>
        <pc:sldMkLst>
          <pc:docMk/>
          <pc:sldMk cId="1498482958" sldId="671"/>
        </pc:sldMkLst>
        <pc:spChg chg="add mod">
          <ac:chgData name="Makenzie Mabry" userId="wC5zpGcBeF/dXo9LvTWr0ugVTIDpBrI511JU3C9s4SI=" providerId="None" clId="Web-{9C823BCA-E635-49EC-B700-D35C91EAFD06}" dt="2026-07-28T16:47:01.137" v="46" actId="1076"/>
          <ac:spMkLst>
            <pc:docMk/>
            <pc:sldMk cId="1498482958" sldId="671"/>
            <ac:spMk id="3" creationId="{325EC9F7-FF86-2FB3-05F7-9249D7EA2DA8}"/>
          </ac:spMkLst>
        </pc:spChg>
        <pc:spChg chg="add mod">
          <ac:chgData name="Makenzie Mabry" userId="wC5zpGcBeF/dXo9LvTWr0ugVTIDpBrI511JU3C9s4SI=" providerId="None" clId="Web-{9C823BCA-E635-49EC-B700-D35C91EAFD06}" dt="2026-07-28T16:47:11.372" v="48" actId="1076"/>
          <ac:spMkLst>
            <pc:docMk/>
            <pc:sldMk cId="1498482958" sldId="671"/>
            <ac:spMk id="4" creationId="{2AC2B392-D515-E380-BA22-C7055D8A4912}"/>
          </ac:spMkLst>
        </pc:spChg>
        <pc:spChg chg="add mod">
          <ac:chgData name="Makenzie Mabry" userId="wC5zpGcBeF/dXo9LvTWr0ugVTIDpBrI511JU3C9s4SI=" providerId="None" clId="Web-{9C823BCA-E635-49EC-B700-D35C91EAFD06}" dt="2026-07-28T16:47:17.044" v="49" actId="1076"/>
          <ac:spMkLst>
            <pc:docMk/>
            <pc:sldMk cId="1498482958" sldId="671"/>
            <ac:spMk id="6" creationId="{9DAA51CB-AB6D-BE83-AB93-944DC9F3E358}"/>
          </ac:spMkLst>
        </pc:spChg>
        <pc:spChg chg="add mod">
          <ac:chgData name="Makenzie Mabry" userId="wC5zpGcBeF/dXo9LvTWr0ugVTIDpBrI511JU3C9s4SI=" providerId="None" clId="Web-{9C823BCA-E635-49EC-B700-D35C91EAFD06}" dt="2026-07-28T16:47:07.622" v="47" actId="1076"/>
          <ac:spMkLst>
            <pc:docMk/>
            <pc:sldMk cId="1498482958" sldId="671"/>
            <ac:spMk id="8" creationId="{EE9DC754-9E9E-C24B-94E1-B0163858BAD6}"/>
          </ac:spMkLst>
        </pc:spChg>
      </pc:sldChg>
    </pc:docChg>
  </pc:docChgLst>
  <pc:docChgLst>
    <pc:chgData name="Makenzie Mabry" userId="wC5zpGcBeF/dXo9LvTWr0ugVTIDpBrI511JU3C9s4SI=" providerId="None" clId="Web-{02A557B1-646D-486B-9255-93D5A2F20DBF}"/>
    <pc:docChg chg="addSld modSld">
      <pc:chgData name="Makenzie Mabry" userId="wC5zpGcBeF/dXo9LvTWr0ugVTIDpBrI511JU3C9s4SI=" providerId="None" clId="Web-{02A557B1-646D-486B-9255-93D5A2F20DBF}" dt="2026-07-29T00:30:11.446" v="54" actId="20577"/>
      <pc:docMkLst>
        <pc:docMk/>
      </pc:docMkLst>
      <pc:sldChg chg="addSp modSp new">
        <pc:chgData name="Makenzie Mabry" userId="wC5zpGcBeF/dXo9LvTWr0ugVTIDpBrI511JU3C9s4SI=" providerId="None" clId="Web-{02A557B1-646D-486B-9255-93D5A2F20DBF}" dt="2026-07-29T00:30:11.446" v="54" actId="20577"/>
        <pc:sldMkLst>
          <pc:docMk/>
          <pc:sldMk cId="4103361132" sldId="672"/>
        </pc:sldMkLst>
        <pc:spChg chg="add">
          <ac:chgData name="Makenzie Mabry" userId="wC5zpGcBeF/dXo9LvTWr0ugVTIDpBrI511JU3C9s4SI=" providerId="None" clId="Web-{02A557B1-646D-486B-9255-93D5A2F20DBF}" dt="2026-07-29T00:24:46.515" v="1"/>
          <ac:spMkLst>
            <pc:docMk/>
            <pc:sldMk cId="4103361132" sldId="672"/>
            <ac:spMk id="3" creationId="{4EC6FDDC-E105-4026-E3E8-AD530828A871}"/>
          </ac:spMkLst>
        </pc:spChg>
        <pc:spChg chg="add mod">
          <ac:chgData name="Makenzie Mabry" userId="wC5zpGcBeF/dXo9LvTWr0ugVTIDpBrI511JU3C9s4SI=" providerId="None" clId="Web-{02A557B1-646D-486B-9255-93D5A2F20DBF}" dt="2026-07-29T00:29:41.283" v="38" actId="1076"/>
          <ac:spMkLst>
            <pc:docMk/>
            <pc:sldMk cId="4103361132" sldId="672"/>
            <ac:spMk id="4" creationId="{32B520EE-690E-EB66-0DC1-71A0D05BA4B8}"/>
          </ac:spMkLst>
        </pc:spChg>
        <pc:spChg chg="add mod">
          <ac:chgData name="Makenzie Mabry" userId="wC5zpGcBeF/dXo9LvTWr0ugVTIDpBrI511JU3C9s4SI=" providerId="None" clId="Web-{02A557B1-646D-486B-9255-93D5A2F20DBF}" dt="2026-07-29T00:30:11.446" v="54" actId="20577"/>
          <ac:spMkLst>
            <pc:docMk/>
            <pc:sldMk cId="4103361132" sldId="672"/>
            <ac:spMk id="5" creationId="{7440958B-2279-5BE4-2B9A-E9ED088757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94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693385" y="1638300"/>
            <a:ext cx="13953493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93385" y="5029200"/>
            <a:ext cx="13953493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267"/>
            </a:lvl1pPr>
            <a:lvl2pPr marL="0" indent="304815" algn="ctr">
              <a:spcBef>
                <a:spcPts val="0"/>
              </a:spcBef>
              <a:buSzTx/>
              <a:buNone/>
              <a:defRPr sz="4267"/>
            </a:lvl2pPr>
            <a:lvl3pPr marL="0" indent="609630" algn="ctr">
              <a:spcBef>
                <a:spcPts val="0"/>
              </a:spcBef>
              <a:buSzTx/>
              <a:buNone/>
              <a:defRPr sz="4267"/>
            </a:lvl3pPr>
            <a:lvl4pPr marL="0" indent="914446" algn="ctr">
              <a:spcBef>
                <a:spcPts val="0"/>
              </a:spcBef>
              <a:buSzTx/>
              <a:buNone/>
              <a:defRPr sz="4267"/>
            </a:lvl4pPr>
            <a:lvl5pPr marL="0" indent="1219261" algn="ctr">
              <a:spcBef>
                <a:spcPts val="0"/>
              </a:spcBef>
              <a:buSzTx/>
              <a:buNone/>
              <a:defRPr sz="4267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2142132" y="635000"/>
            <a:ext cx="13039065" cy="65227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693385" y="6718300"/>
            <a:ext cx="13953493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93385" y="8191500"/>
            <a:ext cx="13953493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267"/>
            </a:lvl1pPr>
            <a:lvl2pPr marL="0" indent="304815" algn="ctr">
              <a:spcBef>
                <a:spcPts val="0"/>
              </a:spcBef>
              <a:buSzTx/>
              <a:buNone/>
              <a:defRPr sz="4267"/>
            </a:lvl2pPr>
            <a:lvl3pPr marL="0" indent="609630" algn="ctr">
              <a:spcBef>
                <a:spcPts val="0"/>
              </a:spcBef>
              <a:buSzTx/>
              <a:buNone/>
              <a:defRPr sz="4267"/>
            </a:lvl3pPr>
            <a:lvl4pPr marL="0" indent="914446" algn="ctr">
              <a:spcBef>
                <a:spcPts val="0"/>
              </a:spcBef>
              <a:buSzTx/>
              <a:buNone/>
              <a:defRPr sz="4267"/>
            </a:lvl4pPr>
            <a:lvl5pPr marL="0" indent="1219261" algn="ctr">
              <a:spcBef>
                <a:spcPts val="0"/>
              </a:spcBef>
              <a:buSzTx/>
              <a:buNone/>
              <a:defRPr sz="4267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4383" y="9245600"/>
            <a:ext cx="514564" cy="471924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693385" y="3225800"/>
            <a:ext cx="13953493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13"/>
          </p:nvPr>
        </p:nvSpPr>
        <p:spPr>
          <a:xfrm>
            <a:off x="3623844" y="635001"/>
            <a:ext cx="16476637" cy="8238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270039" y="635000"/>
            <a:ext cx="7112217" cy="3987800"/>
          </a:xfrm>
          <a:prstGeom prst="rect">
            <a:avLst/>
          </a:prstGeom>
        </p:spPr>
        <p:txBody>
          <a:bodyPr anchor="b"/>
          <a:lstStyle>
            <a:lvl1pPr>
              <a:defRPr sz="8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39" y="4762500"/>
            <a:ext cx="7112217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267"/>
            </a:lvl1pPr>
            <a:lvl2pPr marL="0" indent="304815" algn="ctr">
              <a:spcBef>
                <a:spcPts val="0"/>
              </a:spcBef>
              <a:buSzTx/>
              <a:buNone/>
              <a:defRPr sz="4267"/>
            </a:lvl2pPr>
            <a:lvl3pPr marL="0" indent="609630" algn="ctr">
              <a:spcBef>
                <a:spcPts val="0"/>
              </a:spcBef>
              <a:buSzTx/>
              <a:buNone/>
              <a:defRPr sz="4267"/>
            </a:lvl3pPr>
            <a:lvl4pPr marL="0" indent="914446" algn="ctr">
              <a:spcBef>
                <a:spcPts val="0"/>
              </a:spcBef>
              <a:buSzTx/>
              <a:buNone/>
              <a:defRPr sz="4267"/>
            </a:lvl4pPr>
            <a:lvl5pPr marL="0" indent="1219261" algn="ctr">
              <a:spcBef>
                <a:spcPts val="0"/>
              </a:spcBef>
              <a:buSzTx/>
              <a:buNone/>
              <a:defRPr sz="4267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13"/>
          </p:nvPr>
        </p:nvSpPr>
        <p:spPr>
          <a:xfrm>
            <a:off x="6045385" y="2603500"/>
            <a:ext cx="12573384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39" y="2603500"/>
            <a:ext cx="7112217" cy="6286500"/>
          </a:xfrm>
          <a:prstGeom prst="rect">
            <a:avLst/>
          </a:prstGeom>
        </p:spPr>
        <p:txBody>
          <a:bodyPr/>
          <a:lstStyle>
            <a:lvl1pPr marL="457223" indent="-457223">
              <a:spcBef>
                <a:spcPts val="4267"/>
              </a:spcBef>
              <a:defRPr sz="3734"/>
            </a:lvl1pPr>
            <a:lvl2pPr marL="914446" indent="-457223">
              <a:spcBef>
                <a:spcPts val="4267"/>
              </a:spcBef>
              <a:defRPr sz="3734"/>
            </a:lvl2pPr>
            <a:lvl3pPr marL="1371669" indent="-457223">
              <a:spcBef>
                <a:spcPts val="4267"/>
              </a:spcBef>
              <a:defRPr sz="3734"/>
            </a:lvl3pPr>
            <a:lvl4pPr marL="1828891" indent="-457223">
              <a:spcBef>
                <a:spcPts val="4267"/>
              </a:spcBef>
              <a:defRPr sz="3734"/>
            </a:lvl4pPr>
            <a:lvl5pPr marL="2286114" indent="-457223">
              <a:spcBef>
                <a:spcPts val="4267"/>
              </a:spcBef>
              <a:defRPr sz="3734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39" y="1270000"/>
            <a:ext cx="14800185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8907206" y="5026948"/>
            <a:ext cx="8077448" cy="404070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8670131" y="886748"/>
            <a:ext cx="7823439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3166630" y="889001"/>
            <a:ext cx="15968621" cy="7984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693385" y="6362700"/>
            <a:ext cx="13953493" cy="59503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693385" y="4168922"/>
            <a:ext cx="13953493" cy="88235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067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-1083767" y="0"/>
            <a:ext cx="20310042" cy="10160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270039" y="444500"/>
            <a:ext cx="14800185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39" y="2603500"/>
            <a:ext cx="14800185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4383" y="9251950"/>
            <a:ext cx="514564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592696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185393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778089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2370785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963482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3556178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4148874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4741570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5334267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t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2DCA7A-ACCA-F044-84E8-575B0F4644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0" b="34173"/>
          <a:stretch/>
        </p:blipFill>
        <p:spPr>
          <a:xfrm>
            <a:off x="-16286" y="0"/>
            <a:ext cx="17372834" cy="2510118"/>
          </a:xfrm>
          <a:prstGeom prst="rect">
            <a:avLst/>
          </a:prstGeom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C33C4B-F6F1-A642-83E1-7C3D71B89234}"/>
              </a:ext>
            </a:extLst>
          </p:cNvPr>
          <p:cNvSpPr txBox="1">
            <a:spLocks/>
          </p:cNvSpPr>
          <p:nvPr/>
        </p:nvSpPr>
        <p:spPr>
          <a:xfrm>
            <a:off x="148083" y="3235895"/>
            <a:ext cx="17000952" cy="2387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marR="0" indent="0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304815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609630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914446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1219261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524076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828891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2133707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2438522" algn="ctr" defTabSz="778972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67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7200" b="1" dirty="0">
                <a:solidFill>
                  <a:schemeClr val="accent1"/>
                </a:solidFill>
                <a:latin typeface="Calibri Light"/>
                <a:cs typeface="Calibri Light"/>
              </a:rPr>
              <a:t>ACESSIBLE AREA + VARIABLE SELECTION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7BE0B-614A-E042-B001-2EE4EA766AA6}"/>
              </a:ext>
            </a:extLst>
          </p:cNvPr>
          <p:cNvSpPr txBox="1"/>
          <p:nvPr/>
        </p:nvSpPr>
        <p:spPr>
          <a:xfrm>
            <a:off x="6188319" y="5627003"/>
            <a:ext cx="4381328" cy="132343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Makenzie E Mabry</a:t>
            </a:r>
            <a:endParaRPr lang="en-US" sz="4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Florida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3F8834-53FB-17B1-CAF1-B897CB731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730" y="8210353"/>
            <a:ext cx="4246372" cy="131100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BE06C6-FA79-1E3D-FD31-F2B082C947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6015" y="8454994"/>
            <a:ext cx="4665827" cy="8279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E66CDE-77E9-3CBF-32C5-7FF73D4F05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744" y="8270124"/>
            <a:ext cx="3809789" cy="1196818"/>
          </a:xfrm>
          <a:prstGeom prst="rect">
            <a:avLst/>
          </a:prstGeom>
        </p:spPr>
      </p:pic>
      <p:pic>
        <p:nvPicPr>
          <p:cNvPr id="7" name="Picture 6" descr="File:NSF Logo.jpg - Wikimedia Commons">
            <a:extLst>
              <a:ext uri="{FF2B5EF4-FFF2-40B4-BE49-F238E27FC236}">
                <a16:creationId xmlns:a16="http://schemas.microsoft.com/office/drawing/2014/main" id="{693BD4C2-73E8-9302-DF63-69EF3E269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4388" y="8163358"/>
            <a:ext cx="1555756" cy="152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257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79F4E65-B242-5D4A-9298-57D6D10AE99B}"/>
              </a:ext>
            </a:extLst>
          </p:cNvPr>
          <p:cNvGrpSpPr/>
          <p:nvPr/>
        </p:nvGrpSpPr>
        <p:grpSpPr>
          <a:xfrm>
            <a:off x="7016163" y="1932760"/>
            <a:ext cx="9681382" cy="5515187"/>
            <a:chOff x="4968080" y="444500"/>
            <a:chExt cx="11726991" cy="6477000"/>
          </a:xfrm>
        </p:grpSpPr>
        <p:pic>
          <p:nvPicPr>
            <p:cNvPr id="4" name="Picture 3" descr="Diagram, venn diagram&#10;&#10;Description automatically generated">
              <a:extLst>
                <a:ext uri="{FF2B5EF4-FFF2-40B4-BE49-F238E27FC236}">
                  <a16:creationId xmlns:a16="http://schemas.microsoft.com/office/drawing/2014/main" id="{107A868D-E400-4746-8249-EEA875EEA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8080" y="444500"/>
              <a:ext cx="11726991" cy="6477000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91FA6A0-9B5B-9E4A-AF16-E4119A73F338}"/>
                </a:ext>
              </a:extLst>
            </p:cNvPr>
            <p:cNvSpPr/>
            <p:nvPr/>
          </p:nvSpPr>
          <p:spPr>
            <a:xfrm>
              <a:off x="4968080" y="573437"/>
              <a:ext cx="580313" cy="697424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365EA-ABD9-264F-8CE5-FA25ED5F7F9B}"/>
              </a:ext>
            </a:extLst>
          </p:cNvPr>
          <p:cNvSpPr/>
          <p:nvPr/>
        </p:nvSpPr>
        <p:spPr>
          <a:xfrm>
            <a:off x="566234" y="1381437"/>
            <a:ext cx="5511592" cy="74789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/>
            <a:endParaRPr lang="en-US" sz="4000" dirty="0">
              <a:solidFill>
                <a:srgbClr val="2E2E2E"/>
              </a:solidFill>
            </a:endParaRPr>
          </a:p>
          <a:p>
            <a:pPr marL="571500" indent="-571500" algn="l">
              <a:buFont typeface="Arial"/>
              <a:buChar char="•"/>
            </a:pPr>
            <a:r>
              <a:rPr lang="en-US" sz="4000" dirty="0">
                <a:solidFill>
                  <a:srgbClr val="2E2E2E"/>
                </a:solidFill>
              </a:rPr>
              <a:t>Accessible area can be defined based on:</a:t>
            </a:r>
          </a:p>
          <a:p>
            <a:pPr marL="1143000" lvl="2" indent="-571500" algn="l">
              <a:buFont typeface="Arial"/>
              <a:buChar char="•"/>
            </a:pPr>
            <a:r>
              <a:rPr lang="en-US" sz="4000">
                <a:solidFill>
                  <a:srgbClr val="2E2E2E"/>
                </a:solidFill>
              </a:rPr>
              <a:t>species ecology</a:t>
            </a:r>
            <a:endParaRPr lang="en-US" sz="4000" dirty="0">
              <a:solidFill>
                <a:srgbClr val="2E2E2E"/>
              </a:solidFill>
            </a:endParaRPr>
          </a:p>
          <a:p>
            <a:pPr marL="1143000" lvl="2" indent="-571500" algn="l">
              <a:buFont typeface="Arial"/>
              <a:buChar char="•"/>
            </a:pPr>
            <a:r>
              <a:rPr lang="en-US" sz="4000">
                <a:solidFill>
                  <a:srgbClr val="2E2E2E"/>
                </a:solidFill>
              </a:rPr>
              <a:t>dispersal ability</a:t>
            </a:r>
          </a:p>
          <a:p>
            <a:pPr marL="1143000" lvl="2" indent="-571500" algn="l">
              <a:buFont typeface="Arial"/>
              <a:buChar char="•"/>
            </a:pPr>
            <a:r>
              <a:rPr lang="en-US" sz="4000" dirty="0">
                <a:solidFill>
                  <a:srgbClr val="2E2E2E"/>
                </a:solidFill>
              </a:rPr>
              <a:t>geographical barriers</a:t>
            </a:r>
            <a:endParaRPr lang="en-US" sz="4000" dirty="0">
              <a:solidFill>
                <a:srgbClr val="2E2E2E"/>
              </a:solidFill>
              <a:ea typeface="Calibri"/>
              <a:cs typeface="Calibri"/>
            </a:endParaRPr>
          </a:p>
          <a:p>
            <a:pPr marL="571500" indent="-571500" algn="l">
              <a:buFont typeface="Arial"/>
              <a:buChar char="•"/>
            </a:pPr>
            <a:r>
              <a:rPr lang="en-US" sz="4000" b="1" dirty="0">
                <a:solidFill>
                  <a:srgbClr val="2E2E2E"/>
                </a:solidFill>
              </a:rPr>
              <a:t>Accessible</a:t>
            </a:r>
            <a:r>
              <a:rPr lang="en-US" sz="4000" b="1" dirty="0">
                <a:solidFill>
                  <a:srgbClr val="2E2E2E"/>
                </a:solidFill>
                <a:ea typeface="+mn-lt"/>
                <a:cs typeface="+mn-lt"/>
              </a:rPr>
              <a:t> area (M)</a:t>
            </a:r>
            <a:r>
              <a:rPr lang="en-US" sz="4000" dirty="0">
                <a:solidFill>
                  <a:srgbClr val="2E2E2E"/>
                </a:solidFill>
                <a:ea typeface="+mn-lt"/>
                <a:cs typeface="+mn-lt"/>
              </a:rPr>
              <a:t> defines where a species </a:t>
            </a:r>
            <a:r>
              <a:rPr lang="en-US" sz="4000" i="1" dirty="0">
                <a:solidFill>
                  <a:srgbClr val="2E2E2E"/>
                </a:solidFill>
                <a:ea typeface="+mn-lt"/>
                <a:cs typeface="+mn-lt"/>
              </a:rPr>
              <a:t>could</a:t>
            </a:r>
            <a:r>
              <a:rPr lang="en-US" sz="4000" dirty="0">
                <a:solidFill>
                  <a:srgbClr val="2E2E2E"/>
                </a:solidFill>
                <a:ea typeface="+mn-lt"/>
                <a:cs typeface="+mn-lt"/>
              </a:rPr>
              <a:t> have dispersed to, given geography and history.</a:t>
            </a:r>
            <a:endParaRPr lang="en-US" sz="4000" dirty="0">
              <a:solidFill>
                <a:srgbClr val="2E2E2E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B129D0-1E6B-0148-8158-5FA43C8E78FC}"/>
              </a:ext>
            </a:extLst>
          </p:cNvPr>
          <p:cNvSpPr txBox="1"/>
          <p:nvPr/>
        </p:nvSpPr>
        <p:spPr>
          <a:xfrm>
            <a:off x="12159404" y="8127447"/>
            <a:ext cx="4839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Brown and </a:t>
            </a:r>
            <a:r>
              <a:rPr lang="en-US" sz="2400" dirty="0" err="1"/>
              <a:t>Carnaval</a:t>
            </a:r>
            <a:r>
              <a:rPr lang="en-US" sz="2400" dirty="0"/>
              <a:t>. 2019. A tale of two niche: methods, concepts, and evolution. Frontiers of Biogeography.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65827-26FD-3B2D-B1A6-FFC8E6429160}"/>
              </a:ext>
            </a:extLst>
          </p:cNvPr>
          <p:cNvSpPr txBox="1"/>
          <p:nvPr/>
        </p:nvSpPr>
        <p:spPr>
          <a:xfrm>
            <a:off x="134060" y="456210"/>
            <a:ext cx="7514878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</a:rPr>
              <a:t>Defining Accessible Area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63150-0292-EB08-54CB-79FAFD9BE6DA}"/>
              </a:ext>
            </a:extLst>
          </p:cNvPr>
          <p:cNvSpPr txBox="1"/>
          <p:nvPr/>
        </p:nvSpPr>
        <p:spPr>
          <a:xfrm>
            <a:off x="6276137" y="5924792"/>
            <a:ext cx="2194948" cy="1286350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7965392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F3D7EF6-8B2A-BB44-8D7D-C01EBB33F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00" y="1565501"/>
            <a:ext cx="8286850" cy="413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B413B7-E0C4-B1F3-40CA-742D806F1FB4}"/>
              </a:ext>
            </a:extLst>
          </p:cNvPr>
          <p:cNvSpPr txBox="1"/>
          <p:nvPr/>
        </p:nvSpPr>
        <p:spPr>
          <a:xfrm>
            <a:off x="6474275" y="89925"/>
            <a:ext cx="10265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361B5-662F-18A6-0199-35821AAEC2CA}"/>
              </a:ext>
            </a:extLst>
          </p:cNvPr>
          <p:cNvSpPr txBox="1"/>
          <p:nvPr/>
        </p:nvSpPr>
        <p:spPr>
          <a:xfrm>
            <a:off x="250356" y="214526"/>
            <a:ext cx="1282562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  <a:ea typeface="+mn-lt"/>
                <a:cs typeface="+mn-lt"/>
              </a:rPr>
              <a:t>The Role of the Accessible Area (M) in ENM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2" name="Picture 1" descr="A map of the united states&#10;&#10;AI-generated content may be incorrect.">
            <a:extLst>
              <a:ext uri="{FF2B5EF4-FFF2-40B4-BE49-F238E27FC236}">
                <a16:creationId xmlns:a16="http://schemas.microsoft.com/office/drawing/2014/main" id="{FCB8BB23-532B-E8CE-F834-85BCCDDB0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796" y="1311291"/>
            <a:ext cx="7769165" cy="55782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CCDC77-72E3-E323-EB83-C13D32DD7CC3}"/>
              </a:ext>
            </a:extLst>
          </p:cNvPr>
          <p:cNvSpPr txBox="1"/>
          <p:nvPr/>
        </p:nvSpPr>
        <p:spPr>
          <a:xfrm>
            <a:off x="2782128" y="7553066"/>
            <a:ext cx="9957608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Add a buffer around the species distribution to capture potential movement. </a:t>
            </a:r>
          </a:p>
        </p:txBody>
      </p:sp>
    </p:spTree>
    <p:extLst>
      <p:ext uri="{BB962C8B-B14F-4D97-AF65-F5344CB8AC3E}">
        <p14:creationId xmlns:p14="http://schemas.microsoft.com/office/powerpoint/2010/main" val="359591438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6A9E0-AFB4-907A-489C-9878FF9AA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5A05900-F8CA-0A79-5606-A144CD91D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00" y="1565501"/>
            <a:ext cx="8286850" cy="4135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F93EF7-7965-473C-37FE-415680765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209" y="1413591"/>
            <a:ext cx="7050352" cy="55071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9F3A3B-FE49-95B6-F4A5-B702AD2F0679}"/>
              </a:ext>
            </a:extLst>
          </p:cNvPr>
          <p:cNvSpPr txBox="1"/>
          <p:nvPr/>
        </p:nvSpPr>
        <p:spPr>
          <a:xfrm>
            <a:off x="3415356" y="7459078"/>
            <a:ext cx="10458851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marR="0" indent="-5715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More area, AUC increased. </a:t>
            </a:r>
            <a:endParaRPr lang="en-US">
              <a:ea typeface="+mn-ea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Higher model significance as buffer size increased.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A0CDD-7C04-B7CF-25DD-4514DBCBF850}"/>
              </a:ext>
            </a:extLst>
          </p:cNvPr>
          <p:cNvSpPr txBox="1"/>
          <p:nvPr/>
        </p:nvSpPr>
        <p:spPr>
          <a:xfrm>
            <a:off x="6474275" y="89925"/>
            <a:ext cx="10265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E4C6C-8E61-C4BA-0A86-7907C8ABABF1}"/>
              </a:ext>
            </a:extLst>
          </p:cNvPr>
          <p:cNvSpPr txBox="1"/>
          <p:nvPr/>
        </p:nvSpPr>
        <p:spPr>
          <a:xfrm>
            <a:off x="250356" y="214526"/>
            <a:ext cx="1282562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  <a:ea typeface="+mn-lt"/>
                <a:cs typeface="+mn-lt"/>
              </a:rPr>
              <a:t>The Role of the Accessible Area (M) in ENM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5378825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1D8366-9642-9430-B140-CD7EF8796ED0}"/>
              </a:ext>
            </a:extLst>
          </p:cNvPr>
          <p:cNvSpPr txBox="1"/>
          <p:nvPr/>
        </p:nvSpPr>
        <p:spPr>
          <a:xfrm>
            <a:off x="763160" y="1699560"/>
            <a:ext cx="7159664" cy="72122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2800" b="1" dirty="0">
                <a:ea typeface="+mn-lt"/>
                <a:cs typeface="+mn-lt"/>
              </a:rPr>
              <a:t>Create spatial boundary around species occurrences.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2800" dirty="0">
                <a:ea typeface="+mn-lt"/>
                <a:cs typeface="+mn-lt"/>
              </a:rPr>
              <a:t>Create a Spatial Buffer around occurrence boundary.</a:t>
            </a:r>
            <a:endParaRPr lang="en-US">
              <a:ea typeface="Calibri"/>
              <a:cs typeface="Calibri"/>
            </a:endParaRPr>
          </a:p>
          <a:p>
            <a:pPr marL="742950" lvl="1" indent="0" algn="l">
              <a:lnSpc>
                <a:spcPct val="150000"/>
              </a:lnSpc>
            </a:pPr>
            <a:r>
              <a:rPr lang="en-US" sz="2800" dirty="0">
                <a:ea typeface="+mn-lt"/>
                <a:cs typeface="+mn-lt"/>
              </a:rPr>
              <a:t>→ Measure pairwise distances between species occurrences.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→ Extract the 80th percentile distance as a buffer radius.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+mn-cs"/>
                <a:sym typeface="Helvetica Light"/>
              </a:rPr>
              <a:t>Obtain 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Calibri Light"/>
                <a:sym typeface="Helvetica Light"/>
              </a:rPr>
              <a:t>g</a:t>
            </a:r>
            <a:r>
              <a:rPr lang="en-US" sz="2800" dirty="0">
                <a:cs typeface="Calibri Light"/>
              </a:rPr>
              <a:t>ridded abiotic data layers.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dirty="0"/>
              <a:t>Crop layers to the shared accessible area.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dirty="0"/>
              <a:t>Select layers for ecological niche modeling.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5BDE70-4B61-D53B-2FF1-25C98585B6D4}"/>
              </a:ext>
            </a:extLst>
          </p:cNvPr>
          <p:cNvSpPr txBox="1"/>
          <p:nvPr/>
        </p:nvSpPr>
        <p:spPr>
          <a:xfrm>
            <a:off x="126514" y="103275"/>
            <a:ext cx="11703525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</a:rPr>
              <a:t>Defining the Accessible Area in Practice</a:t>
            </a:r>
          </a:p>
        </p:txBody>
      </p:sp>
      <p:pic>
        <p:nvPicPr>
          <p:cNvPr id="10" name="Picture 9" descr="A map of the united states&#10;&#10;AI-generated content may be incorrect.">
            <a:extLst>
              <a:ext uri="{FF2B5EF4-FFF2-40B4-BE49-F238E27FC236}">
                <a16:creationId xmlns:a16="http://schemas.microsoft.com/office/drawing/2014/main" id="{7DDE1E73-3774-6447-3626-7B2243F14A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93" r="18511"/>
          <a:stretch>
            <a:fillRect/>
          </a:stretch>
        </p:blipFill>
        <p:spPr>
          <a:xfrm>
            <a:off x="8065478" y="1884945"/>
            <a:ext cx="8785321" cy="702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1129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891D22-4F88-081C-B73C-69C5E75C277A}"/>
              </a:ext>
            </a:extLst>
          </p:cNvPr>
          <p:cNvSpPr txBox="1"/>
          <p:nvPr/>
        </p:nvSpPr>
        <p:spPr>
          <a:xfrm>
            <a:off x="53155" y="118620"/>
            <a:ext cx="12801581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</a:rPr>
              <a:t>Multiple ways to create species </a:t>
            </a:r>
            <a:r>
              <a:rPr lang="en-US" sz="5400">
                <a:solidFill>
                  <a:schemeClr val="accent1"/>
                </a:solidFill>
              </a:rPr>
              <a:t>boundaries</a:t>
            </a:r>
            <a:endParaRPr lang="en-US" sz="5400" dirty="0">
              <a:solidFill>
                <a:schemeClr val="accent1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62A83-E2CB-6B7C-E1D6-3C837C1F8AB9}"/>
              </a:ext>
            </a:extLst>
          </p:cNvPr>
          <p:cNvSpPr txBox="1"/>
          <p:nvPr/>
        </p:nvSpPr>
        <p:spPr>
          <a:xfrm>
            <a:off x="338124" y="1596551"/>
            <a:ext cx="9470423" cy="70275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Calibri"/>
                <a:cs typeface="Arial"/>
              </a:rPr>
              <a:t>Convex Hull</a:t>
            </a:r>
            <a:r>
              <a:rPr lang="en-US" sz="2000" dirty="0">
                <a:ea typeface="Calibri"/>
                <a:cs typeface="Arial"/>
              </a:rPr>
              <a:t> - </a:t>
            </a:r>
            <a:r>
              <a:rPr lang="en-US" sz="2000" dirty="0">
                <a:ea typeface="Calibri"/>
                <a:cs typeface="Calibri"/>
              </a:rPr>
              <a:t>Encloses all points in the smallest convex polygon. </a:t>
            </a:r>
            <a:endParaRPr lang="en-US" sz="1600">
              <a:ea typeface="Calibri"/>
              <a:cs typeface="Calibri"/>
            </a:endParaRPr>
          </a:p>
          <a:p>
            <a:pPr marL="914400" lvl="4" indent="-342900" algn="l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Equivalent to the boundary formed by stretching a rubber band around the outermost points.</a:t>
            </a:r>
            <a:endParaRPr lang="en-US" sz="1600">
              <a:ea typeface="Calibri"/>
              <a:cs typeface="Calibri"/>
            </a:endParaRPr>
          </a:p>
          <a:p>
            <a:pPr marL="914400" lvl="4" indent="-342900" algn="l">
              <a:lnSpc>
                <a:spcPct val="150000"/>
              </a:lnSpc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marL="342900" indent="-342900" algn="l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Calibri"/>
                <a:cs typeface="Calibri"/>
              </a:rPr>
              <a:t>Alpha Hull </a:t>
            </a:r>
            <a:r>
              <a:rPr lang="en-US" sz="2000" dirty="0">
                <a:ea typeface="Calibri"/>
                <a:cs typeface="Calibri"/>
              </a:rPr>
              <a:t>- A flexible, concave boundary estimator controlled by an alpha value. </a:t>
            </a:r>
            <a:endParaRPr lang="en-US" sz="2400" dirty="0">
              <a:ea typeface="Calibri"/>
              <a:cs typeface="Calibri"/>
            </a:endParaRPr>
          </a:p>
          <a:p>
            <a:pPr marL="914400" lvl="4" indent="-342900" algn="l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Captures non-convex patterns and gaps in occurrence data (e.g., disjunct populations, island distributions). </a:t>
            </a:r>
            <a:r>
              <a:rPr lang="en-US" sz="2000" dirty="0">
                <a:solidFill>
                  <a:srgbClr val="FF0000"/>
                </a:solidFill>
                <a:ea typeface="Calibri"/>
                <a:cs typeface="Calibri"/>
              </a:rPr>
              <a:t>&lt;- we do this today</a:t>
            </a:r>
            <a:endParaRPr lang="en-US" sz="2400" dirty="0">
              <a:ea typeface="Calibri"/>
              <a:cs typeface="Calibri"/>
            </a:endParaRPr>
          </a:p>
          <a:p>
            <a:pPr marL="914400" lvl="4" indent="-342900" algn="l">
              <a:lnSpc>
                <a:spcPct val="150000"/>
              </a:lnSpc>
              <a:buFont typeface="Arial"/>
              <a:buChar char="•"/>
            </a:pPr>
            <a:endParaRPr lang="en-US" sz="2000" dirty="0">
              <a:ea typeface="Calibri" panose="020F0502020204030204"/>
              <a:cs typeface="Calibri"/>
            </a:endParaRPr>
          </a:p>
          <a:p>
            <a:pPr marL="342900" indent="-342900" algn="l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cs typeface="Arial"/>
              </a:rPr>
              <a:t>Ecoregions </a:t>
            </a:r>
            <a:r>
              <a:rPr lang="en-US" sz="2000" dirty="0">
                <a:cs typeface="Arial"/>
              </a:rPr>
              <a:t>- Identify clear distributional boundaries and ecoregions using the World Wildlife Fund Terrestrial Ecoregions (see </a:t>
            </a:r>
            <a:r>
              <a:rPr lang="en-US" sz="2000" dirty="0" err="1">
                <a:cs typeface="Arial"/>
              </a:rPr>
              <a:t>Rautsaw</a:t>
            </a:r>
            <a:r>
              <a:rPr lang="en-US" sz="2000" dirty="0">
                <a:cs typeface="Arial"/>
              </a:rPr>
              <a:t> et al. 2022).​</a:t>
            </a:r>
            <a:endParaRPr lang="en-US" sz="1600" dirty="0">
              <a:ea typeface="Calibri"/>
              <a:cs typeface="Calibri"/>
            </a:endParaRPr>
          </a:p>
          <a:p>
            <a:pPr marL="342900" indent="-342900" algn="l">
              <a:lnSpc>
                <a:spcPct val="150000"/>
              </a:lnSpc>
              <a:buFont typeface="Arial"/>
              <a:buChar char="•"/>
            </a:pPr>
            <a:endParaRPr lang="en-US" sz="2000" dirty="0">
              <a:ea typeface="Calibri"/>
              <a:cs typeface="Arial"/>
            </a:endParaRPr>
          </a:p>
          <a:p>
            <a:pPr marL="342900" indent="-342900" algn="l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ea typeface="Calibri"/>
                <a:cs typeface="Arial"/>
              </a:rPr>
              <a:t>Point-based </a:t>
            </a:r>
            <a:r>
              <a:rPr lang="en-US" sz="2000" dirty="0">
                <a:ea typeface="Calibri"/>
                <a:cs typeface="Arial"/>
              </a:rPr>
              <a:t>- Defines species’ accessible area directly from occurrence coordinates.</a:t>
            </a:r>
            <a:endParaRPr lang="en-US" sz="2800" dirty="0">
              <a:ea typeface="Calibri"/>
              <a:cs typeface="Calibri"/>
            </a:endParaRPr>
          </a:p>
          <a:p>
            <a:pPr marL="914400" lvl="4" indent="-342900" algn="l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Constructs boundaries (e.g., convex or alpha hulls) and buffers using the spatial structure of the occurrence points (see Melton et al. 2022).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lnSpc>
                <a:spcPct val="150000"/>
              </a:lnSpc>
              <a:buFont typeface="Arial"/>
              <a:buChar char="•"/>
            </a:pPr>
            <a:endParaRPr lang="en-US" sz="2000" dirty="0">
              <a:ea typeface="Calibri"/>
              <a:cs typeface="Arial"/>
            </a:endParaRPr>
          </a:p>
        </p:txBody>
      </p:sp>
      <p:pic>
        <p:nvPicPr>
          <p:cNvPr id="6" name="Picture 5" descr="Level III Ecoregions">
            <a:extLst>
              <a:ext uri="{FF2B5EF4-FFF2-40B4-BE49-F238E27FC236}">
                <a16:creationId xmlns:a16="http://schemas.microsoft.com/office/drawing/2014/main" id="{6CB59436-3AAC-8A1A-785E-312E36911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475" y="2010639"/>
            <a:ext cx="6552221" cy="658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0071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3EE07-AE80-4446-374B-A1858E88B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CA904A-6231-EA29-5EBA-3215BC1BA1FB}"/>
              </a:ext>
            </a:extLst>
          </p:cNvPr>
          <p:cNvSpPr txBox="1"/>
          <p:nvPr/>
        </p:nvSpPr>
        <p:spPr>
          <a:xfrm>
            <a:off x="763160" y="1699560"/>
            <a:ext cx="7159664" cy="72122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2800" dirty="0">
                <a:ea typeface="+mn-lt"/>
                <a:cs typeface="+mn-lt"/>
              </a:rPr>
              <a:t>Create spatial boundary around species occurrences.</a:t>
            </a:r>
            <a:endParaRPr lang="en-US" sz="2800" b="1" dirty="0">
              <a:ea typeface="+mn-lt"/>
              <a:cs typeface="+mn-lt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2800" b="1" dirty="0">
                <a:ea typeface="+mn-lt"/>
                <a:cs typeface="+mn-lt"/>
              </a:rPr>
              <a:t>Creating a Spatial Buffer Around Occurrence Alpha Hull</a:t>
            </a:r>
            <a:endParaRPr lang="en-US" b="1" dirty="0">
              <a:ea typeface="Calibri"/>
              <a:cs typeface="Calibri"/>
            </a:endParaRPr>
          </a:p>
          <a:p>
            <a:pPr marL="742950" lvl="1" indent="0" algn="l">
              <a:lnSpc>
                <a:spcPct val="150000"/>
              </a:lnSpc>
            </a:pPr>
            <a:r>
              <a:rPr lang="en-US" sz="2800" b="1" dirty="0">
                <a:ea typeface="+mn-lt"/>
                <a:cs typeface="+mn-lt"/>
              </a:rPr>
              <a:t>→ Measure pairwise distances between species occurrences.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→ Extract the 80th percentile distance as a buffer radius.</a:t>
            </a:r>
            <a:endParaRPr lang="en-US" sz="2800" b="1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+mn-cs"/>
                <a:sym typeface="Helvetica Light"/>
              </a:rPr>
              <a:t>Obtain 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Calibri Light"/>
                <a:sym typeface="Helvetica Light"/>
              </a:rPr>
              <a:t>g</a:t>
            </a:r>
            <a:r>
              <a:rPr lang="en-US" sz="2800" dirty="0">
                <a:cs typeface="Calibri Light"/>
              </a:rPr>
              <a:t>ridded abiotic data layers.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dirty="0"/>
              <a:t>Crop layers to the shared accessible area.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dirty="0"/>
              <a:t>Select layers for ecological niche modeling.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7C52A-0883-FFDA-6C6C-BC602102064D}"/>
              </a:ext>
            </a:extLst>
          </p:cNvPr>
          <p:cNvSpPr txBox="1"/>
          <p:nvPr/>
        </p:nvSpPr>
        <p:spPr>
          <a:xfrm>
            <a:off x="126514" y="103275"/>
            <a:ext cx="11703525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</a:rPr>
              <a:t>Defining the Accessible Area in Practice</a:t>
            </a:r>
          </a:p>
        </p:txBody>
      </p:sp>
      <p:pic>
        <p:nvPicPr>
          <p:cNvPr id="2" name="Picture 1" descr="A map of the united states&#10;&#10;AI-generated content may be incorrect.">
            <a:extLst>
              <a:ext uri="{FF2B5EF4-FFF2-40B4-BE49-F238E27FC236}">
                <a16:creationId xmlns:a16="http://schemas.microsoft.com/office/drawing/2014/main" id="{12A35CA8-B575-F77C-F777-2EF0DCD14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11" r="17557"/>
          <a:stretch>
            <a:fillRect/>
          </a:stretch>
        </p:blipFill>
        <p:spPr>
          <a:xfrm>
            <a:off x="7941714" y="1946325"/>
            <a:ext cx="8923553" cy="688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6589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72ED55-87B4-7C95-8694-FE4D216F5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95" y="1031867"/>
            <a:ext cx="16244852" cy="81011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F6AB6D-FDF5-B24D-557D-0E4C040FE969}"/>
              </a:ext>
            </a:extLst>
          </p:cNvPr>
          <p:cNvSpPr txBox="1"/>
          <p:nvPr/>
        </p:nvSpPr>
        <p:spPr>
          <a:xfrm>
            <a:off x="126514" y="103275"/>
            <a:ext cx="11703525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</a:rPr>
              <a:t>Defining the Accessible Area in Practice</a:t>
            </a:r>
          </a:p>
        </p:txBody>
      </p:sp>
    </p:spTree>
    <p:extLst>
      <p:ext uri="{BB962C8B-B14F-4D97-AF65-F5344CB8AC3E}">
        <p14:creationId xmlns:p14="http://schemas.microsoft.com/office/powerpoint/2010/main" val="186663751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3D471-6C9D-B039-A4E8-D168DCB6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D2F797-3C41-CA40-DF97-A501135C9E0D}"/>
              </a:ext>
            </a:extLst>
          </p:cNvPr>
          <p:cNvSpPr txBox="1"/>
          <p:nvPr/>
        </p:nvSpPr>
        <p:spPr>
          <a:xfrm>
            <a:off x="763160" y="1699560"/>
            <a:ext cx="7159664" cy="59195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2800" dirty="0">
                <a:ea typeface="+mn-lt"/>
                <a:cs typeface="+mn-lt"/>
              </a:rPr>
              <a:t>Creating a Spatial Buffer Around Occurrence Convex Hull</a:t>
            </a:r>
            <a:endParaRPr lang="en-US">
              <a:ea typeface="Calibri"/>
              <a:cs typeface="Calibri"/>
            </a:endParaRPr>
          </a:p>
          <a:p>
            <a:pPr marL="742950" lvl="1" indent="0" algn="l">
              <a:lnSpc>
                <a:spcPct val="150000"/>
              </a:lnSpc>
            </a:pPr>
            <a:r>
              <a:rPr lang="en-US" sz="2800" dirty="0">
                <a:ea typeface="+mn-lt"/>
                <a:cs typeface="+mn-lt"/>
              </a:rPr>
              <a:t>→ Measure pairwise distances between species occurrences.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→ Extract the 80th percentile distance as a buffer radius.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+mn-cs"/>
                <a:sym typeface="Helvetica Light"/>
              </a:rPr>
              <a:t>Obtain 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Calibri Light"/>
                <a:sym typeface="Helvetica Light"/>
              </a:rPr>
              <a:t>g</a:t>
            </a:r>
            <a:r>
              <a:rPr lang="en-US" sz="2800" b="1" dirty="0">
                <a:cs typeface="Calibri Light"/>
              </a:rPr>
              <a:t>ridded abiotic data layers.</a:t>
            </a:r>
            <a:endParaRPr lang="en-US" sz="2800" b="1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dirty="0"/>
              <a:t>Crop layers to the shared accessible area.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dirty="0"/>
              <a:t>Select layers for ecological niche modeling.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62716-670D-939B-25E6-612740A4F0EA}"/>
              </a:ext>
            </a:extLst>
          </p:cNvPr>
          <p:cNvSpPr txBox="1"/>
          <p:nvPr/>
        </p:nvSpPr>
        <p:spPr>
          <a:xfrm>
            <a:off x="126514" y="103275"/>
            <a:ext cx="11703525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</a:rPr>
              <a:t>Defining the Accessible Area in Practice</a:t>
            </a:r>
          </a:p>
        </p:txBody>
      </p:sp>
      <p:pic>
        <p:nvPicPr>
          <p:cNvPr id="3" name="Picture 2" descr="Data mining resources for species distribution modeling and macroecology -  blog">
            <a:extLst>
              <a:ext uri="{FF2B5EF4-FFF2-40B4-BE49-F238E27FC236}">
                <a16:creationId xmlns:a16="http://schemas.microsoft.com/office/drawing/2014/main" id="{7A2CD991-411D-8DA9-E5F1-09DB8B03D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647" y="1096910"/>
            <a:ext cx="7489114" cy="1207699"/>
          </a:xfrm>
          <a:prstGeom prst="rect">
            <a:avLst/>
          </a:prstGeom>
        </p:spPr>
      </p:pic>
      <p:pic>
        <p:nvPicPr>
          <p:cNvPr id="4" name="Picture 3" descr="World bioclimatic Data downloading, analysis and visualization | by Hafez  Ahmad | Medium">
            <a:extLst>
              <a:ext uri="{FF2B5EF4-FFF2-40B4-BE49-F238E27FC236}">
                <a16:creationId xmlns:a16="http://schemas.microsoft.com/office/drawing/2014/main" id="{B590B5DD-DE86-ACEF-C016-AC8C4CBEF3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" r="23636"/>
          <a:stretch>
            <a:fillRect/>
          </a:stretch>
        </p:blipFill>
        <p:spPr>
          <a:xfrm>
            <a:off x="9247819" y="2443573"/>
            <a:ext cx="7148956" cy="706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03384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3BA67-C1A2-ACE4-35BA-80BAD707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10FA50-2B6F-D37E-BDD9-B09E3D584809}"/>
              </a:ext>
            </a:extLst>
          </p:cNvPr>
          <p:cNvSpPr txBox="1"/>
          <p:nvPr/>
        </p:nvSpPr>
        <p:spPr>
          <a:xfrm>
            <a:off x="763160" y="1699560"/>
            <a:ext cx="7159664" cy="59195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2800" dirty="0">
                <a:ea typeface="+mn-lt"/>
                <a:cs typeface="+mn-lt"/>
              </a:rPr>
              <a:t>Creating a Spatial Buffer Around Occurrence Convex Hull</a:t>
            </a:r>
            <a:endParaRPr lang="en-US">
              <a:ea typeface="Calibri"/>
              <a:cs typeface="Calibri"/>
            </a:endParaRPr>
          </a:p>
          <a:p>
            <a:pPr marL="742950" lvl="1" indent="0" algn="l">
              <a:lnSpc>
                <a:spcPct val="150000"/>
              </a:lnSpc>
            </a:pPr>
            <a:r>
              <a:rPr lang="en-US" sz="2800" dirty="0">
                <a:ea typeface="+mn-lt"/>
                <a:cs typeface="+mn-lt"/>
              </a:rPr>
              <a:t>→ Measure pairwise distances between species occurrences.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→ Extract the 80th percentile distance as a buffer radius.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kumimoji="0" lang="en-US" sz="2800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+mn-cs"/>
                <a:sym typeface="Helvetica Light"/>
              </a:rPr>
              <a:t>Obtain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Calibri Light"/>
                <a:sym typeface="Helvetica Light"/>
              </a:rPr>
              <a:t>g</a:t>
            </a:r>
            <a:r>
              <a:rPr lang="en-US" sz="2800" dirty="0">
                <a:cs typeface="Calibri Light"/>
              </a:rPr>
              <a:t>ridded abiotic data layers.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b="1" dirty="0"/>
              <a:t>Crop layers to the accessible area.</a:t>
            </a:r>
            <a:endParaRPr lang="en-US" sz="2800" b="1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dirty="0"/>
              <a:t>Select layers for ecological niche modeling.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95E7B-31DD-E813-2C12-1EA593A54136}"/>
              </a:ext>
            </a:extLst>
          </p:cNvPr>
          <p:cNvSpPr txBox="1"/>
          <p:nvPr/>
        </p:nvSpPr>
        <p:spPr>
          <a:xfrm>
            <a:off x="126514" y="103275"/>
            <a:ext cx="11703525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</a:rPr>
              <a:t>Defining the Accessible Area in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92834F-F866-0CB8-02E1-72DA7B637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427"/>
          <a:stretch>
            <a:fillRect/>
          </a:stretch>
        </p:blipFill>
        <p:spPr>
          <a:xfrm>
            <a:off x="8234171" y="1977015"/>
            <a:ext cx="8785318" cy="579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0333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CCD6-6D04-3195-442C-DEDFF0D2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6043B-4F59-AFE4-A595-1F1AEBC45F6C}"/>
              </a:ext>
            </a:extLst>
          </p:cNvPr>
          <p:cNvSpPr txBox="1"/>
          <p:nvPr/>
        </p:nvSpPr>
        <p:spPr>
          <a:xfrm>
            <a:off x="763160" y="1699560"/>
            <a:ext cx="7486838" cy="59195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2800" dirty="0">
                <a:ea typeface="+mn-lt"/>
                <a:cs typeface="+mn-lt"/>
              </a:rPr>
              <a:t>Creating a Spatial Buffer Around Occurrence Convex Hull</a:t>
            </a:r>
            <a:endParaRPr lang="en-US">
              <a:ea typeface="Calibri"/>
              <a:cs typeface="Calibri"/>
            </a:endParaRPr>
          </a:p>
          <a:p>
            <a:pPr marL="742950" lvl="1" indent="0" algn="l">
              <a:lnSpc>
                <a:spcPct val="150000"/>
              </a:lnSpc>
            </a:pPr>
            <a:r>
              <a:rPr lang="en-US" sz="2800" dirty="0">
                <a:ea typeface="+mn-lt"/>
                <a:cs typeface="+mn-lt"/>
              </a:rPr>
              <a:t>→ Measure pairwise distances between species occurrences.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→ Extract the 80th percentile distance as a buffer radius.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kumimoji="0" lang="en-US" sz="2800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+mn-cs"/>
                <a:sym typeface="Helvetica Light"/>
              </a:rPr>
              <a:t>Obtain </a:t>
            </a:r>
            <a:r>
              <a:rPr kumimoji="0" lang="en-US" sz="2800" i="0" u="none" strike="noStrike" cap="none" spc="0" normalizeH="0" baseline="0" dirty="0">
                <a:ln>
                  <a:noFill/>
                </a:ln>
                <a:effectLst/>
                <a:uFillTx/>
                <a:ea typeface="+mn-ea"/>
                <a:cs typeface="Calibri Light"/>
                <a:sym typeface="Helvetica Light"/>
              </a:rPr>
              <a:t>g</a:t>
            </a:r>
            <a:r>
              <a:rPr lang="en-US" sz="2800" dirty="0">
                <a:cs typeface="Calibri Light"/>
              </a:rPr>
              <a:t>ridded abiotic data layers.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dirty="0"/>
              <a:t>Crop layers to the accessible area.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pPr marL="742950" indent="-742950" algn="l">
              <a:lnSpc>
                <a:spcPct val="150000"/>
              </a:lnSpc>
              <a:buAutoNum type="arabicPeriod"/>
            </a:pPr>
            <a:r>
              <a:rPr lang="en-US" sz="2800" b="1" dirty="0"/>
              <a:t>Select layers for ecological niche modeling.</a:t>
            </a:r>
            <a:endParaRPr lang="en-US" sz="2800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1B22D-7E23-BB9A-3832-9FC5B6FF91C9}"/>
              </a:ext>
            </a:extLst>
          </p:cNvPr>
          <p:cNvSpPr txBox="1"/>
          <p:nvPr/>
        </p:nvSpPr>
        <p:spPr>
          <a:xfrm>
            <a:off x="126514" y="103275"/>
            <a:ext cx="11703525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1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r>
              <a:rPr lang="en-US" sz="5400" dirty="0">
                <a:solidFill>
                  <a:schemeClr val="accent1"/>
                </a:solidFill>
              </a:rPr>
              <a:t>Defining the Accessible Area in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1AEBCE-9C7B-FF8B-790E-0420CA9988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427"/>
          <a:stretch>
            <a:fillRect/>
          </a:stretch>
        </p:blipFill>
        <p:spPr>
          <a:xfrm>
            <a:off x="8234171" y="1977015"/>
            <a:ext cx="8785318" cy="57917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5EC9F7-FF86-2FB3-05F7-9249D7EA2DA8}"/>
              </a:ext>
            </a:extLst>
          </p:cNvPr>
          <p:cNvSpPr/>
          <p:nvPr/>
        </p:nvSpPr>
        <p:spPr>
          <a:xfrm>
            <a:off x="8223252" y="3542239"/>
            <a:ext cx="2989038" cy="1368536"/>
          </a:xfrm>
          <a:prstGeom prst="rect">
            <a:avLst/>
          </a:prstGeom>
          <a:noFill/>
          <a:ln w="5715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2B392-D515-E380-BA22-C7055D8A4912}"/>
              </a:ext>
            </a:extLst>
          </p:cNvPr>
          <p:cNvSpPr/>
          <p:nvPr/>
        </p:nvSpPr>
        <p:spPr>
          <a:xfrm>
            <a:off x="11194788" y="6486872"/>
            <a:ext cx="2896144" cy="1213716"/>
          </a:xfrm>
          <a:prstGeom prst="rect">
            <a:avLst/>
          </a:prstGeom>
          <a:noFill/>
          <a:ln w="5715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A51CB-AB6D-BE83-AB93-944DC9F3E358}"/>
              </a:ext>
            </a:extLst>
          </p:cNvPr>
          <p:cNvSpPr/>
          <p:nvPr/>
        </p:nvSpPr>
        <p:spPr>
          <a:xfrm>
            <a:off x="14077049" y="2172816"/>
            <a:ext cx="2937430" cy="1193074"/>
          </a:xfrm>
          <a:prstGeom prst="rect">
            <a:avLst/>
          </a:prstGeom>
          <a:noFill/>
          <a:ln w="5715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9DC754-9E9E-C24B-94E1-B0163858BAD6}"/>
              </a:ext>
            </a:extLst>
          </p:cNvPr>
          <p:cNvSpPr/>
          <p:nvPr/>
        </p:nvSpPr>
        <p:spPr>
          <a:xfrm>
            <a:off x="8020887" y="6515250"/>
            <a:ext cx="3102574" cy="1193074"/>
          </a:xfrm>
          <a:prstGeom prst="rect">
            <a:avLst/>
          </a:prstGeom>
          <a:noFill/>
          <a:ln w="57150" cap="flat">
            <a:solidFill>
              <a:srgbClr val="FF00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49848295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DF8513F-7D48-BF4A-8F3D-974A5E75D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628159"/>
              </p:ext>
            </p:extLst>
          </p:nvPr>
        </p:nvGraphicFramePr>
        <p:xfrm>
          <a:off x="779198" y="3368040"/>
          <a:ext cx="1578186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0622">
                  <a:extLst>
                    <a:ext uri="{9D8B030D-6E8A-4147-A177-3AD203B41FA5}">
                      <a16:colId xmlns:a16="http://schemas.microsoft.com/office/drawing/2014/main" val="1581968623"/>
                    </a:ext>
                  </a:extLst>
                </a:gridCol>
                <a:gridCol w="5260622">
                  <a:extLst>
                    <a:ext uri="{9D8B030D-6E8A-4147-A177-3AD203B41FA5}">
                      <a16:colId xmlns:a16="http://schemas.microsoft.com/office/drawing/2014/main" val="3636958093"/>
                    </a:ext>
                  </a:extLst>
                </a:gridCol>
                <a:gridCol w="5260622">
                  <a:extLst>
                    <a:ext uri="{9D8B030D-6E8A-4147-A177-3AD203B41FA5}">
                      <a16:colId xmlns:a16="http://schemas.microsoft.com/office/drawing/2014/main" val="2982360177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1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600" b="1" i="0" u="none" strike="noStrike" noProof="0" dirty="0">
                          <a:latin typeface="Calibri"/>
                        </a:rPr>
                        <a:t>Threshold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778972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1" i="0" u="none" strike="noStrike" noProof="0" dirty="0">
                          <a:latin typeface="Calibri"/>
                        </a:rPr>
                        <a:t>Purpose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54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b="0" dirty="0"/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="0" dirty="0"/>
                        <a:t>PC1 + PC2 = ~95%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78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0" dirty="0"/>
                        <a:t>Reduces variables to axis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89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rPr>
                        <a:t>Pearson correlation</a:t>
                      </a:r>
                      <a:endParaRPr lang="en-US" sz="3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="0" dirty="0"/>
                        <a:t>Removes variables  </a:t>
                      </a:r>
                      <a:r>
                        <a:rPr lang="en-US" sz="36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rPr>
                        <a:t>&gt; |0.80|</a:t>
                      </a:r>
                      <a:endParaRPr lang="en-US" sz="3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="0" dirty="0"/>
                        <a:t>Removes correlated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58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b="0" dirty="0"/>
                        <a:t>Variable Inflation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="0" dirty="0"/>
                        <a:t>Removes variables &gt;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="0" dirty="0"/>
                        <a:t>Removes multicollinear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0911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09991FE-B64D-B933-D220-ADFC413EBF4F}"/>
              </a:ext>
            </a:extLst>
          </p:cNvPr>
          <p:cNvSpPr txBox="1"/>
          <p:nvPr/>
        </p:nvSpPr>
        <p:spPr>
          <a:xfrm>
            <a:off x="230030" y="136039"/>
            <a:ext cx="1269738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/>
                </a:solidFill>
              </a:rPr>
              <a:t>2. Select layers for ecological niche modeling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057531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45A1113-02A0-6368-262D-8E115175B6A0}"/>
              </a:ext>
            </a:extLst>
          </p:cNvPr>
          <p:cNvGrpSpPr>
            <a:grpSpLocks noChangeAspect="1"/>
          </p:cNvGrpSpPr>
          <p:nvPr/>
        </p:nvGrpSpPr>
        <p:grpSpPr>
          <a:xfrm>
            <a:off x="230030" y="835202"/>
            <a:ext cx="13876565" cy="8083195"/>
            <a:chOff x="4887764" y="4086293"/>
            <a:chExt cx="6017384" cy="350516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C0F349A-BF24-CA16-F900-25850675FB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986"/>
            <a:stretch/>
          </p:blipFill>
          <p:spPr>
            <a:xfrm>
              <a:off x="4961548" y="4350010"/>
              <a:ext cx="5943600" cy="324145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D688DA8-D778-44C7-C20D-22CF6A20F17F}"/>
                </a:ext>
              </a:extLst>
            </p:cNvPr>
            <p:cNvSpPr/>
            <p:nvPr/>
          </p:nvSpPr>
          <p:spPr>
            <a:xfrm>
              <a:off x="4887764" y="4578578"/>
              <a:ext cx="348656" cy="348657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13409A-A91D-FF67-8274-9326FDC8564F}"/>
                </a:ext>
              </a:extLst>
            </p:cNvPr>
            <p:cNvSpPr/>
            <p:nvPr/>
          </p:nvSpPr>
          <p:spPr>
            <a:xfrm>
              <a:off x="6665033" y="4086293"/>
              <a:ext cx="348656" cy="348657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432B1E-495A-21C2-0A3F-38E29316F0F2}"/>
                </a:ext>
              </a:extLst>
            </p:cNvPr>
            <p:cNvSpPr/>
            <p:nvPr/>
          </p:nvSpPr>
          <p:spPr>
            <a:xfrm>
              <a:off x="7933348" y="4115896"/>
              <a:ext cx="523918" cy="640080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0CB65E9-F6FE-BD5D-42EC-ADFA730A1F51}"/>
              </a:ext>
            </a:extLst>
          </p:cNvPr>
          <p:cNvSpPr txBox="1"/>
          <p:nvPr/>
        </p:nvSpPr>
        <p:spPr>
          <a:xfrm>
            <a:off x="-16274" y="9097010"/>
            <a:ext cx="1013899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Melton et al. 2022. Global Ecology and Biogeography.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120994-42AE-13CA-7783-3EEF1385C2F7}"/>
              </a:ext>
            </a:extLst>
          </p:cNvPr>
          <p:cNvSpPr txBox="1"/>
          <p:nvPr/>
        </p:nvSpPr>
        <p:spPr>
          <a:xfrm>
            <a:off x="11450981" y="3395168"/>
            <a:ext cx="5280552" cy="50885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>
                <a:ea typeface="Calibri"/>
                <a:cs typeface="Calibri"/>
              </a:rPr>
              <a:t>Pearsons correlation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A</a:t>
            </a:r>
            <a:r>
              <a:rPr lang="en-US" dirty="0"/>
              <a:t> correlation test is performed on all 19 </a:t>
            </a:r>
            <a:r>
              <a:rPr lang="en-US" dirty="0" err="1"/>
              <a:t>BioClim</a:t>
            </a:r>
            <a:r>
              <a:rPr lang="en-US" dirty="0"/>
              <a:t> layers.</a:t>
            </a:r>
            <a:endParaRPr lang="en-US" dirty="0">
              <a:solidFill>
                <a:schemeClr val="tx1"/>
              </a:solidFill>
              <a:latin typeface="-apple-system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Removes variables  </a:t>
            </a:r>
            <a:r>
              <a:rPr lang="en-US" dirty="0">
                <a:solidFill>
                  <a:schemeClr val="tx1"/>
                </a:solidFill>
              </a:rPr>
              <a:t>&gt; |0.80|</a:t>
            </a:r>
            <a:endParaRPr lang="en-US">
              <a:solidFill>
                <a:schemeClr val="tx1"/>
              </a:solidFill>
              <a:latin typeface="-apple-system"/>
            </a:endParaRPr>
          </a:p>
          <a:p>
            <a: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9A006-EA32-F285-2A48-865384491835}"/>
              </a:ext>
            </a:extLst>
          </p:cNvPr>
          <p:cNvSpPr txBox="1"/>
          <p:nvPr/>
        </p:nvSpPr>
        <p:spPr>
          <a:xfrm>
            <a:off x="8670131" y="3391459"/>
            <a:ext cx="1162177" cy="5088573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io2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bio3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bio5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bio7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bio8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bio9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bio15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bio18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bio19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38B5EE-59DF-CDFA-522E-43B73E94A6BC}"/>
              </a:ext>
            </a:extLst>
          </p:cNvPr>
          <p:cNvSpPr txBox="1"/>
          <p:nvPr/>
        </p:nvSpPr>
        <p:spPr>
          <a:xfrm>
            <a:off x="230030" y="136039"/>
            <a:ext cx="1269738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/>
                </a:solidFill>
              </a:rPr>
              <a:t>2. Select layers for ecological niche modeling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0402854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C6FDDC-E105-4026-E3E8-AD530828A871}"/>
              </a:ext>
            </a:extLst>
          </p:cNvPr>
          <p:cNvSpPr txBox="1"/>
          <p:nvPr/>
        </p:nvSpPr>
        <p:spPr>
          <a:xfrm>
            <a:off x="230030" y="136039"/>
            <a:ext cx="1269738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/>
                </a:solidFill>
              </a:rPr>
              <a:t>2. Select layers for ecological niche modeling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B520EE-690E-EB66-0DC1-71A0D05BA4B8}"/>
              </a:ext>
            </a:extLst>
          </p:cNvPr>
          <p:cNvSpPr txBox="1"/>
          <p:nvPr/>
        </p:nvSpPr>
        <p:spPr>
          <a:xfrm>
            <a:off x="930068" y="1266071"/>
            <a:ext cx="5643564" cy="7673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 dirty="0"/>
              <a:t>Variance Inflation Factor (VIF)</a:t>
            </a:r>
            <a:endParaRPr lang="en-US" sz="4800" b="1">
              <a:ea typeface="Calibri"/>
              <a:cs typeface="Calibri"/>
            </a:endParaRPr>
          </a:p>
          <a:p>
            <a:pPr marL="571500" indent="-57150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VIF measures </a:t>
            </a:r>
            <a:r>
              <a:rPr lang="en-US" b="1" dirty="0">
                <a:ea typeface="+mn-lt"/>
                <a:cs typeface="+mn-lt"/>
              </a:rPr>
              <a:t>how much information is shared between predictor variables.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571500" indent="-571500" algn="l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571500" indent="-57150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If two or more variables are very similar, they provide redundant information.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571500" indent="-571500" algn="l">
              <a:buFont typeface="Arial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571500" indent="-571500" algn="l">
              <a:buFont typeface="Arial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Detects </a:t>
            </a:r>
            <a:r>
              <a:rPr lang="en-US" dirty="0">
                <a:ea typeface="+mn-lt"/>
                <a:cs typeface="+mn-lt"/>
              </a:rPr>
              <a:t>multicollinearity</a:t>
            </a:r>
            <a:r>
              <a:rPr lang="en-US" dirty="0">
                <a:ea typeface="Calibri" panose="020F0502020204030204"/>
                <a:cs typeface="Calibri" panose="020F0502020204030204"/>
              </a:rPr>
              <a:t>.</a:t>
            </a:r>
            <a:endParaRPr 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0958B-2279-5BE4-2B9A-E9ED088757DF}"/>
              </a:ext>
            </a:extLst>
          </p:cNvPr>
          <p:cNvSpPr txBox="1"/>
          <p:nvPr/>
        </p:nvSpPr>
        <p:spPr>
          <a:xfrm>
            <a:off x="7690799" y="1964272"/>
            <a:ext cx="7865048" cy="62581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 = Annual Mean Temperature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BIO2 = Mean Diurnal Range (Mean of monthly (max temp - min temp))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BIO3 = Isothermality (BIO2/BIO7) (×100)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BIO4 = Temperature Seasonality (standard deviation ×100)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BIO5 = Max Temperature of Warmest Month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BIO6 = Min Temperature of Coldest Month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BIO7 = Temperature Annual Range (BIO5-BIO6)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BIO8 = Mean Temperature of Wettest Quarter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BIO9 = Mean Temperature of Driest Quarter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BIO10 = Mean Temperature of Warmest Quarter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BIO11 = Mean Temperature of Coldest Quarter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BIO12 = Annual Precipitation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BIO13 = Precipitation of Wettest Month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BIO14 = Precipitation of Driest Month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BIO15 = Precipitation Seasonality (Coefficient of Variation)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BIO16 = Precipitation of Wettest Quarter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BIO17 = Precipitation of Driest Quarter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BIO18 = Precipitation of Warmest Quarter</a:t>
            </a:r>
          </a:p>
          <a:p>
            <a:pPr algn="l"/>
            <a:r>
              <a:rPr lang="en-US" sz="2000">
                <a:solidFill>
                  <a:srgbClr val="6A737D"/>
                </a:solidFill>
                <a:latin typeface="Microsoft YaHei"/>
                <a:ea typeface="Microsoft YaHei"/>
                <a:cs typeface="Microsoft YaHei"/>
              </a:rPr>
              <a:t>BIO19 = Precipitation of Coldest Quarter</a:t>
            </a:r>
          </a:p>
        </p:txBody>
      </p:sp>
    </p:spTree>
    <p:extLst>
      <p:ext uri="{BB962C8B-B14F-4D97-AF65-F5344CB8AC3E}">
        <p14:creationId xmlns:p14="http://schemas.microsoft.com/office/powerpoint/2010/main" val="410336113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A4774C-68D6-7850-BEB6-83AA199744F2}"/>
              </a:ext>
            </a:extLst>
          </p:cNvPr>
          <p:cNvSpPr/>
          <p:nvPr/>
        </p:nvSpPr>
        <p:spPr>
          <a:xfrm>
            <a:off x="4618440" y="1410590"/>
            <a:ext cx="12370614" cy="13393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767C2A-A668-5DEA-DB52-980DF562019F}"/>
              </a:ext>
            </a:extLst>
          </p:cNvPr>
          <p:cNvSpPr/>
          <p:nvPr/>
        </p:nvSpPr>
        <p:spPr>
          <a:xfrm>
            <a:off x="230030" y="1410590"/>
            <a:ext cx="4171849" cy="133937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D7074-C755-1D61-7411-EDD5334143CF}"/>
              </a:ext>
            </a:extLst>
          </p:cNvPr>
          <p:cNvSpPr txBox="1"/>
          <p:nvPr/>
        </p:nvSpPr>
        <p:spPr>
          <a:xfrm>
            <a:off x="230030" y="136039"/>
            <a:ext cx="1269738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/>
                </a:solidFill>
              </a:rPr>
              <a:t>2. Select layers for ecological niche modeling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4" name="Picture 3" descr="A close-up of a stack of multicolored squares&#10;&#10;AI-generated content may be incorrect.">
            <a:extLst>
              <a:ext uri="{FF2B5EF4-FFF2-40B4-BE49-F238E27FC236}">
                <a16:creationId xmlns:a16="http://schemas.microsoft.com/office/drawing/2014/main" id="{73A3F8A4-C6CA-58A5-CC28-78B527769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49" t="28259" r="33514" b="9091"/>
          <a:stretch>
            <a:fillRect/>
          </a:stretch>
        </p:blipFill>
        <p:spPr>
          <a:xfrm>
            <a:off x="459488" y="2516684"/>
            <a:ext cx="3854871" cy="2445139"/>
          </a:xfrm>
          <a:prstGeom prst="round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B298C5-C74B-86B7-7BD3-3504C8F80CA0}"/>
              </a:ext>
            </a:extLst>
          </p:cNvPr>
          <p:cNvSpPr txBox="1"/>
          <p:nvPr/>
        </p:nvSpPr>
        <p:spPr>
          <a:xfrm>
            <a:off x="425828" y="1448717"/>
            <a:ext cx="3780252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INPUT:RASTER STACK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C0077B-FCF2-AF59-E874-B69D4A6F174B}"/>
              </a:ext>
            </a:extLst>
          </p:cNvPr>
          <p:cNvSpPr/>
          <p:nvPr/>
        </p:nvSpPr>
        <p:spPr>
          <a:xfrm>
            <a:off x="4978383" y="2323922"/>
            <a:ext cx="3733575" cy="25953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046AE6-0570-83EC-5861-6778B0EE9FD1}"/>
              </a:ext>
            </a:extLst>
          </p:cNvPr>
          <p:cNvSpPr/>
          <p:nvPr/>
        </p:nvSpPr>
        <p:spPr>
          <a:xfrm>
            <a:off x="5258323" y="2515351"/>
            <a:ext cx="3070482" cy="2292826"/>
          </a:xfrm>
          <a:prstGeom prst="round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STEP 1: CALCULATE INDVIVIDUAL VIFs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2CC1BB-2DF9-78F0-2816-CDD5B3099674}"/>
              </a:ext>
            </a:extLst>
          </p:cNvPr>
          <p:cNvSpPr/>
          <p:nvPr/>
        </p:nvSpPr>
        <p:spPr>
          <a:xfrm>
            <a:off x="8929186" y="2312000"/>
            <a:ext cx="3733575" cy="25953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139517-6775-3B82-EE3A-A9708ADA5506}"/>
              </a:ext>
            </a:extLst>
          </p:cNvPr>
          <p:cNvSpPr/>
          <p:nvPr/>
        </p:nvSpPr>
        <p:spPr>
          <a:xfrm>
            <a:off x="12845634" y="2307749"/>
            <a:ext cx="3733575" cy="25953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C51978-8F27-03BD-79F4-E5A1029C421A}"/>
              </a:ext>
            </a:extLst>
          </p:cNvPr>
          <p:cNvSpPr/>
          <p:nvPr/>
        </p:nvSpPr>
        <p:spPr>
          <a:xfrm>
            <a:off x="9140612" y="2633658"/>
            <a:ext cx="3226435" cy="1747996"/>
          </a:xfrm>
          <a:prstGeom prst="round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STEP 2: IDENTIFY AND COMPARE HIGHEST VIFs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E2F0A0-B0A6-19CD-0B0F-13F26EBCA998}"/>
              </a:ext>
            </a:extLst>
          </p:cNvPr>
          <p:cNvSpPr/>
          <p:nvPr/>
        </p:nvSpPr>
        <p:spPr>
          <a:xfrm>
            <a:off x="12803380" y="2521990"/>
            <a:ext cx="3851278" cy="1747996"/>
          </a:xfrm>
          <a:prstGeom prst="round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STEP 3: COMPARE AGANST THRESHOLD (e.g. &gt;10)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D552CB-6DC0-33A3-C999-8F9C71F1463C}"/>
              </a:ext>
            </a:extLst>
          </p:cNvPr>
          <p:cNvSpPr txBox="1"/>
          <p:nvPr/>
        </p:nvSpPr>
        <p:spPr>
          <a:xfrm>
            <a:off x="4618438" y="1583147"/>
            <a:ext cx="12370615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STEPWISE VIF LOOP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C57CB627-4CAE-5E66-4926-81E5E58CD207}"/>
              </a:ext>
            </a:extLst>
          </p:cNvPr>
          <p:cNvSpPr/>
          <p:nvPr/>
        </p:nvSpPr>
        <p:spPr>
          <a:xfrm>
            <a:off x="3952999" y="3425652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0724350-4D9C-4A3C-7D50-9C4D5AEF7E26}"/>
              </a:ext>
            </a:extLst>
          </p:cNvPr>
          <p:cNvSpPr/>
          <p:nvPr/>
        </p:nvSpPr>
        <p:spPr>
          <a:xfrm>
            <a:off x="8152602" y="3425653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538D6CD-0BBF-1D51-0B4E-18F192A844C5}"/>
              </a:ext>
            </a:extLst>
          </p:cNvPr>
          <p:cNvSpPr/>
          <p:nvPr/>
        </p:nvSpPr>
        <p:spPr>
          <a:xfrm>
            <a:off x="12215117" y="3596753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FE7C65-07E9-894C-3247-128C214B3356}"/>
              </a:ext>
            </a:extLst>
          </p:cNvPr>
          <p:cNvSpPr/>
          <p:nvPr/>
        </p:nvSpPr>
        <p:spPr>
          <a:xfrm>
            <a:off x="10097545" y="4961823"/>
            <a:ext cx="1490034" cy="93101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677352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91A5-C6EC-3F36-0940-0A5DC84CA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04F9A00-FE3C-A774-8509-CB6A06884BD2}"/>
              </a:ext>
            </a:extLst>
          </p:cNvPr>
          <p:cNvSpPr/>
          <p:nvPr/>
        </p:nvSpPr>
        <p:spPr>
          <a:xfrm>
            <a:off x="4576185" y="5927207"/>
            <a:ext cx="8227195" cy="1339374"/>
          </a:xfrm>
          <a:prstGeom prst="rect">
            <a:avLst/>
          </a:prstGeom>
          <a:solidFill>
            <a:srgbClr val="95DB5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84E22-B06E-1F71-E096-61D7AB3FDBE0}"/>
              </a:ext>
            </a:extLst>
          </p:cNvPr>
          <p:cNvSpPr/>
          <p:nvPr/>
        </p:nvSpPr>
        <p:spPr>
          <a:xfrm>
            <a:off x="4618440" y="1410590"/>
            <a:ext cx="12370614" cy="13393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C60A7F-9E92-F3C1-757F-54C7EF765D22}"/>
              </a:ext>
            </a:extLst>
          </p:cNvPr>
          <p:cNvSpPr/>
          <p:nvPr/>
        </p:nvSpPr>
        <p:spPr>
          <a:xfrm>
            <a:off x="230030" y="1410590"/>
            <a:ext cx="4171849" cy="133937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37BCD-8AF3-F1E3-7EF2-0D2C06EB6466}"/>
              </a:ext>
            </a:extLst>
          </p:cNvPr>
          <p:cNvSpPr txBox="1"/>
          <p:nvPr/>
        </p:nvSpPr>
        <p:spPr>
          <a:xfrm>
            <a:off x="230030" y="136039"/>
            <a:ext cx="1269738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/>
                </a:solidFill>
              </a:rPr>
              <a:t>2. Select layers for ecological niche modeling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4" name="Picture 3" descr="A close-up of a stack of multicolored squares&#10;&#10;AI-generated content may be incorrect.">
            <a:extLst>
              <a:ext uri="{FF2B5EF4-FFF2-40B4-BE49-F238E27FC236}">
                <a16:creationId xmlns:a16="http://schemas.microsoft.com/office/drawing/2014/main" id="{2B75D5D2-71F3-09D5-9CBB-F75E2FF46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49" t="28259" r="33514" b="9091"/>
          <a:stretch>
            <a:fillRect/>
          </a:stretch>
        </p:blipFill>
        <p:spPr>
          <a:xfrm>
            <a:off x="459488" y="2516684"/>
            <a:ext cx="3854871" cy="2445139"/>
          </a:xfrm>
          <a:prstGeom prst="round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2DB7E9-4D45-55BE-AFF8-08E1B1C44DCA}"/>
              </a:ext>
            </a:extLst>
          </p:cNvPr>
          <p:cNvSpPr txBox="1"/>
          <p:nvPr/>
        </p:nvSpPr>
        <p:spPr>
          <a:xfrm>
            <a:off x="425828" y="1448717"/>
            <a:ext cx="3780252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INPUT:RASTER STACK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25FEA5E-5ED2-4590-0CF0-3B85B8BE027F}"/>
              </a:ext>
            </a:extLst>
          </p:cNvPr>
          <p:cNvSpPr/>
          <p:nvPr/>
        </p:nvSpPr>
        <p:spPr>
          <a:xfrm>
            <a:off x="4978383" y="2323922"/>
            <a:ext cx="3733575" cy="25953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2529E1-C886-4EA4-569E-4C33EDACFD0B}"/>
              </a:ext>
            </a:extLst>
          </p:cNvPr>
          <p:cNvSpPr/>
          <p:nvPr/>
        </p:nvSpPr>
        <p:spPr>
          <a:xfrm>
            <a:off x="5258323" y="2515351"/>
            <a:ext cx="3070482" cy="2292826"/>
          </a:xfrm>
          <a:prstGeom prst="round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STEP 1: CALCULATE INDVIVIDUAL VIFs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95173D9-D888-B755-EDB1-B3D532D34962}"/>
              </a:ext>
            </a:extLst>
          </p:cNvPr>
          <p:cNvSpPr/>
          <p:nvPr/>
        </p:nvSpPr>
        <p:spPr>
          <a:xfrm>
            <a:off x="8929186" y="2312000"/>
            <a:ext cx="3733575" cy="25953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4715995-8684-4DF6-EDC9-95572598C5E8}"/>
              </a:ext>
            </a:extLst>
          </p:cNvPr>
          <p:cNvSpPr/>
          <p:nvPr/>
        </p:nvSpPr>
        <p:spPr>
          <a:xfrm>
            <a:off x="12845634" y="2307749"/>
            <a:ext cx="3733575" cy="25953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3F2D62-5FCE-991B-F118-BE264784C11B}"/>
              </a:ext>
            </a:extLst>
          </p:cNvPr>
          <p:cNvSpPr/>
          <p:nvPr/>
        </p:nvSpPr>
        <p:spPr>
          <a:xfrm>
            <a:off x="9140612" y="2633658"/>
            <a:ext cx="3226435" cy="1747996"/>
          </a:xfrm>
          <a:prstGeom prst="round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STEP 2: IDENTIFY AND COMPARE HIGHEST VIFs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95CE22-CD74-E5E8-4497-C8674BD295D9}"/>
              </a:ext>
            </a:extLst>
          </p:cNvPr>
          <p:cNvSpPr/>
          <p:nvPr/>
        </p:nvSpPr>
        <p:spPr>
          <a:xfrm>
            <a:off x="12803380" y="2521990"/>
            <a:ext cx="3851278" cy="1747996"/>
          </a:xfrm>
          <a:prstGeom prst="round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STEP 3: COMPARE AGANST THRESHOLD (e.g. &gt;10)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97A07D-51C9-5D0A-C598-5B796C79779C}"/>
              </a:ext>
            </a:extLst>
          </p:cNvPr>
          <p:cNvSpPr txBox="1"/>
          <p:nvPr/>
        </p:nvSpPr>
        <p:spPr>
          <a:xfrm>
            <a:off x="4618438" y="1583147"/>
            <a:ext cx="12370615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STEPWISE VIF LOOP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05BDBF4C-B7D1-352F-E52B-220B3C088242}"/>
              </a:ext>
            </a:extLst>
          </p:cNvPr>
          <p:cNvSpPr/>
          <p:nvPr/>
        </p:nvSpPr>
        <p:spPr>
          <a:xfrm>
            <a:off x="3952999" y="3425652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E12B907B-EA50-9CA5-C577-0210CE5AA827}"/>
              </a:ext>
            </a:extLst>
          </p:cNvPr>
          <p:cNvSpPr/>
          <p:nvPr/>
        </p:nvSpPr>
        <p:spPr>
          <a:xfrm>
            <a:off x="8152602" y="3425653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870B47F-82A3-210C-B236-433217CC5511}"/>
              </a:ext>
            </a:extLst>
          </p:cNvPr>
          <p:cNvSpPr/>
          <p:nvPr/>
        </p:nvSpPr>
        <p:spPr>
          <a:xfrm>
            <a:off x="12215117" y="3596753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F3362B-03B9-150B-7CD7-4B558A7796A2}"/>
              </a:ext>
            </a:extLst>
          </p:cNvPr>
          <p:cNvSpPr/>
          <p:nvPr/>
        </p:nvSpPr>
        <p:spPr>
          <a:xfrm>
            <a:off x="12961762" y="5879089"/>
            <a:ext cx="4139270" cy="13874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231F963B-DA48-95E1-B860-0E2435122E05}"/>
              </a:ext>
            </a:extLst>
          </p:cNvPr>
          <p:cNvSpPr/>
          <p:nvPr/>
        </p:nvSpPr>
        <p:spPr>
          <a:xfrm rot="5400000">
            <a:off x="14270113" y="4838395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1F1DAF-36F7-A212-5498-60C51BABD6EA}"/>
              </a:ext>
            </a:extLst>
          </p:cNvPr>
          <p:cNvSpPr txBox="1"/>
          <p:nvPr/>
        </p:nvSpPr>
        <p:spPr>
          <a:xfrm>
            <a:off x="12943340" y="5952121"/>
            <a:ext cx="4139270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EXCLUDE REDUNDANT LAYERS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76CD1B4-73B1-C90C-B54E-05674A138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557" y="7080875"/>
            <a:ext cx="3694836" cy="1913397"/>
          </a:xfrm>
          <a:prstGeom prst="round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4122BD8-6F01-BDF8-BCC5-ED57A8D99986}"/>
              </a:ext>
            </a:extLst>
          </p:cNvPr>
          <p:cNvSpPr txBox="1"/>
          <p:nvPr/>
        </p:nvSpPr>
        <p:spPr>
          <a:xfrm>
            <a:off x="15249215" y="4697774"/>
            <a:ext cx="1149354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&gt;10</a:t>
            </a: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4721B4A0-88DF-DD85-A5B7-17176DDA4DD3}"/>
              </a:ext>
            </a:extLst>
          </p:cNvPr>
          <p:cNvSpPr/>
          <p:nvPr/>
        </p:nvSpPr>
        <p:spPr>
          <a:xfrm rot="10800000">
            <a:off x="10613370" y="4575986"/>
            <a:ext cx="3576982" cy="1186114"/>
          </a:xfrm>
          <a:prstGeom prst="bentArrow">
            <a:avLst>
              <a:gd name="adj1" fmla="val 25000"/>
              <a:gd name="adj2" fmla="val 25817"/>
              <a:gd name="adj3" fmla="val 25000"/>
              <a:gd name="adj4" fmla="val 43750"/>
            </a:avLst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7D9630-DF4F-F6F5-D13B-7E1956434261}"/>
              </a:ext>
            </a:extLst>
          </p:cNvPr>
          <p:cNvSpPr/>
          <p:nvPr/>
        </p:nvSpPr>
        <p:spPr>
          <a:xfrm>
            <a:off x="10097545" y="4961823"/>
            <a:ext cx="1490034" cy="93101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9" name="Bent-Up Arrow 28">
            <a:extLst>
              <a:ext uri="{FF2B5EF4-FFF2-40B4-BE49-F238E27FC236}">
                <a16:creationId xmlns:a16="http://schemas.microsoft.com/office/drawing/2014/main" id="{4A1D3BE8-BF62-FA78-6681-52D196357851}"/>
              </a:ext>
            </a:extLst>
          </p:cNvPr>
          <p:cNvSpPr/>
          <p:nvPr/>
        </p:nvSpPr>
        <p:spPr>
          <a:xfrm rot="10800000">
            <a:off x="10213143" y="5301246"/>
            <a:ext cx="1374435" cy="1286019"/>
          </a:xfrm>
          <a:prstGeom prst="bentUpArrow">
            <a:avLst>
              <a:gd name="adj1" fmla="val 25000"/>
              <a:gd name="adj2" fmla="val 26654"/>
              <a:gd name="adj3" fmla="val 25000"/>
            </a:avLst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5C5E0F-6B9B-7BBA-FE84-E661E29183A9}"/>
              </a:ext>
            </a:extLst>
          </p:cNvPr>
          <p:cNvSpPr txBox="1"/>
          <p:nvPr/>
        </p:nvSpPr>
        <p:spPr>
          <a:xfrm>
            <a:off x="9067464" y="5071631"/>
            <a:ext cx="1149354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b="1" dirty="0">
                <a:solidFill>
                  <a:srgbClr val="95DB54"/>
                </a:solidFill>
              </a:rPr>
              <a:t>&lt;</a:t>
            </a: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95DB54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10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7E9665A-713C-AD40-F011-70987F114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2"/>
          <a:stretch>
            <a:fillRect/>
          </a:stretch>
        </p:blipFill>
        <p:spPr>
          <a:xfrm>
            <a:off x="8639367" y="6823974"/>
            <a:ext cx="3711258" cy="2325674"/>
          </a:xfrm>
          <a:prstGeom prst="round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0E3944B-127B-562C-6318-109714BD24AB}"/>
              </a:ext>
            </a:extLst>
          </p:cNvPr>
          <p:cNvSpPr txBox="1"/>
          <p:nvPr/>
        </p:nvSpPr>
        <p:spPr>
          <a:xfrm>
            <a:off x="4618438" y="5981972"/>
            <a:ext cx="5423226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LOOP BACK: RE-EVALUALTE STACK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BA18B1D2-5868-5083-7CBF-3525C1E7E05D}"/>
              </a:ext>
            </a:extLst>
          </p:cNvPr>
          <p:cNvSpPr/>
          <p:nvPr/>
        </p:nvSpPr>
        <p:spPr>
          <a:xfrm rot="16200000">
            <a:off x="5041702" y="4807902"/>
            <a:ext cx="1600318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6272482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5401-A9CD-D06A-869E-3DFE5C6B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65DB711-F784-B1E1-FBD4-8171341A44FE}"/>
              </a:ext>
            </a:extLst>
          </p:cNvPr>
          <p:cNvSpPr/>
          <p:nvPr/>
        </p:nvSpPr>
        <p:spPr>
          <a:xfrm>
            <a:off x="4576185" y="5927207"/>
            <a:ext cx="8227195" cy="1339374"/>
          </a:xfrm>
          <a:prstGeom prst="rect">
            <a:avLst/>
          </a:prstGeom>
          <a:solidFill>
            <a:srgbClr val="95DB5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B155D-4F7D-3DB7-ABC3-7B90C8C766A6}"/>
              </a:ext>
            </a:extLst>
          </p:cNvPr>
          <p:cNvSpPr/>
          <p:nvPr/>
        </p:nvSpPr>
        <p:spPr>
          <a:xfrm>
            <a:off x="4618440" y="1410590"/>
            <a:ext cx="12370614" cy="13393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0DA889-795D-27C3-478C-E9B62B0E2862}"/>
              </a:ext>
            </a:extLst>
          </p:cNvPr>
          <p:cNvSpPr/>
          <p:nvPr/>
        </p:nvSpPr>
        <p:spPr>
          <a:xfrm>
            <a:off x="230030" y="1410590"/>
            <a:ext cx="4171849" cy="133937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A08D9-A0D1-D31D-68A0-90AEE5DADA3C}"/>
              </a:ext>
            </a:extLst>
          </p:cNvPr>
          <p:cNvSpPr txBox="1"/>
          <p:nvPr/>
        </p:nvSpPr>
        <p:spPr>
          <a:xfrm>
            <a:off x="230030" y="136039"/>
            <a:ext cx="1269738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/>
                </a:solidFill>
              </a:rPr>
              <a:t>2. Select layers for ecological niche modeling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4" name="Picture 3" descr="A close-up of a stack of multicolored squares&#10;&#10;AI-generated content may be incorrect.">
            <a:extLst>
              <a:ext uri="{FF2B5EF4-FFF2-40B4-BE49-F238E27FC236}">
                <a16:creationId xmlns:a16="http://schemas.microsoft.com/office/drawing/2014/main" id="{7A2F1830-42E0-E566-22E6-7BEB096CB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49" t="28259" r="33514" b="9091"/>
          <a:stretch>
            <a:fillRect/>
          </a:stretch>
        </p:blipFill>
        <p:spPr>
          <a:xfrm>
            <a:off x="459488" y="2516684"/>
            <a:ext cx="3854871" cy="2445139"/>
          </a:xfrm>
          <a:prstGeom prst="round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D7788F-5937-D4A5-0A2F-D37937629225}"/>
              </a:ext>
            </a:extLst>
          </p:cNvPr>
          <p:cNvSpPr txBox="1"/>
          <p:nvPr/>
        </p:nvSpPr>
        <p:spPr>
          <a:xfrm>
            <a:off x="425828" y="1448717"/>
            <a:ext cx="3780252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INPUT:RASTER STACK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19DEFA1-B0E3-ABE6-45C5-EA4B67509AF3}"/>
              </a:ext>
            </a:extLst>
          </p:cNvPr>
          <p:cNvSpPr/>
          <p:nvPr/>
        </p:nvSpPr>
        <p:spPr>
          <a:xfrm>
            <a:off x="4978383" y="2323922"/>
            <a:ext cx="3733575" cy="25953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4B85FF-F497-D680-8352-025BE58A8D4A}"/>
              </a:ext>
            </a:extLst>
          </p:cNvPr>
          <p:cNvSpPr/>
          <p:nvPr/>
        </p:nvSpPr>
        <p:spPr>
          <a:xfrm>
            <a:off x="5258323" y="2515351"/>
            <a:ext cx="3070482" cy="2292826"/>
          </a:xfrm>
          <a:prstGeom prst="round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STEP 1: CALCULATE INDVIVIDUAL VIFs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355F47E-52DF-F307-6D27-59280EDEC873}"/>
              </a:ext>
            </a:extLst>
          </p:cNvPr>
          <p:cNvSpPr/>
          <p:nvPr/>
        </p:nvSpPr>
        <p:spPr>
          <a:xfrm>
            <a:off x="8929186" y="2312000"/>
            <a:ext cx="3733575" cy="25953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26C36D7-93B6-2010-1C3D-E78A3F76430F}"/>
              </a:ext>
            </a:extLst>
          </p:cNvPr>
          <p:cNvSpPr/>
          <p:nvPr/>
        </p:nvSpPr>
        <p:spPr>
          <a:xfrm>
            <a:off x="12845634" y="2307749"/>
            <a:ext cx="3733575" cy="259537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54CC3B-8550-0A07-D31D-88EFD94CD8F9}"/>
              </a:ext>
            </a:extLst>
          </p:cNvPr>
          <p:cNvSpPr/>
          <p:nvPr/>
        </p:nvSpPr>
        <p:spPr>
          <a:xfrm>
            <a:off x="9140612" y="2633658"/>
            <a:ext cx="3226435" cy="1747996"/>
          </a:xfrm>
          <a:prstGeom prst="round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STEP 2: IDENTIFY AND COMPARE HIGHEST VIFs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A3A1D3-36B9-78FE-27EC-6FEB49DCD769}"/>
              </a:ext>
            </a:extLst>
          </p:cNvPr>
          <p:cNvSpPr/>
          <p:nvPr/>
        </p:nvSpPr>
        <p:spPr>
          <a:xfrm>
            <a:off x="12803380" y="2521990"/>
            <a:ext cx="3851278" cy="1747996"/>
          </a:xfrm>
          <a:prstGeom prst="round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STEP 3: COMPARE AGANST THRESHOLD (e.g. &gt;10)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C72AB3-EE68-394C-866D-16B94EBEAC78}"/>
              </a:ext>
            </a:extLst>
          </p:cNvPr>
          <p:cNvSpPr txBox="1"/>
          <p:nvPr/>
        </p:nvSpPr>
        <p:spPr>
          <a:xfrm>
            <a:off x="4618438" y="1583147"/>
            <a:ext cx="12370615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STEPWISE VIF LOOP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1AC2D59B-D074-F003-0CE2-5389E4146DD6}"/>
              </a:ext>
            </a:extLst>
          </p:cNvPr>
          <p:cNvSpPr/>
          <p:nvPr/>
        </p:nvSpPr>
        <p:spPr>
          <a:xfrm>
            <a:off x="3952999" y="3425652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AC7B5D0-0F79-C9AC-1821-56D30BB4FD5A}"/>
              </a:ext>
            </a:extLst>
          </p:cNvPr>
          <p:cNvSpPr/>
          <p:nvPr/>
        </p:nvSpPr>
        <p:spPr>
          <a:xfrm>
            <a:off x="8152602" y="3425653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70B829C-2927-37F8-42E7-88088B6383D3}"/>
              </a:ext>
            </a:extLst>
          </p:cNvPr>
          <p:cNvSpPr/>
          <p:nvPr/>
        </p:nvSpPr>
        <p:spPr>
          <a:xfrm>
            <a:off x="12215117" y="3596753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F22D37-783A-77C1-B172-3A78AE960767}"/>
              </a:ext>
            </a:extLst>
          </p:cNvPr>
          <p:cNvSpPr/>
          <p:nvPr/>
        </p:nvSpPr>
        <p:spPr>
          <a:xfrm>
            <a:off x="12961762" y="5879089"/>
            <a:ext cx="4139270" cy="13874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2AF19A8A-6DD5-9E08-E8A6-D9CCA14D33B8}"/>
              </a:ext>
            </a:extLst>
          </p:cNvPr>
          <p:cNvSpPr/>
          <p:nvPr/>
        </p:nvSpPr>
        <p:spPr>
          <a:xfrm rot="5400000">
            <a:off x="14270113" y="4838395"/>
            <a:ext cx="1301585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51B6B0-A483-E187-32C4-2491CBD9CCF1}"/>
              </a:ext>
            </a:extLst>
          </p:cNvPr>
          <p:cNvSpPr txBox="1"/>
          <p:nvPr/>
        </p:nvSpPr>
        <p:spPr>
          <a:xfrm>
            <a:off x="12943340" y="5952121"/>
            <a:ext cx="4139270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EXCLUDE REDUNDANT LAYERS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DC80EDB-B73D-216A-099B-CF51F955C7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557" y="7080875"/>
            <a:ext cx="3694836" cy="1913397"/>
          </a:xfrm>
          <a:prstGeom prst="round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98128F6-929D-B419-6E02-7E49818D3E3B}"/>
              </a:ext>
            </a:extLst>
          </p:cNvPr>
          <p:cNvSpPr txBox="1"/>
          <p:nvPr/>
        </p:nvSpPr>
        <p:spPr>
          <a:xfrm>
            <a:off x="15249215" y="4697774"/>
            <a:ext cx="1149354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&gt;10</a:t>
            </a: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0BE961D3-DE6B-0664-9282-B922D7B92454}"/>
              </a:ext>
            </a:extLst>
          </p:cNvPr>
          <p:cNvSpPr/>
          <p:nvPr/>
        </p:nvSpPr>
        <p:spPr>
          <a:xfrm rot="10800000">
            <a:off x="10613370" y="4575986"/>
            <a:ext cx="3576982" cy="1186114"/>
          </a:xfrm>
          <a:prstGeom prst="bentArrow">
            <a:avLst>
              <a:gd name="adj1" fmla="val 25000"/>
              <a:gd name="adj2" fmla="val 25817"/>
              <a:gd name="adj3" fmla="val 25000"/>
              <a:gd name="adj4" fmla="val 43750"/>
            </a:avLst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FCC33F-8A34-098E-1A3A-201E13B5B6DD}"/>
              </a:ext>
            </a:extLst>
          </p:cNvPr>
          <p:cNvSpPr/>
          <p:nvPr/>
        </p:nvSpPr>
        <p:spPr>
          <a:xfrm>
            <a:off x="10097545" y="4961823"/>
            <a:ext cx="1490034" cy="93101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9" name="Bent-Up Arrow 28">
            <a:extLst>
              <a:ext uri="{FF2B5EF4-FFF2-40B4-BE49-F238E27FC236}">
                <a16:creationId xmlns:a16="http://schemas.microsoft.com/office/drawing/2014/main" id="{C9BCA414-C02C-DF75-BF51-0D6B82954D1F}"/>
              </a:ext>
            </a:extLst>
          </p:cNvPr>
          <p:cNvSpPr/>
          <p:nvPr/>
        </p:nvSpPr>
        <p:spPr>
          <a:xfrm rot="10800000">
            <a:off x="10213143" y="5301246"/>
            <a:ext cx="1374435" cy="1286019"/>
          </a:xfrm>
          <a:prstGeom prst="bentUpArrow">
            <a:avLst>
              <a:gd name="adj1" fmla="val 25000"/>
              <a:gd name="adj2" fmla="val 26654"/>
              <a:gd name="adj3" fmla="val 25000"/>
            </a:avLst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4D4B86-E8D1-FB54-B4CC-58056E6B58A3}"/>
              </a:ext>
            </a:extLst>
          </p:cNvPr>
          <p:cNvSpPr txBox="1"/>
          <p:nvPr/>
        </p:nvSpPr>
        <p:spPr>
          <a:xfrm>
            <a:off x="9067464" y="5071631"/>
            <a:ext cx="1149354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b="1" dirty="0">
                <a:solidFill>
                  <a:srgbClr val="95DB54"/>
                </a:solidFill>
              </a:rPr>
              <a:t>&lt;</a:t>
            </a: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rgbClr val="95DB54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10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2863C94-4120-89D6-9279-C478183658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2"/>
          <a:stretch>
            <a:fillRect/>
          </a:stretch>
        </p:blipFill>
        <p:spPr>
          <a:xfrm>
            <a:off x="8639367" y="6823974"/>
            <a:ext cx="3711258" cy="2325674"/>
          </a:xfrm>
          <a:prstGeom prst="round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8766FA4-6BEB-4094-F463-47F5ACC8ECD9}"/>
              </a:ext>
            </a:extLst>
          </p:cNvPr>
          <p:cNvSpPr txBox="1"/>
          <p:nvPr/>
        </p:nvSpPr>
        <p:spPr>
          <a:xfrm>
            <a:off x="4618438" y="5981972"/>
            <a:ext cx="5423226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LOOP BACK: RE-EVALUALTE STACK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C29289AF-3363-E0BB-F603-D42C57673735}"/>
              </a:ext>
            </a:extLst>
          </p:cNvPr>
          <p:cNvSpPr/>
          <p:nvPr/>
        </p:nvSpPr>
        <p:spPr>
          <a:xfrm rot="16200000">
            <a:off x="5041702" y="4807902"/>
            <a:ext cx="1600318" cy="747821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934DCF1-12F6-BCE5-1240-B5914DE98844}"/>
              </a:ext>
            </a:extLst>
          </p:cNvPr>
          <p:cNvSpPr/>
          <p:nvPr/>
        </p:nvSpPr>
        <p:spPr>
          <a:xfrm>
            <a:off x="469894" y="5154322"/>
            <a:ext cx="3749648" cy="4327049"/>
          </a:xfrm>
          <a:prstGeom prst="roundRect">
            <a:avLst/>
          </a:prstGeom>
          <a:noFill/>
          <a:ln w="12700" cap="flat">
            <a:solidFill>
              <a:schemeClr val="tx1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dirty="0"/>
              <a:t>Iteration ceases when the maximum VIF value within the remaining raster stack falls below 10.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244230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atter chart&#10;&#10;Description automatically generated with medium confidence">
            <a:extLst>
              <a:ext uri="{FF2B5EF4-FFF2-40B4-BE49-F238E27FC236}">
                <a16:creationId xmlns:a16="http://schemas.microsoft.com/office/drawing/2014/main" id="{D1EEB561-DD99-1A46-A2AC-691FAB6CE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706" y="1792678"/>
            <a:ext cx="8625009" cy="7176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42210E-9185-934C-98AD-75B2B9E33070}"/>
              </a:ext>
            </a:extLst>
          </p:cNvPr>
          <p:cNvSpPr txBox="1"/>
          <p:nvPr/>
        </p:nvSpPr>
        <p:spPr>
          <a:xfrm>
            <a:off x="12586622" y="9281676"/>
            <a:ext cx="455252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Rautsaw et al. 2022. </a:t>
            </a:r>
            <a:r>
              <a:rPr lang="en-US" sz="2400" dirty="0"/>
              <a:t>Scientific Data.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76-1DBA-EB4E-8CF3-3FFBA6BB5154}"/>
              </a:ext>
            </a:extLst>
          </p:cNvPr>
          <p:cNvSpPr txBox="1"/>
          <p:nvPr/>
        </p:nvSpPr>
        <p:spPr>
          <a:xfrm>
            <a:off x="432809" y="1619202"/>
            <a:ext cx="6561977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PCA vs VIF with permutation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DBD92-487F-3C45-AB0F-EDAE46A046F6}"/>
              </a:ext>
            </a:extLst>
          </p:cNvPr>
          <p:cNvSpPr txBox="1"/>
          <p:nvPr/>
        </p:nvSpPr>
        <p:spPr>
          <a:xfrm>
            <a:off x="432809" y="3107381"/>
            <a:ext cx="6711910" cy="50270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b="1" dirty="0"/>
              <a:t>AUC was significantly higher in models generated using the VIF method </a:t>
            </a: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Based on 109 species in the subfamily </a:t>
            </a:r>
            <a:r>
              <a:rPr lang="en-US" sz="3200" dirty="0" err="1"/>
              <a:t>Crotalinae</a:t>
            </a:r>
            <a:r>
              <a:rPr lang="en-US" sz="3200" dirty="0"/>
              <a:t> (Viperidae)</a:t>
            </a:r>
          </a:p>
          <a:p>
            <a:pPr marL="571500" lvl="4" indent="-571500" algn="l">
              <a:buFont typeface="Arial" panose="020B0604020202020204" pitchFamily="34" charset="0"/>
              <a:buChar char="•"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PCA with 75% collinearity cutoff, each variable contribution had to be &gt;5%.</a:t>
            </a:r>
          </a:p>
          <a:p>
            <a:pPr marL="571500" lvl="4" indent="-571500" algn="l">
              <a:buFont typeface="Arial" panose="020B0604020202020204" pitchFamily="34" charset="0"/>
              <a:buChar char="•"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VIF &lt; 10, </a:t>
            </a:r>
            <a:r>
              <a:rPr lang="en-US" sz="3200" dirty="0"/>
              <a:t>p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ermutation importance &gt; 1%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AB52C-9F94-1258-2A99-3A0A43E079FD}"/>
              </a:ext>
            </a:extLst>
          </p:cNvPr>
          <p:cNvSpPr txBox="1"/>
          <p:nvPr/>
        </p:nvSpPr>
        <p:spPr>
          <a:xfrm>
            <a:off x="230030" y="136039"/>
            <a:ext cx="1269738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/>
                </a:solidFill>
              </a:rPr>
              <a:t>2. Select layers for ecological niche modeling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2344583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4C0610-A27D-E686-1845-0FCF88C43C5B}"/>
              </a:ext>
            </a:extLst>
          </p:cNvPr>
          <p:cNvSpPr txBox="1"/>
          <p:nvPr/>
        </p:nvSpPr>
        <p:spPr>
          <a:xfrm>
            <a:off x="140552" y="151305"/>
            <a:ext cx="2888611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accent1"/>
                </a:solidFill>
              </a:rPr>
              <a:t>3</a:t>
            </a: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 </a:t>
            </a:r>
            <a:r>
              <a:rPr lang="en-US" sz="5400" dirty="0">
                <a:solidFill>
                  <a:schemeClr val="accent1"/>
                </a:solidFill>
              </a:rPr>
              <a:t>Activity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0C2B6-2705-0075-D0EC-791225B7550E}"/>
              </a:ext>
            </a:extLst>
          </p:cNvPr>
          <p:cNvSpPr txBox="1"/>
          <p:nvPr/>
        </p:nvSpPr>
        <p:spPr>
          <a:xfrm>
            <a:off x="832794" y="1538423"/>
            <a:ext cx="8124654" cy="28725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Define the accessible area (M) for each species, crop </a:t>
            </a:r>
            <a:r>
              <a:rPr lang="en-US" err="1">
                <a:ea typeface="+mn-lt"/>
                <a:cs typeface="+mn-lt"/>
              </a:rPr>
              <a:t>WorldClim</a:t>
            </a:r>
            <a:r>
              <a:rPr lang="en-US" dirty="0">
                <a:ea typeface="+mn-lt"/>
                <a:cs typeface="+mn-lt"/>
              </a:rPr>
              <a:t> layers accordingly, and select environmental variables using Variance Inflation Factor (VIF) analysis.</a:t>
            </a:r>
            <a:endParaRPr lang="en-US" dirty="0"/>
          </a:p>
        </p:txBody>
      </p:sp>
      <p:pic>
        <p:nvPicPr>
          <p:cNvPr id="6" name="Picture 5" descr="A green and blue triangle&#10;&#10;AI-generated content may be incorrect.">
            <a:extLst>
              <a:ext uri="{FF2B5EF4-FFF2-40B4-BE49-F238E27FC236}">
                <a16:creationId xmlns:a16="http://schemas.microsoft.com/office/drawing/2014/main" id="{20DF4892-7AE5-F3C7-7BFB-5118F9486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191" y="377415"/>
            <a:ext cx="4970633" cy="2542335"/>
          </a:xfrm>
          <a:prstGeom prst="rect">
            <a:avLst/>
          </a:prstGeom>
        </p:spPr>
      </p:pic>
      <p:pic>
        <p:nvPicPr>
          <p:cNvPr id="7" name="Picture 6" descr="A map of the island&#10;&#10;AI-generated content may be incorrect.">
            <a:extLst>
              <a:ext uri="{FF2B5EF4-FFF2-40B4-BE49-F238E27FC236}">
                <a16:creationId xmlns:a16="http://schemas.microsoft.com/office/drawing/2014/main" id="{59055E32-2910-5BB1-7FB6-D10BA3A88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248" y="2909340"/>
            <a:ext cx="5769299" cy="2987775"/>
          </a:xfrm>
          <a:prstGeom prst="rect">
            <a:avLst/>
          </a:prstGeom>
        </p:spPr>
      </p:pic>
      <p:pic>
        <p:nvPicPr>
          <p:cNvPr id="8" name="Picture 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42399598-C2D7-40F7-4AF6-62AC5EABE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62" y="4871940"/>
            <a:ext cx="8810370" cy="4262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3D0B25-4234-3C59-0A06-BCAADD07A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456" y="5794200"/>
            <a:ext cx="7090170" cy="366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06933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1117</Words>
  <Application>Microsoft Macintosh PowerPoint</Application>
  <PresentationFormat>Custom</PresentationFormat>
  <Paragraphs>151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Microsoft YaHei</vt:lpstr>
      <vt:lpstr>-apple-system</vt:lpstr>
      <vt:lpstr>Arial</vt:lpstr>
      <vt:lpstr>Calibri</vt:lpstr>
      <vt:lpstr>Calibri Light</vt:lpstr>
      <vt:lpstr>Helvetica</vt:lpstr>
      <vt:lpstr>Helvetica Light</vt:lpstr>
      <vt:lpstr>Helvetica Neue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ENM Crash Course:  Data Cleaning and Processing</dc:title>
  <cp:lastModifiedBy>Makenzie Mabry</cp:lastModifiedBy>
  <cp:revision>435</cp:revision>
  <dcterms:modified xsi:type="dcterms:W3CDTF">2026-07-29T03:22:34Z</dcterms:modified>
</cp:coreProperties>
</file>
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3"/>
  </p:notesMasterIdLst>
  <p:sldIdLst>
    <p:sldId id="630" r:id="rId5"/>
    <p:sldId id="1371" r:id="rId6"/>
    <p:sldId id="1377" r:id="rId7"/>
    <p:sldId id="1414" r:id="rId8"/>
    <p:sldId id="1415" r:id="rId9"/>
    <p:sldId id="1372" r:id="rId10"/>
    <p:sldId id="1429" r:id="rId11"/>
    <p:sldId id="1373" r:id="rId12"/>
    <p:sldId id="1374" r:id="rId13"/>
    <p:sldId id="1378" r:id="rId14"/>
    <p:sldId id="1376" r:id="rId15"/>
    <p:sldId id="1379" r:id="rId16"/>
    <p:sldId id="1380" r:id="rId17"/>
    <p:sldId id="1381" r:id="rId18"/>
    <p:sldId id="1382" r:id="rId19"/>
    <p:sldId id="1383" r:id="rId20"/>
    <p:sldId id="1384" r:id="rId21"/>
    <p:sldId id="1385" r:id="rId22"/>
    <p:sldId id="1386" r:id="rId23"/>
    <p:sldId id="1388" r:id="rId24"/>
    <p:sldId id="1390" r:id="rId25"/>
    <p:sldId id="1391" r:id="rId26"/>
    <p:sldId id="1393" r:id="rId27"/>
    <p:sldId id="1395" r:id="rId28"/>
    <p:sldId id="1396" r:id="rId29"/>
    <p:sldId id="1397" r:id="rId30"/>
    <p:sldId id="1399" r:id="rId31"/>
    <p:sldId id="1400" r:id="rId32"/>
    <p:sldId id="1402" r:id="rId33"/>
    <p:sldId id="1403" r:id="rId34"/>
    <p:sldId id="1404" r:id="rId35"/>
    <p:sldId id="1405" r:id="rId36"/>
    <p:sldId id="1401" r:id="rId37"/>
    <p:sldId id="1417" r:id="rId38"/>
    <p:sldId id="1406" r:id="rId39"/>
    <p:sldId id="1407" r:id="rId40"/>
    <p:sldId id="1408" r:id="rId41"/>
    <p:sldId id="1420" r:id="rId42"/>
    <p:sldId id="1421" r:id="rId43"/>
    <p:sldId id="1422" r:id="rId44"/>
    <p:sldId id="1425" r:id="rId45"/>
    <p:sldId id="1426" r:id="rId46"/>
    <p:sldId id="1416" r:id="rId47"/>
    <p:sldId id="1411" r:id="rId48"/>
    <p:sldId id="1427" r:id="rId49"/>
    <p:sldId id="1409" r:id="rId50"/>
    <p:sldId id="1423" r:id="rId51"/>
    <p:sldId id="141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704F40-EE90-45B6-9127-55A203695B2E}">
          <p14:sldIdLst>
            <p14:sldId id="630"/>
            <p14:sldId id="1371"/>
            <p14:sldId id="1377"/>
            <p14:sldId id="1414"/>
            <p14:sldId id="1415"/>
            <p14:sldId id="1372"/>
            <p14:sldId id="1429"/>
            <p14:sldId id="1373"/>
            <p14:sldId id="1374"/>
            <p14:sldId id="1378"/>
            <p14:sldId id="1376"/>
            <p14:sldId id="1379"/>
            <p14:sldId id="1380"/>
            <p14:sldId id="1381"/>
            <p14:sldId id="1382"/>
            <p14:sldId id="1383"/>
            <p14:sldId id="1384"/>
            <p14:sldId id="1385"/>
            <p14:sldId id="1386"/>
            <p14:sldId id="1388"/>
            <p14:sldId id="1390"/>
            <p14:sldId id="1391"/>
            <p14:sldId id="1393"/>
            <p14:sldId id="1395"/>
            <p14:sldId id="1396"/>
            <p14:sldId id="1397"/>
            <p14:sldId id="1399"/>
            <p14:sldId id="1400"/>
            <p14:sldId id="1402"/>
            <p14:sldId id="1403"/>
            <p14:sldId id="1404"/>
            <p14:sldId id="1405"/>
            <p14:sldId id="1401"/>
            <p14:sldId id="1417"/>
            <p14:sldId id="1406"/>
            <p14:sldId id="1407"/>
            <p14:sldId id="1408"/>
            <p14:sldId id="1420"/>
            <p14:sldId id="1421"/>
            <p14:sldId id="1422"/>
            <p14:sldId id="1425"/>
            <p14:sldId id="1426"/>
            <p14:sldId id="1416"/>
            <p14:sldId id="1411"/>
            <p14:sldId id="1427"/>
          </p14:sldIdLst>
        </p14:section>
        <p14:section name="UnusedSlideArchive" id="{8CE39668-6BDE-41CC-A860-677BCFA6485B}">
          <p14:sldIdLst>
            <p14:sldId id="1409"/>
            <p14:sldId id="1423"/>
            <p14:sldId id="14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A7A7"/>
    <a:srgbClr val="0D3512"/>
    <a:srgbClr val="0B3041"/>
    <a:srgbClr val="275317"/>
    <a:srgbClr val="50164A"/>
    <a:srgbClr val="D7D7D7"/>
    <a:srgbClr val="000000"/>
    <a:srgbClr val="E8E8E8"/>
    <a:srgbClr val="FFFFCC"/>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76271" autoAdjust="0"/>
  </p:normalViewPr>
  <p:slideViewPr>
    <p:cSldViewPr snapToGrid="0">
      <p:cViewPr varScale="1">
        <p:scale>
          <a:sx n="73" d="100"/>
          <a:sy n="73" d="100"/>
        </p:scale>
        <p:origin x="845" y="5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5B02CA-06A6-4874-A40B-B26F41B1DFE4}" type="datetimeFigureOut">
              <a:rPr lang="en-US" smtClean="0"/>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A1F6A-0E99-486C-AB3E-BD20B816ACB4}" type="slidenum">
              <a:rPr lang="en-US" smtClean="0"/>
              <a:t>‹#›</a:t>
            </a:fld>
            <a:endParaRPr lang="en-US"/>
          </a:p>
        </p:txBody>
      </p:sp>
    </p:spTree>
    <p:extLst>
      <p:ext uri="{BB962C8B-B14F-4D97-AF65-F5344CB8AC3E}">
        <p14:creationId xmlns:p14="http://schemas.microsoft.com/office/powerpoint/2010/main" val="543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Want to adjust this to make clear – talking about climate/data layer sources</a:t>
            </a:r>
          </a:p>
        </p:txBody>
      </p:sp>
      <p:sp>
        <p:nvSpPr>
          <p:cNvPr id="4" name="Slide Number Placeholder 3"/>
          <p:cNvSpPr>
            <a:spLocks noGrp="1"/>
          </p:cNvSpPr>
          <p:nvPr>
            <p:ph type="sldNum" sz="quarter" idx="5"/>
          </p:nvPr>
        </p:nvSpPr>
        <p:spPr/>
        <p:txBody>
          <a:bodyPr/>
          <a:lstStyle/>
          <a:p>
            <a:fld id="{F65A1F6A-0E99-486C-AB3E-BD20B816ACB4}" type="slidenum">
              <a:rPr lang="en-US" smtClean="0"/>
              <a:t>2</a:t>
            </a:fld>
            <a:endParaRPr lang="en-US"/>
          </a:p>
        </p:txBody>
      </p:sp>
    </p:spTree>
    <p:extLst>
      <p:ext uri="{BB962C8B-B14F-4D97-AF65-F5344CB8AC3E}">
        <p14:creationId xmlns:p14="http://schemas.microsoft.com/office/powerpoint/2010/main" val="999482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general types of data layers</a:t>
            </a:r>
          </a:p>
          <a:p>
            <a:pPr marL="628650" lvl="1" indent="-171450">
              <a:buFont typeface="Arial" panose="020B0604020202020204" pitchFamily="34" charset="0"/>
              <a:buChar char="•"/>
            </a:pPr>
            <a:r>
              <a:rPr lang="en-US" dirty="0"/>
              <a:t> </a:t>
            </a:r>
            <a:r>
              <a:rPr lang="en-US" dirty="0" err="1"/>
              <a:t>rasters</a:t>
            </a:r>
            <a:r>
              <a:rPr lang="en-US" dirty="0"/>
              <a:t> - store information in a grid</a:t>
            </a:r>
          </a:p>
          <a:p>
            <a:pPr marL="628650" lvl="1" indent="-171450">
              <a:buFont typeface="Arial" panose="020B0604020202020204" pitchFamily="34" charset="0"/>
              <a:buChar char="•"/>
            </a:pPr>
            <a:r>
              <a:rPr lang="en-US" dirty="0"/>
              <a:t>Vectors – store information in a shape</a:t>
            </a:r>
          </a:p>
          <a:p>
            <a:endParaRPr lang="en-US" dirty="0"/>
          </a:p>
        </p:txBody>
      </p:sp>
      <p:sp>
        <p:nvSpPr>
          <p:cNvPr id="4" name="Slide Number Placeholder 3"/>
          <p:cNvSpPr>
            <a:spLocks noGrp="1"/>
          </p:cNvSpPr>
          <p:nvPr>
            <p:ph type="sldNum" sz="quarter" idx="5"/>
          </p:nvPr>
        </p:nvSpPr>
        <p:spPr/>
        <p:txBody>
          <a:bodyPr/>
          <a:lstStyle/>
          <a:p>
            <a:fld id="{F65A1F6A-0E99-486C-AB3E-BD20B816ACB4}" type="slidenum">
              <a:rPr lang="en-US" smtClean="0"/>
              <a:t>3</a:t>
            </a:fld>
            <a:endParaRPr lang="en-US"/>
          </a:p>
        </p:txBody>
      </p:sp>
    </p:spTree>
    <p:extLst>
      <p:ext uri="{BB962C8B-B14F-4D97-AF65-F5344CB8AC3E}">
        <p14:creationId xmlns:p14="http://schemas.microsoft.com/office/powerpoint/2010/main" val="2659904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84042-969A-AE2D-DAC5-F5E1DD151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C45D9-94BB-75A3-91BB-18F814323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72D4E-2F70-2778-E738-C482104BC77F}"/>
              </a:ext>
            </a:extLst>
          </p:cNvPr>
          <p:cNvSpPr>
            <a:spLocks noGrp="1"/>
          </p:cNvSpPr>
          <p:nvPr>
            <p:ph type="body" idx="1"/>
          </p:nvPr>
        </p:nvSpPr>
        <p:spPr/>
        <p:txBody>
          <a:bodyPr/>
          <a:lstStyle/>
          <a:p>
            <a:r>
              <a:rPr lang="en-US" dirty="0"/>
              <a:t>Most of the layers we are going to be looking at/talking about today are </a:t>
            </a:r>
            <a:r>
              <a:rPr lang="en-US" dirty="0" err="1"/>
              <a:t>rasters</a:t>
            </a:r>
            <a:endParaRPr lang="en-US" dirty="0"/>
          </a:p>
        </p:txBody>
      </p:sp>
      <p:sp>
        <p:nvSpPr>
          <p:cNvPr id="4" name="Slide Number Placeholder 3">
            <a:extLst>
              <a:ext uri="{FF2B5EF4-FFF2-40B4-BE49-F238E27FC236}">
                <a16:creationId xmlns:a16="http://schemas.microsoft.com/office/drawing/2014/main" id="{B0F45018-C714-0F77-0D7D-966F4E09D93C}"/>
              </a:ext>
            </a:extLst>
          </p:cNvPr>
          <p:cNvSpPr>
            <a:spLocks noGrp="1"/>
          </p:cNvSpPr>
          <p:nvPr>
            <p:ph type="sldNum" sz="quarter" idx="5"/>
          </p:nvPr>
        </p:nvSpPr>
        <p:spPr/>
        <p:txBody>
          <a:bodyPr/>
          <a:lstStyle/>
          <a:p>
            <a:fld id="{F65A1F6A-0E99-486C-AB3E-BD20B816ACB4}" type="slidenum">
              <a:rPr lang="en-US" smtClean="0"/>
              <a:t>4</a:t>
            </a:fld>
            <a:endParaRPr lang="en-US"/>
          </a:p>
        </p:txBody>
      </p:sp>
    </p:spTree>
    <p:extLst>
      <p:ext uri="{BB962C8B-B14F-4D97-AF65-F5344CB8AC3E}">
        <p14:creationId xmlns:p14="http://schemas.microsoft.com/office/powerpoint/2010/main" val="2982615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2DC9-9DE0-5C92-1F8A-5E2E29AD1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85BF7-7FE9-A20C-3586-250F47BC3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DCF03-9008-05DD-AAB5-E1CE6C5D85A7}"/>
              </a:ext>
            </a:extLst>
          </p:cNvPr>
          <p:cNvSpPr>
            <a:spLocks noGrp="1"/>
          </p:cNvSpPr>
          <p:nvPr>
            <p:ph type="body" idx="1"/>
          </p:nvPr>
        </p:nvSpPr>
        <p:spPr/>
        <p:txBody>
          <a:bodyPr/>
          <a:lstStyle/>
          <a:p>
            <a:r>
              <a:rPr lang="en-US" dirty="0"/>
              <a:t>And one quick note – some of the data layers we’re using/talking about today (such as </a:t>
            </a:r>
            <a:r>
              <a:rPr lang="en-US" dirty="0" err="1"/>
              <a:t>bioclim</a:t>
            </a:r>
            <a:r>
              <a:rPr lang="en-US" dirty="0"/>
              <a:t>) will have resolution information in arc-seconds/minutes </a:t>
            </a:r>
          </a:p>
          <a:p>
            <a:r>
              <a:rPr lang="en-US" dirty="0"/>
              <a:t>	- easy for working with </a:t>
            </a:r>
            <a:r>
              <a:rPr lang="en-US" dirty="0" err="1"/>
              <a:t>lat</a:t>
            </a:r>
            <a:r>
              <a:rPr lang="en-US" dirty="0"/>
              <a:t>/long – so works well with our data </a:t>
            </a:r>
            <a:r>
              <a:rPr lang="en-US" dirty="0">
                <a:sym typeface="Wingdings" panose="05000000000000000000" pitchFamily="2" charset="2"/>
              </a:rPr>
              <a:t> </a:t>
            </a:r>
          </a:p>
          <a:p>
            <a:r>
              <a:rPr lang="en-US" dirty="0">
                <a:sym typeface="Wingdings" panose="05000000000000000000" pitchFamily="2" charset="2"/>
              </a:rPr>
              <a:t>	- But worth noting that not perfectly equal area – pixels get narrower as move north </a:t>
            </a:r>
            <a:endParaRPr lang="en-US" dirty="0"/>
          </a:p>
        </p:txBody>
      </p:sp>
      <p:sp>
        <p:nvSpPr>
          <p:cNvPr id="4" name="Slide Number Placeholder 3">
            <a:extLst>
              <a:ext uri="{FF2B5EF4-FFF2-40B4-BE49-F238E27FC236}">
                <a16:creationId xmlns:a16="http://schemas.microsoft.com/office/drawing/2014/main" id="{03089B92-62C2-B077-6503-B33CDB600359}"/>
              </a:ext>
            </a:extLst>
          </p:cNvPr>
          <p:cNvSpPr>
            <a:spLocks noGrp="1"/>
          </p:cNvSpPr>
          <p:nvPr>
            <p:ph type="sldNum" sz="quarter" idx="5"/>
          </p:nvPr>
        </p:nvSpPr>
        <p:spPr/>
        <p:txBody>
          <a:bodyPr/>
          <a:lstStyle/>
          <a:p>
            <a:fld id="{F65A1F6A-0E99-486C-AB3E-BD20B816ACB4}" type="slidenum">
              <a:rPr lang="en-US" smtClean="0"/>
              <a:t>5</a:t>
            </a:fld>
            <a:endParaRPr lang="en-US"/>
          </a:p>
        </p:txBody>
      </p:sp>
    </p:spTree>
    <p:extLst>
      <p:ext uri="{BB962C8B-B14F-4D97-AF65-F5344CB8AC3E}">
        <p14:creationId xmlns:p14="http://schemas.microsoft.com/office/powerpoint/2010/main" val="2025763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deciding where to pull data from, want to think about what type of data you want and the scale and time period you want it at</a:t>
            </a:r>
          </a:p>
        </p:txBody>
      </p:sp>
      <p:sp>
        <p:nvSpPr>
          <p:cNvPr id="4" name="Slide Number Placeholder 3"/>
          <p:cNvSpPr>
            <a:spLocks noGrp="1"/>
          </p:cNvSpPr>
          <p:nvPr>
            <p:ph type="sldNum" sz="quarter" idx="5"/>
          </p:nvPr>
        </p:nvSpPr>
        <p:spPr/>
        <p:txBody>
          <a:bodyPr/>
          <a:lstStyle/>
          <a:p>
            <a:fld id="{F65A1F6A-0E99-486C-AB3E-BD20B816ACB4}" type="slidenum">
              <a:rPr lang="en-US" smtClean="0"/>
              <a:t>6</a:t>
            </a:fld>
            <a:endParaRPr lang="en-US"/>
          </a:p>
        </p:txBody>
      </p:sp>
    </p:spTree>
    <p:extLst>
      <p:ext uri="{BB962C8B-B14F-4D97-AF65-F5344CB8AC3E}">
        <p14:creationId xmlns:p14="http://schemas.microsoft.com/office/powerpoint/2010/main" val="2065446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DCFB-6403-B5AB-EBFB-7777EDE2F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C338E-F92A-D41A-954E-E045890C2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A0916A-7C81-9969-71CD-0F9AFBCF21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E323B8-CAFD-3417-F359-30EAD212F4C1}"/>
              </a:ext>
            </a:extLst>
          </p:cNvPr>
          <p:cNvSpPr>
            <a:spLocks noGrp="1"/>
          </p:cNvSpPr>
          <p:nvPr>
            <p:ph type="sldNum" sz="quarter" idx="5"/>
          </p:nvPr>
        </p:nvSpPr>
        <p:spPr/>
        <p:txBody>
          <a:bodyPr/>
          <a:lstStyle/>
          <a:p>
            <a:fld id="{F65A1F6A-0E99-486C-AB3E-BD20B816ACB4}" type="slidenum">
              <a:rPr lang="en-US" smtClean="0"/>
              <a:t>7</a:t>
            </a:fld>
            <a:endParaRPr lang="en-US"/>
          </a:p>
        </p:txBody>
      </p:sp>
    </p:spTree>
    <p:extLst>
      <p:ext uri="{BB962C8B-B14F-4D97-AF65-F5344CB8AC3E}">
        <p14:creationId xmlns:p14="http://schemas.microsoft.com/office/powerpoint/2010/main" val="331489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5A1F6A-0E99-486C-AB3E-BD20B816ACB4}" type="slidenum">
              <a:rPr lang="en-US" smtClean="0"/>
              <a:t>9</a:t>
            </a:fld>
            <a:endParaRPr lang="en-US"/>
          </a:p>
        </p:txBody>
      </p:sp>
    </p:spTree>
    <p:extLst>
      <p:ext uri="{BB962C8B-B14F-4D97-AF65-F5344CB8AC3E}">
        <p14:creationId xmlns:p14="http://schemas.microsoft.com/office/powerpoint/2010/main" val="222313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we get the raster for our variables of interest - and we’re going to load them in as a stack – like cake layers</a:t>
            </a:r>
          </a:p>
        </p:txBody>
      </p:sp>
      <p:sp>
        <p:nvSpPr>
          <p:cNvPr id="4" name="Slide Number Placeholder 3"/>
          <p:cNvSpPr>
            <a:spLocks noGrp="1"/>
          </p:cNvSpPr>
          <p:nvPr>
            <p:ph type="sldNum" sz="quarter" idx="5"/>
          </p:nvPr>
        </p:nvSpPr>
        <p:spPr/>
        <p:txBody>
          <a:bodyPr/>
          <a:lstStyle/>
          <a:p>
            <a:fld id="{F65A1F6A-0E99-486C-AB3E-BD20B816ACB4}" type="slidenum">
              <a:rPr lang="en-US" smtClean="0"/>
              <a:t>20</a:t>
            </a:fld>
            <a:endParaRPr lang="en-US"/>
          </a:p>
        </p:txBody>
      </p:sp>
    </p:spTree>
    <p:extLst>
      <p:ext uri="{BB962C8B-B14F-4D97-AF65-F5344CB8AC3E}">
        <p14:creationId xmlns:p14="http://schemas.microsoft.com/office/powerpoint/2010/main" val="3529900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determine the grid cells that correspond to our occurrence points</a:t>
            </a:r>
          </a:p>
        </p:txBody>
      </p:sp>
      <p:sp>
        <p:nvSpPr>
          <p:cNvPr id="4" name="Slide Number Placeholder 3"/>
          <p:cNvSpPr>
            <a:spLocks noGrp="1"/>
          </p:cNvSpPr>
          <p:nvPr>
            <p:ph type="sldNum" sz="quarter" idx="5"/>
          </p:nvPr>
        </p:nvSpPr>
        <p:spPr/>
        <p:txBody>
          <a:bodyPr/>
          <a:lstStyle/>
          <a:p>
            <a:fld id="{F65A1F6A-0E99-486C-AB3E-BD20B816ACB4}" type="slidenum">
              <a:rPr lang="en-US" smtClean="0"/>
              <a:t>22</a:t>
            </a:fld>
            <a:endParaRPr lang="en-US"/>
          </a:p>
        </p:txBody>
      </p:sp>
    </p:spTree>
    <p:extLst>
      <p:ext uri="{BB962C8B-B14F-4D97-AF65-F5344CB8AC3E}">
        <p14:creationId xmlns:p14="http://schemas.microsoft.com/office/powerpoint/2010/main" val="2999528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extract that value… </a:t>
            </a:r>
          </a:p>
        </p:txBody>
      </p:sp>
      <p:sp>
        <p:nvSpPr>
          <p:cNvPr id="4" name="Slide Number Placeholder 3"/>
          <p:cNvSpPr>
            <a:spLocks noGrp="1"/>
          </p:cNvSpPr>
          <p:nvPr>
            <p:ph type="sldNum" sz="quarter" idx="5"/>
          </p:nvPr>
        </p:nvSpPr>
        <p:spPr/>
        <p:txBody>
          <a:bodyPr/>
          <a:lstStyle/>
          <a:p>
            <a:fld id="{F65A1F6A-0E99-486C-AB3E-BD20B816ACB4}" type="slidenum">
              <a:rPr lang="en-US" smtClean="0"/>
              <a:t>23</a:t>
            </a:fld>
            <a:endParaRPr lang="en-US"/>
          </a:p>
        </p:txBody>
      </p:sp>
    </p:spTree>
    <p:extLst>
      <p:ext uri="{BB962C8B-B14F-4D97-AF65-F5344CB8AC3E}">
        <p14:creationId xmlns:p14="http://schemas.microsoft.com/office/powerpoint/2010/main" val="1516545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98F12-DE89-C633-F639-C369978B4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0FFC4-B485-E2CC-B263-E7F791F66E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BB778-2B8A-0F7F-31CF-C7C1C77200EC}"/>
              </a:ext>
            </a:extLst>
          </p:cNvPr>
          <p:cNvSpPr>
            <a:spLocks noGrp="1"/>
          </p:cNvSpPr>
          <p:nvPr>
            <p:ph type="body" idx="1"/>
          </p:nvPr>
        </p:nvSpPr>
        <p:spPr/>
        <p:txBody>
          <a:bodyPr/>
          <a:lstStyle/>
          <a:p>
            <a:r>
              <a:rPr lang="en-US" dirty="0"/>
              <a:t>Okay – so now we have a </a:t>
            </a:r>
            <a:r>
              <a:rPr lang="en-US" dirty="0" err="1"/>
              <a:t>dataframe</a:t>
            </a:r>
            <a:r>
              <a:rPr lang="en-US" dirty="0"/>
              <a:t> with several variables for each observation…. </a:t>
            </a:r>
          </a:p>
          <a:p>
            <a:endParaRPr lang="en-US" dirty="0"/>
          </a:p>
          <a:p>
            <a:r>
              <a:rPr lang="en-US" dirty="0"/>
              <a:t>However, when we go to graph it…. It can be kind of hard to visualize… </a:t>
            </a:r>
          </a:p>
          <a:p>
            <a:endParaRPr lang="en-US" dirty="0"/>
          </a:p>
        </p:txBody>
      </p:sp>
      <p:sp>
        <p:nvSpPr>
          <p:cNvPr id="4" name="Slide Number Placeholder 3">
            <a:extLst>
              <a:ext uri="{FF2B5EF4-FFF2-40B4-BE49-F238E27FC236}">
                <a16:creationId xmlns:a16="http://schemas.microsoft.com/office/drawing/2014/main" id="{03BC33F9-0677-BD9B-89F9-79CCB6869FB4}"/>
              </a:ext>
            </a:extLst>
          </p:cNvPr>
          <p:cNvSpPr>
            <a:spLocks noGrp="1"/>
          </p:cNvSpPr>
          <p:nvPr>
            <p:ph type="sldNum" sz="quarter" idx="5"/>
          </p:nvPr>
        </p:nvSpPr>
        <p:spPr/>
        <p:txBody>
          <a:bodyPr/>
          <a:lstStyle/>
          <a:p>
            <a:fld id="{F65A1F6A-0E99-486C-AB3E-BD20B816ACB4}" type="slidenum">
              <a:rPr lang="en-US" smtClean="0"/>
              <a:t>24</a:t>
            </a:fld>
            <a:endParaRPr lang="en-US"/>
          </a:p>
        </p:txBody>
      </p:sp>
    </p:spTree>
    <p:extLst>
      <p:ext uri="{BB962C8B-B14F-4D97-AF65-F5344CB8AC3E}">
        <p14:creationId xmlns:p14="http://schemas.microsoft.com/office/powerpoint/2010/main" val="120221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CE90-7839-44CD-904D-9B97E0430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9E34E-D837-94B7-D54F-5CD1AFB84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32D45-9BA2-5635-D02A-1BECB0F07FED}"/>
              </a:ext>
            </a:extLst>
          </p:cNvPr>
          <p:cNvSpPr>
            <a:spLocks noGrp="1"/>
          </p:cNvSpPr>
          <p:nvPr>
            <p:ph type="body" idx="1"/>
          </p:nvPr>
        </p:nvSpPr>
        <p:spPr/>
        <p:txBody>
          <a:bodyPr/>
          <a:lstStyle/>
          <a:p>
            <a:r>
              <a:rPr lang="en-US" dirty="0"/>
              <a:t>So… what the PCA is going to do is simplify this multi-dimensional plot by… </a:t>
            </a:r>
          </a:p>
        </p:txBody>
      </p:sp>
      <p:sp>
        <p:nvSpPr>
          <p:cNvPr id="4" name="Slide Number Placeholder 3">
            <a:extLst>
              <a:ext uri="{FF2B5EF4-FFF2-40B4-BE49-F238E27FC236}">
                <a16:creationId xmlns:a16="http://schemas.microsoft.com/office/drawing/2014/main" id="{C32B1FEA-228E-7674-6D85-93CEB29BC3F2}"/>
              </a:ext>
            </a:extLst>
          </p:cNvPr>
          <p:cNvSpPr>
            <a:spLocks noGrp="1"/>
          </p:cNvSpPr>
          <p:nvPr>
            <p:ph type="sldNum" sz="quarter" idx="5"/>
          </p:nvPr>
        </p:nvSpPr>
        <p:spPr/>
        <p:txBody>
          <a:bodyPr/>
          <a:lstStyle/>
          <a:p>
            <a:fld id="{F65A1F6A-0E99-486C-AB3E-BD20B816ACB4}" type="slidenum">
              <a:rPr lang="en-US" smtClean="0"/>
              <a:t>25</a:t>
            </a:fld>
            <a:endParaRPr lang="en-US"/>
          </a:p>
        </p:txBody>
      </p:sp>
    </p:spTree>
    <p:extLst>
      <p:ext uri="{BB962C8B-B14F-4D97-AF65-F5344CB8AC3E}">
        <p14:creationId xmlns:p14="http://schemas.microsoft.com/office/powerpoint/2010/main" val="1901765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B23DF-ED54-7E5E-CE17-B9B53AFD1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AE678-574B-87A3-46BA-05DB916DD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2BC02-554A-ADAC-DC49-0CC977A599B1}"/>
              </a:ext>
            </a:extLst>
          </p:cNvPr>
          <p:cNvSpPr>
            <a:spLocks noGrp="1"/>
          </p:cNvSpPr>
          <p:nvPr>
            <p:ph type="body" idx="1"/>
          </p:nvPr>
        </p:nvSpPr>
        <p:spPr/>
        <p:txBody>
          <a:bodyPr/>
          <a:lstStyle/>
          <a:p>
            <a:r>
              <a:rPr lang="en-US" dirty="0"/>
              <a:t>Reducing it down to the two dimensions that allow us to visualize the most variation</a:t>
            </a:r>
          </a:p>
        </p:txBody>
      </p:sp>
      <p:sp>
        <p:nvSpPr>
          <p:cNvPr id="4" name="Slide Number Placeholder 3">
            <a:extLst>
              <a:ext uri="{FF2B5EF4-FFF2-40B4-BE49-F238E27FC236}">
                <a16:creationId xmlns:a16="http://schemas.microsoft.com/office/drawing/2014/main" id="{464569A3-11BC-2A64-8D84-AFB89239D169}"/>
              </a:ext>
            </a:extLst>
          </p:cNvPr>
          <p:cNvSpPr>
            <a:spLocks noGrp="1"/>
          </p:cNvSpPr>
          <p:nvPr>
            <p:ph type="sldNum" sz="quarter" idx="5"/>
          </p:nvPr>
        </p:nvSpPr>
        <p:spPr/>
        <p:txBody>
          <a:bodyPr/>
          <a:lstStyle/>
          <a:p>
            <a:fld id="{F65A1F6A-0E99-486C-AB3E-BD20B816ACB4}" type="slidenum">
              <a:rPr lang="en-US" smtClean="0"/>
              <a:t>26</a:t>
            </a:fld>
            <a:endParaRPr lang="en-US"/>
          </a:p>
        </p:txBody>
      </p:sp>
    </p:spTree>
    <p:extLst>
      <p:ext uri="{BB962C8B-B14F-4D97-AF65-F5344CB8AC3E}">
        <p14:creationId xmlns:p14="http://schemas.microsoft.com/office/powerpoint/2010/main" val="3748863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71A4A-DF5D-0A97-6C25-4560CF65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7F517-D190-0594-94F2-744E5B05F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01B56-F840-7147-6D54-99DF5B2091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Reducing it down to the two dimensions that allow us to visualize the most variation</a:t>
            </a:r>
          </a:p>
          <a:p>
            <a:endParaRPr lang="en-US" dirty="0"/>
          </a:p>
        </p:txBody>
      </p:sp>
      <p:sp>
        <p:nvSpPr>
          <p:cNvPr id="4" name="Slide Number Placeholder 3">
            <a:extLst>
              <a:ext uri="{FF2B5EF4-FFF2-40B4-BE49-F238E27FC236}">
                <a16:creationId xmlns:a16="http://schemas.microsoft.com/office/drawing/2014/main" id="{41D4171B-4A16-E559-1DA3-7FD4FA7FF9EC}"/>
              </a:ext>
            </a:extLst>
          </p:cNvPr>
          <p:cNvSpPr>
            <a:spLocks noGrp="1"/>
          </p:cNvSpPr>
          <p:nvPr>
            <p:ph type="sldNum" sz="quarter" idx="5"/>
          </p:nvPr>
        </p:nvSpPr>
        <p:spPr/>
        <p:txBody>
          <a:bodyPr/>
          <a:lstStyle/>
          <a:p>
            <a:fld id="{F65A1F6A-0E99-486C-AB3E-BD20B816ACB4}" type="slidenum">
              <a:rPr lang="en-US" smtClean="0"/>
              <a:t>27</a:t>
            </a:fld>
            <a:endParaRPr lang="en-US"/>
          </a:p>
        </p:txBody>
      </p:sp>
    </p:spTree>
    <p:extLst>
      <p:ext uri="{BB962C8B-B14F-4D97-AF65-F5344CB8AC3E}">
        <p14:creationId xmlns:p14="http://schemas.microsoft.com/office/powerpoint/2010/main" val="1444724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43058-849E-2B74-A3FC-06E30D857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E267C-E8FD-0ED2-3F03-4D605135B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2D808D-A3B5-8E5A-A40C-2BBC90644722}"/>
              </a:ext>
            </a:extLst>
          </p:cNvPr>
          <p:cNvSpPr>
            <a:spLocks noGrp="1"/>
          </p:cNvSpPr>
          <p:nvPr>
            <p:ph type="body" idx="1"/>
          </p:nvPr>
        </p:nvSpPr>
        <p:spPr/>
        <p:txBody>
          <a:bodyPr/>
          <a:lstStyle/>
          <a:p>
            <a:r>
              <a:rPr lang="en-US" dirty="0"/>
              <a:t>These reduced axes are called principal components – so helpfully, the two that let us see the most variation are: </a:t>
            </a:r>
          </a:p>
          <a:p>
            <a:endParaRPr lang="en-US" dirty="0"/>
          </a:p>
          <a:p>
            <a:pPr marL="171450" indent="-171450">
              <a:buFont typeface="Arial" panose="020B0604020202020204" pitchFamily="34" charset="0"/>
              <a:buChar char="•"/>
            </a:pPr>
            <a:r>
              <a:rPr lang="en-US" dirty="0"/>
              <a:t>Principal Component 1</a:t>
            </a:r>
          </a:p>
          <a:p>
            <a:pPr marL="171450" indent="-171450">
              <a:buFont typeface="Arial" panose="020B0604020202020204" pitchFamily="34" charset="0"/>
              <a:buChar char="•"/>
            </a:pPr>
            <a:r>
              <a:rPr lang="en-US" dirty="0"/>
              <a:t>Principal Component 2</a:t>
            </a:r>
          </a:p>
        </p:txBody>
      </p:sp>
      <p:sp>
        <p:nvSpPr>
          <p:cNvPr id="4" name="Slide Number Placeholder 3">
            <a:extLst>
              <a:ext uri="{FF2B5EF4-FFF2-40B4-BE49-F238E27FC236}">
                <a16:creationId xmlns:a16="http://schemas.microsoft.com/office/drawing/2014/main" id="{EF44EFCE-443E-C6AA-5413-34FEEB08C9F6}"/>
              </a:ext>
            </a:extLst>
          </p:cNvPr>
          <p:cNvSpPr>
            <a:spLocks noGrp="1"/>
          </p:cNvSpPr>
          <p:nvPr>
            <p:ph type="sldNum" sz="quarter" idx="5"/>
          </p:nvPr>
        </p:nvSpPr>
        <p:spPr/>
        <p:txBody>
          <a:bodyPr/>
          <a:lstStyle/>
          <a:p>
            <a:fld id="{F65A1F6A-0E99-486C-AB3E-BD20B816ACB4}" type="slidenum">
              <a:rPr lang="en-US" smtClean="0"/>
              <a:t>28</a:t>
            </a:fld>
            <a:endParaRPr lang="en-US"/>
          </a:p>
        </p:txBody>
      </p:sp>
    </p:spTree>
    <p:extLst>
      <p:ext uri="{BB962C8B-B14F-4D97-AF65-F5344CB8AC3E}">
        <p14:creationId xmlns:p14="http://schemas.microsoft.com/office/powerpoint/2010/main" val="3163480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916B2-D433-95EE-0168-340A4DDAA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0C20D-9B30-867C-3EC5-A56CE9DD3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3E75E-CA8E-F17F-16A7-23194B8238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738460-FD5A-6C37-5A3C-20D66C2EDE20}"/>
              </a:ext>
            </a:extLst>
          </p:cNvPr>
          <p:cNvSpPr>
            <a:spLocks noGrp="1"/>
          </p:cNvSpPr>
          <p:nvPr>
            <p:ph type="sldNum" sz="quarter" idx="5"/>
          </p:nvPr>
        </p:nvSpPr>
        <p:spPr/>
        <p:txBody>
          <a:bodyPr/>
          <a:lstStyle/>
          <a:p>
            <a:fld id="{F65A1F6A-0E99-486C-AB3E-BD20B816ACB4}" type="slidenum">
              <a:rPr lang="en-US" smtClean="0"/>
              <a:t>29</a:t>
            </a:fld>
            <a:endParaRPr lang="en-US"/>
          </a:p>
        </p:txBody>
      </p:sp>
    </p:spTree>
    <p:extLst>
      <p:ext uri="{BB962C8B-B14F-4D97-AF65-F5344CB8AC3E}">
        <p14:creationId xmlns:p14="http://schemas.microsoft.com/office/powerpoint/2010/main" val="2258772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C364-1D62-5F83-745C-395C0F52D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EC521-0042-38C4-CC04-EDA7D7C0E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645A3-4DAB-F153-3B8F-6E90CF059417}"/>
              </a:ext>
            </a:extLst>
          </p:cNvPr>
          <p:cNvSpPr>
            <a:spLocks noGrp="1"/>
          </p:cNvSpPr>
          <p:nvPr>
            <p:ph type="body" idx="1"/>
          </p:nvPr>
        </p:nvSpPr>
        <p:spPr/>
        <p:txBody>
          <a:bodyPr/>
          <a:lstStyle/>
          <a:p>
            <a:r>
              <a:rPr lang="en-US" dirty="0"/>
              <a:t>And continuing with the creative naming… the “loading” basically just tells you how much of each axis you “load” into a given principal component</a:t>
            </a:r>
          </a:p>
        </p:txBody>
      </p:sp>
      <p:sp>
        <p:nvSpPr>
          <p:cNvPr id="4" name="Slide Number Placeholder 3">
            <a:extLst>
              <a:ext uri="{FF2B5EF4-FFF2-40B4-BE49-F238E27FC236}">
                <a16:creationId xmlns:a16="http://schemas.microsoft.com/office/drawing/2014/main" id="{693682BF-C562-6CF1-EE31-25FB9F2C5A6A}"/>
              </a:ext>
            </a:extLst>
          </p:cNvPr>
          <p:cNvSpPr>
            <a:spLocks noGrp="1"/>
          </p:cNvSpPr>
          <p:nvPr>
            <p:ph type="sldNum" sz="quarter" idx="5"/>
          </p:nvPr>
        </p:nvSpPr>
        <p:spPr/>
        <p:txBody>
          <a:bodyPr/>
          <a:lstStyle/>
          <a:p>
            <a:fld id="{F65A1F6A-0E99-486C-AB3E-BD20B816ACB4}" type="slidenum">
              <a:rPr lang="en-US" smtClean="0"/>
              <a:t>30</a:t>
            </a:fld>
            <a:endParaRPr lang="en-US"/>
          </a:p>
        </p:txBody>
      </p:sp>
    </p:spTree>
    <p:extLst>
      <p:ext uri="{BB962C8B-B14F-4D97-AF65-F5344CB8AC3E}">
        <p14:creationId xmlns:p14="http://schemas.microsoft.com/office/powerpoint/2010/main" val="3124329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65580-FBC6-C2E7-C582-DD38E29B3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70DAB-A6CE-9345-C8E0-C73952402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560EC-2CCB-4E0B-E805-B7D30AFA54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continuing with the creative naming… the “loading” basically just tells you how much of each axis you “load” into a given principal component</a:t>
            </a:r>
          </a:p>
          <a:p>
            <a:endParaRPr lang="en-US" dirty="0"/>
          </a:p>
        </p:txBody>
      </p:sp>
      <p:sp>
        <p:nvSpPr>
          <p:cNvPr id="4" name="Slide Number Placeholder 3">
            <a:extLst>
              <a:ext uri="{FF2B5EF4-FFF2-40B4-BE49-F238E27FC236}">
                <a16:creationId xmlns:a16="http://schemas.microsoft.com/office/drawing/2014/main" id="{15F30A03-C47F-D4ED-3D1B-5C73C17A3801}"/>
              </a:ext>
            </a:extLst>
          </p:cNvPr>
          <p:cNvSpPr>
            <a:spLocks noGrp="1"/>
          </p:cNvSpPr>
          <p:nvPr>
            <p:ph type="sldNum" sz="quarter" idx="5"/>
          </p:nvPr>
        </p:nvSpPr>
        <p:spPr/>
        <p:txBody>
          <a:bodyPr/>
          <a:lstStyle/>
          <a:p>
            <a:fld id="{F65A1F6A-0E99-486C-AB3E-BD20B816ACB4}" type="slidenum">
              <a:rPr lang="en-US" smtClean="0"/>
              <a:t>31</a:t>
            </a:fld>
            <a:endParaRPr lang="en-US"/>
          </a:p>
        </p:txBody>
      </p:sp>
    </p:spTree>
    <p:extLst>
      <p:ext uri="{BB962C8B-B14F-4D97-AF65-F5344CB8AC3E}">
        <p14:creationId xmlns:p14="http://schemas.microsoft.com/office/powerpoint/2010/main" val="4088149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B897E-47BF-1F9D-1A66-1174FC2B7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3C93C-7F16-F88E-151E-002D5F22F6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A94F2-97F6-BF64-51CE-88B5E445808D}"/>
              </a:ext>
            </a:extLst>
          </p:cNvPr>
          <p:cNvSpPr>
            <a:spLocks noGrp="1"/>
          </p:cNvSpPr>
          <p:nvPr>
            <p:ph type="body" idx="1"/>
          </p:nvPr>
        </p:nvSpPr>
        <p:spPr/>
        <p:txBody>
          <a:bodyPr/>
          <a:lstStyle/>
          <a:p>
            <a:r>
              <a:rPr lang="en-US" dirty="0"/>
              <a:t>Then using the sum of the absolute values for each variable loading, we can calculate the relative contribution (out of 100%) that each variable contributes to each principal component </a:t>
            </a:r>
          </a:p>
        </p:txBody>
      </p:sp>
      <p:sp>
        <p:nvSpPr>
          <p:cNvPr id="4" name="Slide Number Placeholder 3">
            <a:extLst>
              <a:ext uri="{FF2B5EF4-FFF2-40B4-BE49-F238E27FC236}">
                <a16:creationId xmlns:a16="http://schemas.microsoft.com/office/drawing/2014/main" id="{8E263565-17EB-7734-FD3C-B83109565ADE}"/>
              </a:ext>
            </a:extLst>
          </p:cNvPr>
          <p:cNvSpPr>
            <a:spLocks noGrp="1"/>
          </p:cNvSpPr>
          <p:nvPr>
            <p:ph type="sldNum" sz="quarter" idx="5"/>
          </p:nvPr>
        </p:nvSpPr>
        <p:spPr/>
        <p:txBody>
          <a:bodyPr/>
          <a:lstStyle/>
          <a:p>
            <a:fld id="{F65A1F6A-0E99-486C-AB3E-BD20B816ACB4}" type="slidenum">
              <a:rPr lang="en-US" smtClean="0"/>
              <a:t>32</a:t>
            </a:fld>
            <a:endParaRPr lang="en-US"/>
          </a:p>
        </p:txBody>
      </p:sp>
    </p:spTree>
    <p:extLst>
      <p:ext uri="{BB962C8B-B14F-4D97-AF65-F5344CB8AC3E}">
        <p14:creationId xmlns:p14="http://schemas.microsoft.com/office/powerpoint/2010/main" val="3419176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97B2B-CB74-30D0-3E86-634CAED6B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41987-D40B-5FC9-2498-29F167A75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279C4-81EF-ED8B-775F-0A7191335EA8}"/>
              </a:ext>
            </a:extLst>
          </p:cNvPr>
          <p:cNvSpPr>
            <a:spLocks noGrp="1"/>
          </p:cNvSpPr>
          <p:nvPr>
            <p:ph type="body" idx="1"/>
          </p:nvPr>
        </p:nvSpPr>
        <p:spPr/>
        <p:txBody>
          <a:bodyPr/>
          <a:lstStyle/>
          <a:p>
            <a:r>
              <a:rPr lang="en-US" dirty="0"/>
              <a:t>Okay so this is nice, but when we have more than 3 dimensions, realistically, we’re not going to look at the left-hand side</a:t>
            </a:r>
          </a:p>
          <a:p>
            <a:endParaRPr lang="en-US" dirty="0"/>
          </a:p>
          <a:p>
            <a:r>
              <a:rPr lang="en-US" dirty="0"/>
              <a:t>FIX THE AXSES FOR THE RIGHT SIDE!!!</a:t>
            </a:r>
          </a:p>
        </p:txBody>
      </p:sp>
      <p:sp>
        <p:nvSpPr>
          <p:cNvPr id="4" name="Slide Number Placeholder 3">
            <a:extLst>
              <a:ext uri="{FF2B5EF4-FFF2-40B4-BE49-F238E27FC236}">
                <a16:creationId xmlns:a16="http://schemas.microsoft.com/office/drawing/2014/main" id="{ED11FB65-6219-A830-0423-6910DA615CDE}"/>
              </a:ext>
            </a:extLst>
          </p:cNvPr>
          <p:cNvSpPr>
            <a:spLocks noGrp="1"/>
          </p:cNvSpPr>
          <p:nvPr>
            <p:ph type="sldNum" sz="quarter" idx="5"/>
          </p:nvPr>
        </p:nvSpPr>
        <p:spPr/>
        <p:txBody>
          <a:bodyPr/>
          <a:lstStyle/>
          <a:p>
            <a:fld id="{F65A1F6A-0E99-486C-AB3E-BD20B816ACB4}" type="slidenum">
              <a:rPr lang="en-US" smtClean="0"/>
              <a:t>33</a:t>
            </a:fld>
            <a:endParaRPr lang="en-US"/>
          </a:p>
        </p:txBody>
      </p:sp>
    </p:spTree>
    <p:extLst>
      <p:ext uri="{BB962C8B-B14F-4D97-AF65-F5344CB8AC3E}">
        <p14:creationId xmlns:p14="http://schemas.microsoft.com/office/powerpoint/2010/main" val="758522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D1DD-B60D-2FA5-432C-14BE37412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0E1C2-4351-4A4D-6AB9-D314209DB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A03018-CC4A-CAA2-756B-FD4A47E6DC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Okay so this is nice, but when we have more than 3 dimensions, realistically, we’re not going to look at the left-hand side</a:t>
            </a:r>
          </a:p>
          <a:p>
            <a:r>
              <a:rPr lang="en-US" dirty="0"/>
              <a:t>…. </a:t>
            </a:r>
          </a:p>
          <a:p>
            <a:endParaRPr lang="en-US" dirty="0"/>
          </a:p>
          <a:p>
            <a:r>
              <a:rPr lang="en-US" dirty="0"/>
              <a:t>But we still want some “gut check” information about our variables – which the Principal Components on their own don’t give us…. So we add arrow to our PCA plot that represent the </a:t>
            </a:r>
            <a:r>
              <a:rPr lang="en-US" dirty="0" err="1"/>
              <a:t>axses</a:t>
            </a:r>
            <a:r>
              <a:rPr lang="en-US" dirty="0"/>
              <a:t> for the </a:t>
            </a:r>
            <a:r>
              <a:rPr lang="en-US" dirty="0" err="1"/>
              <a:t>bioclim</a:t>
            </a:r>
            <a:r>
              <a:rPr lang="en-US" dirty="0"/>
              <a:t> </a:t>
            </a:r>
            <a:r>
              <a:rPr lang="en-US" dirty="0" err="1"/>
              <a:t>varriables</a:t>
            </a:r>
            <a:endParaRPr lang="en-US" dirty="0"/>
          </a:p>
        </p:txBody>
      </p:sp>
      <p:sp>
        <p:nvSpPr>
          <p:cNvPr id="4" name="Slide Number Placeholder 3">
            <a:extLst>
              <a:ext uri="{FF2B5EF4-FFF2-40B4-BE49-F238E27FC236}">
                <a16:creationId xmlns:a16="http://schemas.microsoft.com/office/drawing/2014/main" id="{E35124B4-DF6B-4A04-C1F3-A3913B4D4723}"/>
              </a:ext>
            </a:extLst>
          </p:cNvPr>
          <p:cNvSpPr>
            <a:spLocks noGrp="1"/>
          </p:cNvSpPr>
          <p:nvPr>
            <p:ph type="sldNum" sz="quarter" idx="5"/>
          </p:nvPr>
        </p:nvSpPr>
        <p:spPr/>
        <p:txBody>
          <a:bodyPr/>
          <a:lstStyle/>
          <a:p>
            <a:fld id="{F65A1F6A-0E99-486C-AB3E-BD20B816ACB4}" type="slidenum">
              <a:rPr lang="en-US" smtClean="0"/>
              <a:t>34</a:t>
            </a:fld>
            <a:endParaRPr lang="en-US"/>
          </a:p>
        </p:txBody>
      </p:sp>
    </p:spTree>
    <p:extLst>
      <p:ext uri="{BB962C8B-B14F-4D97-AF65-F5344CB8AC3E}">
        <p14:creationId xmlns:p14="http://schemas.microsoft.com/office/powerpoint/2010/main" val="3725705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E68B-DBC3-633C-D430-AAD04E1C3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3C3EE-F062-1B35-83AD-2A16D6B731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8C593-7FE1-DE0F-055F-1B54D69B4DAD}"/>
              </a:ext>
            </a:extLst>
          </p:cNvPr>
          <p:cNvSpPr>
            <a:spLocks noGrp="1"/>
          </p:cNvSpPr>
          <p:nvPr>
            <p:ph type="body" idx="1"/>
          </p:nvPr>
        </p:nvSpPr>
        <p:spPr/>
        <p:txBody>
          <a:bodyPr/>
          <a:lstStyle/>
          <a:p>
            <a:r>
              <a:rPr lang="en-US" dirty="0"/>
              <a:t>When we compress to two dimensions, we do lose some information…. So the </a:t>
            </a:r>
            <a:r>
              <a:rPr lang="en-US" dirty="0" err="1"/>
              <a:t>axses</a:t>
            </a:r>
            <a:r>
              <a:rPr lang="en-US" dirty="0"/>
              <a:t> will also tell you how much of the variation in the data each </a:t>
            </a:r>
            <a:r>
              <a:rPr lang="en-US" dirty="0" err="1"/>
              <a:t>axsis</a:t>
            </a:r>
            <a:r>
              <a:rPr lang="en-US" dirty="0"/>
              <a:t> explains…. And then we can draw rings that represent where most of the variation lies for each group</a:t>
            </a:r>
          </a:p>
        </p:txBody>
      </p:sp>
      <p:sp>
        <p:nvSpPr>
          <p:cNvPr id="4" name="Slide Number Placeholder 3">
            <a:extLst>
              <a:ext uri="{FF2B5EF4-FFF2-40B4-BE49-F238E27FC236}">
                <a16:creationId xmlns:a16="http://schemas.microsoft.com/office/drawing/2014/main" id="{7BEC1155-4089-F90C-2604-8280A0AD94F0}"/>
              </a:ext>
            </a:extLst>
          </p:cNvPr>
          <p:cNvSpPr>
            <a:spLocks noGrp="1"/>
          </p:cNvSpPr>
          <p:nvPr>
            <p:ph type="sldNum" sz="quarter" idx="5"/>
          </p:nvPr>
        </p:nvSpPr>
        <p:spPr/>
        <p:txBody>
          <a:bodyPr/>
          <a:lstStyle/>
          <a:p>
            <a:fld id="{F65A1F6A-0E99-486C-AB3E-BD20B816ACB4}" type="slidenum">
              <a:rPr lang="en-US" smtClean="0"/>
              <a:t>35</a:t>
            </a:fld>
            <a:endParaRPr lang="en-US"/>
          </a:p>
        </p:txBody>
      </p:sp>
    </p:spTree>
    <p:extLst>
      <p:ext uri="{BB962C8B-B14F-4D97-AF65-F5344CB8AC3E}">
        <p14:creationId xmlns:p14="http://schemas.microsoft.com/office/powerpoint/2010/main" val="3115883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8BE4F-7878-2798-F5A1-486653250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94A26-5CD5-1DEC-D517-409A7F3E8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66304-A841-B509-2C44-BB6A1A6BCAEE}"/>
              </a:ext>
            </a:extLst>
          </p:cNvPr>
          <p:cNvSpPr>
            <a:spLocks noGrp="1"/>
          </p:cNvSpPr>
          <p:nvPr>
            <p:ph type="body" idx="1"/>
          </p:nvPr>
        </p:nvSpPr>
        <p:spPr/>
        <p:txBody>
          <a:bodyPr/>
          <a:lstStyle/>
          <a:p>
            <a:r>
              <a:rPr lang="en-US" dirty="0"/>
              <a:t>So… in short</a:t>
            </a:r>
          </a:p>
        </p:txBody>
      </p:sp>
      <p:sp>
        <p:nvSpPr>
          <p:cNvPr id="4" name="Slide Number Placeholder 3">
            <a:extLst>
              <a:ext uri="{FF2B5EF4-FFF2-40B4-BE49-F238E27FC236}">
                <a16:creationId xmlns:a16="http://schemas.microsoft.com/office/drawing/2014/main" id="{26D30F6C-01F0-17FD-A220-CFE7CEE05667}"/>
              </a:ext>
            </a:extLst>
          </p:cNvPr>
          <p:cNvSpPr>
            <a:spLocks noGrp="1"/>
          </p:cNvSpPr>
          <p:nvPr>
            <p:ph type="sldNum" sz="quarter" idx="5"/>
          </p:nvPr>
        </p:nvSpPr>
        <p:spPr/>
        <p:txBody>
          <a:bodyPr/>
          <a:lstStyle/>
          <a:p>
            <a:fld id="{F65A1F6A-0E99-486C-AB3E-BD20B816ACB4}" type="slidenum">
              <a:rPr lang="en-US" smtClean="0"/>
              <a:t>36</a:t>
            </a:fld>
            <a:endParaRPr lang="en-US"/>
          </a:p>
        </p:txBody>
      </p:sp>
    </p:spTree>
    <p:extLst>
      <p:ext uri="{BB962C8B-B14F-4D97-AF65-F5344CB8AC3E}">
        <p14:creationId xmlns:p14="http://schemas.microsoft.com/office/powerpoint/2010/main" val="1366897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3700-4D01-07AE-3FF8-9294918DA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E993A-5A98-90F6-CDA8-E73122534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46312-4ED4-85F0-E42E-5101E1739FEB}"/>
              </a:ext>
            </a:extLst>
          </p:cNvPr>
          <p:cNvSpPr>
            <a:spLocks noGrp="1"/>
          </p:cNvSpPr>
          <p:nvPr>
            <p:ph type="body" idx="1"/>
          </p:nvPr>
        </p:nvSpPr>
        <p:spPr/>
        <p:txBody>
          <a:bodyPr/>
          <a:lstStyle/>
          <a:p>
            <a:r>
              <a:rPr lang="en-US" dirty="0"/>
              <a:t>And then a more real example – this is the one we will build in a little bit… </a:t>
            </a:r>
          </a:p>
        </p:txBody>
      </p:sp>
      <p:sp>
        <p:nvSpPr>
          <p:cNvPr id="4" name="Slide Number Placeholder 3">
            <a:extLst>
              <a:ext uri="{FF2B5EF4-FFF2-40B4-BE49-F238E27FC236}">
                <a16:creationId xmlns:a16="http://schemas.microsoft.com/office/drawing/2014/main" id="{32A878D6-F732-5E19-E59C-5B62A29DC75E}"/>
              </a:ext>
            </a:extLst>
          </p:cNvPr>
          <p:cNvSpPr>
            <a:spLocks noGrp="1"/>
          </p:cNvSpPr>
          <p:nvPr>
            <p:ph type="sldNum" sz="quarter" idx="5"/>
          </p:nvPr>
        </p:nvSpPr>
        <p:spPr/>
        <p:txBody>
          <a:bodyPr/>
          <a:lstStyle/>
          <a:p>
            <a:fld id="{F65A1F6A-0E99-486C-AB3E-BD20B816ACB4}" type="slidenum">
              <a:rPr lang="en-US" smtClean="0"/>
              <a:t>37</a:t>
            </a:fld>
            <a:endParaRPr lang="en-US"/>
          </a:p>
        </p:txBody>
      </p:sp>
    </p:spTree>
    <p:extLst>
      <p:ext uri="{BB962C8B-B14F-4D97-AF65-F5344CB8AC3E}">
        <p14:creationId xmlns:p14="http://schemas.microsoft.com/office/powerpoint/2010/main" val="2829754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953F3-EEC8-1D10-F485-053489F0A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E57B2-A3B4-1305-999E-1030E8855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7CAE4-F30C-0702-701C-8C4A9D31BB36}"/>
              </a:ext>
            </a:extLst>
          </p:cNvPr>
          <p:cNvSpPr>
            <a:spLocks noGrp="1"/>
          </p:cNvSpPr>
          <p:nvPr>
            <p:ph type="body" idx="1"/>
          </p:nvPr>
        </p:nvSpPr>
        <p:spPr/>
        <p:txBody>
          <a:bodyPr/>
          <a:lstStyle/>
          <a:p>
            <a:r>
              <a:rPr lang="en-US" dirty="0"/>
              <a:t>So next </a:t>
            </a:r>
            <a:r>
              <a:rPr lang="en-US"/>
              <a:t>what we’re going to do </a:t>
            </a:r>
            <a:endParaRPr lang="en-US" dirty="0"/>
          </a:p>
        </p:txBody>
      </p:sp>
      <p:sp>
        <p:nvSpPr>
          <p:cNvPr id="4" name="Slide Number Placeholder 3">
            <a:extLst>
              <a:ext uri="{FF2B5EF4-FFF2-40B4-BE49-F238E27FC236}">
                <a16:creationId xmlns:a16="http://schemas.microsoft.com/office/drawing/2014/main" id="{00F2510F-D59C-1230-973C-8E97E607FB2D}"/>
              </a:ext>
            </a:extLst>
          </p:cNvPr>
          <p:cNvSpPr>
            <a:spLocks noGrp="1"/>
          </p:cNvSpPr>
          <p:nvPr>
            <p:ph type="sldNum" sz="quarter" idx="5"/>
          </p:nvPr>
        </p:nvSpPr>
        <p:spPr/>
        <p:txBody>
          <a:bodyPr/>
          <a:lstStyle/>
          <a:p>
            <a:fld id="{F65A1F6A-0E99-486C-AB3E-BD20B816ACB4}" type="slidenum">
              <a:rPr lang="en-US" smtClean="0"/>
              <a:t>38</a:t>
            </a:fld>
            <a:endParaRPr lang="en-US"/>
          </a:p>
        </p:txBody>
      </p:sp>
    </p:spTree>
    <p:extLst>
      <p:ext uri="{BB962C8B-B14F-4D97-AF65-F5344CB8AC3E}">
        <p14:creationId xmlns:p14="http://schemas.microsoft.com/office/powerpoint/2010/main" val="2941418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0B79A-9915-8355-A831-9683AA6D8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1D955-84C0-7C22-7DD1-C845F6631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4C9AC-1E2A-2073-B52D-98CDFD8CA2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6B7AD1-267D-46DD-E7E8-BF6A2AAB9952}"/>
              </a:ext>
            </a:extLst>
          </p:cNvPr>
          <p:cNvSpPr>
            <a:spLocks noGrp="1"/>
          </p:cNvSpPr>
          <p:nvPr>
            <p:ph type="sldNum" sz="quarter" idx="5"/>
          </p:nvPr>
        </p:nvSpPr>
        <p:spPr/>
        <p:txBody>
          <a:bodyPr/>
          <a:lstStyle/>
          <a:p>
            <a:fld id="{F65A1F6A-0E99-486C-AB3E-BD20B816ACB4}" type="slidenum">
              <a:rPr lang="en-US" smtClean="0"/>
              <a:t>39</a:t>
            </a:fld>
            <a:endParaRPr lang="en-US"/>
          </a:p>
        </p:txBody>
      </p:sp>
    </p:spTree>
    <p:extLst>
      <p:ext uri="{BB962C8B-B14F-4D97-AF65-F5344CB8AC3E}">
        <p14:creationId xmlns:p14="http://schemas.microsoft.com/office/powerpoint/2010/main" val="1673751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2F20E-5CD3-4C24-95F0-4C5A1CDD1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3CD1C-CE1F-CC9F-303A-D9E72694D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295A4-8CA5-C525-F4B8-A0B527698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49233-5D89-9C77-7753-DD00C055A1CB}"/>
              </a:ext>
            </a:extLst>
          </p:cNvPr>
          <p:cNvSpPr>
            <a:spLocks noGrp="1"/>
          </p:cNvSpPr>
          <p:nvPr>
            <p:ph type="sldNum" sz="quarter" idx="5"/>
          </p:nvPr>
        </p:nvSpPr>
        <p:spPr/>
        <p:txBody>
          <a:bodyPr/>
          <a:lstStyle/>
          <a:p>
            <a:fld id="{F65A1F6A-0E99-486C-AB3E-BD20B816ACB4}" type="slidenum">
              <a:rPr lang="en-US" smtClean="0"/>
              <a:t>40</a:t>
            </a:fld>
            <a:endParaRPr lang="en-US"/>
          </a:p>
        </p:txBody>
      </p:sp>
    </p:spTree>
    <p:extLst>
      <p:ext uri="{BB962C8B-B14F-4D97-AF65-F5344CB8AC3E}">
        <p14:creationId xmlns:p14="http://schemas.microsoft.com/office/powerpoint/2010/main" val="520380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260AC-7D60-C48C-10E0-D57E6FA73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55913-648D-1B93-50C8-15FD9B5B3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3E221-A838-E68C-5A33-77497A179A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9EE994-DDA6-4232-E2D6-54F83B5787E8}"/>
              </a:ext>
            </a:extLst>
          </p:cNvPr>
          <p:cNvSpPr>
            <a:spLocks noGrp="1"/>
          </p:cNvSpPr>
          <p:nvPr>
            <p:ph type="sldNum" sz="quarter" idx="5"/>
          </p:nvPr>
        </p:nvSpPr>
        <p:spPr/>
        <p:txBody>
          <a:bodyPr/>
          <a:lstStyle/>
          <a:p>
            <a:fld id="{F65A1F6A-0E99-486C-AB3E-BD20B816ACB4}" type="slidenum">
              <a:rPr lang="en-US" smtClean="0"/>
              <a:t>41</a:t>
            </a:fld>
            <a:endParaRPr lang="en-US"/>
          </a:p>
        </p:txBody>
      </p:sp>
    </p:spTree>
    <p:extLst>
      <p:ext uri="{BB962C8B-B14F-4D97-AF65-F5344CB8AC3E}">
        <p14:creationId xmlns:p14="http://schemas.microsoft.com/office/powerpoint/2010/main" val="41748451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25E39-CD56-B5E3-EB53-80A00FEA8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73A38-931D-6902-BF04-0A6220D3E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9C06D-059E-A7C7-E4A1-D0236BAFAD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D4C871-5665-B36E-8956-68E45C5B96AB}"/>
              </a:ext>
            </a:extLst>
          </p:cNvPr>
          <p:cNvSpPr>
            <a:spLocks noGrp="1"/>
          </p:cNvSpPr>
          <p:nvPr>
            <p:ph type="sldNum" sz="quarter" idx="5"/>
          </p:nvPr>
        </p:nvSpPr>
        <p:spPr/>
        <p:txBody>
          <a:bodyPr/>
          <a:lstStyle/>
          <a:p>
            <a:fld id="{F65A1F6A-0E99-486C-AB3E-BD20B816ACB4}" type="slidenum">
              <a:rPr lang="en-US" smtClean="0"/>
              <a:t>42</a:t>
            </a:fld>
            <a:endParaRPr lang="en-US"/>
          </a:p>
        </p:txBody>
      </p:sp>
    </p:spTree>
    <p:extLst>
      <p:ext uri="{BB962C8B-B14F-4D97-AF65-F5344CB8AC3E}">
        <p14:creationId xmlns:p14="http://schemas.microsoft.com/office/powerpoint/2010/main" val="950887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5A1F6A-0E99-486C-AB3E-BD20B816ACB4}" type="slidenum">
              <a:rPr lang="en-US" smtClean="0"/>
              <a:t>43</a:t>
            </a:fld>
            <a:endParaRPr lang="en-US"/>
          </a:p>
        </p:txBody>
      </p:sp>
    </p:spTree>
    <p:extLst>
      <p:ext uri="{BB962C8B-B14F-4D97-AF65-F5344CB8AC3E}">
        <p14:creationId xmlns:p14="http://schemas.microsoft.com/office/powerpoint/2010/main" val="1763457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8C75D-D917-556E-F9FD-9B0CEBB03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041E-FD5C-25DE-D544-616ABCF30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F5947-ABB7-BA3C-0012-16FEA803FB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06E264-C510-2FDF-2AF4-516B1E44C186}"/>
              </a:ext>
            </a:extLst>
          </p:cNvPr>
          <p:cNvSpPr>
            <a:spLocks noGrp="1"/>
          </p:cNvSpPr>
          <p:nvPr>
            <p:ph type="sldNum" sz="quarter" idx="5"/>
          </p:nvPr>
        </p:nvSpPr>
        <p:spPr/>
        <p:txBody>
          <a:bodyPr/>
          <a:lstStyle/>
          <a:p>
            <a:fld id="{F65A1F6A-0E99-486C-AB3E-BD20B816ACB4}" type="slidenum">
              <a:rPr lang="en-US" smtClean="0"/>
              <a:t>46</a:t>
            </a:fld>
            <a:endParaRPr lang="en-US"/>
          </a:p>
        </p:txBody>
      </p:sp>
    </p:spTree>
    <p:extLst>
      <p:ext uri="{BB962C8B-B14F-4D97-AF65-F5344CB8AC3E}">
        <p14:creationId xmlns:p14="http://schemas.microsoft.com/office/powerpoint/2010/main" val="16449607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5C199-50E1-E0C5-08A3-BCE5701FF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5A35D-34AD-4979-EF60-87ECC6D52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BAC87-627D-291F-07B8-259DC46EE4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E7517E-5CBF-334B-12BB-A6154E57CBBC}"/>
              </a:ext>
            </a:extLst>
          </p:cNvPr>
          <p:cNvSpPr>
            <a:spLocks noGrp="1"/>
          </p:cNvSpPr>
          <p:nvPr>
            <p:ph type="sldNum" sz="quarter" idx="5"/>
          </p:nvPr>
        </p:nvSpPr>
        <p:spPr/>
        <p:txBody>
          <a:bodyPr/>
          <a:lstStyle/>
          <a:p>
            <a:fld id="{F65A1F6A-0E99-486C-AB3E-BD20B816ACB4}" type="slidenum">
              <a:rPr lang="en-US" smtClean="0"/>
              <a:t>47</a:t>
            </a:fld>
            <a:endParaRPr lang="en-US"/>
          </a:p>
        </p:txBody>
      </p:sp>
    </p:spTree>
    <p:extLst>
      <p:ext uri="{BB962C8B-B14F-4D97-AF65-F5344CB8AC3E}">
        <p14:creationId xmlns:p14="http://schemas.microsoft.com/office/powerpoint/2010/main" val="22329431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181F0-17F7-B55E-2161-D5C231FC8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BD73D-D027-6A7C-6760-BF11B86102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B89ED-7D97-FCA0-6C94-9153BBCE9F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19059-8099-469D-9DB6-6E0137615E15}"/>
              </a:ext>
            </a:extLst>
          </p:cNvPr>
          <p:cNvSpPr>
            <a:spLocks noGrp="1"/>
          </p:cNvSpPr>
          <p:nvPr>
            <p:ph type="sldNum" sz="quarter" idx="5"/>
          </p:nvPr>
        </p:nvSpPr>
        <p:spPr/>
        <p:txBody>
          <a:bodyPr/>
          <a:lstStyle/>
          <a:p>
            <a:fld id="{F65A1F6A-0E99-486C-AB3E-BD20B816ACB4}" type="slidenum">
              <a:rPr lang="en-US" smtClean="0"/>
              <a:t>48</a:t>
            </a:fld>
            <a:endParaRPr lang="en-US"/>
          </a:p>
        </p:txBody>
      </p:sp>
    </p:spTree>
    <p:extLst>
      <p:ext uri="{BB962C8B-B14F-4D97-AF65-F5344CB8AC3E}">
        <p14:creationId xmlns:p14="http://schemas.microsoft.com/office/powerpoint/2010/main" val="1383804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E37D-1BBF-4CDB-78B6-F1994D801B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3D4E54-D3BA-FA04-B6C9-44DF77C096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38F74B-3B6C-BEFB-66CA-B10F8AA1AA90}"/>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5" name="Footer Placeholder 4">
            <a:extLst>
              <a:ext uri="{FF2B5EF4-FFF2-40B4-BE49-F238E27FC236}">
                <a16:creationId xmlns:a16="http://schemas.microsoft.com/office/drawing/2014/main" id="{C1BB8AEB-C4E6-1142-5A98-C5611095E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2A0CB-F1A0-ACFD-2677-60310DD4983B}"/>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3552914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5B080-CFD3-C03A-52FC-FCA1EB01DB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D9D874-0E24-6A65-4DF3-54939B8DCF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6A4C7-FBDC-9028-3DB1-9F8E2C28718D}"/>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5" name="Footer Placeholder 4">
            <a:extLst>
              <a:ext uri="{FF2B5EF4-FFF2-40B4-BE49-F238E27FC236}">
                <a16:creationId xmlns:a16="http://schemas.microsoft.com/office/drawing/2014/main" id="{B73A464A-733A-F601-6D1F-AD9E092EB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B8197-A6FB-EAA9-CB08-8D4F5F05806C}"/>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249140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658D9-1C3C-EC19-A757-DF8420EB36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B59073-0156-DD85-16E5-80C7B9F77B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1F2A65-8652-6CD0-9E09-A0FA6C8406C5}"/>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5" name="Footer Placeholder 4">
            <a:extLst>
              <a:ext uri="{FF2B5EF4-FFF2-40B4-BE49-F238E27FC236}">
                <a16:creationId xmlns:a16="http://schemas.microsoft.com/office/drawing/2014/main" id="{194D6726-2631-FF69-3E1F-3C36DE128E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B1F44F-7589-1095-67FA-24AA86F83A0C}"/>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1785460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9E1D9-2A8C-8DBA-E8D9-7BA4C0E468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767871-8509-5E01-DB1D-FFE8F83DF6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4D6F78-3036-CA2F-955D-0B41A883A4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EC611D-C5D3-F196-03EC-BFF831CAE6CC}"/>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6" name="Footer Placeholder 5">
            <a:extLst>
              <a:ext uri="{FF2B5EF4-FFF2-40B4-BE49-F238E27FC236}">
                <a16:creationId xmlns:a16="http://schemas.microsoft.com/office/drawing/2014/main" id="{51808E38-233B-F18C-11CB-93638DF3A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6BEDF1-4FEA-B9C9-4554-F38456869B38}"/>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735103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20F48-F628-E8F0-0415-99F2AA60EE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1B6E49-8D8A-BE07-05C2-F7F9113FB0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097339-F3CE-F6E3-2E77-3B756D1151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8E2EB8-74EF-0FE7-8A67-0125D97B2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F736D9-4079-0104-921A-A6F6D84523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85F333-5243-132E-E831-24DD46816B0C}"/>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8" name="Footer Placeholder 7">
            <a:extLst>
              <a:ext uri="{FF2B5EF4-FFF2-40B4-BE49-F238E27FC236}">
                <a16:creationId xmlns:a16="http://schemas.microsoft.com/office/drawing/2014/main" id="{C3927853-95A5-31F1-AE18-52F7BDCD82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A4FDCE-E6DF-B85E-3B54-5608320D60CF}"/>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2352629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F195F-8636-0AF3-0C2B-9CE5F09CBC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E9D1D9-D139-0B19-20BB-F04E78D1878E}"/>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4" name="Footer Placeholder 3">
            <a:extLst>
              <a:ext uri="{FF2B5EF4-FFF2-40B4-BE49-F238E27FC236}">
                <a16:creationId xmlns:a16="http://schemas.microsoft.com/office/drawing/2014/main" id="{CB69D060-DEE5-1ACC-B730-1F94453B98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448260-788D-91DC-626B-F9420C23C867}"/>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2806969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6EF9AE-1964-BED0-B460-1DAEC01E118A}"/>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3" name="Footer Placeholder 2">
            <a:extLst>
              <a:ext uri="{FF2B5EF4-FFF2-40B4-BE49-F238E27FC236}">
                <a16:creationId xmlns:a16="http://schemas.microsoft.com/office/drawing/2014/main" id="{3319D7FE-8747-BF90-A621-ECFE31D266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BF8338-DB25-A784-80A8-ED078507DFA7}"/>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3666198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74B6-82FA-C3C3-7532-395CD5ABFE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56560-ECAA-B9E8-6E2A-A6789861CB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2B5C8A-A2F9-8C2A-6C77-83C58D9BC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9A2BA-FDD4-44E8-5EC9-C78C14DA774B}"/>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6" name="Footer Placeholder 5">
            <a:extLst>
              <a:ext uri="{FF2B5EF4-FFF2-40B4-BE49-F238E27FC236}">
                <a16:creationId xmlns:a16="http://schemas.microsoft.com/office/drawing/2014/main" id="{1EE0198A-3968-BF78-E63A-1CF24355A6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C93E7-9274-F192-6BA0-D996ED07BF8A}"/>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1221627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F05E3-12E6-A394-43B1-96FF168E1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25E990-1F18-8DDD-5588-4D6918EDFC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7F55F7-9069-76C5-28BC-45475BF45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D7F55-0334-CB05-D8DF-E281A532B436}"/>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6" name="Footer Placeholder 5">
            <a:extLst>
              <a:ext uri="{FF2B5EF4-FFF2-40B4-BE49-F238E27FC236}">
                <a16:creationId xmlns:a16="http://schemas.microsoft.com/office/drawing/2014/main" id="{C1FB7E27-0B57-8C18-FF56-15DE0A2D3F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69B45E-CF03-E154-80EF-839DC847F26F}"/>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182363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E997-3A8A-B048-CE77-192FBC26CE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8F508-0904-32DF-A374-31F6326BB5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8611-74FE-5C96-AA49-5E643FDFC9B9}"/>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5" name="Footer Placeholder 4">
            <a:extLst>
              <a:ext uri="{FF2B5EF4-FFF2-40B4-BE49-F238E27FC236}">
                <a16:creationId xmlns:a16="http://schemas.microsoft.com/office/drawing/2014/main" id="{2346D0A2-8F45-239F-82F0-C812F624F0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CE50D8-E588-66A0-5FFD-390E921A05EB}"/>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1662946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7F5191-A854-06C2-AF9D-09641FDB82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8C831F-B2B2-F1F4-6B5C-E91A1BF7A4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DE886-BAF3-6DB3-46C9-F54363FB987F}"/>
              </a:ext>
            </a:extLst>
          </p:cNvPr>
          <p:cNvSpPr>
            <a:spLocks noGrp="1"/>
          </p:cNvSpPr>
          <p:nvPr>
            <p:ph type="dt" sz="half" idx="10"/>
          </p:nvPr>
        </p:nvSpPr>
        <p:spPr/>
        <p:txBody>
          <a:bodyPr/>
          <a:lstStyle/>
          <a:p>
            <a:fld id="{95C3D72C-D70B-404B-ACAB-8097673845A0}" type="datetimeFigureOut">
              <a:rPr lang="en-US" smtClean="0"/>
              <a:t>8/2/2026</a:t>
            </a:fld>
            <a:endParaRPr lang="en-US"/>
          </a:p>
        </p:txBody>
      </p:sp>
      <p:sp>
        <p:nvSpPr>
          <p:cNvPr id="5" name="Footer Placeholder 4">
            <a:extLst>
              <a:ext uri="{FF2B5EF4-FFF2-40B4-BE49-F238E27FC236}">
                <a16:creationId xmlns:a16="http://schemas.microsoft.com/office/drawing/2014/main" id="{4E284661-F236-ACCF-4C95-8AA63A492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1A689-D40F-37C7-0933-5B3C23529DF9}"/>
              </a:ext>
            </a:extLst>
          </p:cNvPr>
          <p:cNvSpPr>
            <a:spLocks noGrp="1"/>
          </p:cNvSpPr>
          <p:nvPr>
            <p:ph type="sldNum" sz="quarter" idx="12"/>
          </p:nvPr>
        </p:nvSpPr>
        <p:spPr/>
        <p:txBody>
          <a:bodyPr/>
          <a:lstStyle/>
          <a:p>
            <a:fld id="{4F652E7B-38F6-408B-B8D3-CA635B4E52C0}" type="slidenum">
              <a:rPr lang="en-US" smtClean="0"/>
              <a:t>‹#›</a:t>
            </a:fld>
            <a:endParaRPr lang="en-US"/>
          </a:p>
        </p:txBody>
      </p:sp>
    </p:spTree>
    <p:extLst>
      <p:ext uri="{BB962C8B-B14F-4D97-AF65-F5344CB8AC3E}">
        <p14:creationId xmlns:p14="http://schemas.microsoft.com/office/powerpoint/2010/main" val="1455974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238530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4BA53E-F324-932D-A71F-B60F866BF4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9BB2F2-0991-D176-C276-02EB77D425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F1C6AD-4873-6F64-2937-0DB5DB67AF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C3D72C-D70B-404B-ACAB-8097673845A0}" type="datetimeFigureOut">
              <a:rPr lang="en-US" smtClean="0"/>
              <a:t>8/2/2026</a:t>
            </a:fld>
            <a:endParaRPr lang="en-US"/>
          </a:p>
        </p:txBody>
      </p:sp>
      <p:sp>
        <p:nvSpPr>
          <p:cNvPr id="5" name="Footer Placeholder 4">
            <a:extLst>
              <a:ext uri="{FF2B5EF4-FFF2-40B4-BE49-F238E27FC236}">
                <a16:creationId xmlns:a16="http://schemas.microsoft.com/office/drawing/2014/main" id="{2C2FA26E-2C9F-F306-0302-539265E400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B3FC37-330C-DED2-8382-C0A47692D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652E7B-38F6-408B-B8D3-CA635B4E52C0}" type="slidenum">
              <a:rPr lang="en-US" smtClean="0"/>
              <a:t>‹#›</a:t>
            </a:fld>
            <a:endParaRPr lang="en-US"/>
          </a:p>
        </p:txBody>
      </p:sp>
    </p:spTree>
    <p:extLst>
      <p:ext uri="{BB962C8B-B14F-4D97-AF65-F5344CB8AC3E}">
        <p14:creationId xmlns:p14="http://schemas.microsoft.com/office/powerpoint/2010/main" val="2927983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t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sv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worldclim.org/" TargetMode="Externa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www.worldclim.org/data/bioclim.html" TargetMode="External"/><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hyperlink" Target="https://www.prism.oregonstate.edu/"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hyperlink" Target="https://www.prism.oregonstate.edu/" TargetMode="Externa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hyperlink" Target="https://soilgrids.org/"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eg"/><Relationship Id="rId7" Type="http://schemas.openxmlformats.org/officeDocument/2006/relationships/image" Target="../media/image31.png"/><Relationship Id="rId2" Type="http://schemas.openxmlformats.org/officeDocument/2006/relationships/hyperlink" Target="https://soilgrids.org/" TargetMode="Externa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ebsoilsurvey.sc.egov.usda.gov/app/" TargetMode="Externa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hyperlink" Target="https://websoilsurvey.sc.egov.usda.gov/app/" TargetMode="Externa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epa.gov/enviroatlas" TargetMode="Externa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epa.gov/enviroatlas" TargetMode="Externa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hyperlink" Target="https://pmip.lsce.ipsl.fr/" TargetMode="External"/><Relationship Id="rId7" Type="http://schemas.openxmlformats.org/officeDocument/2006/relationships/hyperlink" Target="ogimet.com" TargetMode="External"/><Relationship Id="rId12" Type="http://schemas.openxmlformats.org/officeDocument/2006/relationships/image" Target="../media/image46.png"/><Relationship Id="rId2" Type="http://schemas.openxmlformats.org/officeDocument/2006/relationships/hyperlink" Target="https://www.ncei.noaa.gov/products/paleoclimatology" TargetMode="External"/><Relationship Id="rId1" Type="http://schemas.openxmlformats.org/officeDocument/2006/relationships/slideLayout" Target="../slideLayouts/slideLayout12.xml"/><Relationship Id="rId6" Type="http://schemas.openxmlformats.org/officeDocument/2006/relationships/hyperlink" Target="https://daymet.ornl.gov/" TargetMode="External"/><Relationship Id="rId11" Type="http://schemas.openxmlformats.org/officeDocument/2006/relationships/image" Target="../media/image45.png"/><Relationship Id="rId5" Type="http://schemas.openxmlformats.org/officeDocument/2006/relationships/hyperlink" Target="http://www.aquamaps.org/main/envt_data.php" TargetMode="External"/><Relationship Id="rId10" Type="http://schemas.openxmlformats.org/officeDocument/2006/relationships/image" Target="../media/image44.png"/><Relationship Id="rId4" Type="http://schemas.openxmlformats.org/officeDocument/2006/relationships/hyperlink" Target="http://paleoclim.org/" TargetMode="External"/><Relationship Id="rId9"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53.svg"/><Relationship Id="rId5" Type="http://schemas.openxmlformats.org/officeDocument/2006/relationships/image" Target="../media/image52.sv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svg"/></Relationships>
</file>

<file path=ppt/slides/_rels/slide21.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3.svg"/><Relationship Id="rId1" Type="http://schemas.openxmlformats.org/officeDocument/2006/relationships/slideLayout" Target="../slideLayouts/slideLayout12.xml"/><Relationship Id="rId4" Type="http://schemas.openxmlformats.org/officeDocument/2006/relationships/image" Target="../media/image54.svg"/></Relationships>
</file>

<file path=ppt/slides/_rels/slide22.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57.svg"/><Relationship Id="rId3" Type="http://schemas.openxmlformats.org/officeDocument/2006/relationships/image" Target="../media/image53.svg"/><Relationship Id="rId7" Type="http://schemas.openxmlformats.org/officeDocument/2006/relationships/image" Target="../media/image54.svg"/><Relationship Id="rId12" Type="http://schemas.openxmlformats.org/officeDocument/2006/relationships/image" Target="../media/image63.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9.svg"/><Relationship Id="rId11" Type="http://schemas.openxmlformats.org/officeDocument/2006/relationships/image" Target="../media/image55.svg"/><Relationship Id="rId5" Type="http://schemas.openxmlformats.org/officeDocument/2006/relationships/image" Target="../media/image51.svg"/><Relationship Id="rId10" Type="http://schemas.openxmlformats.org/officeDocument/2006/relationships/image" Target="../media/image62.svg"/><Relationship Id="rId4" Type="http://schemas.openxmlformats.org/officeDocument/2006/relationships/image" Target="../media/image58.svg"/><Relationship Id="rId9" Type="http://schemas.openxmlformats.org/officeDocument/2006/relationships/image" Target="../media/image61.svg"/><Relationship Id="rId14" Type="http://schemas.openxmlformats.org/officeDocument/2006/relationships/image" Target="../media/image64.svg"/></Relationships>
</file>

<file path=ppt/slides/_rels/slide23.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3" Type="http://schemas.openxmlformats.org/officeDocument/2006/relationships/image" Target="../media/image53.svg"/><Relationship Id="rId7" Type="http://schemas.openxmlformats.org/officeDocument/2006/relationships/image" Target="../media/image61.svg"/><Relationship Id="rId12" Type="http://schemas.openxmlformats.org/officeDocument/2006/relationships/image" Target="../media/image66.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60.svg"/><Relationship Id="rId11" Type="http://schemas.openxmlformats.org/officeDocument/2006/relationships/image" Target="../media/image65.svg"/><Relationship Id="rId5" Type="http://schemas.openxmlformats.org/officeDocument/2006/relationships/image" Target="../media/image54.svg"/><Relationship Id="rId15" Type="http://schemas.openxmlformats.org/officeDocument/2006/relationships/image" Target="../media/image69.svg"/><Relationship Id="rId10" Type="http://schemas.openxmlformats.org/officeDocument/2006/relationships/image" Target="../media/image59.svg"/><Relationship Id="rId4" Type="http://schemas.openxmlformats.org/officeDocument/2006/relationships/image" Target="../media/image58.svg"/><Relationship Id="rId9" Type="http://schemas.openxmlformats.org/officeDocument/2006/relationships/image" Target="../media/image51.svg"/><Relationship Id="rId14" Type="http://schemas.openxmlformats.org/officeDocument/2006/relationships/image" Target="../media/image68.svg"/></Relationships>
</file>

<file path=ppt/slides/_rels/slide2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2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2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2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2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2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image" Target="../media/image62.svg"/></Relationships>
</file>

<file path=ppt/slides/_rels/slide3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74.svg"/><Relationship Id="rId7" Type="http://schemas.openxmlformats.org/officeDocument/2006/relationships/image" Target="../media/image76.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2.svg"/><Relationship Id="rId11" Type="http://schemas.openxmlformats.org/officeDocument/2006/relationships/image" Target="../media/image80.svg"/><Relationship Id="rId5" Type="http://schemas.openxmlformats.org/officeDocument/2006/relationships/image" Target="../media/image61.svg"/><Relationship Id="rId10" Type="http://schemas.openxmlformats.org/officeDocument/2006/relationships/image" Target="../media/image79.svg"/><Relationship Id="rId4" Type="http://schemas.openxmlformats.org/officeDocument/2006/relationships/image" Target="../media/image75.svg"/><Relationship Id="rId9" Type="http://schemas.openxmlformats.org/officeDocument/2006/relationships/image" Target="../media/image78.svg"/></Relationships>
</file>

<file path=ppt/slides/_rels/slide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83.svg"/></Relationships>
</file>

<file path=ppt/slides/_rels/slide44.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svg"/><Relationship Id="rId1" Type="http://schemas.openxmlformats.org/officeDocument/2006/relationships/slideLayout" Target="../slideLayouts/slideLayout12.xml"/><Relationship Id="rId5" Type="http://schemas.openxmlformats.org/officeDocument/2006/relationships/image" Target="../media/image87.svg"/><Relationship Id="rId4" Type="http://schemas.openxmlformats.org/officeDocument/2006/relationships/image" Target="../media/image86.sv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89.svg"/><Relationship Id="rId4" Type="http://schemas.openxmlformats.org/officeDocument/2006/relationships/image" Target="../media/image74.svg"/></Relationships>
</file>

<file path=ppt/slides/_rels/slide48.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73.png"/><Relationship Id="rId5" Type="http://schemas.openxmlformats.org/officeDocument/2006/relationships/image" Target="../media/image89.svg"/><Relationship Id="rId4" Type="http://schemas.openxmlformats.org/officeDocument/2006/relationships/image" Target="../media/image7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2DCA7A-ACCA-F044-84E8-575B0F464478}"/>
              </a:ext>
            </a:extLst>
          </p:cNvPr>
          <p:cNvPicPr>
            <a:picLocks noChangeAspect="1"/>
          </p:cNvPicPr>
          <p:nvPr/>
        </p:nvPicPr>
        <p:blipFill rotWithShape="1">
          <a:blip r:embed="rId2">
            <a:extLst>
              <a:ext uri="{28A0092B-C50C-407E-A947-70E740481C1C}">
                <a14:useLocalDpi xmlns:a14="http://schemas.microsoft.com/office/drawing/2010/main" val="0"/>
              </a:ext>
            </a:extLst>
          </a:blip>
          <a:srcRect t="15230" b="34173"/>
          <a:stretch/>
        </p:blipFill>
        <p:spPr>
          <a:xfrm>
            <a:off x="-11451" y="105"/>
            <a:ext cx="12214901" cy="1764873"/>
          </a:xfrm>
          <a:prstGeom prst="rect">
            <a:avLst/>
          </a:prstGeom>
          <a:ln>
            <a:noFill/>
          </a:ln>
        </p:spPr>
      </p:pic>
      <p:sp>
        <p:nvSpPr>
          <p:cNvPr id="5" name="Title 1">
            <a:extLst>
              <a:ext uri="{FF2B5EF4-FFF2-40B4-BE49-F238E27FC236}">
                <a16:creationId xmlns:a16="http://schemas.microsoft.com/office/drawing/2014/main" id="{6DC33C4B-F6F1-A642-83E1-7C3D71B89234}"/>
              </a:ext>
            </a:extLst>
          </p:cNvPr>
          <p:cNvSpPr txBox="1">
            <a:spLocks/>
          </p:cNvSpPr>
          <p:nvPr/>
        </p:nvSpPr>
        <p:spPr>
          <a:xfrm>
            <a:off x="104118" y="2103829"/>
            <a:ext cx="11953430" cy="1678730"/>
          </a:xfrm>
          <a:prstGeom prst="rect">
            <a:avLst/>
          </a:prstGeom>
        </p:spPr>
        <p:txBody>
          <a:bodyPr lIns="64292" tIns="32146" rIns="64292" bIns="32146" anchor="t"/>
          <a:lstStyle>
            <a:lvl1pPr marL="0" marR="0" indent="0"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1pPr>
            <a:lvl2pPr marL="0" marR="0" indent="304815"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2pPr>
            <a:lvl3pPr marL="0" marR="0" indent="609630"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3pPr>
            <a:lvl4pPr marL="0" marR="0" indent="914446"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4pPr>
            <a:lvl5pPr marL="0" marR="0" indent="1219261"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5pPr>
            <a:lvl6pPr marL="0" marR="0" indent="1524076"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6pPr>
            <a:lvl7pPr marL="0" marR="0" indent="1828891"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7pPr>
            <a:lvl8pPr marL="0" marR="0" indent="2133707"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8pPr>
            <a:lvl9pPr marL="0" marR="0" indent="2438522"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9pPr>
          </a:lstStyle>
          <a:p>
            <a:pPr hangingPunct="1"/>
            <a:r>
              <a:rPr lang="en-US" sz="6187" b="1" dirty="0">
                <a:solidFill>
                  <a:schemeClr val="accent1"/>
                </a:solidFill>
                <a:latin typeface="Calibri Light"/>
                <a:cs typeface="Calibri Light"/>
              </a:rPr>
              <a:t>Environmental Variables &amp; </a:t>
            </a:r>
          </a:p>
          <a:p>
            <a:pPr hangingPunct="1"/>
            <a:r>
              <a:rPr lang="en-US" sz="6187" b="1" dirty="0">
                <a:solidFill>
                  <a:schemeClr val="accent1"/>
                </a:solidFill>
                <a:latin typeface="Calibri Light"/>
                <a:cs typeface="Calibri Light"/>
              </a:rPr>
              <a:t>Data Exploration</a:t>
            </a:r>
          </a:p>
        </p:txBody>
      </p:sp>
      <p:sp>
        <p:nvSpPr>
          <p:cNvPr id="6" name="TextBox 5">
            <a:extLst>
              <a:ext uri="{FF2B5EF4-FFF2-40B4-BE49-F238E27FC236}">
                <a16:creationId xmlns:a16="http://schemas.microsoft.com/office/drawing/2014/main" id="{04C7BE0B-614A-E042-B001-2EE4EA766AA6}"/>
              </a:ext>
            </a:extLst>
          </p:cNvPr>
          <p:cNvSpPr txBox="1"/>
          <p:nvPr/>
        </p:nvSpPr>
        <p:spPr>
          <a:xfrm>
            <a:off x="4326633" y="4070767"/>
            <a:ext cx="3129319" cy="525080"/>
          </a:xfrm>
          <a:prstGeom prst="rect">
            <a:avLst/>
          </a:prstGeom>
          <a:noFill/>
        </p:spPr>
        <p:txBody>
          <a:bodyPr wrap="none" rtlCol="0">
            <a:spAutoFit/>
          </a:bodyPr>
          <a:lstStyle/>
          <a:p>
            <a:pPr algn="ctr"/>
            <a:r>
              <a:rPr lang="en-US" sz="2812" dirty="0">
                <a:solidFill>
                  <a:srgbClr val="0070C0"/>
                </a:solidFill>
                <a:latin typeface="Calibri" panose="020F0502020204030204" pitchFamily="34" charset="0"/>
                <a:cs typeface="Calibri" panose="020F0502020204030204" pitchFamily="34" charset="0"/>
              </a:rPr>
              <a:t>University of Florida</a:t>
            </a:r>
          </a:p>
        </p:txBody>
      </p:sp>
      <p:sp>
        <p:nvSpPr>
          <p:cNvPr id="7" name="TextBox 6">
            <a:extLst>
              <a:ext uri="{FF2B5EF4-FFF2-40B4-BE49-F238E27FC236}">
                <a16:creationId xmlns:a16="http://schemas.microsoft.com/office/drawing/2014/main" id="{81D9DE4F-5E20-BE53-2D36-E6D88251D368}"/>
              </a:ext>
            </a:extLst>
          </p:cNvPr>
          <p:cNvSpPr txBox="1"/>
          <p:nvPr/>
        </p:nvSpPr>
        <p:spPr>
          <a:xfrm>
            <a:off x="2837433" y="4774237"/>
            <a:ext cx="610772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400" dirty="0">
                <a:solidFill>
                  <a:srgbClr val="000000"/>
                </a:solidFill>
                <a:latin typeface="Calibri" panose="020F0502020204030204" pitchFamily="34" charset="0"/>
                <a:cs typeface="Calibri" panose="020F0502020204030204" pitchFamily="34" charset="0"/>
                <a:sym typeface="Helvetica Light"/>
              </a:rPr>
              <a:t>Sarah Ellen Strickland</a:t>
            </a:r>
            <a:r>
              <a:rPr lang="en-US" sz="1186" dirty="0">
                <a:latin typeface="Calibri" panose="020F0502020204030204" pitchFamily="34" charset="0"/>
                <a:cs typeface="Calibri" panose="020F0502020204030204" pitchFamily="34" charset="0"/>
              </a:rPr>
              <a:t> </a:t>
            </a:r>
            <a:endParaRPr lang="en-US" sz="1186" dirty="0">
              <a:solidFill>
                <a:srgbClr val="000000"/>
              </a:solidFill>
              <a:latin typeface="Calibri" panose="020F0502020204030204" pitchFamily="34" charset="0"/>
              <a:cs typeface="Calibri" panose="020F0502020204030204" pitchFamily="34" charset="0"/>
              <a:sym typeface="Helvetica Light"/>
            </a:endParaRPr>
          </a:p>
        </p:txBody>
      </p:sp>
      <p:pic>
        <p:nvPicPr>
          <p:cNvPr id="12" name="Picture 11" descr="iDiGBio represents a collection of digitized biological collections.&#10;&#10;AI-generated content may be incorrect.">
            <a:extLst>
              <a:ext uri="{FF2B5EF4-FFF2-40B4-BE49-F238E27FC236}">
                <a16:creationId xmlns:a16="http://schemas.microsoft.com/office/drawing/2014/main" id="{B01D5C0F-8C93-F87E-DEEB-6423D7EFE257}"/>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431557" y="5834689"/>
            <a:ext cx="2569858" cy="793407"/>
          </a:xfrm>
          <a:prstGeom prst="rect">
            <a:avLst/>
          </a:prstGeom>
          <a:noFill/>
          <a:extLst>
            <a:ext uri="{909E8E84-426E-40dd-AFC4-6F175D3DCCD1}">
              <a14:hiddenFill xmlns:lc="http://schemas.openxmlformats.org/drawingml/2006/lockedCanvas" xmlns:a14="http://schemas.microsoft.com/office/drawing/2010/main" xmlns="">
                <a:solidFill>
                  <a:srgbClr val="FFFFFF"/>
                </a:solidFill>
              </a14:hiddenFill>
            </a:ext>
          </a:extLst>
        </p:spPr>
      </p:pic>
      <p:pic>
        <p:nvPicPr>
          <p:cNvPr id="14" name="Picture 13" descr="WHERE DISCOVERIES BEGIN&#10;&#10;AI-generated content may be incorrect.">
            <a:extLst>
              <a:ext uri="{FF2B5EF4-FFF2-40B4-BE49-F238E27FC236}">
                <a16:creationId xmlns:a16="http://schemas.microsoft.com/office/drawing/2014/main" id="{E78DDA30-57A3-BA8F-32E2-54A1C8860445}"/>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l="1570" t="7500" r="81158"/>
          <a:stretch/>
        </p:blipFill>
        <p:spPr bwMode="auto">
          <a:xfrm>
            <a:off x="10562011" y="5771066"/>
            <a:ext cx="919587" cy="934548"/>
          </a:xfrm>
          <a:prstGeom prst="rect">
            <a:avLst/>
          </a:prstGeom>
          <a:noFill/>
          <a:ln w="9525">
            <a:noFill/>
            <a:miter lim="800000"/>
            <a:headEnd/>
            <a:tailEnd/>
          </a:ln>
        </p:spPr>
      </p:pic>
      <p:pic>
        <p:nvPicPr>
          <p:cNvPr id="16" name="Picture 15" descr="UNIVERSITY OF UF FLORIDA&#10;&#10;AI-generated content may be incorrect.">
            <a:extLst>
              <a:ext uri="{FF2B5EF4-FFF2-40B4-BE49-F238E27FC236}">
                <a16:creationId xmlns:a16="http://schemas.microsoft.com/office/drawing/2014/main" id="{5C49B5A9-2A40-DD54-E71A-942E2E79A5F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02637" y="5919429"/>
            <a:ext cx="3594587" cy="637825"/>
          </a:xfrm>
          <a:prstGeom prst="rect">
            <a:avLst/>
          </a:prstGeom>
        </p:spPr>
      </p:pic>
      <p:pic>
        <p:nvPicPr>
          <p:cNvPr id="18" name="Picture 17" descr="FLORIDA MUSEUM TM&#10;&#10;AI-generated content may be incorrect.">
            <a:extLst>
              <a:ext uri="{FF2B5EF4-FFF2-40B4-BE49-F238E27FC236}">
                <a16:creationId xmlns:a16="http://schemas.microsoft.com/office/drawing/2014/main" id="{EED94009-807B-23C8-4645-A10EF407E99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301102" y="5834689"/>
            <a:ext cx="2569858" cy="807303"/>
          </a:xfrm>
          <a:prstGeom prst="rect">
            <a:avLst/>
          </a:prstGeom>
        </p:spPr>
      </p:pic>
    </p:spTree>
    <p:extLst>
      <p:ext uri="{BB962C8B-B14F-4D97-AF65-F5344CB8AC3E}">
        <p14:creationId xmlns:p14="http://schemas.microsoft.com/office/powerpoint/2010/main" val="316992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6EA0-D54D-ACF1-5418-83CF8EABF9CA}"/>
              </a:ext>
            </a:extLst>
          </p:cNvPr>
          <p:cNvSpPr>
            <a:spLocks noGrp="1"/>
          </p:cNvSpPr>
          <p:nvPr>
            <p:ph type="title"/>
          </p:nvPr>
        </p:nvSpPr>
        <p:spPr/>
        <p:txBody>
          <a:bodyPr/>
          <a:lstStyle/>
          <a:p>
            <a:pPr algn="ctr"/>
            <a:r>
              <a:rPr lang="en-US" b="1" dirty="0">
                <a:solidFill>
                  <a:srgbClr val="0070C0"/>
                </a:solidFill>
                <a:latin typeface="Calibri"/>
              </a:rPr>
              <a:t>Agenda</a:t>
            </a:r>
            <a:endParaRPr lang="en-US" dirty="0"/>
          </a:p>
        </p:txBody>
      </p:sp>
      <p:sp>
        <p:nvSpPr>
          <p:cNvPr id="14" name="Title 1">
            <a:extLst>
              <a:ext uri="{FF2B5EF4-FFF2-40B4-BE49-F238E27FC236}">
                <a16:creationId xmlns:a16="http://schemas.microsoft.com/office/drawing/2014/main" id="{6561D9FA-C2BD-086A-D614-04893C17AC54}"/>
              </a:ext>
            </a:extLst>
          </p:cNvPr>
          <p:cNvSpPr txBox="1">
            <a:spLocks/>
          </p:cNvSpPr>
          <p:nvPr/>
        </p:nvSpPr>
        <p:spPr>
          <a:xfrm>
            <a:off x="3183251" y="2258246"/>
            <a:ext cx="900874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Extracting Climatic Variables</a:t>
            </a:r>
          </a:p>
        </p:txBody>
      </p:sp>
      <p:sp>
        <p:nvSpPr>
          <p:cNvPr id="15" name="Title 1">
            <a:extLst>
              <a:ext uri="{FF2B5EF4-FFF2-40B4-BE49-F238E27FC236}">
                <a16:creationId xmlns:a16="http://schemas.microsoft.com/office/drawing/2014/main" id="{CA2F1944-AA77-037C-ECC4-F7083C2EA6EA}"/>
              </a:ext>
            </a:extLst>
          </p:cNvPr>
          <p:cNvSpPr txBox="1">
            <a:spLocks/>
          </p:cNvSpPr>
          <p:nvPr/>
        </p:nvSpPr>
        <p:spPr>
          <a:xfrm>
            <a:off x="3183250" y="3417121"/>
            <a:ext cx="582549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PCA</a:t>
            </a:r>
          </a:p>
        </p:txBody>
      </p:sp>
      <p:sp>
        <p:nvSpPr>
          <p:cNvPr id="16" name="Title 1">
            <a:extLst>
              <a:ext uri="{FF2B5EF4-FFF2-40B4-BE49-F238E27FC236}">
                <a16:creationId xmlns:a16="http://schemas.microsoft.com/office/drawing/2014/main" id="{8EBD6A1C-CCD4-A8B2-A70C-D9F4308A5208}"/>
              </a:ext>
            </a:extLst>
          </p:cNvPr>
          <p:cNvSpPr txBox="1">
            <a:spLocks/>
          </p:cNvSpPr>
          <p:nvPr/>
        </p:nvSpPr>
        <p:spPr>
          <a:xfrm>
            <a:off x="3183250" y="5734870"/>
            <a:ext cx="719218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Coding Practical</a:t>
            </a:r>
          </a:p>
        </p:txBody>
      </p:sp>
      <p:sp>
        <p:nvSpPr>
          <p:cNvPr id="3" name="Title 1">
            <a:extLst>
              <a:ext uri="{FF2B5EF4-FFF2-40B4-BE49-F238E27FC236}">
                <a16:creationId xmlns:a16="http://schemas.microsoft.com/office/drawing/2014/main" id="{65F36470-9199-7A97-0A84-8F2613CC5305}"/>
              </a:ext>
            </a:extLst>
          </p:cNvPr>
          <p:cNvSpPr txBox="1">
            <a:spLocks/>
          </p:cNvSpPr>
          <p:nvPr/>
        </p:nvSpPr>
        <p:spPr>
          <a:xfrm>
            <a:off x="3183250" y="4575996"/>
            <a:ext cx="719218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ANOVA</a:t>
            </a:r>
          </a:p>
        </p:txBody>
      </p:sp>
      <p:grpSp>
        <p:nvGrpSpPr>
          <p:cNvPr id="40" name="Group 39">
            <a:extLst>
              <a:ext uri="{FF2B5EF4-FFF2-40B4-BE49-F238E27FC236}">
                <a16:creationId xmlns:a16="http://schemas.microsoft.com/office/drawing/2014/main" id="{7C151666-921A-C250-142E-B7367ADAFC6C}"/>
              </a:ext>
            </a:extLst>
          </p:cNvPr>
          <p:cNvGrpSpPr/>
          <p:nvPr/>
        </p:nvGrpSpPr>
        <p:grpSpPr>
          <a:xfrm>
            <a:off x="2109524" y="3417121"/>
            <a:ext cx="810714" cy="914400"/>
            <a:chOff x="1975556" y="2924574"/>
            <a:chExt cx="914400" cy="914400"/>
          </a:xfrm>
        </p:grpSpPr>
        <p:pic>
          <p:nvPicPr>
            <p:cNvPr id="12" name="Graphic 11" descr="Linear Graph outline">
              <a:extLst>
                <a:ext uri="{FF2B5EF4-FFF2-40B4-BE49-F238E27FC236}">
                  <a16:creationId xmlns:a16="http://schemas.microsoft.com/office/drawing/2014/main" id="{E10E62E3-F1C5-B7B9-CF15-33ABC3220B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75556" y="2924574"/>
              <a:ext cx="914400" cy="914400"/>
            </a:xfrm>
            <a:prstGeom prst="rect">
              <a:avLst/>
            </a:prstGeom>
          </p:spPr>
        </p:pic>
        <p:sp>
          <p:nvSpPr>
            <p:cNvPr id="26" name="Rectangle 25">
              <a:extLst>
                <a:ext uri="{FF2B5EF4-FFF2-40B4-BE49-F238E27FC236}">
                  <a16:creationId xmlns:a16="http://schemas.microsoft.com/office/drawing/2014/main" id="{7D7C9525-497D-F0EB-BCBC-BAECC3D9A3C7}"/>
                </a:ext>
              </a:extLst>
            </p:cNvPr>
            <p:cNvSpPr/>
            <p:nvPr/>
          </p:nvSpPr>
          <p:spPr>
            <a:xfrm>
              <a:off x="2196548" y="2924574"/>
              <a:ext cx="589722" cy="7032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B737AFCC-FCF0-EF3B-3687-1C451759E613}"/>
                </a:ext>
              </a:extLst>
            </p:cNvPr>
            <p:cNvCxnSpPr>
              <a:cxnSpLocks/>
            </p:cNvCxnSpPr>
            <p:nvPr/>
          </p:nvCxnSpPr>
          <p:spPr>
            <a:xfrm flipV="1">
              <a:off x="2292906" y="3141233"/>
              <a:ext cx="139850" cy="3611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29937C5-0106-25F2-D6FB-DC2B7318888F}"/>
                </a:ext>
              </a:extLst>
            </p:cNvPr>
            <p:cNvCxnSpPr>
              <a:cxnSpLocks/>
            </p:cNvCxnSpPr>
            <p:nvPr/>
          </p:nvCxnSpPr>
          <p:spPr>
            <a:xfrm>
              <a:off x="2292906" y="3489899"/>
              <a:ext cx="331958" cy="8057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B629E50-0409-7690-5CB4-73BADC44D9F7}"/>
                </a:ext>
              </a:extLst>
            </p:cNvPr>
            <p:cNvCxnSpPr>
              <a:cxnSpLocks/>
            </p:cNvCxnSpPr>
            <p:nvPr/>
          </p:nvCxnSpPr>
          <p:spPr>
            <a:xfrm flipV="1">
              <a:off x="2292905" y="3224608"/>
              <a:ext cx="327385" cy="27778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260BE6F5-E24C-40DB-7F6C-25B9364A2C58}"/>
              </a:ext>
            </a:extLst>
          </p:cNvPr>
          <p:cNvGrpSpPr/>
          <p:nvPr/>
        </p:nvGrpSpPr>
        <p:grpSpPr>
          <a:xfrm>
            <a:off x="2078819" y="5837661"/>
            <a:ext cx="914400" cy="914400"/>
            <a:chOff x="1889606" y="5270103"/>
            <a:chExt cx="914400" cy="914400"/>
          </a:xfrm>
        </p:grpSpPr>
        <p:pic>
          <p:nvPicPr>
            <p:cNvPr id="44" name="Graphic 43" descr="Laptop outline">
              <a:extLst>
                <a:ext uri="{FF2B5EF4-FFF2-40B4-BE49-F238E27FC236}">
                  <a16:creationId xmlns:a16="http://schemas.microsoft.com/office/drawing/2014/main" id="{94612192-7642-4D93-B763-A37FBDB74C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89606" y="5270103"/>
              <a:ext cx="914400" cy="914400"/>
            </a:xfrm>
            <a:prstGeom prst="rect">
              <a:avLst/>
            </a:prstGeom>
          </p:spPr>
        </p:pic>
        <p:pic>
          <p:nvPicPr>
            <p:cNvPr id="46" name="Picture 45" descr="The diagram appears to be a scatter plot or cluster diagram showing various biological samples or groups, such as different species of plants or algae, with annotations for their relative abundance or presence.&#10;&#10;AI-generated content may be incorrect.">
              <a:extLst>
                <a:ext uri="{FF2B5EF4-FFF2-40B4-BE49-F238E27FC236}">
                  <a16:creationId xmlns:a16="http://schemas.microsoft.com/office/drawing/2014/main" id="{A31EDAA5-548C-5B8E-A9E9-858E2B1D8D24}"/>
                </a:ext>
              </a:extLst>
            </p:cNvPr>
            <p:cNvPicPr>
              <a:picLocks noChangeAspect="1"/>
            </p:cNvPicPr>
            <p:nvPr/>
          </p:nvPicPr>
          <p:blipFill>
            <a:blip r:embed="rId5"/>
            <a:stretch>
              <a:fillRect/>
            </a:stretch>
          </p:blipFill>
          <p:spPr>
            <a:xfrm>
              <a:off x="2336468" y="5544555"/>
              <a:ext cx="260183" cy="285538"/>
            </a:xfrm>
            <a:prstGeom prst="rect">
              <a:avLst/>
            </a:prstGeom>
          </p:spPr>
        </p:pic>
        <p:pic>
          <p:nvPicPr>
            <p:cNvPr id="48" name="Picture 47" descr="The image depicts a statistical R script for creating a PCA (Principal Component Analysis) biplot, including color palettes, top contributing variables for principal components, and a request for ANOVA (Analysis of Variance) and Tukey HSD (Honestly Significant Difference) analysis for selected variables.&#10;&#10;AI-generated content may be incorrect.">
              <a:extLst>
                <a:ext uri="{FF2B5EF4-FFF2-40B4-BE49-F238E27FC236}">
                  <a16:creationId xmlns:a16="http://schemas.microsoft.com/office/drawing/2014/main" id="{1E67FE0D-CA37-4145-BBC6-B481BF42CEE0}"/>
                </a:ext>
              </a:extLst>
            </p:cNvPr>
            <p:cNvPicPr>
              <a:picLocks noChangeAspect="1"/>
            </p:cNvPicPr>
            <p:nvPr/>
          </p:nvPicPr>
          <p:blipFill>
            <a:blip r:embed="rId6"/>
            <a:srcRect r="48157"/>
            <a:stretch>
              <a:fillRect/>
            </a:stretch>
          </p:blipFill>
          <p:spPr>
            <a:xfrm>
              <a:off x="2090820" y="5544555"/>
              <a:ext cx="245648" cy="285538"/>
            </a:xfrm>
            <a:prstGeom prst="rect">
              <a:avLst/>
            </a:prstGeom>
          </p:spPr>
        </p:pic>
      </p:grpSp>
      <p:pic>
        <p:nvPicPr>
          <p:cNvPr id="51" name="Graphic 50" descr="Magnifying glass outline">
            <a:extLst>
              <a:ext uri="{FF2B5EF4-FFF2-40B4-BE49-F238E27FC236}">
                <a16:creationId xmlns:a16="http://schemas.microsoft.com/office/drawing/2014/main" id="{DE409D29-6A29-18D6-899F-AA4E7344B1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5400000">
            <a:off x="2068481" y="1498779"/>
            <a:ext cx="914400" cy="914400"/>
          </a:xfrm>
          <a:prstGeom prst="rect">
            <a:avLst/>
          </a:prstGeom>
        </p:spPr>
      </p:pic>
      <p:pic>
        <p:nvPicPr>
          <p:cNvPr id="53" name="Graphic 52" descr="Rain outline">
            <a:extLst>
              <a:ext uri="{FF2B5EF4-FFF2-40B4-BE49-F238E27FC236}">
                <a16:creationId xmlns:a16="http://schemas.microsoft.com/office/drawing/2014/main" id="{B7CEECC8-BDA9-6009-BF28-6E9051524E5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76685" y="1592293"/>
            <a:ext cx="504277" cy="504277"/>
          </a:xfrm>
          <a:prstGeom prst="rect">
            <a:avLst/>
          </a:prstGeom>
        </p:spPr>
      </p:pic>
      <p:sp>
        <p:nvSpPr>
          <p:cNvPr id="55" name="Title 1">
            <a:extLst>
              <a:ext uri="{FF2B5EF4-FFF2-40B4-BE49-F238E27FC236}">
                <a16:creationId xmlns:a16="http://schemas.microsoft.com/office/drawing/2014/main" id="{9ABE5063-6B62-BB42-DAA7-73A50A1ED2D8}"/>
              </a:ext>
            </a:extLst>
          </p:cNvPr>
          <p:cNvSpPr txBox="1">
            <a:spLocks/>
          </p:cNvSpPr>
          <p:nvPr/>
        </p:nvSpPr>
        <p:spPr>
          <a:xfrm>
            <a:off x="3183250" y="1228341"/>
            <a:ext cx="843356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Finding Climate/Abiotic Data Layers</a:t>
            </a:r>
          </a:p>
        </p:txBody>
      </p:sp>
      <p:grpSp>
        <p:nvGrpSpPr>
          <p:cNvPr id="56" name="Group 55">
            <a:extLst>
              <a:ext uri="{FF2B5EF4-FFF2-40B4-BE49-F238E27FC236}">
                <a16:creationId xmlns:a16="http://schemas.microsoft.com/office/drawing/2014/main" id="{D71E10DD-4A30-8F1D-59BC-264A03D1BC3D}"/>
              </a:ext>
            </a:extLst>
          </p:cNvPr>
          <p:cNvGrpSpPr/>
          <p:nvPr/>
        </p:nvGrpSpPr>
        <p:grpSpPr>
          <a:xfrm>
            <a:off x="2078819" y="2413179"/>
            <a:ext cx="810715" cy="1001291"/>
            <a:chOff x="4901267" y="2378076"/>
            <a:chExt cx="2692948" cy="2731305"/>
          </a:xfrm>
          <a:solidFill>
            <a:schemeClr val="bg2"/>
          </a:solidFill>
        </p:grpSpPr>
        <p:grpSp>
          <p:nvGrpSpPr>
            <p:cNvPr id="58" name="Group 57">
              <a:extLst>
                <a:ext uri="{FF2B5EF4-FFF2-40B4-BE49-F238E27FC236}">
                  <a16:creationId xmlns:a16="http://schemas.microsoft.com/office/drawing/2014/main" id="{6A57B730-902B-8E09-494D-F4E8E80AFA2B}"/>
                </a:ext>
              </a:extLst>
            </p:cNvPr>
            <p:cNvGrpSpPr/>
            <p:nvPr/>
          </p:nvGrpSpPr>
          <p:grpSpPr>
            <a:xfrm rot="16242280">
              <a:off x="4901267" y="2378076"/>
              <a:ext cx="2448204" cy="2448204"/>
              <a:chOff x="7414446" y="1927315"/>
              <a:chExt cx="2448204" cy="2448204"/>
            </a:xfrm>
            <a:grpFill/>
          </p:grpSpPr>
          <p:pic>
            <p:nvPicPr>
              <p:cNvPr id="81" name="Graphic 80" descr="Table outline">
                <a:extLst>
                  <a:ext uri="{FF2B5EF4-FFF2-40B4-BE49-F238E27FC236}">
                    <a16:creationId xmlns:a16="http://schemas.microsoft.com/office/drawing/2014/main" id="{031387C3-FB6A-630B-35F8-CB5B1E7B5AE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400000">
                <a:off x="7414446" y="1927315"/>
                <a:ext cx="2448204" cy="2448204"/>
              </a:xfrm>
              <a:prstGeom prst="rect">
                <a:avLst/>
              </a:prstGeom>
            </p:spPr>
          </p:pic>
          <p:sp>
            <p:nvSpPr>
              <p:cNvPr id="82" name="Rectangle 81">
                <a:extLst>
                  <a:ext uri="{FF2B5EF4-FFF2-40B4-BE49-F238E27FC236}">
                    <a16:creationId xmlns:a16="http://schemas.microsoft.com/office/drawing/2014/main" id="{E1E7DE95-F533-BD8E-1347-681E5F37FE0F}"/>
                  </a:ext>
                </a:extLst>
              </p:cNvPr>
              <p:cNvSpPr/>
              <p:nvPr/>
            </p:nvSpPr>
            <p:spPr>
              <a:xfrm rot="5400000">
                <a:off x="7925077" y="2342223"/>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C33B47D1-15E7-17FB-BC47-6F72EA2E3DF6}"/>
                  </a:ext>
                </a:extLst>
              </p:cNvPr>
              <p:cNvSpPr/>
              <p:nvPr/>
            </p:nvSpPr>
            <p:spPr>
              <a:xfrm rot="5400000">
                <a:off x="7925077" y="2980623"/>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CC07EB18-5DBC-CB72-F2A1-1B0A31347D73}"/>
                  </a:ext>
                </a:extLst>
              </p:cNvPr>
              <p:cNvSpPr/>
              <p:nvPr/>
            </p:nvSpPr>
            <p:spPr>
              <a:xfrm rot="5400000">
                <a:off x="7925077" y="3597075"/>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2648FA40-8692-A976-A8DA-18C4ABD16F3C}"/>
                  </a:ext>
                </a:extLst>
              </p:cNvPr>
              <p:cNvSpPr/>
              <p:nvPr/>
            </p:nvSpPr>
            <p:spPr>
              <a:xfrm rot="5400000">
                <a:off x="8342473" y="2336465"/>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FFDBECC5-E776-2634-741D-DB1D3EBCCEA0}"/>
                  </a:ext>
                </a:extLst>
              </p:cNvPr>
              <p:cNvSpPr/>
              <p:nvPr/>
            </p:nvSpPr>
            <p:spPr>
              <a:xfrm rot="5400000">
                <a:off x="8342473" y="2974865"/>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509A6BE1-1159-46F6-9FCC-564E93ACB39C}"/>
                  </a:ext>
                </a:extLst>
              </p:cNvPr>
              <p:cNvSpPr/>
              <p:nvPr/>
            </p:nvSpPr>
            <p:spPr>
              <a:xfrm rot="5400000">
                <a:off x="8342473" y="3591317"/>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3A2A25B7-7BEE-F31D-A86D-7AE4804D63CF}"/>
                  </a:ext>
                </a:extLst>
              </p:cNvPr>
              <p:cNvSpPr/>
              <p:nvPr/>
            </p:nvSpPr>
            <p:spPr>
              <a:xfrm rot="5400000">
                <a:off x="8759868" y="2336074"/>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C275C2F4-4A76-B34C-EB43-D2B6C9354DC1}"/>
                  </a:ext>
                </a:extLst>
              </p:cNvPr>
              <p:cNvSpPr/>
              <p:nvPr/>
            </p:nvSpPr>
            <p:spPr>
              <a:xfrm rot="5400000">
                <a:off x="8759868" y="2974474"/>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ectangle 89">
                <a:extLst>
                  <a:ext uri="{FF2B5EF4-FFF2-40B4-BE49-F238E27FC236}">
                    <a16:creationId xmlns:a16="http://schemas.microsoft.com/office/drawing/2014/main" id="{40D8FB6F-E25E-2984-747F-2AA0094A192D}"/>
                  </a:ext>
                </a:extLst>
              </p:cNvPr>
              <p:cNvSpPr/>
              <p:nvPr/>
            </p:nvSpPr>
            <p:spPr>
              <a:xfrm rot="5400000">
                <a:off x="8759868" y="3590926"/>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9" name="Graphic 58" descr="Cactus with solid fill">
              <a:extLst>
                <a:ext uri="{FF2B5EF4-FFF2-40B4-BE49-F238E27FC236}">
                  <a16:creationId xmlns:a16="http://schemas.microsoft.com/office/drawing/2014/main" id="{659A29B2-10F4-CE8A-2B32-29C77BDBB8F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0800000" flipV="1">
              <a:off x="5261570" y="3026816"/>
              <a:ext cx="465622" cy="322748"/>
            </a:xfrm>
            <a:prstGeom prst="rect">
              <a:avLst/>
            </a:prstGeom>
          </p:spPr>
        </p:pic>
        <p:grpSp>
          <p:nvGrpSpPr>
            <p:cNvPr id="60" name="Group 59">
              <a:extLst>
                <a:ext uri="{FF2B5EF4-FFF2-40B4-BE49-F238E27FC236}">
                  <a16:creationId xmlns:a16="http://schemas.microsoft.com/office/drawing/2014/main" id="{78D3C340-947A-62EF-FF4C-E15DE13C52F5}"/>
                </a:ext>
              </a:extLst>
            </p:cNvPr>
            <p:cNvGrpSpPr/>
            <p:nvPr/>
          </p:nvGrpSpPr>
          <p:grpSpPr>
            <a:xfrm rot="16198527">
              <a:off x="5146011" y="2661177"/>
              <a:ext cx="2448204" cy="2448204"/>
              <a:chOff x="8245740" y="2264001"/>
              <a:chExt cx="2448204" cy="2448204"/>
            </a:xfrm>
            <a:grpFill/>
            <a:scene3d>
              <a:camera prst="perspectiveLeft"/>
              <a:lightRig rig="threePt" dir="t"/>
            </a:scene3d>
          </p:grpSpPr>
          <p:pic>
            <p:nvPicPr>
              <p:cNvPr id="70" name="Graphic 69" descr="Table outline">
                <a:extLst>
                  <a:ext uri="{FF2B5EF4-FFF2-40B4-BE49-F238E27FC236}">
                    <a16:creationId xmlns:a16="http://schemas.microsoft.com/office/drawing/2014/main" id="{8E8B3F2D-E6CB-86B9-2D19-85AD254691A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400000">
                <a:off x="8245740" y="2264001"/>
                <a:ext cx="2448204" cy="2448204"/>
              </a:xfrm>
              <a:prstGeom prst="rect">
                <a:avLst/>
              </a:prstGeom>
            </p:spPr>
          </p:pic>
          <p:grpSp>
            <p:nvGrpSpPr>
              <p:cNvPr id="71" name="Group 70">
                <a:extLst>
                  <a:ext uri="{FF2B5EF4-FFF2-40B4-BE49-F238E27FC236}">
                    <a16:creationId xmlns:a16="http://schemas.microsoft.com/office/drawing/2014/main" id="{CF58F2E5-68B9-12A2-FB21-98437E642CF0}"/>
                  </a:ext>
                </a:extLst>
              </p:cNvPr>
              <p:cNvGrpSpPr/>
              <p:nvPr/>
            </p:nvGrpSpPr>
            <p:grpSpPr>
              <a:xfrm>
                <a:off x="8876172" y="2552959"/>
                <a:ext cx="1204533" cy="1870345"/>
                <a:chOff x="8876172" y="2552959"/>
                <a:chExt cx="1204533" cy="1870345"/>
              </a:xfrm>
              <a:grpFill/>
            </p:grpSpPr>
            <p:sp>
              <p:nvSpPr>
                <p:cNvPr id="72" name="Rectangle 71">
                  <a:extLst>
                    <a:ext uri="{FF2B5EF4-FFF2-40B4-BE49-F238E27FC236}">
                      <a16:creationId xmlns:a16="http://schemas.microsoft.com/office/drawing/2014/main" id="{BBCC5F2E-CB60-BFAA-53AD-0FF9B76EA823}"/>
                    </a:ext>
                  </a:extLst>
                </p:cNvPr>
                <p:cNvSpPr/>
                <p:nvPr/>
              </p:nvSpPr>
              <p:spPr>
                <a:xfrm rot="5400000">
                  <a:off x="8756371" y="2678909"/>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BDC394D-0DFB-ADC2-8911-C8F5F22F9AC5}"/>
                    </a:ext>
                  </a:extLst>
                </p:cNvPr>
                <p:cNvSpPr/>
                <p:nvPr/>
              </p:nvSpPr>
              <p:spPr>
                <a:xfrm rot="5400000">
                  <a:off x="8756371" y="3317309"/>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3A3015C0-20C9-318F-65C1-E07A4BEE093A}"/>
                    </a:ext>
                  </a:extLst>
                </p:cNvPr>
                <p:cNvSpPr/>
                <p:nvPr/>
              </p:nvSpPr>
              <p:spPr>
                <a:xfrm rot="5400000">
                  <a:off x="8756371" y="3933761"/>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8C212E80-7C2D-59C7-0D54-A23235F4816D}"/>
                    </a:ext>
                  </a:extLst>
                </p:cNvPr>
                <p:cNvSpPr/>
                <p:nvPr/>
              </p:nvSpPr>
              <p:spPr>
                <a:xfrm rot="5400000">
                  <a:off x="9173767" y="2673151"/>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DAB497D2-36F1-5F89-6DFA-BA061B5974B6}"/>
                    </a:ext>
                  </a:extLst>
                </p:cNvPr>
                <p:cNvSpPr/>
                <p:nvPr/>
              </p:nvSpPr>
              <p:spPr>
                <a:xfrm rot="5400000">
                  <a:off x="9173767" y="3311551"/>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6C311453-FD49-2B61-8320-6657DD036D58}"/>
                    </a:ext>
                  </a:extLst>
                </p:cNvPr>
                <p:cNvSpPr/>
                <p:nvPr/>
              </p:nvSpPr>
              <p:spPr>
                <a:xfrm rot="5400000">
                  <a:off x="9173767" y="3928003"/>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1EB5E9AA-C0D0-2B13-7AF7-C6AAB29053A9}"/>
                    </a:ext>
                  </a:extLst>
                </p:cNvPr>
                <p:cNvSpPr/>
                <p:nvPr/>
              </p:nvSpPr>
              <p:spPr>
                <a:xfrm rot="5400000">
                  <a:off x="9591162" y="2672760"/>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A492D66-5EFB-B790-558B-1FD8335BF23E}"/>
                    </a:ext>
                  </a:extLst>
                </p:cNvPr>
                <p:cNvSpPr/>
                <p:nvPr/>
              </p:nvSpPr>
              <p:spPr>
                <a:xfrm rot="5400000">
                  <a:off x="9591162" y="3311160"/>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40797BAB-5DE5-B17B-C5EC-AB0D09F618FB}"/>
                    </a:ext>
                  </a:extLst>
                </p:cNvPr>
                <p:cNvSpPr/>
                <p:nvPr/>
              </p:nvSpPr>
              <p:spPr>
                <a:xfrm rot="5400000">
                  <a:off x="9591162" y="3927612"/>
                  <a:ext cx="609344" cy="369742"/>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64" name="Graphic 63" descr="Flower without stem with solid fill">
              <a:extLst>
                <a:ext uri="{FF2B5EF4-FFF2-40B4-BE49-F238E27FC236}">
                  <a16:creationId xmlns:a16="http://schemas.microsoft.com/office/drawing/2014/main" id="{C8CD4E80-E9C2-03CF-647A-891659F46BD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38907" y="3644161"/>
              <a:ext cx="435666" cy="435666"/>
            </a:xfrm>
            <a:prstGeom prst="rect">
              <a:avLst/>
            </a:prstGeom>
          </p:spPr>
        </p:pic>
        <p:pic>
          <p:nvPicPr>
            <p:cNvPr id="65" name="Graphic 64" descr="Cactus with solid fill">
              <a:extLst>
                <a:ext uri="{FF2B5EF4-FFF2-40B4-BE49-F238E27FC236}">
                  <a16:creationId xmlns:a16="http://schemas.microsoft.com/office/drawing/2014/main" id="{787B277C-46DA-BD57-84C8-A43D4F01586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0800000" flipV="1">
              <a:off x="5504737" y="3310352"/>
              <a:ext cx="465622" cy="322748"/>
            </a:xfrm>
            <a:prstGeom prst="rect">
              <a:avLst/>
            </a:prstGeom>
          </p:spPr>
        </p:pic>
        <p:pic>
          <p:nvPicPr>
            <p:cNvPr id="66" name="Graphic 65" descr="Cactus with solid fill">
              <a:extLst>
                <a:ext uri="{FF2B5EF4-FFF2-40B4-BE49-F238E27FC236}">
                  <a16:creationId xmlns:a16="http://schemas.microsoft.com/office/drawing/2014/main" id="{76D8C092-F814-9C1C-8831-0F589D9332E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0800000" flipV="1">
              <a:off x="6757704" y="3715040"/>
              <a:ext cx="465622" cy="322748"/>
            </a:xfrm>
            <a:prstGeom prst="rect">
              <a:avLst/>
            </a:prstGeom>
          </p:spPr>
        </p:pic>
        <p:pic>
          <p:nvPicPr>
            <p:cNvPr id="67" name="Graphic 66" descr="Cactus with solid fill">
              <a:extLst>
                <a:ext uri="{FF2B5EF4-FFF2-40B4-BE49-F238E27FC236}">
                  <a16:creationId xmlns:a16="http://schemas.microsoft.com/office/drawing/2014/main" id="{EF51F634-7A8E-83EF-3A09-0D030C30FC8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0800000" flipV="1">
              <a:off x="6936155" y="4093280"/>
              <a:ext cx="465622" cy="322748"/>
            </a:xfrm>
            <a:prstGeom prst="rect">
              <a:avLst/>
            </a:prstGeom>
          </p:spPr>
        </p:pic>
        <p:pic>
          <p:nvPicPr>
            <p:cNvPr id="68" name="Graphic 67" descr="Flower without stem with solid fill">
              <a:extLst>
                <a:ext uri="{FF2B5EF4-FFF2-40B4-BE49-F238E27FC236}">
                  <a16:creationId xmlns:a16="http://schemas.microsoft.com/office/drawing/2014/main" id="{5C430166-0C7C-48F4-CF88-773DB2FA2A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44487" y="4041139"/>
              <a:ext cx="435666" cy="435666"/>
            </a:xfrm>
            <a:prstGeom prst="rect">
              <a:avLst/>
            </a:prstGeom>
          </p:spPr>
        </p:pic>
        <p:pic>
          <p:nvPicPr>
            <p:cNvPr id="69" name="Graphic 68" descr="Flower without stem with solid fill">
              <a:extLst>
                <a:ext uri="{FF2B5EF4-FFF2-40B4-BE49-F238E27FC236}">
                  <a16:creationId xmlns:a16="http://schemas.microsoft.com/office/drawing/2014/main" id="{B8A6D3FB-8A7B-96B6-D8AA-8644C79422A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79243" y="4075119"/>
              <a:ext cx="381420" cy="381420"/>
            </a:xfrm>
            <a:prstGeom prst="rect">
              <a:avLst/>
            </a:prstGeom>
          </p:spPr>
        </p:pic>
      </p:grpSp>
      <p:pic>
        <p:nvPicPr>
          <p:cNvPr id="92" name="Graphic 91" descr="Gantt Chart outline">
            <a:extLst>
              <a:ext uri="{FF2B5EF4-FFF2-40B4-BE49-F238E27FC236}">
                <a16:creationId xmlns:a16="http://schemas.microsoft.com/office/drawing/2014/main" id="{8B2A5267-2C06-1ED6-6E7E-C5B6D1B302E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5400000">
            <a:off x="2109524" y="4688709"/>
            <a:ext cx="914400" cy="914400"/>
          </a:xfrm>
          <a:prstGeom prst="rect">
            <a:avLst/>
          </a:prstGeom>
        </p:spPr>
      </p:pic>
    </p:spTree>
    <p:extLst>
      <p:ext uri="{BB962C8B-B14F-4D97-AF65-F5344CB8AC3E}">
        <p14:creationId xmlns:p14="http://schemas.microsoft.com/office/powerpoint/2010/main" val="41771741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9C0F1C5-6DBD-27D0-4567-623645EBBDA8}"/>
              </a:ext>
            </a:extLst>
          </p:cNvPr>
          <p:cNvGrpSpPr/>
          <p:nvPr/>
        </p:nvGrpSpPr>
        <p:grpSpPr>
          <a:xfrm>
            <a:off x="1403806" y="2147811"/>
            <a:ext cx="4169529" cy="3865338"/>
            <a:chOff x="1403806" y="2147811"/>
            <a:chExt cx="4169529" cy="3865338"/>
          </a:xfrm>
        </p:grpSpPr>
        <p:pic>
          <p:nvPicPr>
            <p:cNvPr id="13" name="Picture 12" descr="The image appears to be a geographical map with a color gradient representing Mean C (possibly a type of climate or environmental data) across North America, with coordinates provided for specific locations.&#10;&#10;AI-generated content may be incorrect.">
              <a:extLst>
                <a:ext uri="{FF2B5EF4-FFF2-40B4-BE49-F238E27FC236}">
                  <a16:creationId xmlns:a16="http://schemas.microsoft.com/office/drawing/2014/main" id="{41CAFF72-22D5-150C-8781-8A1908DAA09C}"/>
                </a:ext>
              </a:extLst>
            </p:cNvPr>
            <p:cNvPicPr>
              <a:picLocks noChangeAspect="1"/>
            </p:cNvPicPr>
            <p:nvPr/>
          </p:nvPicPr>
          <p:blipFill>
            <a:blip r:embed="rId3">
              <a:extLst>
                <a:ext uri="{28A0092B-C50C-407E-A947-70E740481C1C}">
                  <a14:useLocalDpi xmlns:a14="http://schemas.microsoft.com/office/drawing/2010/main" val="0"/>
                </a:ext>
              </a:extLst>
            </a:blip>
            <a:srcRect l="18266" t="4347" r="22667" b="5276"/>
            <a:stretch>
              <a:fillRect/>
            </a:stretch>
          </p:blipFill>
          <p:spPr>
            <a:xfrm>
              <a:off x="1403806" y="2367840"/>
              <a:ext cx="4169529" cy="3645309"/>
            </a:xfrm>
            <a:prstGeom prst="rect">
              <a:avLst/>
            </a:prstGeom>
          </p:spPr>
        </p:pic>
        <p:sp>
          <p:nvSpPr>
            <p:cNvPr id="16" name="Oval 15">
              <a:extLst>
                <a:ext uri="{FF2B5EF4-FFF2-40B4-BE49-F238E27FC236}">
                  <a16:creationId xmlns:a16="http://schemas.microsoft.com/office/drawing/2014/main" id="{17FB48D3-2352-368D-E686-E8DD85127069}"/>
                </a:ext>
              </a:extLst>
            </p:cNvPr>
            <p:cNvSpPr/>
            <p:nvPr/>
          </p:nvSpPr>
          <p:spPr>
            <a:xfrm rot="2941513">
              <a:off x="4116983" y="2425163"/>
              <a:ext cx="1452185" cy="8974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CC83114-5206-6AAD-88A7-8C5CCE91B057}"/>
                </a:ext>
              </a:extLst>
            </p:cNvPr>
            <p:cNvSpPr/>
            <p:nvPr/>
          </p:nvSpPr>
          <p:spPr>
            <a:xfrm>
              <a:off x="4262757" y="2732536"/>
              <a:ext cx="226600" cy="2557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03907968-5803-00F9-C814-FA43DDBEB516}"/>
              </a:ext>
            </a:extLst>
          </p:cNvPr>
          <p:cNvPicPr>
            <a:picLocks noChangeAspect="1"/>
          </p:cNvPicPr>
          <p:nvPr/>
        </p:nvPicPr>
        <p:blipFill>
          <a:blip r:embed="rId4"/>
          <a:srcRect l="15892" r="30998" b="5637"/>
          <a:stretch>
            <a:fillRect/>
          </a:stretch>
        </p:blipFill>
        <p:spPr>
          <a:xfrm>
            <a:off x="6984320" y="2543167"/>
            <a:ext cx="3417986" cy="3469982"/>
          </a:xfrm>
          <a:prstGeom prst="rect">
            <a:avLst/>
          </a:prstGeom>
        </p:spPr>
      </p:pic>
      <p:sp>
        <p:nvSpPr>
          <p:cNvPr id="4" name="Title 1">
            <a:extLst>
              <a:ext uri="{FF2B5EF4-FFF2-40B4-BE49-F238E27FC236}">
                <a16:creationId xmlns:a16="http://schemas.microsoft.com/office/drawing/2014/main" id="{197CAE94-FB05-186C-0CF1-32F2D18E466B}"/>
              </a:ext>
            </a:extLst>
          </p:cNvPr>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70C0"/>
                </a:solidFill>
                <a:latin typeface="Calibri"/>
              </a:rPr>
              <a:t>Climatic Variables/Abiotic Data Layers</a:t>
            </a:r>
            <a:endParaRPr lang="en-US" dirty="0"/>
          </a:p>
        </p:txBody>
      </p:sp>
      <p:sp>
        <p:nvSpPr>
          <p:cNvPr id="5" name="Text Placeholder 2">
            <a:extLst>
              <a:ext uri="{FF2B5EF4-FFF2-40B4-BE49-F238E27FC236}">
                <a16:creationId xmlns:a16="http://schemas.microsoft.com/office/drawing/2014/main" id="{4CF9A69D-0BEF-DD01-ED05-2DD902891068}"/>
              </a:ext>
            </a:extLst>
          </p:cNvPr>
          <p:cNvSpPr>
            <a:spLocks noGrp="1"/>
          </p:cNvSpPr>
          <p:nvPr>
            <p:ph type="body" idx="1"/>
          </p:nvPr>
        </p:nvSpPr>
        <p:spPr>
          <a:xfrm>
            <a:off x="1716350" y="2066785"/>
            <a:ext cx="3521475" cy="585066"/>
          </a:xfrm>
        </p:spPr>
        <p:txBody>
          <a:bodyPr>
            <a:noAutofit/>
          </a:bodyPr>
          <a:lstStyle/>
          <a:p>
            <a:pPr marL="0" indent="0" algn="ctr">
              <a:buNone/>
            </a:pPr>
            <a:r>
              <a:rPr lang="en-US" b="1" i="1" dirty="0" err="1">
                <a:solidFill>
                  <a:srgbClr val="0070C0"/>
                </a:solidFill>
              </a:rPr>
              <a:t>Rasters</a:t>
            </a:r>
            <a:endParaRPr lang="en-US" b="1" i="1" dirty="0">
              <a:solidFill>
                <a:srgbClr val="0070C0"/>
              </a:solidFill>
            </a:endParaRPr>
          </a:p>
        </p:txBody>
      </p:sp>
      <p:sp>
        <p:nvSpPr>
          <p:cNvPr id="2" name="Text Placeholder 2">
            <a:extLst>
              <a:ext uri="{FF2B5EF4-FFF2-40B4-BE49-F238E27FC236}">
                <a16:creationId xmlns:a16="http://schemas.microsoft.com/office/drawing/2014/main" id="{4799471C-5C01-C2BC-5747-47359508BD8C}"/>
              </a:ext>
            </a:extLst>
          </p:cNvPr>
          <p:cNvSpPr txBox="1">
            <a:spLocks/>
          </p:cNvSpPr>
          <p:nvPr/>
        </p:nvSpPr>
        <p:spPr>
          <a:xfrm>
            <a:off x="6954175" y="2066785"/>
            <a:ext cx="3521475"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i="1" dirty="0">
                <a:solidFill>
                  <a:srgbClr val="0070C0"/>
                </a:solidFill>
              </a:rPr>
              <a:t>Vectors</a:t>
            </a:r>
          </a:p>
        </p:txBody>
      </p:sp>
      <p:sp>
        <p:nvSpPr>
          <p:cNvPr id="6" name="Text Placeholder 2">
            <a:extLst>
              <a:ext uri="{FF2B5EF4-FFF2-40B4-BE49-F238E27FC236}">
                <a16:creationId xmlns:a16="http://schemas.microsoft.com/office/drawing/2014/main" id="{20225BC8-044B-8AC9-E318-FCD04E066258}"/>
              </a:ext>
            </a:extLst>
          </p:cNvPr>
          <p:cNvSpPr txBox="1">
            <a:spLocks/>
          </p:cNvSpPr>
          <p:nvPr/>
        </p:nvSpPr>
        <p:spPr>
          <a:xfrm>
            <a:off x="2306074" y="6128578"/>
            <a:ext cx="2342027"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“grid data”</a:t>
            </a:r>
          </a:p>
        </p:txBody>
      </p:sp>
      <p:sp>
        <p:nvSpPr>
          <p:cNvPr id="8" name="Text Placeholder 2">
            <a:extLst>
              <a:ext uri="{FF2B5EF4-FFF2-40B4-BE49-F238E27FC236}">
                <a16:creationId xmlns:a16="http://schemas.microsoft.com/office/drawing/2014/main" id="{4AA1B394-9718-909E-DF11-2442277BF634}"/>
              </a:ext>
            </a:extLst>
          </p:cNvPr>
          <p:cNvSpPr txBox="1">
            <a:spLocks/>
          </p:cNvSpPr>
          <p:nvPr/>
        </p:nvSpPr>
        <p:spPr>
          <a:xfrm>
            <a:off x="7418664" y="6128578"/>
            <a:ext cx="2592497"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“shape data”</a:t>
            </a:r>
          </a:p>
        </p:txBody>
      </p:sp>
    </p:spTree>
    <p:extLst>
      <p:ext uri="{BB962C8B-B14F-4D97-AF65-F5344CB8AC3E}">
        <p14:creationId xmlns:p14="http://schemas.microsoft.com/office/powerpoint/2010/main" val="16391722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A5B2E-8D00-AEDD-1A2C-8CD2DDBDBEF6}"/>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25EFD44-52AD-CBC4-E652-36B377B4FA8E}"/>
              </a:ext>
            </a:extLst>
          </p:cNvPr>
          <p:cNvGrpSpPr/>
          <p:nvPr/>
        </p:nvGrpSpPr>
        <p:grpSpPr>
          <a:xfrm>
            <a:off x="905069" y="1825625"/>
            <a:ext cx="4663825" cy="4263714"/>
            <a:chOff x="1403806" y="2147811"/>
            <a:chExt cx="4169529" cy="3865338"/>
          </a:xfrm>
        </p:grpSpPr>
        <p:pic>
          <p:nvPicPr>
            <p:cNvPr id="13" name="Picture 12" descr="The image appears to be a geographical map with a color gradient representing Mean C (possibly a type of climate or environmental data) across North America, with coordinates provided for specific locations.&#10;&#10;AI-generated content may be incorrect.">
              <a:extLst>
                <a:ext uri="{FF2B5EF4-FFF2-40B4-BE49-F238E27FC236}">
                  <a16:creationId xmlns:a16="http://schemas.microsoft.com/office/drawing/2014/main" id="{98CE5A88-AA16-483E-2C46-3259309D5DE3}"/>
                </a:ext>
              </a:extLst>
            </p:cNvPr>
            <p:cNvPicPr>
              <a:picLocks noChangeAspect="1"/>
            </p:cNvPicPr>
            <p:nvPr/>
          </p:nvPicPr>
          <p:blipFill>
            <a:blip r:embed="rId3">
              <a:extLst>
                <a:ext uri="{28A0092B-C50C-407E-A947-70E740481C1C}">
                  <a14:useLocalDpi xmlns:a14="http://schemas.microsoft.com/office/drawing/2010/main" val="0"/>
                </a:ext>
              </a:extLst>
            </a:blip>
            <a:srcRect l="18266" t="4347" r="22667" b="5276"/>
            <a:stretch>
              <a:fillRect/>
            </a:stretch>
          </p:blipFill>
          <p:spPr>
            <a:xfrm>
              <a:off x="1403806" y="2367840"/>
              <a:ext cx="4169529" cy="3645309"/>
            </a:xfrm>
            <a:prstGeom prst="rect">
              <a:avLst/>
            </a:prstGeom>
          </p:spPr>
        </p:pic>
        <p:sp>
          <p:nvSpPr>
            <p:cNvPr id="16" name="Oval 15">
              <a:extLst>
                <a:ext uri="{FF2B5EF4-FFF2-40B4-BE49-F238E27FC236}">
                  <a16:creationId xmlns:a16="http://schemas.microsoft.com/office/drawing/2014/main" id="{76517FA1-8640-6494-5AE1-A687714BABE2}"/>
                </a:ext>
              </a:extLst>
            </p:cNvPr>
            <p:cNvSpPr/>
            <p:nvPr/>
          </p:nvSpPr>
          <p:spPr>
            <a:xfrm rot="2941513">
              <a:off x="4116983" y="2425163"/>
              <a:ext cx="1452185" cy="8974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C81E924-0255-2C6D-8926-D24D941724B9}"/>
                </a:ext>
              </a:extLst>
            </p:cNvPr>
            <p:cNvSpPr/>
            <p:nvPr/>
          </p:nvSpPr>
          <p:spPr>
            <a:xfrm>
              <a:off x="4262757" y="2732536"/>
              <a:ext cx="226600" cy="2557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00A503C1-222E-2680-9408-0DDA4D5A14F5}"/>
              </a:ext>
            </a:extLst>
          </p:cNvPr>
          <p:cNvPicPr>
            <a:picLocks noChangeAspect="1"/>
          </p:cNvPicPr>
          <p:nvPr/>
        </p:nvPicPr>
        <p:blipFill>
          <a:blip r:embed="rId4">
            <a:alphaModFix amt="35000"/>
          </a:blip>
          <a:srcRect l="15892" r="30998" b="5637"/>
          <a:stretch>
            <a:fillRect/>
          </a:stretch>
        </p:blipFill>
        <p:spPr>
          <a:xfrm>
            <a:off x="7596181" y="3070400"/>
            <a:ext cx="2237462" cy="2271499"/>
          </a:xfrm>
          <a:prstGeom prst="rect">
            <a:avLst/>
          </a:prstGeom>
        </p:spPr>
      </p:pic>
      <p:sp>
        <p:nvSpPr>
          <p:cNvPr id="4" name="Title 1">
            <a:extLst>
              <a:ext uri="{FF2B5EF4-FFF2-40B4-BE49-F238E27FC236}">
                <a16:creationId xmlns:a16="http://schemas.microsoft.com/office/drawing/2014/main" id="{F9AB0DD3-3B31-966C-B95C-4AA9B843F7BF}"/>
              </a:ext>
            </a:extLst>
          </p:cNvPr>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70C0"/>
                </a:solidFill>
                <a:latin typeface="Calibri"/>
              </a:rPr>
              <a:t>Climatic Variables/Abiotic Data Layers</a:t>
            </a:r>
            <a:endParaRPr lang="en-US" dirty="0"/>
          </a:p>
        </p:txBody>
      </p:sp>
      <p:sp>
        <p:nvSpPr>
          <p:cNvPr id="5" name="Text Placeholder 2">
            <a:extLst>
              <a:ext uri="{FF2B5EF4-FFF2-40B4-BE49-F238E27FC236}">
                <a16:creationId xmlns:a16="http://schemas.microsoft.com/office/drawing/2014/main" id="{78A5900D-E07E-A260-63B3-B019C56E93E4}"/>
              </a:ext>
            </a:extLst>
          </p:cNvPr>
          <p:cNvSpPr>
            <a:spLocks noGrp="1"/>
          </p:cNvSpPr>
          <p:nvPr>
            <p:ph type="body" idx="1"/>
          </p:nvPr>
        </p:nvSpPr>
        <p:spPr>
          <a:xfrm>
            <a:off x="1716349" y="1770907"/>
            <a:ext cx="3521475" cy="585066"/>
          </a:xfrm>
        </p:spPr>
        <p:txBody>
          <a:bodyPr>
            <a:noAutofit/>
          </a:bodyPr>
          <a:lstStyle/>
          <a:p>
            <a:pPr marL="0" indent="0" algn="ctr">
              <a:buNone/>
            </a:pPr>
            <a:r>
              <a:rPr lang="en-US" sz="4400" b="1" i="1" dirty="0" err="1">
                <a:solidFill>
                  <a:srgbClr val="0070C0"/>
                </a:solidFill>
              </a:rPr>
              <a:t>Rasters</a:t>
            </a:r>
            <a:endParaRPr lang="en-US" sz="4400" b="1" i="1" dirty="0">
              <a:solidFill>
                <a:srgbClr val="0070C0"/>
              </a:solidFill>
            </a:endParaRPr>
          </a:p>
        </p:txBody>
      </p:sp>
      <p:sp>
        <p:nvSpPr>
          <p:cNvPr id="2" name="Text Placeholder 2">
            <a:extLst>
              <a:ext uri="{FF2B5EF4-FFF2-40B4-BE49-F238E27FC236}">
                <a16:creationId xmlns:a16="http://schemas.microsoft.com/office/drawing/2014/main" id="{DF5D0783-2444-795F-CF6D-626F426CACD5}"/>
              </a:ext>
            </a:extLst>
          </p:cNvPr>
          <p:cNvSpPr txBox="1">
            <a:spLocks/>
          </p:cNvSpPr>
          <p:nvPr/>
        </p:nvSpPr>
        <p:spPr>
          <a:xfrm>
            <a:off x="6954174" y="2497336"/>
            <a:ext cx="3521475"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i="1" dirty="0">
                <a:solidFill>
                  <a:srgbClr val="0070C0"/>
                </a:solidFill>
              </a:rPr>
              <a:t>Vectors</a:t>
            </a:r>
          </a:p>
        </p:txBody>
      </p:sp>
      <p:sp>
        <p:nvSpPr>
          <p:cNvPr id="6" name="Text Placeholder 2">
            <a:extLst>
              <a:ext uri="{FF2B5EF4-FFF2-40B4-BE49-F238E27FC236}">
                <a16:creationId xmlns:a16="http://schemas.microsoft.com/office/drawing/2014/main" id="{D44FF18C-7DC5-3CFF-2F2C-18C7D809E15A}"/>
              </a:ext>
            </a:extLst>
          </p:cNvPr>
          <p:cNvSpPr txBox="1">
            <a:spLocks/>
          </p:cNvSpPr>
          <p:nvPr/>
        </p:nvSpPr>
        <p:spPr>
          <a:xfrm>
            <a:off x="2306072" y="6089339"/>
            <a:ext cx="2342027"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dirty="0"/>
              <a:t>“grid data”</a:t>
            </a:r>
          </a:p>
        </p:txBody>
      </p:sp>
      <p:sp>
        <p:nvSpPr>
          <p:cNvPr id="8" name="Text Placeholder 2">
            <a:extLst>
              <a:ext uri="{FF2B5EF4-FFF2-40B4-BE49-F238E27FC236}">
                <a16:creationId xmlns:a16="http://schemas.microsoft.com/office/drawing/2014/main" id="{18841800-8F0F-6F2E-5175-97A2BFC849BA}"/>
              </a:ext>
            </a:extLst>
          </p:cNvPr>
          <p:cNvSpPr txBox="1">
            <a:spLocks/>
          </p:cNvSpPr>
          <p:nvPr/>
        </p:nvSpPr>
        <p:spPr>
          <a:xfrm>
            <a:off x="7596181" y="5600754"/>
            <a:ext cx="2592497"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t>“shape data”</a:t>
            </a:r>
          </a:p>
        </p:txBody>
      </p:sp>
    </p:spTree>
    <p:extLst>
      <p:ext uri="{BB962C8B-B14F-4D97-AF65-F5344CB8AC3E}">
        <p14:creationId xmlns:p14="http://schemas.microsoft.com/office/powerpoint/2010/main" val="38012875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52D6B-F16E-7679-923C-E57A6A09B62F}"/>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E6569D4-A6D5-B5E8-138E-D5A2D2AEF2E8}"/>
              </a:ext>
            </a:extLst>
          </p:cNvPr>
          <p:cNvGrpSpPr/>
          <p:nvPr/>
        </p:nvGrpSpPr>
        <p:grpSpPr>
          <a:xfrm>
            <a:off x="905069" y="1825625"/>
            <a:ext cx="4663825" cy="4263714"/>
            <a:chOff x="1403806" y="2147811"/>
            <a:chExt cx="4169529" cy="3865338"/>
          </a:xfrm>
        </p:grpSpPr>
        <p:pic>
          <p:nvPicPr>
            <p:cNvPr id="13" name="Picture 12" descr="The image appears to be a geographical map with a color gradient representing Mean C (possibly a type of climate or environmental data) across North America, with coordinates provided for specific locations.&#10;&#10;AI-generated content may be incorrect.">
              <a:extLst>
                <a:ext uri="{FF2B5EF4-FFF2-40B4-BE49-F238E27FC236}">
                  <a16:creationId xmlns:a16="http://schemas.microsoft.com/office/drawing/2014/main" id="{9D570A71-165F-98D6-F8AF-D47706C7BCBB}"/>
                </a:ext>
              </a:extLst>
            </p:cNvPr>
            <p:cNvPicPr>
              <a:picLocks noChangeAspect="1"/>
            </p:cNvPicPr>
            <p:nvPr/>
          </p:nvPicPr>
          <p:blipFill>
            <a:blip r:embed="rId3">
              <a:extLst>
                <a:ext uri="{28A0092B-C50C-407E-A947-70E740481C1C}">
                  <a14:useLocalDpi xmlns:a14="http://schemas.microsoft.com/office/drawing/2010/main" val="0"/>
                </a:ext>
              </a:extLst>
            </a:blip>
            <a:srcRect l="18266" t="4347" r="22667" b="5276"/>
            <a:stretch>
              <a:fillRect/>
            </a:stretch>
          </p:blipFill>
          <p:spPr>
            <a:xfrm>
              <a:off x="1403806" y="2367840"/>
              <a:ext cx="4169529" cy="3645309"/>
            </a:xfrm>
            <a:prstGeom prst="rect">
              <a:avLst/>
            </a:prstGeom>
          </p:spPr>
        </p:pic>
        <p:sp>
          <p:nvSpPr>
            <p:cNvPr id="16" name="Oval 15">
              <a:extLst>
                <a:ext uri="{FF2B5EF4-FFF2-40B4-BE49-F238E27FC236}">
                  <a16:creationId xmlns:a16="http://schemas.microsoft.com/office/drawing/2014/main" id="{A9E67398-9DA8-A48E-2F15-2C2A6BF6400F}"/>
                </a:ext>
              </a:extLst>
            </p:cNvPr>
            <p:cNvSpPr/>
            <p:nvPr/>
          </p:nvSpPr>
          <p:spPr>
            <a:xfrm rot="2941513">
              <a:off x="4116983" y="2425163"/>
              <a:ext cx="1452185" cy="8974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0D38547-C481-85C9-9B5F-38DCFC395485}"/>
                </a:ext>
              </a:extLst>
            </p:cNvPr>
            <p:cNvSpPr/>
            <p:nvPr/>
          </p:nvSpPr>
          <p:spPr>
            <a:xfrm>
              <a:off x="4262757" y="2732536"/>
              <a:ext cx="226600" cy="2557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1">
            <a:extLst>
              <a:ext uri="{FF2B5EF4-FFF2-40B4-BE49-F238E27FC236}">
                <a16:creationId xmlns:a16="http://schemas.microsoft.com/office/drawing/2014/main" id="{6EA2716D-656E-7AC0-737D-909807AE6D4D}"/>
              </a:ext>
            </a:extLst>
          </p:cNvPr>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70C0"/>
                </a:solidFill>
                <a:latin typeface="Calibri"/>
              </a:rPr>
              <a:t>Climatic Variables/Abiotic Data Layers</a:t>
            </a:r>
            <a:endParaRPr lang="en-US" dirty="0"/>
          </a:p>
        </p:txBody>
      </p:sp>
      <p:sp>
        <p:nvSpPr>
          <p:cNvPr id="5" name="Text Placeholder 2">
            <a:extLst>
              <a:ext uri="{FF2B5EF4-FFF2-40B4-BE49-F238E27FC236}">
                <a16:creationId xmlns:a16="http://schemas.microsoft.com/office/drawing/2014/main" id="{C475F2E6-36A1-052F-7ED6-B7CE96D1CEA1}"/>
              </a:ext>
            </a:extLst>
          </p:cNvPr>
          <p:cNvSpPr>
            <a:spLocks noGrp="1"/>
          </p:cNvSpPr>
          <p:nvPr>
            <p:ph type="body" idx="1"/>
          </p:nvPr>
        </p:nvSpPr>
        <p:spPr>
          <a:xfrm>
            <a:off x="1716349" y="1770907"/>
            <a:ext cx="3521475" cy="585066"/>
          </a:xfrm>
        </p:spPr>
        <p:txBody>
          <a:bodyPr>
            <a:noAutofit/>
          </a:bodyPr>
          <a:lstStyle/>
          <a:p>
            <a:pPr marL="0" indent="0" algn="ctr">
              <a:buNone/>
            </a:pPr>
            <a:r>
              <a:rPr lang="en-US" sz="4400" b="1" i="1" dirty="0" err="1">
                <a:solidFill>
                  <a:srgbClr val="0070C0"/>
                </a:solidFill>
              </a:rPr>
              <a:t>Rasters</a:t>
            </a:r>
            <a:endParaRPr lang="en-US" sz="4400" b="1" i="1" dirty="0">
              <a:solidFill>
                <a:srgbClr val="0070C0"/>
              </a:solidFill>
            </a:endParaRPr>
          </a:p>
        </p:txBody>
      </p:sp>
      <p:sp>
        <p:nvSpPr>
          <p:cNvPr id="6" name="Text Placeholder 2">
            <a:extLst>
              <a:ext uri="{FF2B5EF4-FFF2-40B4-BE49-F238E27FC236}">
                <a16:creationId xmlns:a16="http://schemas.microsoft.com/office/drawing/2014/main" id="{DDB5D66B-5005-C8AE-E067-C42A4B168186}"/>
              </a:ext>
            </a:extLst>
          </p:cNvPr>
          <p:cNvSpPr txBox="1">
            <a:spLocks/>
          </p:cNvSpPr>
          <p:nvPr/>
        </p:nvSpPr>
        <p:spPr>
          <a:xfrm>
            <a:off x="2306072" y="6089339"/>
            <a:ext cx="2342027"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dirty="0"/>
              <a:t>“grid data”</a:t>
            </a:r>
          </a:p>
        </p:txBody>
      </p:sp>
      <p:sp>
        <p:nvSpPr>
          <p:cNvPr id="3" name="Text Placeholder 2">
            <a:extLst>
              <a:ext uri="{FF2B5EF4-FFF2-40B4-BE49-F238E27FC236}">
                <a16:creationId xmlns:a16="http://schemas.microsoft.com/office/drawing/2014/main" id="{39C0CED0-F109-26A9-E6A1-EAF1EC2416A2}"/>
              </a:ext>
            </a:extLst>
          </p:cNvPr>
          <p:cNvSpPr txBox="1">
            <a:spLocks/>
          </p:cNvSpPr>
          <p:nvPr/>
        </p:nvSpPr>
        <p:spPr>
          <a:xfrm>
            <a:off x="6623108" y="2612710"/>
            <a:ext cx="4388752"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i="1" dirty="0">
                <a:solidFill>
                  <a:srgbClr val="0070C0"/>
                </a:solidFill>
              </a:rPr>
              <a:t>Raster Resolution Note:</a:t>
            </a:r>
          </a:p>
        </p:txBody>
      </p:sp>
      <p:sp>
        <p:nvSpPr>
          <p:cNvPr id="9" name="Text Placeholder 2">
            <a:extLst>
              <a:ext uri="{FF2B5EF4-FFF2-40B4-BE49-F238E27FC236}">
                <a16:creationId xmlns:a16="http://schemas.microsoft.com/office/drawing/2014/main" id="{9AC93F89-F664-E84F-ADCE-D3C755799678}"/>
              </a:ext>
            </a:extLst>
          </p:cNvPr>
          <p:cNvSpPr txBox="1">
            <a:spLocks/>
          </p:cNvSpPr>
          <p:nvPr/>
        </p:nvSpPr>
        <p:spPr>
          <a:xfrm>
            <a:off x="6831646" y="3275581"/>
            <a:ext cx="3668557" cy="15450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dirty="0"/>
              <a:t>Arc-seconds/minutes</a:t>
            </a:r>
          </a:p>
          <a:p>
            <a:pPr lvl="1"/>
            <a:r>
              <a:rPr lang="en-US" sz="1800" dirty="0"/>
              <a:t>Easy to work with latitude/longitude data</a:t>
            </a:r>
          </a:p>
          <a:p>
            <a:pPr lvl="1"/>
            <a:r>
              <a:rPr lang="en-US" sz="1800" dirty="0"/>
              <a:t>Not equal-area</a:t>
            </a:r>
          </a:p>
        </p:txBody>
      </p:sp>
      <p:sp>
        <p:nvSpPr>
          <p:cNvPr id="11" name="Text Placeholder 2">
            <a:extLst>
              <a:ext uri="{FF2B5EF4-FFF2-40B4-BE49-F238E27FC236}">
                <a16:creationId xmlns:a16="http://schemas.microsoft.com/office/drawing/2014/main" id="{12501B4C-7AC5-28C1-C6F9-6DF6F778FF3C}"/>
              </a:ext>
            </a:extLst>
          </p:cNvPr>
          <p:cNvSpPr txBox="1">
            <a:spLocks/>
          </p:cNvSpPr>
          <p:nvPr/>
        </p:nvSpPr>
        <p:spPr>
          <a:xfrm>
            <a:off x="6940347" y="4820642"/>
            <a:ext cx="4663825"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800" dirty="0">
                <a:solidFill>
                  <a:srgbClr val="0070C0"/>
                </a:solidFill>
              </a:rPr>
              <a:t>30 seconds</a:t>
            </a:r>
            <a:r>
              <a:rPr lang="en-US" sz="1800" dirty="0"/>
              <a:t>	≈     1km</a:t>
            </a:r>
            <a:r>
              <a:rPr lang="en-US" sz="1800" baseline="30000" dirty="0"/>
              <a:t>2</a:t>
            </a:r>
            <a:endParaRPr lang="en-US" sz="1800" dirty="0"/>
          </a:p>
        </p:txBody>
      </p:sp>
    </p:spTree>
    <p:extLst>
      <p:ext uri="{BB962C8B-B14F-4D97-AF65-F5344CB8AC3E}">
        <p14:creationId xmlns:p14="http://schemas.microsoft.com/office/powerpoint/2010/main" val="36281575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BB61DC-BA79-EA54-8484-ED26BD3B5D9E}"/>
              </a:ext>
            </a:extLst>
          </p:cNvPr>
          <p:cNvSpPr>
            <a:spLocks noGrp="1"/>
          </p:cNvSpPr>
          <p:nvPr>
            <p:ph type="body" idx="1"/>
          </p:nvPr>
        </p:nvSpPr>
        <p:spPr>
          <a:xfrm>
            <a:off x="1503218" y="1908752"/>
            <a:ext cx="1676400" cy="585066"/>
          </a:xfrm>
        </p:spPr>
        <p:txBody>
          <a:bodyPr>
            <a:noAutofit/>
          </a:bodyPr>
          <a:lstStyle/>
          <a:p>
            <a:pPr marL="0" indent="0" algn="ctr">
              <a:buNone/>
            </a:pPr>
            <a:r>
              <a:rPr lang="en-US" sz="3600" b="1" i="1" dirty="0"/>
              <a:t>What? </a:t>
            </a:r>
          </a:p>
        </p:txBody>
      </p:sp>
      <p:sp>
        <p:nvSpPr>
          <p:cNvPr id="4" name="Title 1">
            <a:extLst>
              <a:ext uri="{FF2B5EF4-FFF2-40B4-BE49-F238E27FC236}">
                <a16:creationId xmlns:a16="http://schemas.microsoft.com/office/drawing/2014/main" id="{E2D7A2FD-8450-B16A-E879-8CDF60F0ADD2}"/>
              </a:ext>
            </a:extLst>
          </p:cNvPr>
          <p:cNvSpPr>
            <a:spLocks noGrp="1"/>
          </p:cNvSpPr>
          <p:nvPr>
            <p:ph type="title"/>
          </p:nvPr>
        </p:nvSpPr>
        <p:spPr>
          <a:xfrm>
            <a:off x="838200" y="365125"/>
            <a:ext cx="10515600" cy="1325563"/>
          </a:xfrm>
        </p:spPr>
        <p:txBody>
          <a:bodyPr/>
          <a:lstStyle/>
          <a:p>
            <a:pPr algn="ctr"/>
            <a:r>
              <a:rPr lang="en-US" b="1" dirty="0">
                <a:solidFill>
                  <a:srgbClr val="0070C0"/>
                </a:solidFill>
                <a:latin typeface="Calibri"/>
              </a:rPr>
              <a:t>Climatic Variables/Abiotic Data Layers</a:t>
            </a:r>
            <a:endParaRPr lang="en-US" dirty="0"/>
          </a:p>
        </p:txBody>
      </p:sp>
      <p:sp>
        <p:nvSpPr>
          <p:cNvPr id="5" name="Text Placeholder 2">
            <a:extLst>
              <a:ext uri="{FF2B5EF4-FFF2-40B4-BE49-F238E27FC236}">
                <a16:creationId xmlns:a16="http://schemas.microsoft.com/office/drawing/2014/main" id="{5CD3E1B6-7EDB-36FA-A1B2-C0D969627F00}"/>
              </a:ext>
            </a:extLst>
          </p:cNvPr>
          <p:cNvSpPr txBox="1">
            <a:spLocks/>
          </p:cNvSpPr>
          <p:nvPr/>
        </p:nvSpPr>
        <p:spPr>
          <a:xfrm>
            <a:off x="4682836" y="1908752"/>
            <a:ext cx="2251364"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i="1" dirty="0"/>
              <a:t>Where? </a:t>
            </a:r>
          </a:p>
        </p:txBody>
      </p:sp>
      <p:sp>
        <p:nvSpPr>
          <p:cNvPr id="7" name="Text Placeholder 2">
            <a:extLst>
              <a:ext uri="{FF2B5EF4-FFF2-40B4-BE49-F238E27FC236}">
                <a16:creationId xmlns:a16="http://schemas.microsoft.com/office/drawing/2014/main" id="{5F1D2E45-11E9-E263-43F0-3F7120906F15}"/>
              </a:ext>
            </a:extLst>
          </p:cNvPr>
          <p:cNvSpPr txBox="1">
            <a:spLocks/>
          </p:cNvSpPr>
          <p:nvPr/>
        </p:nvSpPr>
        <p:spPr>
          <a:xfrm>
            <a:off x="8437418" y="1908752"/>
            <a:ext cx="2251364"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i="1" dirty="0"/>
              <a:t>When? </a:t>
            </a:r>
          </a:p>
        </p:txBody>
      </p:sp>
      <p:sp>
        <p:nvSpPr>
          <p:cNvPr id="8" name="Text Placeholder 2">
            <a:extLst>
              <a:ext uri="{FF2B5EF4-FFF2-40B4-BE49-F238E27FC236}">
                <a16:creationId xmlns:a16="http://schemas.microsoft.com/office/drawing/2014/main" id="{B8B7D210-0F5B-E916-7719-28AAC14EB205}"/>
              </a:ext>
            </a:extLst>
          </p:cNvPr>
          <p:cNvSpPr txBox="1">
            <a:spLocks/>
          </p:cNvSpPr>
          <p:nvPr/>
        </p:nvSpPr>
        <p:spPr>
          <a:xfrm>
            <a:off x="1503218" y="2711878"/>
            <a:ext cx="3131127"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Temperature</a:t>
            </a:r>
          </a:p>
          <a:p>
            <a:r>
              <a:rPr lang="en-US" sz="3600" dirty="0"/>
              <a:t>Precipitation</a:t>
            </a:r>
          </a:p>
          <a:p>
            <a:r>
              <a:rPr lang="en-US" sz="3600" dirty="0"/>
              <a:t>Soil</a:t>
            </a:r>
          </a:p>
          <a:p>
            <a:r>
              <a:rPr lang="en-US" sz="3600" dirty="0"/>
              <a:t>Vegetation</a:t>
            </a:r>
          </a:p>
          <a:p>
            <a:r>
              <a:rPr lang="en-US" sz="3600" dirty="0"/>
              <a:t>Land use</a:t>
            </a:r>
          </a:p>
          <a:p>
            <a:pPr marL="0" indent="0">
              <a:buNone/>
            </a:pPr>
            <a:endParaRPr lang="en-US" sz="3600" dirty="0"/>
          </a:p>
          <a:p>
            <a:endParaRPr lang="en-US" sz="3600" dirty="0"/>
          </a:p>
        </p:txBody>
      </p:sp>
      <p:sp>
        <p:nvSpPr>
          <p:cNvPr id="11" name="Text Placeholder 2">
            <a:extLst>
              <a:ext uri="{FF2B5EF4-FFF2-40B4-BE49-F238E27FC236}">
                <a16:creationId xmlns:a16="http://schemas.microsoft.com/office/drawing/2014/main" id="{8E3E1311-80A4-C03A-6F32-A2395C33B7E4}"/>
              </a:ext>
            </a:extLst>
          </p:cNvPr>
          <p:cNvSpPr txBox="1">
            <a:spLocks/>
          </p:cNvSpPr>
          <p:nvPr/>
        </p:nvSpPr>
        <p:spPr>
          <a:xfrm>
            <a:off x="4970318" y="2711880"/>
            <a:ext cx="2251364"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Local</a:t>
            </a:r>
          </a:p>
          <a:p>
            <a:r>
              <a:rPr lang="en-US" sz="3600" dirty="0"/>
              <a:t>USA</a:t>
            </a:r>
          </a:p>
          <a:p>
            <a:r>
              <a:rPr lang="en-US" sz="3600" dirty="0"/>
              <a:t>North America </a:t>
            </a:r>
          </a:p>
          <a:p>
            <a:r>
              <a:rPr lang="en-US" sz="3600" dirty="0"/>
              <a:t>Global</a:t>
            </a:r>
          </a:p>
          <a:p>
            <a:endParaRPr lang="en-US" sz="3600" dirty="0"/>
          </a:p>
        </p:txBody>
      </p:sp>
      <p:sp>
        <p:nvSpPr>
          <p:cNvPr id="13" name="Text Placeholder 2">
            <a:extLst>
              <a:ext uri="{FF2B5EF4-FFF2-40B4-BE49-F238E27FC236}">
                <a16:creationId xmlns:a16="http://schemas.microsoft.com/office/drawing/2014/main" id="{BDF5B7FF-321A-ACB9-903B-FD423D9D1958}"/>
              </a:ext>
            </a:extLst>
          </p:cNvPr>
          <p:cNvSpPr txBox="1">
            <a:spLocks/>
          </p:cNvSpPr>
          <p:nvPr/>
        </p:nvSpPr>
        <p:spPr>
          <a:xfrm>
            <a:off x="8769927" y="2711879"/>
            <a:ext cx="2251364"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Past</a:t>
            </a:r>
          </a:p>
          <a:p>
            <a:r>
              <a:rPr lang="en-US" sz="3600" dirty="0"/>
              <a:t>Current </a:t>
            </a:r>
          </a:p>
          <a:p>
            <a:r>
              <a:rPr lang="en-US" sz="3600" dirty="0"/>
              <a:t>Future</a:t>
            </a:r>
          </a:p>
        </p:txBody>
      </p:sp>
    </p:spTree>
    <p:extLst>
      <p:ext uri="{BB962C8B-B14F-4D97-AF65-F5344CB8AC3E}">
        <p14:creationId xmlns:p14="http://schemas.microsoft.com/office/powerpoint/2010/main" val="15924950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D4FF3-89C5-4472-292A-610194674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B2514-08C2-05ED-532B-B39E8E32A26E}"/>
              </a:ext>
            </a:extLst>
          </p:cNvPr>
          <p:cNvSpPr>
            <a:spLocks noGrp="1"/>
          </p:cNvSpPr>
          <p:nvPr>
            <p:ph type="title"/>
          </p:nvPr>
        </p:nvSpPr>
        <p:spPr/>
        <p:txBody>
          <a:bodyPr/>
          <a:lstStyle/>
          <a:p>
            <a:pPr algn="ctr"/>
            <a:r>
              <a:rPr lang="en-US" b="1" dirty="0">
                <a:solidFill>
                  <a:srgbClr val="0070C0"/>
                </a:solidFill>
                <a:latin typeface="Calibri"/>
              </a:rPr>
              <a:t>Climatic/Abiotic Data Layer Sources</a:t>
            </a:r>
            <a:endParaRPr lang="en-US" dirty="0"/>
          </a:p>
        </p:txBody>
      </p:sp>
      <p:sp>
        <p:nvSpPr>
          <p:cNvPr id="3" name="Text Placeholder 2">
            <a:extLst>
              <a:ext uri="{FF2B5EF4-FFF2-40B4-BE49-F238E27FC236}">
                <a16:creationId xmlns:a16="http://schemas.microsoft.com/office/drawing/2014/main" id="{5B2487D1-FB02-E302-C7CA-3F69F6972554}"/>
              </a:ext>
            </a:extLst>
          </p:cNvPr>
          <p:cNvSpPr>
            <a:spLocks noGrp="1"/>
          </p:cNvSpPr>
          <p:nvPr>
            <p:ph type="body" idx="1"/>
          </p:nvPr>
        </p:nvSpPr>
        <p:spPr>
          <a:xfrm>
            <a:off x="838200" y="1825625"/>
            <a:ext cx="3882390" cy="4351338"/>
          </a:xfrm>
        </p:spPr>
        <p:txBody>
          <a:bodyPr/>
          <a:lstStyle/>
          <a:p>
            <a:pPr marL="0" indent="0">
              <a:lnSpc>
                <a:spcPct val="150000"/>
              </a:lnSpc>
              <a:buNone/>
            </a:pPr>
            <a:r>
              <a:rPr lang="en-US" dirty="0"/>
              <a:t>			</a:t>
            </a:r>
            <a:endParaRPr lang="en-US" dirty="0">
              <a:solidFill>
                <a:srgbClr val="0070C0"/>
              </a:solidFill>
            </a:endParaRPr>
          </a:p>
          <a:p>
            <a:pPr>
              <a:lnSpc>
                <a:spcPct val="150000"/>
              </a:lnSpc>
            </a:pPr>
            <a:r>
              <a:rPr lang="en-US" dirty="0"/>
              <a:t>Worldclim2		</a:t>
            </a:r>
            <a:endParaRPr lang="en-US" sz="1200" i="1" dirty="0"/>
          </a:p>
          <a:p>
            <a:pPr>
              <a:lnSpc>
                <a:spcPct val="150000"/>
              </a:lnSpc>
            </a:pPr>
            <a:r>
              <a:rPr lang="en-US" dirty="0"/>
              <a:t>PRISM			</a:t>
            </a:r>
            <a:endParaRPr lang="en-US" i="1" dirty="0"/>
          </a:p>
          <a:p>
            <a:pPr>
              <a:lnSpc>
                <a:spcPct val="150000"/>
              </a:lnSpc>
            </a:pPr>
            <a:r>
              <a:rPr lang="en-US" dirty="0"/>
              <a:t>Soil Grids			</a:t>
            </a:r>
          </a:p>
          <a:p>
            <a:pPr>
              <a:lnSpc>
                <a:spcPct val="150000"/>
              </a:lnSpc>
            </a:pPr>
            <a:r>
              <a:rPr lang="en-US" dirty="0"/>
              <a:t>Web Soil Survey	</a:t>
            </a:r>
            <a:endParaRPr lang="en-US" i="1" dirty="0"/>
          </a:p>
        </p:txBody>
      </p:sp>
      <p:sp>
        <p:nvSpPr>
          <p:cNvPr id="6" name="Text Placeholder 2">
            <a:extLst>
              <a:ext uri="{FF2B5EF4-FFF2-40B4-BE49-F238E27FC236}">
                <a16:creationId xmlns:a16="http://schemas.microsoft.com/office/drawing/2014/main" id="{05689EBC-B362-79A3-B2A1-B2CF62572998}"/>
              </a:ext>
            </a:extLst>
          </p:cNvPr>
          <p:cNvSpPr txBox="1">
            <a:spLocks/>
          </p:cNvSpPr>
          <p:nvPr/>
        </p:nvSpPr>
        <p:spPr>
          <a:xfrm>
            <a:off x="4257068" y="1905635"/>
            <a:ext cx="1676400"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i="1" dirty="0">
                <a:solidFill>
                  <a:srgbClr val="0070C0"/>
                </a:solidFill>
              </a:rPr>
              <a:t>What? </a:t>
            </a:r>
          </a:p>
        </p:txBody>
      </p:sp>
      <p:sp>
        <p:nvSpPr>
          <p:cNvPr id="8" name="Text Placeholder 2">
            <a:extLst>
              <a:ext uri="{FF2B5EF4-FFF2-40B4-BE49-F238E27FC236}">
                <a16:creationId xmlns:a16="http://schemas.microsoft.com/office/drawing/2014/main" id="{4E38259C-09F1-7DC0-F564-A7AB4ABEDF69}"/>
              </a:ext>
            </a:extLst>
          </p:cNvPr>
          <p:cNvSpPr txBox="1">
            <a:spLocks/>
          </p:cNvSpPr>
          <p:nvPr/>
        </p:nvSpPr>
        <p:spPr>
          <a:xfrm>
            <a:off x="6135225" y="1905635"/>
            <a:ext cx="2251364"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i="1" dirty="0">
                <a:solidFill>
                  <a:srgbClr val="0070C0"/>
                </a:solidFill>
              </a:rPr>
              <a:t>Where? </a:t>
            </a:r>
          </a:p>
        </p:txBody>
      </p:sp>
      <p:sp>
        <p:nvSpPr>
          <p:cNvPr id="10" name="Text Placeholder 2">
            <a:extLst>
              <a:ext uri="{FF2B5EF4-FFF2-40B4-BE49-F238E27FC236}">
                <a16:creationId xmlns:a16="http://schemas.microsoft.com/office/drawing/2014/main" id="{EECF55A4-B4BE-D5C0-6992-0BC9844F6343}"/>
              </a:ext>
            </a:extLst>
          </p:cNvPr>
          <p:cNvSpPr txBox="1">
            <a:spLocks/>
          </p:cNvSpPr>
          <p:nvPr/>
        </p:nvSpPr>
        <p:spPr>
          <a:xfrm>
            <a:off x="8620298" y="1905635"/>
            <a:ext cx="2251364"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i="1" dirty="0">
                <a:solidFill>
                  <a:srgbClr val="0070C0"/>
                </a:solidFill>
              </a:rPr>
              <a:t>When? </a:t>
            </a:r>
          </a:p>
        </p:txBody>
      </p:sp>
      <p:sp>
        <p:nvSpPr>
          <p:cNvPr id="13" name="Text Placeholder 2">
            <a:extLst>
              <a:ext uri="{FF2B5EF4-FFF2-40B4-BE49-F238E27FC236}">
                <a16:creationId xmlns:a16="http://schemas.microsoft.com/office/drawing/2014/main" id="{E465F6BB-6097-3988-03B3-B399B1B3C8D5}"/>
              </a:ext>
            </a:extLst>
          </p:cNvPr>
          <p:cNvSpPr txBox="1">
            <a:spLocks/>
          </p:cNvSpPr>
          <p:nvPr/>
        </p:nvSpPr>
        <p:spPr>
          <a:xfrm>
            <a:off x="6135225" y="2834488"/>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Global</a:t>
            </a:r>
          </a:p>
          <a:p>
            <a:pPr algn="ctr"/>
            <a:endParaRPr lang="en-US" sz="1800" i="1" dirty="0"/>
          </a:p>
        </p:txBody>
      </p:sp>
      <p:sp>
        <p:nvSpPr>
          <p:cNvPr id="15" name="Text Placeholder 2">
            <a:extLst>
              <a:ext uri="{FF2B5EF4-FFF2-40B4-BE49-F238E27FC236}">
                <a16:creationId xmlns:a16="http://schemas.microsoft.com/office/drawing/2014/main" id="{C6873F6F-0764-EC15-FEE8-0348F5EE536E}"/>
              </a:ext>
            </a:extLst>
          </p:cNvPr>
          <p:cNvSpPr txBox="1">
            <a:spLocks/>
          </p:cNvSpPr>
          <p:nvPr/>
        </p:nvSpPr>
        <p:spPr>
          <a:xfrm>
            <a:off x="6135225" y="4290861"/>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Global</a:t>
            </a:r>
          </a:p>
          <a:p>
            <a:pPr algn="ctr"/>
            <a:endParaRPr lang="en-US" sz="1800" i="1" dirty="0"/>
          </a:p>
        </p:txBody>
      </p:sp>
      <p:sp>
        <p:nvSpPr>
          <p:cNvPr id="17" name="Text Placeholder 2">
            <a:extLst>
              <a:ext uri="{FF2B5EF4-FFF2-40B4-BE49-F238E27FC236}">
                <a16:creationId xmlns:a16="http://schemas.microsoft.com/office/drawing/2014/main" id="{30179275-A390-F5ED-DA9E-7D1E25117C5C}"/>
              </a:ext>
            </a:extLst>
          </p:cNvPr>
          <p:cNvSpPr txBox="1">
            <a:spLocks/>
          </p:cNvSpPr>
          <p:nvPr/>
        </p:nvSpPr>
        <p:spPr>
          <a:xfrm>
            <a:off x="6135225" y="3503311"/>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United States</a:t>
            </a:r>
          </a:p>
        </p:txBody>
      </p:sp>
      <p:sp>
        <p:nvSpPr>
          <p:cNvPr id="19" name="Text Placeholder 2">
            <a:extLst>
              <a:ext uri="{FF2B5EF4-FFF2-40B4-BE49-F238E27FC236}">
                <a16:creationId xmlns:a16="http://schemas.microsoft.com/office/drawing/2014/main" id="{6182163C-EFF9-5EE6-1A39-CA0184A950D1}"/>
              </a:ext>
            </a:extLst>
          </p:cNvPr>
          <p:cNvSpPr txBox="1">
            <a:spLocks/>
          </p:cNvSpPr>
          <p:nvPr/>
        </p:nvSpPr>
        <p:spPr>
          <a:xfrm>
            <a:off x="6135225" y="5154665"/>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United States</a:t>
            </a:r>
          </a:p>
        </p:txBody>
      </p:sp>
      <p:sp>
        <p:nvSpPr>
          <p:cNvPr id="23" name="Text Placeholder 2">
            <a:extLst>
              <a:ext uri="{FF2B5EF4-FFF2-40B4-BE49-F238E27FC236}">
                <a16:creationId xmlns:a16="http://schemas.microsoft.com/office/drawing/2014/main" id="{99CD48E7-CEB6-C526-00D6-138C4FB077F1}"/>
              </a:ext>
            </a:extLst>
          </p:cNvPr>
          <p:cNvSpPr txBox="1">
            <a:spLocks/>
          </p:cNvSpPr>
          <p:nvPr/>
        </p:nvSpPr>
        <p:spPr>
          <a:xfrm>
            <a:off x="3969586" y="2835835"/>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19 bioclimatic variables</a:t>
            </a:r>
          </a:p>
        </p:txBody>
      </p:sp>
      <p:sp>
        <p:nvSpPr>
          <p:cNvPr id="25" name="Text Placeholder 2">
            <a:extLst>
              <a:ext uri="{FF2B5EF4-FFF2-40B4-BE49-F238E27FC236}">
                <a16:creationId xmlns:a16="http://schemas.microsoft.com/office/drawing/2014/main" id="{E23E4E87-DB4C-5F83-4499-0E7034041DE8}"/>
              </a:ext>
            </a:extLst>
          </p:cNvPr>
          <p:cNvSpPr txBox="1">
            <a:spLocks/>
          </p:cNvSpPr>
          <p:nvPr/>
        </p:nvSpPr>
        <p:spPr>
          <a:xfrm>
            <a:off x="3969586" y="3564727"/>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Weather data</a:t>
            </a:r>
          </a:p>
        </p:txBody>
      </p:sp>
      <p:sp>
        <p:nvSpPr>
          <p:cNvPr id="27" name="Text Placeholder 2">
            <a:extLst>
              <a:ext uri="{FF2B5EF4-FFF2-40B4-BE49-F238E27FC236}">
                <a16:creationId xmlns:a16="http://schemas.microsoft.com/office/drawing/2014/main" id="{F0995ADD-5986-C28A-B67F-E17AF8022C5B}"/>
              </a:ext>
            </a:extLst>
          </p:cNvPr>
          <p:cNvSpPr txBox="1">
            <a:spLocks/>
          </p:cNvSpPr>
          <p:nvPr/>
        </p:nvSpPr>
        <p:spPr>
          <a:xfrm>
            <a:off x="3969586" y="4301471"/>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Soil properties</a:t>
            </a:r>
          </a:p>
        </p:txBody>
      </p:sp>
      <p:sp>
        <p:nvSpPr>
          <p:cNvPr id="29" name="Text Placeholder 2">
            <a:extLst>
              <a:ext uri="{FF2B5EF4-FFF2-40B4-BE49-F238E27FC236}">
                <a16:creationId xmlns:a16="http://schemas.microsoft.com/office/drawing/2014/main" id="{DD9F950D-F3A3-93A8-A0D4-9E62E5A76381}"/>
              </a:ext>
            </a:extLst>
          </p:cNvPr>
          <p:cNvSpPr txBox="1">
            <a:spLocks/>
          </p:cNvSpPr>
          <p:nvPr/>
        </p:nvSpPr>
        <p:spPr>
          <a:xfrm>
            <a:off x="3969586" y="5165275"/>
            <a:ext cx="2251364" cy="4085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Soil characteristics</a:t>
            </a:r>
          </a:p>
        </p:txBody>
      </p:sp>
      <p:sp>
        <p:nvSpPr>
          <p:cNvPr id="31" name="Text Placeholder 2">
            <a:extLst>
              <a:ext uri="{FF2B5EF4-FFF2-40B4-BE49-F238E27FC236}">
                <a16:creationId xmlns:a16="http://schemas.microsoft.com/office/drawing/2014/main" id="{F0592B04-F6AC-1701-B908-EC28DF801B89}"/>
              </a:ext>
            </a:extLst>
          </p:cNvPr>
          <p:cNvSpPr txBox="1">
            <a:spLocks/>
          </p:cNvSpPr>
          <p:nvPr/>
        </p:nvSpPr>
        <p:spPr>
          <a:xfrm>
            <a:off x="8675542" y="2834488"/>
            <a:ext cx="2251364" cy="4085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dirty="0"/>
              <a:t>Past, Current, Future</a:t>
            </a:r>
          </a:p>
        </p:txBody>
      </p:sp>
      <p:sp>
        <p:nvSpPr>
          <p:cNvPr id="33" name="Text Placeholder 2">
            <a:extLst>
              <a:ext uri="{FF2B5EF4-FFF2-40B4-BE49-F238E27FC236}">
                <a16:creationId xmlns:a16="http://schemas.microsoft.com/office/drawing/2014/main" id="{EDB23376-E47D-4A66-94DF-2FCD445C7158}"/>
              </a:ext>
            </a:extLst>
          </p:cNvPr>
          <p:cNvSpPr txBox="1">
            <a:spLocks/>
          </p:cNvSpPr>
          <p:nvPr/>
        </p:nvSpPr>
        <p:spPr>
          <a:xfrm>
            <a:off x="8675542" y="3503311"/>
            <a:ext cx="2251364" cy="4085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Past, Current</a:t>
            </a:r>
          </a:p>
        </p:txBody>
      </p:sp>
      <p:sp>
        <p:nvSpPr>
          <p:cNvPr id="35" name="Text Placeholder 2">
            <a:extLst>
              <a:ext uri="{FF2B5EF4-FFF2-40B4-BE49-F238E27FC236}">
                <a16:creationId xmlns:a16="http://schemas.microsoft.com/office/drawing/2014/main" id="{FA6112D4-82AC-0460-F3F6-20FDCC07F3C6}"/>
              </a:ext>
            </a:extLst>
          </p:cNvPr>
          <p:cNvSpPr txBox="1">
            <a:spLocks/>
          </p:cNvSpPr>
          <p:nvPr/>
        </p:nvSpPr>
        <p:spPr>
          <a:xfrm>
            <a:off x="8675542" y="4301471"/>
            <a:ext cx="2251364" cy="4085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Current</a:t>
            </a:r>
          </a:p>
        </p:txBody>
      </p:sp>
      <p:sp>
        <p:nvSpPr>
          <p:cNvPr id="37" name="Text Placeholder 2">
            <a:extLst>
              <a:ext uri="{FF2B5EF4-FFF2-40B4-BE49-F238E27FC236}">
                <a16:creationId xmlns:a16="http://schemas.microsoft.com/office/drawing/2014/main" id="{BBBACB4E-916F-A4E1-8EE6-0F589E45E69D}"/>
              </a:ext>
            </a:extLst>
          </p:cNvPr>
          <p:cNvSpPr txBox="1">
            <a:spLocks/>
          </p:cNvSpPr>
          <p:nvPr/>
        </p:nvSpPr>
        <p:spPr>
          <a:xfrm>
            <a:off x="8675542" y="5099631"/>
            <a:ext cx="2251364" cy="4085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dirty="0"/>
              <a:t>Current</a:t>
            </a:r>
          </a:p>
        </p:txBody>
      </p:sp>
    </p:spTree>
    <p:extLst>
      <p:ext uri="{BB962C8B-B14F-4D97-AF65-F5344CB8AC3E}">
        <p14:creationId xmlns:p14="http://schemas.microsoft.com/office/powerpoint/2010/main" val="458086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DCB34E-76B8-5720-7929-2035A88962B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C6E7FFA-E6A2-3D3B-096B-13BABED6F97F}"/>
              </a:ext>
            </a:extLst>
          </p:cNvPr>
          <p:cNvSpPr>
            <a:spLocks noGrp="1"/>
          </p:cNvSpPr>
          <p:nvPr>
            <p:ph type="body" idx="1"/>
          </p:nvPr>
        </p:nvSpPr>
        <p:spPr>
          <a:xfrm>
            <a:off x="562845" y="2275754"/>
            <a:ext cx="1559046" cy="585066"/>
          </a:xfrm>
        </p:spPr>
        <p:txBody>
          <a:bodyPr>
            <a:noAutofit/>
          </a:bodyPr>
          <a:lstStyle/>
          <a:p>
            <a:pPr marL="0" indent="0">
              <a:buNone/>
            </a:pPr>
            <a:r>
              <a:rPr lang="en-US" sz="3600" b="1" i="1" dirty="0">
                <a:solidFill>
                  <a:srgbClr val="0070C0"/>
                </a:solidFill>
              </a:rPr>
              <a:t>What? </a:t>
            </a:r>
          </a:p>
        </p:txBody>
      </p:sp>
      <p:sp>
        <p:nvSpPr>
          <p:cNvPr id="4" name="Title 1">
            <a:extLst>
              <a:ext uri="{FF2B5EF4-FFF2-40B4-BE49-F238E27FC236}">
                <a16:creationId xmlns:a16="http://schemas.microsoft.com/office/drawing/2014/main" id="{3BBE717D-56B4-70F7-0F72-78E29B0DD7DD}"/>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a:t>
            </a:r>
            <a:r>
              <a:rPr lang="en-US" b="1" dirty="0" err="1">
                <a:solidFill>
                  <a:srgbClr val="0070C0"/>
                </a:solidFill>
                <a:latin typeface="Calibri"/>
              </a:rPr>
              <a:t>WorldClim</a:t>
            </a:r>
            <a:r>
              <a:rPr lang="en-US" b="1" dirty="0">
                <a:solidFill>
                  <a:srgbClr val="0070C0"/>
                </a:solidFill>
                <a:latin typeface="Calibri"/>
              </a:rPr>
              <a:t>(2)</a:t>
            </a:r>
            <a:endParaRPr lang="en-US" dirty="0"/>
          </a:p>
        </p:txBody>
      </p:sp>
      <p:sp>
        <p:nvSpPr>
          <p:cNvPr id="5" name="Text Placeholder 2">
            <a:extLst>
              <a:ext uri="{FF2B5EF4-FFF2-40B4-BE49-F238E27FC236}">
                <a16:creationId xmlns:a16="http://schemas.microsoft.com/office/drawing/2014/main" id="{E6C924C6-F935-2A3D-0FE6-9D290E879D59}"/>
              </a:ext>
            </a:extLst>
          </p:cNvPr>
          <p:cNvSpPr txBox="1">
            <a:spLocks/>
          </p:cNvSpPr>
          <p:nvPr/>
        </p:nvSpPr>
        <p:spPr>
          <a:xfrm>
            <a:off x="562845" y="4460508"/>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Where? </a:t>
            </a:r>
          </a:p>
        </p:txBody>
      </p:sp>
      <p:sp>
        <p:nvSpPr>
          <p:cNvPr id="7" name="Text Placeholder 2">
            <a:extLst>
              <a:ext uri="{FF2B5EF4-FFF2-40B4-BE49-F238E27FC236}">
                <a16:creationId xmlns:a16="http://schemas.microsoft.com/office/drawing/2014/main" id="{C43D696F-4607-92D5-61C2-5C7AB7CC6CEB}"/>
              </a:ext>
            </a:extLst>
          </p:cNvPr>
          <p:cNvSpPr txBox="1">
            <a:spLocks/>
          </p:cNvSpPr>
          <p:nvPr/>
        </p:nvSpPr>
        <p:spPr>
          <a:xfrm>
            <a:off x="562845" y="5753096"/>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When? </a:t>
            </a:r>
          </a:p>
        </p:txBody>
      </p:sp>
      <p:sp>
        <p:nvSpPr>
          <p:cNvPr id="13" name="Text Placeholder 2">
            <a:extLst>
              <a:ext uri="{FF2B5EF4-FFF2-40B4-BE49-F238E27FC236}">
                <a16:creationId xmlns:a16="http://schemas.microsoft.com/office/drawing/2014/main" id="{DCCDFB5A-FC8E-151C-8223-C36A3D32A05D}"/>
              </a:ext>
            </a:extLst>
          </p:cNvPr>
          <p:cNvSpPr txBox="1">
            <a:spLocks/>
          </p:cNvSpPr>
          <p:nvPr/>
        </p:nvSpPr>
        <p:spPr>
          <a:xfrm>
            <a:off x="2294000" y="1149499"/>
            <a:ext cx="7603999"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https://www.worldclim.org</a:t>
            </a:r>
            <a:r>
              <a:rPr lang="en-US" dirty="0"/>
              <a:t> </a:t>
            </a:r>
          </a:p>
        </p:txBody>
      </p:sp>
      <p:sp>
        <p:nvSpPr>
          <p:cNvPr id="9" name="Text Placeholder 2">
            <a:extLst>
              <a:ext uri="{FF2B5EF4-FFF2-40B4-BE49-F238E27FC236}">
                <a16:creationId xmlns:a16="http://schemas.microsoft.com/office/drawing/2014/main" id="{DF8541AC-518C-3B60-F7DF-FC0057FC57E9}"/>
              </a:ext>
            </a:extLst>
          </p:cNvPr>
          <p:cNvSpPr txBox="1">
            <a:spLocks/>
          </p:cNvSpPr>
          <p:nvPr/>
        </p:nvSpPr>
        <p:spPr>
          <a:xfrm>
            <a:off x="2505070" y="4460508"/>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Global land area</a:t>
            </a:r>
          </a:p>
          <a:p>
            <a:pPr lvl="1"/>
            <a:r>
              <a:rPr lang="en-US" sz="3200" dirty="0"/>
              <a:t>Except Antarctica</a:t>
            </a:r>
          </a:p>
          <a:p>
            <a:endParaRPr lang="en-US" sz="3600" dirty="0"/>
          </a:p>
        </p:txBody>
      </p:sp>
      <p:sp>
        <p:nvSpPr>
          <p:cNvPr id="12" name="Text Placeholder 2">
            <a:extLst>
              <a:ext uri="{FF2B5EF4-FFF2-40B4-BE49-F238E27FC236}">
                <a16:creationId xmlns:a16="http://schemas.microsoft.com/office/drawing/2014/main" id="{B5D0A6E0-6468-9495-2C5F-17D65EA96324}"/>
              </a:ext>
            </a:extLst>
          </p:cNvPr>
          <p:cNvSpPr txBox="1">
            <a:spLocks/>
          </p:cNvSpPr>
          <p:nvPr/>
        </p:nvSpPr>
        <p:spPr>
          <a:xfrm>
            <a:off x="2468050" y="5748980"/>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Past, Current, and Future projections</a:t>
            </a:r>
          </a:p>
        </p:txBody>
      </p:sp>
      <p:sp>
        <p:nvSpPr>
          <p:cNvPr id="15" name="Text Placeholder 2">
            <a:extLst>
              <a:ext uri="{FF2B5EF4-FFF2-40B4-BE49-F238E27FC236}">
                <a16:creationId xmlns:a16="http://schemas.microsoft.com/office/drawing/2014/main" id="{B0716C14-B53D-55E4-8340-A1C039468165}"/>
              </a:ext>
            </a:extLst>
          </p:cNvPr>
          <p:cNvSpPr txBox="1">
            <a:spLocks/>
          </p:cNvSpPr>
          <p:nvPr/>
        </p:nvSpPr>
        <p:spPr>
          <a:xfrm>
            <a:off x="2468050" y="2239100"/>
            <a:ext cx="5948586"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3600" b="1" dirty="0">
                <a:latin typeface="Calibri Light" panose="020F0302020204030204" pitchFamily="34" charset="0"/>
                <a:cs typeface="Calibri Light" panose="020F0302020204030204" pitchFamily="34" charset="0"/>
              </a:rPr>
              <a:t>19 Bioclimatic variables </a:t>
            </a:r>
          </a:p>
          <a:p>
            <a:pPr lvl="1" defTabSz="514122">
              <a:defRPr sz="2376"/>
            </a:pPr>
            <a:r>
              <a:rPr lang="en-US" sz="3200" dirty="0">
                <a:latin typeface="Calibri Light" panose="020F0302020204030204" pitchFamily="34" charset="0"/>
                <a:cs typeface="Calibri Light" panose="020F0302020204030204" pitchFamily="34" charset="0"/>
              </a:rPr>
              <a:t>Derived from monthly temperature &amp; rainfall values</a:t>
            </a:r>
          </a:p>
          <a:p>
            <a:pPr lvl="1" defTabSz="514122">
              <a:defRPr sz="2376"/>
            </a:pPr>
            <a:r>
              <a:rPr lang="en-US" sz="3200" dirty="0">
                <a:latin typeface="Calibri Light" panose="020F0302020204030204" pitchFamily="34" charset="0"/>
                <a:cs typeface="Calibri Light" panose="020F0302020204030204" pitchFamily="34" charset="0"/>
              </a:rPr>
              <a:t>Multiple resolution options!</a:t>
            </a:r>
          </a:p>
        </p:txBody>
      </p:sp>
      <p:pic>
        <p:nvPicPr>
          <p:cNvPr id="17" name="Picture 16" descr="WorldClim&#10;&#10;AI-generated content may be incorrect.">
            <a:extLst>
              <a:ext uri="{FF2B5EF4-FFF2-40B4-BE49-F238E27FC236}">
                <a16:creationId xmlns:a16="http://schemas.microsoft.com/office/drawing/2014/main" id="{40231C0E-C6D4-6C24-6684-2E20ED99B46D}"/>
              </a:ext>
            </a:extLst>
          </p:cNvPr>
          <p:cNvPicPr>
            <a:picLocks noChangeAspect="1"/>
          </p:cNvPicPr>
          <p:nvPr/>
        </p:nvPicPr>
        <p:blipFill>
          <a:blip r:embed="rId3"/>
          <a:stretch>
            <a:fillRect/>
          </a:stretch>
        </p:blipFill>
        <p:spPr>
          <a:xfrm>
            <a:off x="9003467" y="3349804"/>
            <a:ext cx="2636748" cy="556308"/>
          </a:xfrm>
          <a:prstGeom prst="rect">
            <a:avLst/>
          </a:prstGeom>
        </p:spPr>
      </p:pic>
    </p:spTree>
    <p:extLst>
      <p:ext uri="{BB962C8B-B14F-4D97-AF65-F5344CB8AC3E}">
        <p14:creationId xmlns:p14="http://schemas.microsoft.com/office/powerpoint/2010/main" val="38247739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3B2E6-30B2-A93D-E32B-CF16D407325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2DB2F6A-AC05-82D2-7373-7D7F4C190381}"/>
              </a:ext>
            </a:extLst>
          </p:cNvPr>
          <p:cNvSpPr>
            <a:spLocks noGrp="1"/>
          </p:cNvSpPr>
          <p:nvPr>
            <p:ph type="body" idx="1"/>
          </p:nvPr>
        </p:nvSpPr>
        <p:spPr>
          <a:xfrm>
            <a:off x="562845" y="2275754"/>
            <a:ext cx="1559046" cy="585066"/>
          </a:xfrm>
        </p:spPr>
        <p:txBody>
          <a:bodyPr>
            <a:noAutofit/>
          </a:bodyPr>
          <a:lstStyle/>
          <a:p>
            <a:pPr marL="0" indent="0">
              <a:buNone/>
            </a:pPr>
            <a:r>
              <a:rPr lang="en-US" sz="1800" b="1" i="1" dirty="0">
                <a:solidFill>
                  <a:srgbClr val="0070C0"/>
                </a:solidFill>
              </a:rPr>
              <a:t>What? </a:t>
            </a:r>
          </a:p>
        </p:txBody>
      </p:sp>
      <p:sp>
        <p:nvSpPr>
          <p:cNvPr id="4" name="Title 1">
            <a:extLst>
              <a:ext uri="{FF2B5EF4-FFF2-40B4-BE49-F238E27FC236}">
                <a16:creationId xmlns:a16="http://schemas.microsoft.com/office/drawing/2014/main" id="{FBFC70FE-FCAA-00E2-0BC7-1BE3DDFDC9D8}"/>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a:t>
            </a:r>
            <a:r>
              <a:rPr lang="en-US" b="1" dirty="0" err="1">
                <a:solidFill>
                  <a:srgbClr val="0070C0"/>
                </a:solidFill>
                <a:latin typeface="Calibri"/>
              </a:rPr>
              <a:t>WorldClim</a:t>
            </a:r>
            <a:r>
              <a:rPr lang="en-US" b="1" dirty="0">
                <a:solidFill>
                  <a:srgbClr val="0070C0"/>
                </a:solidFill>
                <a:latin typeface="Calibri"/>
              </a:rPr>
              <a:t>(2)</a:t>
            </a:r>
            <a:endParaRPr lang="en-US" dirty="0"/>
          </a:p>
        </p:txBody>
      </p:sp>
      <p:sp>
        <p:nvSpPr>
          <p:cNvPr id="5" name="Text Placeholder 2">
            <a:extLst>
              <a:ext uri="{FF2B5EF4-FFF2-40B4-BE49-F238E27FC236}">
                <a16:creationId xmlns:a16="http://schemas.microsoft.com/office/drawing/2014/main" id="{EB2BC9F8-E416-B48B-4AA3-130E9945EC00}"/>
              </a:ext>
            </a:extLst>
          </p:cNvPr>
          <p:cNvSpPr txBox="1">
            <a:spLocks/>
          </p:cNvSpPr>
          <p:nvPr/>
        </p:nvSpPr>
        <p:spPr>
          <a:xfrm>
            <a:off x="562844" y="3386458"/>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Where? </a:t>
            </a:r>
          </a:p>
        </p:txBody>
      </p:sp>
      <p:sp>
        <p:nvSpPr>
          <p:cNvPr id="7" name="Text Placeholder 2">
            <a:extLst>
              <a:ext uri="{FF2B5EF4-FFF2-40B4-BE49-F238E27FC236}">
                <a16:creationId xmlns:a16="http://schemas.microsoft.com/office/drawing/2014/main" id="{AA838F4E-347C-E716-796E-AC18C177FF01}"/>
              </a:ext>
            </a:extLst>
          </p:cNvPr>
          <p:cNvSpPr txBox="1">
            <a:spLocks/>
          </p:cNvSpPr>
          <p:nvPr/>
        </p:nvSpPr>
        <p:spPr>
          <a:xfrm>
            <a:off x="621204" y="3971524"/>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When? </a:t>
            </a:r>
          </a:p>
        </p:txBody>
      </p:sp>
      <p:sp>
        <p:nvSpPr>
          <p:cNvPr id="13" name="Text Placeholder 2">
            <a:extLst>
              <a:ext uri="{FF2B5EF4-FFF2-40B4-BE49-F238E27FC236}">
                <a16:creationId xmlns:a16="http://schemas.microsoft.com/office/drawing/2014/main" id="{D131814E-E12F-1555-1504-D3C9E049D85D}"/>
              </a:ext>
            </a:extLst>
          </p:cNvPr>
          <p:cNvSpPr txBox="1">
            <a:spLocks/>
          </p:cNvSpPr>
          <p:nvPr/>
        </p:nvSpPr>
        <p:spPr>
          <a:xfrm>
            <a:off x="2411055" y="1057832"/>
            <a:ext cx="7766334"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hlinkClick r:id="rId3"/>
              </a:rPr>
              <a:t>https://www.worldclim.org/data/bioclim.html</a:t>
            </a:r>
            <a:r>
              <a:rPr lang="en-US" dirty="0"/>
              <a:t> </a:t>
            </a:r>
          </a:p>
        </p:txBody>
      </p:sp>
      <p:sp>
        <p:nvSpPr>
          <p:cNvPr id="9" name="Text Placeholder 2">
            <a:extLst>
              <a:ext uri="{FF2B5EF4-FFF2-40B4-BE49-F238E27FC236}">
                <a16:creationId xmlns:a16="http://schemas.microsoft.com/office/drawing/2014/main" id="{F032DF91-8294-F756-86CD-994B322CCCA7}"/>
              </a:ext>
            </a:extLst>
          </p:cNvPr>
          <p:cNvSpPr txBox="1">
            <a:spLocks/>
          </p:cNvSpPr>
          <p:nvPr/>
        </p:nvSpPr>
        <p:spPr>
          <a:xfrm>
            <a:off x="1609724" y="3387414"/>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Global land area</a:t>
            </a:r>
          </a:p>
          <a:p>
            <a:pPr lvl="1"/>
            <a:r>
              <a:rPr lang="en-US" sz="1600" dirty="0"/>
              <a:t>Except Antarctica</a:t>
            </a:r>
          </a:p>
          <a:p>
            <a:endParaRPr lang="en-US" sz="1800" dirty="0"/>
          </a:p>
        </p:txBody>
      </p:sp>
      <p:sp>
        <p:nvSpPr>
          <p:cNvPr id="12" name="Text Placeholder 2">
            <a:extLst>
              <a:ext uri="{FF2B5EF4-FFF2-40B4-BE49-F238E27FC236}">
                <a16:creationId xmlns:a16="http://schemas.microsoft.com/office/drawing/2014/main" id="{E1EDC50B-2D7A-FCC3-FA2E-D9BC529F4CAD}"/>
              </a:ext>
            </a:extLst>
          </p:cNvPr>
          <p:cNvSpPr txBox="1">
            <a:spLocks/>
          </p:cNvSpPr>
          <p:nvPr/>
        </p:nvSpPr>
        <p:spPr>
          <a:xfrm>
            <a:off x="1609724" y="3971524"/>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Past, Current, and Future projections</a:t>
            </a:r>
          </a:p>
        </p:txBody>
      </p:sp>
      <p:sp>
        <p:nvSpPr>
          <p:cNvPr id="15" name="Text Placeholder 2">
            <a:extLst>
              <a:ext uri="{FF2B5EF4-FFF2-40B4-BE49-F238E27FC236}">
                <a16:creationId xmlns:a16="http://schemas.microsoft.com/office/drawing/2014/main" id="{B5BC9C53-710C-7DF1-9C95-670AE34E49C9}"/>
              </a:ext>
            </a:extLst>
          </p:cNvPr>
          <p:cNvSpPr txBox="1">
            <a:spLocks/>
          </p:cNvSpPr>
          <p:nvPr/>
        </p:nvSpPr>
        <p:spPr>
          <a:xfrm>
            <a:off x="1342368" y="2275754"/>
            <a:ext cx="5948586"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1600" b="1" dirty="0">
                <a:latin typeface="Calibri Light" panose="020F0302020204030204" pitchFamily="34" charset="0"/>
                <a:cs typeface="Calibri Light" panose="020F0302020204030204" pitchFamily="34" charset="0"/>
              </a:rPr>
              <a:t>19 Bioclimatic variables </a:t>
            </a:r>
          </a:p>
          <a:p>
            <a:pPr lvl="1" defTabSz="514122">
              <a:defRPr sz="2376"/>
            </a:pPr>
            <a:r>
              <a:rPr lang="en-US" sz="1600" dirty="0">
                <a:latin typeface="Calibri Light" panose="020F0302020204030204" pitchFamily="34" charset="0"/>
                <a:cs typeface="Calibri Light" panose="020F0302020204030204" pitchFamily="34" charset="0"/>
              </a:rPr>
              <a:t>Derived from monthly temperature &amp; rainfall values</a:t>
            </a:r>
          </a:p>
          <a:p>
            <a:pPr lvl="1" defTabSz="514122">
              <a:defRPr sz="2376"/>
            </a:pPr>
            <a:r>
              <a:rPr lang="en-US" sz="1600" dirty="0">
                <a:latin typeface="Calibri Light" panose="020F0302020204030204" pitchFamily="34" charset="0"/>
                <a:cs typeface="Calibri Light" panose="020F0302020204030204" pitchFamily="34" charset="0"/>
              </a:rPr>
              <a:t>Multiple resolution options!</a:t>
            </a:r>
          </a:p>
        </p:txBody>
      </p:sp>
      <p:pic>
        <p:nvPicPr>
          <p:cNvPr id="6" name="Picture 5" descr="The image shows a table displaying various weather and environmental data collected at different spatial resolutions (30 seconds, 5 minutes, 2.5 minutes, and 10 minutes) for different variables like temperature, precipitation, solar radiation, and wind speed.&#10;&#10;AI-generated content may be incorrect.">
            <a:extLst>
              <a:ext uri="{FF2B5EF4-FFF2-40B4-BE49-F238E27FC236}">
                <a16:creationId xmlns:a16="http://schemas.microsoft.com/office/drawing/2014/main" id="{1C92D989-0CE8-B1B7-3DD6-AB994C03CF11}"/>
              </a:ext>
            </a:extLst>
          </p:cNvPr>
          <p:cNvPicPr>
            <a:picLocks noChangeAspect="1"/>
          </p:cNvPicPr>
          <p:nvPr/>
        </p:nvPicPr>
        <p:blipFill>
          <a:blip r:embed="rId4"/>
          <a:stretch>
            <a:fillRect/>
          </a:stretch>
        </p:blipFill>
        <p:spPr>
          <a:xfrm>
            <a:off x="7208734" y="2275754"/>
            <a:ext cx="3908381" cy="2357093"/>
          </a:xfrm>
          <a:prstGeom prst="rect">
            <a:avLst/>
          </a:prstGeom>
          <a:ln w="12700">
            <a:solidFill>
              <a:schemeClr val="tx1"/>
            </a:solidFill>
          </a:ln>
        </p:spPr>
      </p:pic>
      <p:pic>
        <p:nvPicPr>
          <p:cNvPr id="10" name="Picture 9" descr="The text lists a series of bioclimatic indices used to describe different aspects of temperature data, such as annual mean, diurnal range, isothermality, seasonality, extremes, and mean temperatures of various quarters.&#10;&#10;AI-generated content may be incorrect.">
            <a:extLst>
              <a:ext uri="{FF2B5EF4-FFF2-40B4-BE49-F238E27FC236}">
                <a16:creationId xmlns:a16="http://schemas.microsoft.com/office/drawing/2014/main" id="{7494296D-3E08-B42E-0206-F8B2A2A2EF03}"/>
              </a:ext>
            </a:extLst>
          </p:cNvPr>
          <p:cNvPicPr>
            <a:picLocks noChangeAspect="1"/>
          </p:cNvPicPr>
          <p:nvPr/>
        </p:nvPicPr>
        <p:blipFill>
          <a:blip r:embed="rId5"/>
          <a:srcRect l="4288" r="5128"/>
          <a:stretch>
            <a:fillRect/>
          </a:stretch>
        </p:blipFill>
        <p:spPr>
          <a:xfrm>
            <a:off x="653609" y="4647682"/>
            <a:ext cx="2656608" cy="2039223"/>
          </a:xfrm>
          <a:prstGeom prst="rect">
            <a:avLst/>
          </a:prstGeom>
          <a:ln w="12700">
            <a:solidFill>
              <a:schemeClr val="tx1"/>
            </a:solidFill>
          </a:ln>
        </p:spPr>
      </p:pic>
      <p:grpSp>
        <p:nvGrpSpPr>
          <p:cNvPr id="11" name="Group 10">
            <a:extLst>
              <a:ext uri="{FF2B5EF4-FFF2-40B4-BE49-F238E27FC236}">
                <a16:creationId xmlns:a16="http://schemas.microsoft.com/office/drawing/2014/main" id="{2151E1AE-5935-49A0-B2CC-AA0890E59DB6}"/>
              </a:ext>
            </a:extLst>
          </p:cNvPr>
          <p:cNvGrpSpPr/>
          <p:nvPr/>
        </p:nvGrpSpPr>
        <p:grpSpPr>
          <a:xfrm>
            <a:off x="3310217" y="4647682"/>
            <a:ext cx="2984005" cy="2039223"/>
            <a:chOff x="8950025" y="3765186"/>
            <a:chExt cx="2656608" cy="1753449"/>
          </a:xfrm>
        </p:grpSpPr>
        <p:pic>
          <p:nvPicPr>
            <p:cNvPr id="14" name="Picture 13" descr="The image is a list of various climate and weather-related data points, including annual precipitation, wettest and driest months, seasonality coefficients, and precipitation for different temperature quarters.&#10;&#10;AI-generated content may be incorrect.">
              <a:extLst>
                <a:ext uri="{FF2B5EF4-FFF2-40B4-BE49-F238E27FC236}">
                  <a16:creationId xmlns:a16="http://schemas.microsoft.com/office/drawing/2014/main" id="{FA91C2EC-7131-B8E4-07EA-56D0D65A3F09}"/>
                </a:ext>
              </a:extLst>
            </p:cNvPr>
            <p:cNvPicPr>
              <a:picLocks noChangeAspect="1"/>
            </p:cNvPicPr>
            <p:nvPr/>
          </p:nvPicPr>
          <p:blipFill>
            <a:blip r:embed="rId6"/>
            <a:stretch>
              <a:fillRect/>
            </a:stretch>
          </p:blipFill>
          <p:spPr>
            <a:xfrm>
              <a:off x="8950025" y="3765186"/>
              <a:ext cx="2656608" cy="1753449"/>
            </a:xfrm>
            <a:prstGeom prst="rect">
              <a:avLst/>
            </a:prstGeom>
            <a:ln w="12700">
              <a:solidFill>
                <a:schemeClr val="tx1"/>
              </a:solidFill>
            </a:ln>
          </p:spPr>
        </p:pic>
        <p:sp>
          <p:nvSpPr>
            <p:cNvPr id="16" name="Rectangle: Rounded Corners 15">
              <a:extLst>
                <a:ext uri="{FF2B5EF4-FFF2-40B4-BE49-F238E27FC236}">
                  <a16:creationId xmlns:a16="http://schemas.microsoft.com/office/drawing/2014/main" id="{85D4FE94-6993-8FD1-E817-A6F3488ABF44}"/>
                </a:ext>
              </a:extLst>
            </p:cNvPr>
            <p:cNvSpPr/>
            <p:nvPr/>
          </p:nvSpPr>
          <p:spPr>
            <a:xfrm>
              <a:off x="10251281" y="3786187"/>
              <a:ext cx="1162050" cy="20716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descr="The image displays a climate projection graph, showing future temperature and precipitation data from 2021 to 2100, using various climate models and resolutions.&#10;&#10;AI-generated content may be incorrect.">
            <a:extLst>
              <a:ext uri="{FF2B5EF4-FFF2-40B4-BE49-F238E27FC236}">
                <a16:creationId xmlns:a16="http://schemas.microsoft.com/office/drawing/2014/main" id="{7CC3418B-5D15-9F33-4E13-0BC6F0D2B819}"/>
              </a:ext>
            </a:extLst>
          </p:cNvPr>
          <p:cNvPicPr>
            <a:picLocks noChangeAspect="1"/>
          </p:cNvPicPr>
          <p:nvPr/>
        </p:nvPicPr>
        <p:blipFill>
          <a:blip r:embed="rId7"/>
          <a:stretch>
            <a:fillRect/>
          </a:stretch>
        </p:blipFill>
        <p:spPr>
          <a:xfrm>
            <a:off x="7208733" y="4838293"/>
            <a:ext cx="3908381" cy="1687336"/>
          </a:xfrm>
          <a:prstGeom prst="rect">
            <a:avLst/>
          </a:prstGeom>
          <a:ln w="12700">
            <a:solidFill>
              <a:schemeClr val="tx1"/>
            </a:solidFill>
          </a:ln>
        </p:spPr>
      </p:pic>
      <p:pic>
        <p:nvPicPr>
          <p:cNvPr id="28" name="Picture 27" descr="WorldClim&#10;&#10;AI-generated content may be incorrect.">
            <a:extLst>
              <a:ext uri="{FF2B5EF4-FFF2-40B4-BE49-F238E27FC236}">
                <a16:creationId xmlns:a16="http://schemas.microsoft.com/office/drawing/2014/main" id="{70B45FD7-AED5-7635-58BA-F8E6A06BEEAB}"/>
              </a:ext>
            </a:extLst>
          </p:cNvPr>
          <p:cNvPicPr>
            <a:picLocks noChangeAspect="1"/>
          </p:cNvPicPr>
          <p:nvPr/>
        </p:nvPicPr>
        <p:blipFill>
          <a:blip r:embed="rId8"/>
          <a:stretch>
            <a:fillRect/>
          </a:stretch>
        </p:blipFill>
        <p:spPr>
          <a:xfrm>
            <a:off x="8462571" y="1597701"/>
            <a:ext cx="2636748" cy="556308"/>
          </a:xfrm>
          <a:prstGeom prst="rect">
            <a:avLst/>
          </a:prstGeom>
        </p:spPr>
      </p:pic>
    </p:spTree>
    <p:extLst>
      <p:ext uri="{BB962C8B-B14F-4D97-AF65-F5344CB8AC3E}">
        <p14:creationId xmlns:p14="http://schemas.microsoft.com/office/powerpoint/2010/main" val="24664696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D21DD3-4E7C-4230-5085-BCC37C394E2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67C2847-3BCF-4744-83CB-FCB85A7236DD}"/>
              </a:ext>
            </a:extLst>
          </p:cNvPr>
          <p:cNvSpPr>
            <a:spLocks noGrp="1"/>
          </p:cNvSpPr>
          <p:nvPr>
            <p:ph type="body" idx="1"/>
          </p:nvPr>
        </p:nvSpPr>
        <p:spPr>
          <a:xfrm>
            <a:off x="562845" y="2275754"/>
            <a:ext cx="1559046" cy="585066"/>
          </a:xfrm>
        </p:spPr>
        <p:txBody>
          <a:bodyPr>
            <a:noAutofit/>
          </a:bodyPr>
          <a:lstStyle/>
          <a:p>
            <a:pPr marL="0" indent="0">
              <a:buNone/>
            </a:pPr>
            <a:r>
              <a:rPr lang="en-US" sz="3600" b="1" i="1" dirty="0">
                <a:solidFill>
                  <a:srgbClr val="0070C0"/>
                </a:solidFill>
              </a:rPr>
              <a:t>What? </a:t>
            </a:r>
          </a:p>
        </p:txBody>
      </p:sp>
      <p:sp>
        <p:nvSpPr>
          <p:cNvPr id="4" name="Title 1">
            <a:extLst>
              <a:ext uri="{FF2B5EF4-FFF2-40B4-BE49-F238E27FC236}">
                <a16:creationId xmlns:a16="http://schemas.microsoft.com/office/drawing/2014/main" id="{326CC469-50C3-FCB2-6E15-9AEB8DA6EE31}"/>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PRISM</a:t>
            </a:r>
            <a:endParaRPr lang="en-US" dirty="0"/>
          </a:p>
        </p:txBody>
      </p:sp>
      <p:sp>
        <p:nvSpPr>
          <p:cNvPr id="5" name="Text Placeholder 2">
            <a:extLst>
              <a:ext uri="{FF2B5EF4-FFF2-40B4-BE49-F238E27FC236}">
                <a16:creationId xmlns:a16="http://schemas.microsoft.com/office/drawing/2014/main" id="{F705B78D-E38A-EB60-2BBF-171BE331D1BB}"/>
              </a:ext>
            </a:extLst>
          </p:cNvPr>
          <p:cNvSpPr txBox="1">
            <a:spLocks/>
          </p:cNvSpPr>
          <p:nvPr/>
        </p:nvSpPr>
        <p:spPr>
          <a:xfrm>
            <a:off x="562845" y="4986479"/>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Where? </a:t>
            </a:r>
          </a:p>
        </p:txBody>
      </p:sp>
      <p:sp>
        <p:nvSpPr>
          <p:cNvPr id="7" name="Text Placeholder 2">
            <a:extLst>
              <a:ext uri="{FF2B5EF4-FFF2-40B4-BE49-F238E27FC236}">
                <a16:creationId xmlns:a16="http://schemas.microsoft.com/office/drawing/2014/main" id="{038187C4-4463-C9C8-1B42-9B4274F2DC9E}"/>
              </a:ext>
            </a:extLst>
          </p:cNvPr>
          <p:cNvSpPr txBox="1">
            <a:spLocks/>
          </p:cNvSpPr>
          <p:nvPr/>
        </p:nvSpPr>
        <p:spPr>
          <a:xfrm>
            <a:off x="562845" y="5753096"/>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When? </a:t>
            </a:r>
          </a:p>
        </p:txBody>
      </p:sp>
      <p:sp>
        <p:nvSpPr>
          <p:cNvPr id="13" name="Text Placeholder 2">
            <a:extLst>
              <a:ext uri="{FF2B5EF4-FFF2-40B4-BE49-F238E27FC236}">
                <a16:creationId xmlns:a16="http://schemas.microsoft.com/office/drawing/2014/main" id="{74C08D8A-68AB-0E44-984A-0427EBB01BE7}"/>
              </a:ext>
            </a:extLst>
          </p:cNvPr>
          <p:cNvSpPr txBox="1">
            <a:spLocks/>
          </p:cNvSpPr>
          <p:nvPr/>
        </p:nvSpPr>
        <p:spPr>
          <a:xfrm>
            <a:off x="1997217" y="1098363"/>
            <a:ext cx="8197565"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https://www.prism.oregonstate.edu/</a:t>
            </a:r>
            <a:r>
              <a:rPr lang="en-US" dirty="0"/>
              <a:t> </a:t>
            </a:r>
            <a:endParaRPr lang="en-US" sz="6000" dirty="0"/>
          </a:p>
        </p:txBody>
      </p:sp>
      <p:sp>
        <p:nvSpPr>
          <p:cNvPr id="9" name="Text Placeholder 2">
            <a:extLst>
              <a:ext uri="{FF2B5EF4-FFF2-40B4-BE49-F238E27FC236}">
                <a16:creationId xmlns:a16="http://schemas.microsoft.com/office/drawing/2014/main" id="{9C3C38DC-E03D-E95B-1584-E0675533C978}"/>
              </a:ext>
            </a:extLst>
          </p:cNvPr>
          <p:cNvSpPr txBox="1">
            <a:spLocks/>
          </p:cNvSpPr>
          <p:nvPr/>
        </p:nvSpPr>
        <p:spPr>
          <a:xfrm>
            <a:off x="2468050" y="4986479"/>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United States only</a:t>
            </a:r>
          </a:p>
        </p:txBody>
      </p:sp>
      <p:sp>
        <p:nvSpPr>
          <p:cNvPr id="12" name="Text Placeholder 2">
            <a:extLst>
              <a:ext uri="{FF2B5EF4-FFF2-40B4-BE49-F238E27FC236}">
                <a16:creationId xmlns:a16="http://schemas.microsoft.com/office/drawing/2014/main" id="{58B3A5E3-985D-58BA-B3E7-FBCBC0AA497C}"/>
              </a:ext>
            </a:extLst>
          </p:cNvPr>
          <p:cNvSpPr txBox="1">
            <a:spLocks/>
          </p:cNvSpPr>
          <p:nvPr/>
        </p:nvSpPr>
        <p:spPr>
          <a:xfrm>
            <a:off x="2468050" y="5824586"/>
            <a:ext cx="8874489" cy="7233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1895 - present</a:t>
            </a:r>
          </a:p>
        </p:txBody>
      </p:sp>
      <p:sp>
        <p:nvSpPr>
          <p:cNvPr id="15" name="Text Placeholder 2">
            <a:extLst>
              <a:ext uri="{FF2B5EF4-FFF2-40B4-BE49-F238E27FC236}">
                <a16:creationId xmlns:a16="http://schemas.microsoft.com/office/drawing/2014/main" id="{F9872796-019F-ACA2-E4E1-54F3C93E3361}"/>
              </a:ext>
            </a:extLst>
          </p:cNvPr>
          <p:cNvSpPr txBox="1">
            <a:spLocks/>
          </p:cNvSpPr>
          <p:nvPr/>
        </p:nvSpPr>
        <p:spPr>
          <a:xfrm>
            <a:off x="2468049" y="2329592"/>
            <a:ext cx="6349379" cy="24038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3200" b="1" dirty="0">
                <a:latin typeface="Calibri Light" panose="020F0302020204030204" pitchFamily="34" charset="0"/>
                <a:cs typeface="Calibri Light" panose="020F0302020204030204" pitchFamily="34" charset="0"/>
              </a:rPr>
              <a:t>Precipitation, temperature, vapor pressure deficit, dewpoint, solar irradiance </a:t>
            </a:r>
          </a:p>
          <a:p>
            <a:pPr lvl="1" defTabSz="514122">
              <a:defRPr sz="2376"/>
            </a:pPr>
            <a:r>
              <a:rPr lang="en-US" dirty="0">
                <a:latin typeface="Calibri Light" panose="020F0302020204030204" pitchFamily="34" charset="0"/>
                <a:cs typeface="Calibri Light" panose="020F0302020204030204" pitchFamily="34" charset="0"/>
              </a:rPr>
              <a:t>More precise than </a:t>
            </a:r>
            <a:r>
              <a:rPr lang="en-US" dirty="0" err="1">
                <a:latin typeface="Calibri Light" panose="020F0302020204030204" pitchFamily="34" charset="0"/>
                <a:cs typeface="Calibri Light" panose="020F0302020204030204" pitchFamily="34" charset="0"/>
              </a:rPr>
              <a:t>WorldClim</a:t>
            </a:r>
            <a:endParaRPr lang="en-US" dirty="0">
              <a:latin typeface="Calibri Light" panose="020F0302020204030204" pitchFamily="34" charset="0"/>
              <a:cs typeface="Calibri Light" panose="020F0302020204030204" pitchFamily="34" charset="0"/>
            </a:endParaRPr>
          </a:p>
          <a:p>
            <a:pPr lvl="1" defTabSz="514122">
              <a:defRPr sz="2376"/>
            </a:pPr>
            <a:r>
              <a:rPr lang="en-US" dirty="0">
                <a:latin typeface="Calibri Light" panose="020F0302020204030204" pitchFamily="34" charset="0"/>
                <a:cs typeface="Calibri Light" panose="020F0302020204030204" pitchFamily="34" charset="0"/>
              </a:rPr>
              <a:t>Lots of tools to explore!</a:t>
            </a:r>
          </a:p>
        </p:txBody>
      </p:sp>
      <p:pic>
        <p:nvPicPr>
          <p:cNvPr id="2" name="Picture 1" descr="PRISM logo">
            <a:extLst>
              <a:ext uri="{FF2B5EF4-FFF2-40B4-BE49-F238E27FC236}">
                <a16:creationId xmlns:a16="http://schemas.microsoft.com/office/drawing/2014/main" id="{0E198212-27C4-AEE6-8E53-006521E8B7F4}"/>
              </a:ext>
            </a:extLst>
          </p:cNvPr>
          <p:cNvPicPr>
            <a:picLocks noChangeAspect="1"/>
          </p:cNvPicPr>
          <p:nvPr/>
        </p:nvPicPr>
        <p:blipFill>
          <a:blip r:embed="rId3"/>
          <a:stretch>
            <a:fillRect/>
          </a:stretch>
        </p:blipFill>
        <p:spPr>
          <a:xfrm>
            <a:off x="7847135" y="4299660"/>
            <a:ext cx="3753629" cy="2047434"/>
          </a:xfrm>
          <a:prstGeom prst="rect">
            <a:avLst/>
          </a:prstGeom>
        </p:spPr>
      </p:pic>
    </p:spTree>
    <p:extLst>
      <p:ext uri="{BB962C8B-B14F-4D97-AF65-F5344CB8AC3E}">
        <p14:creationId xmlns:p14="http://schemas.microsoft.com/office/powerpoint/2010/main" val="4459415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65EFC-8C67-8E7C-A662-23EF545534D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17387E3-5355-90A8-3B0E-1A95467CFBD8}"/>
              </a:ext>
            </a:extLst>
          </p:cNvPr>
          <p:cNvSpPr>
            <a:spLocks noGrp="1"/>
          </p:cNvSpPr>
          <p:nvPr>
            <p:ph type="body" idx="1"/>
          </p:nvPr>
        </p:nvSpPr>
        <p:spPr>
          <a:xfrm>
            <a:off x="562845" y="2275754"/>
            <a:ext cx="1559046" cy="585066"/>
          </a:xfrm>
        </p:spPr>
        <p:txBody>
          <a:bodyPr>
            <a:noAutofit/>
          </a:bodyPr>
          <a:lstStyle/>
          <a:p>
            <a:pPr marL="0" indent="0">
              <a:buNone/>
            </a:pPr>
            <a:r>
              <a:rPr lang="en-US" sz="1800" b="1" i="1" dirty="0">
                <a:solidFill>
                  <a:srgbClr val="0070C0"/>
                </a:solidFill>
              </a:rPr>
              <a:t>What? </a:t>
            </a:r>
          </a:p>
        </p:txBody>
      </p:sp>
      <p:sp>
        <p:nvSpPr>
          <p:cNvPr id="4" name="Title 1">
            <a:extLst>
              <a:ext uri="{FF2B5EF4-FFF2-40B4-BE49-F238E27FC236}">
                <a16:creationId xmlns:a16="http://schemas.microsoft.com/office/drawing/2014/main" id="{11F00EC8-6A3A-B3C1-266E-48407FB58DBD}"/>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a:t>
            </a:r>
            <a:endParaRPr lang="en-US" dirty="0"/>
          </a:p>
        </p:txBody>
      </p:sp>
      <p:sp>
        <p:nvSpPr>
          <p:cNvPr id="5" name="Text Placeholder 2">
            <a:extLst>
              <a:ext uri="{FF2B5EF4-FFF2-40B4-BE49-F238E27FC236}">
                <a16:creationId xmlns:a16="http://schemas.microsoft.com/office/drawing/2014/main" id="{B236CA0F-9706-83E3-B290-C66AD5F1BB64}"/>
              </a:ext>
            </a:extLst>
          </p:cNvPr>
          <p:cNvSpPr txBox="1">
            <a:spLocks/>
          </p:cNvSpPr>
          <p:nvPr/>
        </p:nvSpPr>
        <p:spPr>
          <a:xfrm>
            <a:off x="562844" y="3319298"/>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Where? </a:t>
            </a:r>
          </a:p>
        </p:txBody>
      </p:sp>
      <p:sp>
        <p:nvSpPr>
          <p:cNvPr id="7" name="Text Placeholder 2">
            <a:extLst>
              <a:ext uri="{FF2B5EF4-FFF2-40B4-BE49-F238E27FC236}">
                <a16:creationId xmlns:a16="http://schemas.microsoft.com/office/drawing/2014/main" id="{893DDF72-6A99-B6BB-381D-0CE3CD6A7A55}"/>
              </a:ext>
            </a:extLst>
          </p:cNvPr>
          <p:cNvSpPr txBox="1">
            <a:spLocks/>
          </p:cNvSpPr>
          <p:nvPr/>
        </p:nvSpPr>
        <p:spPr>
          <a:xfrm>
            <a:off x="562844" y="3891791"/>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When? </a:t>
            </a:r>
          </a:p>
        </p:txBody>
      </p:sp>
      <p:sp>
        <p:nvSpPr>
          <p:cNvPr id="13" name="Text Placeholder 2">
            <a:extLst>
              <a:ext uri="{FF2B5EF4-FFF2-40B4-BE49-F238E27FC236}">
                <a16:creationId xmlns:a16="http://schemas.microsoft.com/office/drawing/2014/main" id="{1703C0D7-5D66-0DF8-A498-26A2C6F814D0}"/>
              </a:ext>
            </a:extLst>
          </p:cNvPr>
          <p:cNvSpPr txBox="1">
            <a:spLocks/>
          </p:cNvSpPr>
          <p:nvPr/>
        </p:nvSpPr>
        <p:spPr>
          <a:xfrm>
            <a:off x="4756435" y="1286455"/>
            <a:ext cx="2656608"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dirty="0">
                <a:hlinkClick r:id="rId2"/>
              </a:rPr>
              <a:t>PRISM</a:t>
            </a:r>
            <a:endParaRPr lang="en-US" sz="3600" dirty="0"/>
          </a:p>
        </p:txBody>
      </p:sp>
      <p:sp>
        <p:nvSpPr>
          <p:cNvPr id="9" name="Text Placeholder 2">
            <a:extLst>
              <a:ext uri="{FF2B5EF4-FFF2-40B4-BE49-F238E27FC236}">
                <a16:creationId xmlns:a16="http://schemas.microsoft.com/office/drawing/2014/main" id="{E7436C45-7756-7620-1291-F1A429F87F2E}"/>
              </a:ext>
            </a:extLst>
          </p:cNvPr>
          <p:cNvSpPr txBox="1">
            <a:spLocks/>
          </p:cNvSpPr>
          <p:nvPr/>
        </p:nvSpPr>
        <p:spPr>
          <a:xfrm>
            <a:off x="1658453" y="3319298"/>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United States only</a:t>
            </a:r>
          </a:p>
        </p:txBody>
      </p:sp>
      <p:sp>
        <p:nvSpPr>
          <p:cNvPr id="12" name="Text Placeholder 2">
            <a:extLst>
              <a:ext uri="{FF2B5EF4-FFF2-40B4-BE49-F238E27FC236}">
                <a16:creationId xmlns:a16="http://schemas.microsoft.com/office/drawing/2014/main" id="{09557639-6EDB-8113-478A-AA757730EAD5}"/>
              </a:ext>
            </a:extLst>
          </p:cNvPr>
          <p:cNvSpPr txBox="1">
            <a:spLocks/>
          </p:cNvSpPr>
          <p:nvPr/>
        </p:nvSpPr>
        <p:spPr>
          <a:xfrm>
            <a:off x="1683181" y="3904364"/>
            <a:ext cx="2069034" cy="7233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1895 - present</a:t>
            </a:r>
          </a:p>
        </p:txBody>
      </p:sp>
      <p:sp>
        <p:nvSpPr>
          <p:cNvPr id="15" name="Text Placeholder 2">
            <a:extLst>
              <a:ext uri="{FF2B5EF4-FFF2-40B4-BE49-F238E27FC236}">
                <a16:creationId xmlns:a16="http://schemas.microsoft.com/office/drawing/2014/main" id="{18C28BCB-0A1E-844D-1832-658842CC1250}"/>
              </a:ext>
            </a:extLst>
          </p:cNvPr>
          <p:cNvSpPr txBox="1">
            <a:spLocks/>
          </p:cNvSpPr>
          <p:nvPr/>
        </p:nvSpPr>
        <p:spPr>
          <a:xfrm>
            <a:off x="1683180" y="2275754"/>
            <a:ext cx="6349379" cy="24038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1600" b="1" dirty="0">
                <a:latin typeface="Calibri Light" panose="020F0302020204030204" pitchFamily="34" charset="0"/>
                <a:cs typeface="Calibri Light" panose="020F0302020204030204" pitchFamily="34" charset="0"/>
              </a:rPr>
              <a:t>Precipitation, temperature, vapor pressure deficit, dewpoint, solar irradiance </a:t>
            </a:r>
          </a:p>
          <a:p>
            <a:pPr lvl="1" defTabSz="514122">
              <a:defRPr sz="2376"/>
            </a:pPr>
            <a:r>
              <a:rPr lang="en-US" sz="1400" dirty="0">
                <a:latin typeface="Calibri Light" panose="020F0302020204030204" pitchFamily="34" charset="0"/>
                <a:cs typeface="Calibri Light" panose="020F0302020204030204" pitchFamily="34" charset="0"/>
              </a:rPr>
              <a:t>More precise than </a:t>
            </a:r>
            <a:r>
              <a:rPr lang="en-US" sz="1400" dirty="0" err="1">
                <a:latin typeface="Calibri Light" panose="020F0302020204030204" pitchFamily="34" charset="0"/>
                <a:cs typeface="Calibri Light" panose="020F0302020204030204" pitchFamily="34" charset="0"/>
              </a:rPr>
              <a:t>WorldClim</a:t>
            </a:r>
            <a:endParaRPr lang="en-US" sz="1400" dirty="0">
              <a:latin typeface="Calibri Light" panose="020F0302020204030204" pitchFamily="34" charset="0"/>
              <a:cs typeface="Calibri Light" panose="020F0302020204030204" pitchFamily="34" charset="0"/>
            </a:endParaRPr>
          </a:p>
          <a:p>
            <a:pPr lvl="1" defTabSz="514122">
              <a:defRPr sz="2376"/>
            </a:pPr>
            <a:r>
              <a:rPr lang="en-US" sz="1400" dirty="0">
                <a:latin typeface="Calibri Light" panose="020F0302020204030204" pitchFamily="34" charset="0"/>
                <a:cs typeface="Calibri Light" panose="020F0302020204030204" pitchFamily="34" charset="0"/>
              </a:rPr>
              <a:t>Lots of tools to explore!</a:t>
            </a:r>
          </a:p>
        </p:txBody>
      </p:sp>
      <p:pic>
        <p:nvPicPr>
          <p:cNvPr id="2" name="Picture 1" descr="PRISM logo">
            <a:extLst>
              <a:ext uri="{FF2B5EF4-FFF2-40B4-BE49-F238E27FC236}">
                <a16:creationId xmlns:a16="http://schemas.microsoft.com/office/drawing/2014/main" id="{C35CB0BB-5CC2-83F0-73E4-558481FD88E3}"/>
              </a:ext>
            </a:extLst>
          </p:cNvPr>
          <p:cNvPicPr>
            <a:picLocks noChangeAspect="1"/>
          </p:cNvPicPr>
          <p:nvPr/>
        </p:nvPicPr>
        <p:blipFill>
          <a:blip r:embed="rId3"/>
          <a:stretch>
            <a:fillRect/>
          </a:stretch>
        </p:blipFill>
        <p:spPr>
          <a:xfrm>
            <a:off x="9152894" y="2103437"/>
            <a:ext cx="2430199" cy="1325563"/>
          </a:xfrm>
          <a:prstGeom prst="rect">
            <a:avLst/>
          </a:prstGeom>
        </p:spPr>
      </p:pic>
      <p:pic>
        <p:nvPicPr>
          <p:cNvPr id="8" name="Picture 7" descr="The image outlines the various sections of a website dedicated to providing access to PRISM's climate and weather data, including time series, normals, download options, and research publications.&#10;&#10;AI-generated content may be incorrect.">
            <a:extLst>
              <a:ext uri="{FF2B5EF4-FFF2-40B4-BE49-F238E27FC236}">
                <a16:creationId xmlns:a16="http://schemas.microsoft.com/office/drawing/2014/main" id="{B197008A-DFA1-9F7B-A29D-8E5C9666046D}"/>
              </a:ext>
            </a:extLst>
          </p:cNvPr>
          <p:cNvPicPr>
            <a:picLocks noChangeAspect="1"/>
          </p:cNvPicPr>
          <p:nvPr/>
        </p:nvPicPr>
        <p:blipFill>
          <a:blip r:embed="rId4"/>
          <a:stretch>
            <a:fillRect/>
          </a:stretch>
        </p:blipFill>
        <p:spPr>
          <a:xfrm>
            <a:off x="3723281" y="3620177"/>
            <a:ext cx="7905875" cy="3035799"/>
          </a:xfrm>
          <a:prstGeom prst="rect">
            <a:avLst/>
          </a:prstGeom>
          <a:ln>
            <a:solidFill>
              <a:schemeClr val="tx1"/>
            </a:solidFill>
          </a:ln>
        </p:spPr>
      </p:pic>
      <p:pic>
        <p:nvPicPr>
          <p:cNvPr id="11" name="Picture 10" descr="The image is a map showing the distribution of precipitation across the United States from July 1 to July 19, 2026, with different shading levels representing varying amounts of rainfall.&#10;&#10;AI-generated content may be incorrect.">
            <a:extLst>
              <a:ext uri="{FF2B5EF4-FFF2-40B4-BE49-F238E27FC236}">
                <a16:creationId xmlns:a16="http://schemas.microsoft.com/office/drawing/2014/main" id="{20A02346-BCD1-2D9E-A922-3E12CE89778B}"/>
              </a:ext>
            </a:extLst>
          </p:cNvPr>
          <p:cNvPicPr>
            <a:picLocks noChangeAspect="1"/>
          </p:cNvPicPr>
          <p:nvPr/>
        </p:nvPicPr>
        <p:blipFill>
          <a:blip r:embed="rId5"/>
          <a:stretch>
            <a:fillRect/>
          </a:stretch>
        </p:blipFill>
        <p:spPr>
          <a:xfrm>
            <a:off x="604992" y="4679599"/>
            <a:ext cx="2584951" cy="1974470"/>
          </a:xfrm>
          <a:prstGeom prst="rect">
            <a:avLst/>
          </a:prstGeom>
          <a:ln>
            <a:solidFill>
              <a:schemeClr val="tx1"/>
            </a:solidFill>
          </a:ln>
        </p:spPr>
      </p:pic>
    </p:spTree>
    <p:extLst>
      <p:ext uri="{BB962C8B-B14F-4D97-AF65-F5344CB8AC3E}">
        <p14:creationId xmlns:p14="http://schemas.microsoft.com/office/powerpoint/2010/main" val="33954298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48378D-8251-69DA-29FC-2D0C232F127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96BA4D1-1E6A-515F-AA9D-330A74D69BAD}"/>
              </a:ext>
            </a:extLst>
          </p:cNvPr>
          <p:cNvSpPr>
            <a:spLocks noGrp="1"/>
          </p:cNvSpPr>
          <p:nvPr>
            <p:ph type="body" idx="1"/>
          </p:nvPr>
        </p:nvSpPr>
        <p:spPr>
          <a:xfrm>
            <a:off x="562845" y="2275754"/>
            <a:ext cx="1559046" cy="585066"/>
          </a:xfrm>
        </p:spPr>
        <p:txBody>
          <a:bodyPr>
            <a:noAutofit/>
          </a:bodyPr>
          <a:lstStyle/>
          <a:p>
            <a:pPr marL="0" indent="0">
              <a:buNone/>
            </a:pPr>
            <a:r>
              <a:rPr lang="en-US" sz="3600" b="1" i="1" dirty="0">
                <a:solidFill>
                  <a:srgbClr val="0070C0"/>
                </a:solidFill>
              </a:rPr>
              <a:t>What? </a:t>
            </a:r>
          </a:p>
        </p:txBody>
      </p:sp>
      <p:sp>
        <p:nvSpPr>
          <p:cNvPr id="4" name="Title 1">
            <a:extLst>
              <a:ext uri="{FF2B5EF4-FFF2-40B4-BE49-F238E27FC236}">
                <a16:creationId xmlns:a16="http://schemas.microsoft.com/office/drawing/2014/main" id="{4392CD7C-1E84-8A61-A8D1-E5F24188CF49}"/>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a:t>
            </a:r>
            <a:r>
              <a:rPr lang="en-US" b="1" dirty="0" err="1">
                <a:solidFill>
                  <a:srgbClr val="0070C0"/>
                </a:solidFill>
                <a:latin typeface="Calibri"/>
              </a:rPr>
              <a:t>SoilGrids</a:t>
            </a:r>
            <a:endParaRPr lang="en-US" dirty="0"/>
          </a:p>
        </p:txBody>
      </p:sp>
      <p:sp>
        <p:nvSpPr>
          <p:cNvPr id="5" name="Text Placeholder 2">
            <a:extLst>
              <a:ext uri="{FF2B5EF4-FFF2-40B4-BE49-F238E27FC236}">
                <a16:creationId xmlns:a16="http://schemas.microsoft.com/office/drawing/2014/main" id="{CF3D3065-4008-A9A0-8D10-925D4BCF53CF}"/>
              </a:ext>
            </a:extLst>
          </p:cNvPr>
          <p:cNvSpPr txBox="1">
            <a:spLocks/>
          </p:cNvSpPr>
          <p:nvPr/>
        </p:nvSpPr>
        <p:spPr>
          <a:xfrm>
            <a:off x="562845" y="4460508"/>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Where? </a:t>
            </a:r>
          </a:p>
        </p:txBody>
      </p:sp>
      <p:sp>
        <p:nvSpPr>
          <p:cNvPr id="7" name="Text Placeholder 2">
            <a:extLst>
              <a:ext uri="{FF2B5EF4-FFF2-40B4-BE49-F238E27FC236}">
                <a16:creationId xmlns:a16="http://schemas.microsoft.com/office/drawing/2014/main" id="{817635EE-9878-77FC-7C18-BB6C69D01E79}"/>
              </a:ext>
            </a:extLst>
          </p:cNvPr>
          <p:cNvSpPr txBox="1">
            <a:spLocks/>
          </p:cNvSpPr>
          <p:nvPr/>
        </p:nvSpPr>
        <p:spPr>
          <a:xfrm>
            <a:off x="562845" y="5753096"/>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When? </a:t>
            </a:r>
          </a:p>
        </p:txBody>
      </p:sp>
      <p:sp>
        <p:nvSpPr>
          <p:cNvPr id="13" name="Text Placeholder 2">
            <a:extLst>
              <a:ext uri="{FF2B5EF4-FFF2-40B4-BE49-F238E27FC236}">
                <a16:creationId xmlns:a16="http://schemas.microsoft.com/office/drawing/2014/main" id="{9F33CADE-508E-AF37-D55D-6BD5702903D1}"/>
              </a:ext>
            </a:extLst>
          </p:cNvPr>
          <p:cNvSpPr txBox="1">
            <a:spLocks/>
          </p:cNvSpPr>
          <p:nvPr/>
        </p:nvSpPr>
        <p:spPr>
          <a:xfrm>
            <a:off x="2294000" y="1149499"/>
            <a:ext cx="7603999"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https://soilgrids.org/</a:t>
            </a:r>
            <a:r>
              <a:rPr lang="en-US" dirty="0"/>
              <a:t> </a:t>
            </a:r>
          </a:p>
        </p:txBody>
      </p:sp>
      <p:sp>
        <p:nvSpPr>
          <p:cNvPr id="9" name="Text Placeholder 2">
            <a:extLst>
              <a:ext uri="{FF2B5EF4-FFF2-40B4-BE49-F238E27FC236}">
                <a16:creationId xmlns:a16="http://schemas.microsoft.com/office/drawing/2014/main" id="{9230130A-57E0-7DAC-78F2-45459DAC4B29}"/>
              </a:ext>
            </a:extLst>
          </p:cNvPr>
          <p:cNvSpPr txBox="1">
            <a:spLocks/>
          </p:cNvSpPr>
          <p:nvPr/>
        </p:nvSpPr>
        <p:spPr>
          <a:xfrm>
            <a:off x="2505070" y="4460508"/>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Global soils</a:t>
            </a:r>
          </a:p>
        </p:txBody>
      </p:sp>
      <p:sp>
        <p:nvSpPr>
          <p:cNvPr id="12" name="Text Placeholder 2">
            <a:extLst>
              <a:ext uri="{FF2B5EF4-FFF2-40B4-BE49-F238E27FC236}">
                <a16:creationId xmlns:a16="http://schemas.microsoft.com/office/drawing/2014/main" id="{2E016497-8113-9180-7B38-074BBC2A30C0}"/>
              </a:ext>
            </a:extLst>
          </p:cNvPr>
          <p:cNvSpPr txBox="1">
            <a:spLocks/>
          </p:cNvSpPr>
          <p:nvPr/>
        </p:nvSpPr>
        <p:spPr>
          <a:xfrm>
            <a:off x="2468050" y="5748980"/>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Current day</a:t>
            </a:r>
          </a:p>
        </p:txBody>
      </p:sp>
      <p:sp>
        <p:nvSpPr>
          <p:cNvPr id="15" name="Text Placeholder 2">
            <a:extLst>
              <a:ext uri="{FF2B5EF4-FFF2-40B4-BE49-F238E27FC236}">
                <a16:creationId xmlns:a16="http://schemas.microsoft.com/office/drawing/2014/main" id="{22D4A87F-AD15-820E-3799-F2CEC83FEAD7}"/>
              </a:ext>
            </a:extLst>
          </p:cNvPr>
          <p:cNvSpPr txBox="1">
            <a:spLocks/>
          </p:cNvSpPr>
          <p:nvPr/>
        </p:nvSpPr>
        <p:spPr>
          <a:xfrm>
            <a:off x="2468049" y="2239100"/>
            <a:ext cx="9395088"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3600" b="1" dirty="0">
                <a:latin typeface="Calibri Light" panose="020F0302020204030204" pitchFamily="34" charset="0"/>
                <a:cs typeface="Calibri Light" panose="020F0302020204030204" pitchFamily="34" charset="0"/>
              </a:rPr>
              <a:t>8 physical, 4 chemical, and 2 derived soil properties</a:t>
            </a:r>
          </a:p>
          <a:p>
            <a:pPr lvl="1" defTabSz="514122">
              <a:defRPr sz="2376"/>
            </a:pPr>
            <a:r>
              <a:rPr lang="en-US" sz="3200" dirty="0">
                <a:latin typeface="Calibri Light" panose="020F0302020204030204" pitchFamily="34" charset="0"/>
                <a:cs typeface="Calibri Light" panose="020F0302020204030204" pitchFamily="34" charset="0"/>
              </a:rPr>
              <a:t>~ 250 m resolution</a:t>
            </a:r>
          </a:p>
          <a:p>
            <a:pPr lvl="1" defTabSz="514122">
              <a:defRPr sz="2376"/>
            </a:pPr>
            <a:r>
              <a:rPr lang="en-US" sz="3200" dirty="0">
                <a:latin typeface="Calibri Light" panose="020F0302020204030204" pitchFamily="34" charset="0"/>
                <a:cs typeface="Calibri Light" panose="020F0302020204030204" pitchFamily="34" charset="0"/>
              </a:rPr>
              <a:t>Include predicted values (and uncertainty layers) </a:t>
            </a:r>
          </a:p>
        </p:txBody>
      </p:sp>
      <p:pic>
        <p:nvPicPr>
          <p:cNvPr id="2" name="Picture 1" descr="RPubs - SoilGrids desde R">
            <a:extLst>
              <a:ext uri="{FF2B5EF4-FFF2-40B4-BE49-F238E27FC236}">
                <a16:creationId xmlns:a16="http://schemas.microsoft.com/office/drawing/2014/main" id="{74F9F692-8C6B-6C83-BA9E-27FA14F8EBD8}"/>
              </a:ext>
            </a:extLst>
          </p:cNvPr>
          <p:cNvPicPr>
            <a:picLocks noChangeAspect="1"/>
          </p:cNvPicPr>
          <p:nvPr/>
        </p:nvPicPr>
        <p:blipFill>
          <a:blip r:embed="rId3"/>
          <a:stretch>
            <a:fillRect/>
          </a:stretch>
        </p:blipFill>
        <p:spPr>
          <a:xfrm>
            <a:off x="6542805" y="4715378"/>
            <a:ext cx="4629150" cy="1600200"/>
          </a:xfrm>
          <a:prstGeom prst="rect">
            <a:avLst/>
          </a:prstGeom>
        </p:spPr>
      </p:pic>
    </p:spTree>
    <p:extLst>
      <p:ext uri="{BB962C8B-B14F-4D97-AF65-F5344CB8AC3E}">
        <p14:creationId xmlns:p14="http://schemas.microsoft.com/office/powerpoint/2010/main" val="8970763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4A89-B191-6CB3-E57C-FDC6C231BC0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19AF07E-7033-E6B4-8C61-5086812EBB4A}"/>
              </a:ext>
            </a:extLst>
          </p:cNvPr>
          <p:cNvSpPr>
            <a:spLocks noGrp="1"/>
          </p:cNvSpPr>
          <p:nvPr>
            <p:ph type="body" idx="1"/>
          </p:nvPr>
        </p:nvSpPr>
        <p:spPr>
          <a:xfrm>
            <a:off x="562845" y="2066610"/>
            <a:ext cx="1559046" cy="585066"/>
          </a:xfrm>
        </p:spPr>
        <p:txBody>
          <a:bodyPr>
            <a:noAutofit/>
          </a:bodyPr>
          <a:lstStyle/>
          <a:p>
            <a:pPr marL="0" indent="0">
              <a:buNone/>
            </a:pPr>
            <a:r>
              <a:rPr lang="en-US" sz="1800" b="1" i="1" dirty="0">
                <a:solidFill>
                  <a:srgbClr val="0070C0"/>
                </a:solidFill>
              </a:rPr>
              <a:t>What? </a:t>
            </a:r>
          </a:p>
        </p:txBody>
      </p:sp>
      <p:sp>
        <p:nvSpPr>
          <p:cNvPr id="4" name="Title 1">
            <a:extLst>
              <a:ext uri="{FF2B5EF4-FFF2-40B4-BE49-F238E27FC236}">
                <a16:creationId xmlns:a16="http://schemas.microsoft.com/office/drawing/2014/main" id="{7EE3596A-2258-8A58-E952-1F4AEB666411}"/>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a:t>
            </a:r>
            <a:r>
              <a:rPr lang="en-US" b="1" dirty="0" err="1">
                <a:solidFill>
                  <a:srgbClr val="0070C0"/>
                </a:solidFill>
                <a:latin typeface="Calibri"/>
              </a:rPr>
              <a:t>SoilGrids</a:t>
            </a:r>
            <a:endParaRPr lang="en-US" dirty="0"/>
          </a:p>
        </p:txBody>
      </p:sp>
      <p:sp>
        <p:nvSpPr>
          <p:cNvPr id="5" name="Text Placeholder 2">
            <a:extLst>
              <a:ext uri="{FF2B5EF4-FFF2-40B4-BE49-F238E27FC236}">
                <a16:creationId xmlns:a16="http://schemas.microsoft.com/office/drawing/2014/main" id="{3FFB6CF1-2384-92BC-A3C1-33D0B18628F6}"/>
              </a:ext>
            </a:extLst>
          </p:cNvPr>
          <p:cNvSpPr txBox="1">
            <a:spLocks/>
          </p:cNvSpPr>
          <p:nvPr/>
        </p:nvSpPr>
        <p:spPr>
          <a:xfrm>
            <a:off x="562844" y="2927095"/>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Where? </a:t>
            </a:r>
          </a:p>
        </p:txBody>
      </p:sp>
      <p:sp>
        <p:nvSpPr>
          <p:cNvPr id="7" name="Text Placeholder 2">
            <a:extLst>
              <a:ext uri="{FF2B5EF4-FFF2-40B4-BE49-F238E27FC236}">
                <a16:creationId xmlns:a16="http://schemas.microsoft.com/office/drawing/2014/main" id="{5DFBBB19-D82F-2AA8-9333-567D8EDB7B31}"/>
              </a:ext>
            </a:extLst>
          </p:cNvPr>
          <p:cNvSpPr txBox="1">
            <a:spLocks/>
          </p:cNvSpPr>
          <p:nvPr/>
        </p:nvSpPr>
        <p:spPr>
          <a:xfrm>
            <a:off x="562845" y="3440221"/>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When? </a:t>
            </a:r>
          </a:p>
        </p:txBody>
      </p:sp>
      <p:sp>
        <p:nvSpPr>
          <p:cNvPr id="13" name="Text Placeholder 2">
            <a:extLst>
              <a:ext uri="{FF2B5EF4-FFF2-40B4-BE49-F238E27FC236}">
                <a16:creationId xmlns:a16="http://schemas.microsoft.com/office/drawing/2014/main" id="{0E3B3EDC-3189-E703-1306-A23EE2B94AC6}"/>
              </a:ext>
            </a:extLst>
          </p:cNvPr>
          <p:cNvSpPr txBox="1">
            <a:spLocks/>
          </p:cNvSpPr>
          <p:nvPr/>
        </p:nvSpPr>
        <p:spPr>
          <a:xfrm>
            <a:off x="2282739" y="1311926"/>
            <a:ext cx="7603999"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https://soilgrids.org/</a:t>
            </a:r>
            <a:r>
              <a:rPr lang="en-US" dirty="0"/>
              <a:t> </a:t>
            </a:r>
          </a:p>
        </p:txBody>
      </p:sp>
      <p:sp>
        <p:nvSpPr>
          <p:cNvPr id="9" name="Text Placeholder 2">
            <a:extLst>
              <a:ext uri="{FF2B5EF4-FFF2-40B4-BE49-F238E27FC236}">
                <a16:creationId xmlns:a16="http://schemas.microsoft.com/office/drawing/2014/main" id="{C0440F51-ACED-48D2-1C73-60F7983B3988}"/>
              </a:ext>
            </a:extLst>
          </p:cNvPr>
          <p:cNvSpPr txBox="1">
            <a:spLocks/>
          </p:cNvSpPr>
          <p:nvPr/>
        </p:nvSpPr>
        <p:spPr>
          <a:xfrm>
            <a:off x="1609724" y="2963035"/>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Global soils</a:t>
            </a:r>
          </a:p>
        </p:txBody>
      </p:sp>
      <p:sp>
        <p:nvSpPr>
          <p:cNvPr id="12" name="Text Placeholder 2">
            <a:extLst>
              <a:ext uri="{FF2B5EF4-FFF2-40B4-BE49-F238E27FC236}">
                <a16:creationId xmlns:a16="http://schemas.microsoft.com/office/drawing/2014/main" id="{DA8A10CF-612B-40C1-D3C8-F04FDE04586E}"/>
              </a:ext>
            </a:extLst>
          </p:cNvPr>
          <p:cNvSpPr txBox="1">
            <a:spLocks/>
          </p:cNvSpPr>
          <p:nvPr/>
        </p:nvSpPr>
        <p:spPr>
          <a:xfrm>
            <a:off x="1738809" y="3492136"/>
            <a:ext cx="1731406" cy="585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Current day</a:t>
            </a:r>
          </a:p>
        </p:txBody>
      </p:sp>
      <p:sp>
        <p:nvSpPr>
          <p:cNvPr id="15" name="Text Placeholder 2">
            <a:extLst>
              <a:ext uri="{FF2B5EF4-FFF2-40B4-BE49-F238E27FC236}">
                <a16:creationId xmlns:a16="http://schemas.microsoft.com/office/drawing/2014/main" id="{6DB66AB7-1613-24E0-A9CD-0230518585E1}"/>
              </a:ext>
            </a:extLst>
          </p:cNvPr>
          <p:cNvSpPr txBox="1">
            <a:spLocks/>
          </p:cNvSpPr>
          <p:nvPr/>
        </p:nvSpPr>
        <p:spPr>
          <a:xfrm>
            <a:off x="1609725" y="2061274"/>
            <a:ext cx="7218881"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1600" b="1" dirty="0">
                <a:latin typeface="Calibri Light" panose="020F0302020204030204" pitchFamily="34" charset="0"/>
                <a:cs typeface="Calibri Light" panose="020F0302020204030204" pitchFamily="34" charset="0"/>
              </a:rPr>
              <a:t>8 physical, 4 chemical, and 2 derived soil properties</a:t>
            </a:r>
          </a:p>
          <a:p>
            <a:pPr lvl="1" defTabSz="514122">
              <a:defRPr sz="2376"/>
            </a:pPr>
            <a:r>
              <a:rPr lang="en-US" sz="1600" dirty="0">
                <a:latin typeface="Calibri Light" panose="020F0302020204030204" pitchFamily="34" charset="0"/>
                <a:cs typeface="Calibri Light" panose="020F0302020204030204" pitchFamily="34" charset="0"/>
              </a:rPr>
              <a:t>~ 250 m resolution</a:t>
            </a:r>
          </a:p>
          <a:p>
            <a:pPr lvl="1" defTabSz="514122">
              <a:defRPr sz="2376"/>
            </a:pPr>
            <a:r>
              <a:rPr lang="en-US" sz="1600" dirty="0">
                <a:latin typeface="Calibri Light" panose="020F0302020204030204" pitchFamily="34" charset="0"/>
                <a:cs typeface="Calibri Light" panose="020F0302020204030204" pitchFamily="34" charset="0"/>
              </a:rPr>
              <a:t>Include predicted values (and uncertainty layers) </a:t>
            </a:r>
          </a:p>
        </p:txBody>
      </p:sp>
      <p:pic>
        <p:nvPicPr>
          <p:cNvPr id="2" name="Picture 1" descr="RPubs - SoilGrids desde R">
            <a:extLst>
              <a:ext uri="{FF2B5EF4-FFF2-40B4-BE49-F238E27FC236}">
                <a16:creationId xmlns:a16="http://schemas.microsoft.com/office/drawing/2014/main" id="{5FD90175-A777-B81E-BADF-4A96A86F76AB}"/>
              </a:ext>
            </a:extLst>
          </p:cNvPr>
          <p:cNvPicPr>
            <a:picLocks noChangeAspect="1"/>
          </p:cNvPicPr>
          <p:nvPr/>
        </p:nvPicPr>
        <p:blipFill>
          <a:blip r:embed="rId3"/>
          <a:stretch>
            <a:fillRect/>
          </a:stretch>
        </p:blipFill>
        <p:spPr>
          <a:xfrm>
            <a:off x="786647" y="3976921"/>
            <a:ext cx="2916839" cy="1008290"/>
          </a:xfrm>
          <a:prstGeom prst="rect">
            <a:avLst/>
          </a:prstGeom>
        </p:spPr>
      </p:pic>
      <p:pic>
        <p:nvPicPr>
          <p:cNvPr id="8" name="Picture 7" descr="The image displays a table listing various soil components, their measurements, and conversion factors.&#10;&#10;AI-generated content may be incorrect.">
            <a:extLst>
              <a:ext uri="{FF2B5EF4-FFF2-40B4-BE49-F238E27FC236}">
                <a16:creationId xmlns:a16="http://schemas.microsoft.com/office/drawing/2014/main" id="{B1C0F845-4264-5BD8-2B45-646006CAF490}"/>
              </a:ext>
            </a:extLst>
          </p:cNvPr>
          <p:cNvPicPr>
            <a:picLocks noChangeAspect="1"/>
          </p:cNvPicPr>
          <p:nvPr/>
        </p:nvPicPr>
        <p:blipFill>
          <a:blip r:embed="rId4"/>
          <a:stretch>
            <a:fillRect/>
          </a:stretch>
        </p:blipFill>
        <p:spPr>
          <a:xfrm>
            <a:off x="8828606" y="2270418"/>
            <a:ext cx="3054474" cy="4185510"/>
          </a:xfrm>
          <a:prstGeom prst="rect">
            <a:avLst/>
          </a:prstGeom>
          <a:ln>
            <a:solidFill>
              <a:srgbClr val="FFFFCC"/>
            </a:solidFill>
          </a:ln>
        </p:spPr>
      </p:pic>
      <p:pic>
        <p:nvPicPr>
          <p:cNvPr id="16" name="Picture 15" descr="The image depicts a table or graph showing the derived properties of organic carbon density measured in grams per cubic meter (g/mￂﾳ) and soil organic carbon stock in tonnes per hectare (t/ha).&#10;&#10;AI-generated content may be incorrect.">
            <a:extLst>
              <a:ext uri="{FF2B5EF4-FFF2-40B4-BE49-F238E27FC236}">
                <a16:creationId xmlns:a16="http://schemas.microsoft.com/office/drawing/2014/main" id="{28F3E0E5-4E5B-2B2E-B40C-F636B100DADE}"/>
              </a:ext>
            </a:extLst>
          </p:cNvPr>
          <p:cNvPicPr>
            <a:picLocks noChangeAspect="1"/>
          </p:cNvPicPr>
          <p:nvPr/>
        </p:nvPicPr>
        <p:blipFill>
          <a:blip r:embed="rId5"/>
          <a:stretch>
            <a:fillRect/>
          </a:stretch>
        </p:blipFill>
        <p:spPr>
          <a:xfrm>
            <a:off x="2447443" y="5092634"/>
            <a:ext cx="1717936" cy="1355607"/>
          </a:xfrm>
          <a:prstGeom prst="rect">
            <a:avLst/>
          </a:prstGeom>
        </p:spPr>
      </p:pic>
      <p:pic>
        <p:nvPicPr>
          <p:cNvPr id="18" name="Picture 17" descr="The image is a table displaying various physical properties of soil, including bulk density, clay content, coarse fragments, sand, silt, and volumetric water content at different pressure levels.&#10;&#10;AI-generated content may be incorrect.">
            <a:extLst>
              <a:ext uri="{FF2B5EF4-FFF2-40B4-BE49-F238E27FC236}">
                <a16:creationId xmlns:a16="http://schemas.microsoft.com/office/drawing/2014/main" id="{AF344407-4512-55DC-1596-1F157C348F42}"/>
              </a:ext>
            </a:extLst>
          </p:cNvPr>
          <p:cNvPicPr>
            <a:picLocks noChangeAspect="1"/>
          </p:cNvPicPr>
          <p:nvPr/>
        </p:nvPicPr>
        <p:blipFill>
          <a:blip r:embed="rId6"/>
          <a:stretch>
            <a:fillRect/>
          </a:stretch>
        </p:blipFill>
        <p:spPr>
          <a:xfrm>
            <a:off x="6870617" y="2673404"/>
            <a:ext cx="1655729" cy="3774837"/>
          </a:xfrm>
          <a:prstGeom prst="rect">
            <a:avLst/>
          </a:prstGeom>
        </p:spPr>
      </p:pic>
      <p:pic>
        <p:nvPicPr>
          <p:cNvPr id="20" name="Picture 19" descr="The image displays various chemical soil properties including cation exchange capacity, nitrogen content, soil organic carbon, and water pH.&#10;&#10;AI-generated content may be incorrect.">
            <a:extLst>
              <a:ext uri="{FF2B5EF4-FFF2-40B4-BE49-F238E27FC236}">
                <a16:creationId xmlns:a16="http://schemas.microsoft.com/office/drawing/2014/main" id="{CE8CBD45-C8FC-FB40-399F-62CEB9656259}"/>
              </a:ext>
            </a:extLst>
          </p:cNvPr>
          <p:cNvPicPr>
            <a:picLocks noChangeAspect="1"/>
          </p:cNvPicPr>
          <p:nvPr/>
        </p:nvPicPr>
        <p:blipFill>
          <a:blip r:embed="rId7"/>
          <a:stretch>
            <a:fillRect/>
          </a:stretch>
        </p:blipFill>
        <p:spPr>
          <a:xfrm>
            <a:off x="4467640" y="4111214"/>
            <a:ext cx="2100716" cy="2328909"/>
          </a:xfrm>
          <a:prstGeom prst="rect">
            <a:avLst/>
          </a:prstGeom>
        </p:spPr>
      </p:pic>
      <p:pic>
        <p:nvPicPr>
          <p:cNvPr id="22" name="Picture 21" descr="The image depicts a map with various soil group colors, each labeled for identification, and includes a legend for reference.&#10;&#10;AI-generated content may be incorrect.">
            <a:extLst>
              <a:ext uri="{FF2B5EF4-FFF2-40B4-BE49-F238E27FC236}">
                <a16:creationId xmlns:a16="http://schemas.microsoft.com/office/drawing/2014/main" id="{D5F6EDDE-73A0-0C7A-9562-D314A744F764}"/>
              </a:ext>
            </a:extLst>
          </p:cNvPr>
          <p:cNvPicPr>
            <a:picLocks noChangeAspect="1"/>
          </p:cNvPicPr>
          <p:nvPr/>
        </p:nvPicPr>
        <p:blipFill>
          <a:blip r:embed="rId8"/>
          <a:srcRect l="22849" r="13203" b="6267"/>
          <a:stretch>
            <a:fillRect/>
          </a:stretch>
        </p:blipFill>
        <p:spPr>
          <a:xfrm>
            <a:off x="559275" y="5141398"/>
            <a:ext cx="1585907" cy="1270367"/>
          </a:xfrm>
          <a:prstGeom prst="rect">
            <a:avLst/>
          </a:prstGeom>
        </p:spPr>
      </p:pic>
    </p:spTree>
    <p:extLst>
      <p:ext uri="{BB962C8B-B14F-4D97-AF65-F5344CB8AC3E}">
        <p14:creationId xmlns:p14="http://schemas.microsoft.com/office/powerpoint/2010/main" val="12292407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F88205-AB50-DBFF-58A2-71114054AE4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6BE9230-A9CD-891D-BA53-1993F6F18BBD}"/>
              </a:ext>
            </a:extLst>
          </p:cNvPr>
          <p:cNvSpPr>
            <a:spLocks noGrp="1"/>
          </p:cNvSpPr>
          <p:nvPr>
            <p:ph type="body" idx="1"/>
          </p:nvPr>
        </p:nvSpPr>
        <p:spPr>
          <a:xfrm>
            <a:off x="562845" y="2275754"/>
            <a:ext cx="1559046" cy="585066"/>
          </a:xfrm>
        </p:spPr>
        <p:txBody>
          <a:bodyPr>
            <a:noAutofit/>
          </a:bodyPr>
          <a:lstStyle/>
          <a:p>
            <a:pPr marL="0" indent="0">
              <a:buNone/>
            </a:pPr>
            <a:r>
              <a:rPr lang="en-US" sz="3600" b="1" i="1" dirty="0">
                <a:solidFill>
                  <a:srgbClr val="0070C0"/>
                </a:solidFill>
              </a:rPr>
              <a:t>What? </a:t>
            </a:r>
          </a:p>
        </p:txBody>
      </p:sp>
      <p:sp>
        <p:nvSpPr>
          <p:cNvPr id="4" name="Title 1">
            <a:extLst>
              <a:ext uri="{FF2B5EF4-FFF2-40B4-BE49-F238E27FC236}">
                <a16:creationId xmlns:a16="http://schemas.microsoft.com/office/drawing/2014/main" id="{D16EC5C1-1043-9F9E-0D5C-3E956A92B5E1}"/>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Web Soil Survey</a:t>
            </a:r>
            <a:endParaRPr lang="en-US" dirty="0"/>
          </a:p>
        </p:txBody>
      </p:sp>
      <p:sp>
        <p:nvSpPr>
          <p:cNvPr id="5" name="Text Placeholder 2">
            <a:extLst>
              <a:ext uri="{FF2B5EF4-FFF2-40B4-BE49-F238E27FC236}">
                <a16:creationId xmlns:a16="http://schemas.microsoft.com/office/drawing/2014/main" id="{EF8F0AE5-479E-4C38-D75C-4FF8DA23FC82}"/>
              </a:ext>
            </a:extLst>
          </p:cNvPr>
          <p:cNvSpPr txBox="1">
            <a:spLocks/>
          </p:cNvSpPr>
          <p:nvPr/>
        </p:nvSpPr>
        <p:spPr>
          <a:xfrm>
            <a:off x="562845" y="4733988"/>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Where? </a:t>
            </a:r>
          </a:p>
        </p:txBody>
      </p:sp>
      <p:sp>
        <p:nvSpPr>
          <p:cNvPr id="7" name="Text Placeholder 2">
            <a:extLst>
              <a:ext uri="{FF2B5EF4-FFF2-40B4-BE49-F238E27FC236}">
                <a16:creationId xmlns:a16="http://schemas.microsoft.com/office/drawing/2014/main" id="{EB5F1409-FC34-1599-C6A5-0483C38E774A}"/>
              </a:ext>
            </a:extLst>
          </p:cNvPr>
          <p:cNvSpPr txBox="1">
            <a:spLocks/>
          </p:cNvSpPr>
          <p:nvPr/>
        </p:nvSpPr>
        <p:spPr>
          <a:xfrm>
            <a:off x="562845" y="5753096"/>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When? </a:t>
            </a:r>
          </a:p>
        </p:txBody>
      </p:sp>
      <p:sp>
        <p:nvSpPr>
          <p:cNvPr id="13" name="Text Placeholder 2">
            <a:extLst>
              <a:ext uri="{FF2B5EF4-FFF2-40B4-BE49-F238E27FC236}">
                <a16:creationId xmlns:a16="http://schemas.microsoft.com/office/drawing/2014/main" id="{28FABB30-037B-B0E0-1A90-1C69A17AE63C}"/>
              </a:ext>
            </a:extLst>
          </p:cNvPr>
          <p:cNvSpPr txBox="1">
            <a:spLocks/>
          </p:cNvSpPr>
          <p:nvPr/>
        </p:nvSpPr>
        <p:spPr>
          <a:xfrm>
            <a:off x="2294000" y="1149499"/>
            <a:ext cx="7603999"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https://websoilsurvey.sc.egov.usda.gov/app/</a:t>
            </a:r>
            <a:r>
              <a:rPr lang="en-US" dirty="0"/>
              <a:t> </a:t>
            </a:r>
          </a:p>
        </p:txBody>
      </p:sp>
      <p:sp>
        <p:nvSpPr>
          <p:cNvPr id="9" name="Text Placeholder 2">
            <a:extLst>
              <a:ext uri="{FF2B5EF4-FFF2-40B4-BE49-F238E27FC236}">
                <a16:creationId xmlns:a16="http://schemas.microsoft.com/office/drawing/2014/main" id="{DCC7B5D0-5D36-4273-3AA8-15205DCB3D5F}"/>
              </a:ext>
            </a:extLst>
          </p:cNvPr>
          <p:cNvSpPr txBox="1">
            <a:spLocks/>
          </p:cNvSpPr>
          <p:nvPr/>
        </p:nvSpPr>
        <p:spPr>
          <a:xfrm>
            <a:off x="2505070" y="4733988"/>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United States only</a:t>
            </a:r>
          </a:p>
        </p:txBody>
      </p:sp>
      <p:sp>
        <p:nvSpPr>
          <p:cNvPr id="12" name="Text Placeholder 2">
            <a:extLst>
              <a:ext uri="{FF2B5EF4-FFF2-40B4-BE49-F238E27FC236}">
                <a16:creationId xmlns:a16="http://schemas.microsoft.com/office/drawing/2014/main" id="{57E55876-931B-87FC-974A-53CC42EE0A0C}"/>
              </a:ext>
            </a:extLst>
          </p:cNvPr>
          <p:cNvSpPr txBox="1">
            <a:spLocks/>
          </p:cNvSpPr>
          <p:nvPr/>
        </p:nvSpPr>
        <p:spPr>
          <a:xfrm>
            <a:off x="2468050" y="5748980"/>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Current day</a:t>
            </a:r>
          </a:p>
        </p:txBody>
      </p:sp>
      <p:sp>
        <p:nvSpPr>
          <p:cNvPr id="15" name="Text Placeholder 2">
            <a:extLst>
              <a:ext uri="{FF2B5EF4-FFF2-40B4-BE49-F238E27FC236}">
                <a16:creationId xmlns:a16="http://schemas.microsoft.com/office/drawing/2014/main" id="{623ABEF1-FC13-40FE-CFB0-D481730D6A25}"/>
              </a:ext>
            </a:extLst>
          </p:cNvPr>
          <p:cNvSpPr txBox="1">
            <a:spLocks/>
          </p:cNvSpPr>
          <p:nvPr/>
        </p:nvSpPr>
        <p:spPr>
          <a:xfrm>
            <a:off x="2468049" y="2239100"/>
            <a:ext cx="7218881"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3600" b="1" dirty="0">
                <a:latin typeface="Calibri Light" panose="020F0302020204030204" pitchFamily="34" charset="0"/>
                <a:cs typeface="Calibri Light" panose="020F0302020204030204" pitchFamily="34" charset="0"/>
              </a:rPr>
              <a:t>Site-specific soil characterizations</a:t>
            </a:r>
          </a:p>
          <a:p>
            <a:pPr lvl="1" defTabSz="514122">
              <a:defRPr sz="2376"/>
            </a:pPr>
            <a:r>
              <a:rPr lang="en-US" sz="2800" dirty="0">
                <a:latin typeface="Calibri Light" panose="020F0302020204030204" pitchFamily="34" charset="0"/>
                <a:cs typeface="Calibri Light" panose="020F0302020204030204" pitchFamily="34" charset="0"/>
              </a:rPr>
              <a:t>Much finer resolution, but hard to get large areas</a:t>
            </a:r>
          </a:p>
          <a:p>
            <a:pPr lvl="1" defTabSz="514122">
              <a:defRPr sz="2376"/>
            </a:pPr>
            <a:r>
              <a:rPr lang="en-US" sz="2800" dirty="0">
                <a:latin typeface="Calibri Light" panose="020F0302020204030204" pitchFamily="34" charset="0"/>
                <a:cs typeface="Calibri Light" panose="020F0302020204030204" pitchFamily="34" charset="0"/>
              </a:rPr>
              <a:t>Need to Define Area of Interest (vectors, not a raster) </a:t>
            </a:r>
          </a:p>
        </p:txBody>
      </p:sp>
      <p:pic>
        <p:nvPicPr>
          <p:cNvPr id="6" name="Picture 5" descr="NRCS Web Soil Survey (WSS) | VGIN">
            <a:extLst>
              <a:ext uri="{FF2B5EF4-FFF2-40B4-BE49-F238E27FC236}">
                <a16:creationId xmlns:a16="http://schemas.microsoft.com/office/drawing/2014/main" id="{64574E71-4241-EADE-9F59-460C74EF2C73}"/>
              </a:ext>
            </a:extLst>
          </p:cNvPr>
          <p:cNvPicPr>
            <a:picLocks noChangeAspect="1"/>
          </p:cNvPicPr>
          <p:nvPr/>
        </p:nvPicPr>
        <p:blipFill>
          <a:blip r:embed="rId3"/>
          <a:stretch>
            <a:fillRect/>
          </a:stretch>
        </p:blipFill>
        <p:spPr>
          <a:xfrm>
            <a:off x="9221126" y="4460508"/>
            <a:ext cx="2093761" cy="1394646"/>
          </a:xfrm>
          <a:prstGeom prst="rect">
            <a:avLst/>
          </a:prstGeom>
        </p:spPr>
      </p:pic>
      <p:pic>
        <p:nvPicPr>
          <p:cNvPr id="10" name="Picture 9">
            <a:extLst>
              <a:ext uri="{FF2B5EF4-FFF2-40B4-BE49-F238E27FC236}">
                <a16:creationId xmlns:a16="http://schemas.microsoft.com/office/drawing/2014/main" id="{5139B371-AC8B-F50C-9781-A63AB706A4D0}"/>
              </a:ext>
            </a:extLst>
          </p:cNvPr>
          <p:cNvPicPr>
            <a:picLocks noChangeAspect="1"/>
          </p:cNvPicPr>
          <p:nvPr/>
        </p:nvPicPr>
        <p:blipFill>
          <a:blip r:embed="rId4"/>
          <a:stretch>
            <a:fillRect/>
          </a:stretch>
        </p:blipFill>
        <p:spPr>
          <a:xfrm>
            <a:off x="5901914" y="5811035"/>
            <a:ext cx="5171263" cy="469187"/>
          </a:xfrm>
          <a:prstGeom prst="rect">
            <a:avLst/>
          </a:prstGeom>
        </p:spPr>
      </p:pic>
    </p:spTree>
    <p:extLst>
      <p:ext uri="{BB962C8B-B14F-4D97-AF65-F5344CB8AC3E}">
        <p14:creationId xmlns:p14="http://schemas.microsoft.com/office/powerpoint/2010/main" val="2787975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844C-0A8B-5AA7-7D58-D579EFF2D9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EBCC696-935F-473A-D19F-44B87EFD3583}"/>
              </a:ext>
            </a:extLst>
          </p:cNvPr>
          <p:cNvSpPr>
            <a:spLocks noGrp="1"/>
          </p:cNvSpPr>
          <p:nvPr>
            <p:ph type="body" idx="1"/>
          </p:nvPr>
        </p:nvSpPr>
        <p:spPr>
          <a:xfrm>
            <a:off x="562845" y="2275754"/>
            <a:ext cx="1559046" cy="585066"/>
          </a:xfrm>
        </p:spPr>
        <p:txBody>
          <a:bodyPr>
            <a:noAutofit/>
          </a:bodyPr>
          <a:lstStyle/>
          <a:p>
            <a:pPr marL="0" indent="0">
              <a:buNone/>
            </a:pPr>
            <a:r>
              <a:rPr lang="en-US" sz="1800" b="1" i="1" dirty="0">
                <a:solidFill>
                  <a:srgbClr val="0070C0"/>
                </a:solidFill>
              </a:rPr>
              <a:t>What? </a:t>
            </a:r>
          </a:p>
        </p:txBody>
      </p:sp>
      <p:sp>
        <p:nvSpPr>
          <p:cNvPr id="4" name="Title 1">
            <a:extLst>
              <a:ext uri="{FF2B5EF4-FFF2-40B4-BE49-F238E27FC236}">
                <a16:creationId xmlns:a16="http://schemas.microsoft.com/office/drawing/2014/main" id="{1E878331-1AC1-A5DC-E26A-CFE00B54D283}"/>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Web Soil Survey</a:t>
            </a:r>
            <a:endParaRPr lang="en-US" dirty="0"/>
          </a:p>
        </p:txBody>
      </p:sp>
      <p:sp>
        <p:nvSpPr>
          <p:cNvPr id="5" name="Text Placeholder 2">
            <a:extLst>
              <a:ext uri="{FF2B5EF4-FFF2-40B4-BE49-F238E27FC236}">
                <a16:creationId xmlns:a16="http://schemas.microsoft.com/office/drawing/2014/main" id="{D980287E-7CCD-9595-1E8D-110A3D3D2292}"/>
              </a:ext>
            </a:extLst>
          </p:cNvPr>
          <p:cNvSpPr txBox="1">
            <a:spLocks/>
          </p:cNvSpPr>
          <p:nvPr/>
        </p:nvSpPr>
        <p:spPr>
          <a:xfrm>
            <a:off x="562845" y="3228422"/>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Where? </a:t>
            </a:r>
          </a:p>
        </p:txBody>
      </p:sp>
      <p:sp>
        <p:nvSpPr>
          <p:cNvPr id="7" name="Text Placeholder 2">
            <a:extLst>
              <a:ext uri="{FF2B5EF4-FFF2-40B4-BE49-F238E27FC236}">
                <a16:creationId xmlns:a16="http://schemas.microsoft.com/office/drawing/2014/main" id="{8A3F92EE-2606-4CC6-CCE0-A59312AA31B0}"/>
              </a:ext>
            </a:extLst>
          </p:cNvPr>
          <p:cNvSpPr txBox="1">
            <a:spLocks/>
          </p:cNvSpPr>
          <p:nvPr/>
        </p:nvSpPr>
        <p:spPr>
          <a:xfrm>
            <a:off x="562844" y="3854331"/>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When? </a:t>
            </a:r>
          </a:p>
        </p:txBody>
      </p:sp>
      <p:sp>
        <p:nvSpPr>
          <p:cNvPr id="13" name="Text Placeholder 2">
            <a:extLst>
              <a:ext uri="{FF2B5EF4-FFF2-40B4-BE49-F238E27FC236}">
                <a16:creationId xmlns:a16="http://schemas.microsoft.com/office/drawing/2014/main" id="{A6F8E469-017F-A4C5-76FA-B2ABB872EEAC}"/>
              </a:ext>
            </a:extLst>
          </p:cNvPr>
          <p:cNvSpPr txBox="1">
            <a:spLocks/>
          </p:cNvSpPr>
          <p:nvPr/>
        </p:nvSpPr>
        <p:spPr>
          <a:xfrm>
            <a:off x="2294000" y="1149499"/>
            <a:ext cx="7603999" cy="89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https://websoilsurvey.sc.egov.usda.gov/app/</a:t>
            </a:r>
            <a:r>
              <a:rPr lang="en-US" dirty="0"/>
              <a:t> </a:t>
            </a:r>
          </a:p>
        </p:txBody>
      </p:sp>
      <p:sp>
        <p:nvSpPr>
          <p:cNvPr id="9" name="Text Placeholder 2">
            <a:extLst>
              <a:ext uri="{FF2B5EF4-FFF2-40B4-BE49-F238E27FC236}">
                <a16:creationId xmlns:a16="http://schemas.microsoft.com/office/drawing/2014/main" id="{94F9F146-D4F3-C248-D025-173A3ACAA1BD}"/>
              </a:ext>
            </a:extLst>
          </p:cNvPr>
          <p:cNvSpPr txBox="1">
            <a:spLocks/>
          </p:cNvSpPr>
          <p:nvPr/>
        </p:nvSpPr>
        <p:spPr>
          <a:xfrm>
            <a:off x="1609725" y="3228422"/>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United States only</a:t>
            </a:r>
          </a:p>
        </p:txBody>
      </p:sp>
      <p:sp>
        <p:nvSpPr>
          <p:cNvPr id="12" name="Text Placeholder 2">
            <a:extLst>
              <a:ext uri="{FF2B5EF4-FFF2-40B4-BE49-F238E27FC236}">
                <a16:creationId xmlns:a16="http://schemas.microsoft.com/office/drawing/2014/main" id="{6B679905-33E9-6A17-1268-BF5B98D87B46}"/>
              </a:ext>
            </a:extLst>
          </p:cNvPr>
          <p:cNvSpPr txBox="1">
            <a:spLocks/>
          </p:cNvSpPr>
          <p:nvPr/>
        </p:nvSpPr>
        <p:spPr>
          <a:xfrm>
            <a:off x="1609724" y="3873428"/>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Current day</a:t>
            </a:r>
          </a:p>
        </p:txBody>
      </p:sp>
      <p:sp>
        <p:nvSpPr>
          <p:cNvPr id="15" name="Text Placeholder 2">
            <a:extLst>
              <a:ext uri="{FF2B5EF4-FFF2-40B4-BE49-F238E27FC236}">
                <a16:creationId xmlns:a16="http://schemas.microsoft.com/office/drawing/2014/main" id="{92FF71CD-17C0-8F1D-4B34-1E0608520EEC}"/>
              </a:ext>
            </a:extLst>
          </p:cNvPr>
          <p:cNvSpPr txBox="1">
            <a:spLocks/>
          </p:cNvSpPr>
          <p:nvPr/>
        </p:nvSpPr>
        <p:spPr>
          <a:xfrm>
            <a:off x="1609725" y="2275754"/>
            <a:ext cx="7218881"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1800" b="1" dirty="0">
                <a:latin typeface="Calibri Light" panose="020F0302020204030204" pitchFamily="34" charset="0"/>
                <a:cs typeface="Calibri Light" panose="020F0302020204030204" pitchFamily="34" charset="0"/>
              </a:rPr>
              <a:t>Site-specific soil characterizations</a:t>
            </a:r>
          </a:p>
          <a:p>
            <a:pPr lvl="1" defTabSz="514122">
              <a:defRPr sz="2376"/>
            </a:pPr>
            <a:r>
              <a:rPr lang="en-US" sz="1800" dirty="0">
                <a:latin typeface="Calibri Light" panose="020F0302020204030204" pitchFamily="34" charset="0"/>
                <a:cs typeface="Calibri Light" panose="020F0302020204030204" pitchFamily="34" charset="0"/>
              </a:rPr>
              <a:t>Much finer resolution, but hard to get large areas</a:t>
            </a:r>
          </a:p>
          <a:p>
            <a:pPr lvl="1" defTabSz="514122">
              <a:defRPr sz="2376"/>
            </a:pPr>
            <a:r>
              <a:rPr lang="en-US" sz="1800" dirty="0">
                <a:latin typeface="Calibri Light" panose="020F0302020204030204" pitchFamily="34" charset="0"/>
                <a:cs typeface="Calibri Light" panose="020F0302020204030204" pitchFamily="34" charset="0"/>
              </a:rPr>
              <a:t>Need to Define Area of Interest (vectors, not a raster) </a:t>
            </a:r>
          </a:p>
        </p:txBody>
      </p:sp>
      <p:pic>
        <p:nvPicPr>
          <p:cNvPr id="6" name="Picture 5" descr="NRCS Web Soil Survey (WSS) | VGIN">
            <a:extLst>
              <a:ext uri="{FF2B5EF4-FFF2-40B4-BE49-F238E27FC236}">
                <a16:creationId xmlns:a16="http://schemas.microsoft.com/office/drawing/2014/main" id="{9C42F0A3-E3D9-1BDD-391C-88BDB551CB57}"/>
              </a:ext>
            </a:extLst>
          </p:cNvPr>
          <p:cNvPicPr>
            <a:picLocks noChangeAspect="1"/>
          </p:cNvPicPr>
          <p:nvPr/>
        </p:nvPicPr>
        <p:blipFill>
          <a:blip r:embed="rId3"/>
          <a:stretch>
            <a:fillRect/>
          </a:stretch>
        </p:blipFill>
        <p:spPr>
          <a:xfrm>
            <a:off x="8763352" y="2752218"/>
            <a:ext cx="2093761" cy="1394646"/>
          </a:xfrm>
          <a:prstGeom prst="rect">
            <a:avLst/>
          </a:prstGeom>
        </p:spPr>
      </p:pic>
      <p:pic>
        <p:nvPicPr>
          <p:cNvPr id="10" name="Picture 9">
            <a:extLst>
              <a:ext uri="{FF2B5EF4-FFF2-40B4-BE49-F238E27FC236}">
                <a16:creationId xmlns:a16="http://schemas.microsoft.com/office/drawing/2014/main" id="{6E266FC9-CC1C-A0BC-FC0E-407C5717F5C4}"/>
              </a:ext>
            </a:extLst>
          </p:cNvPr>
          <p:cNvPicPr>
            <a:picLocks noChangeAspect="1"/>
          </p:cNvPicPr>
          <p:nvPr/>
        </p:nvPicPr>
        <p:blipFill>
          <a:blip r:embed="rId4"/>
          <a:stretch>
            <a:fillRect/>
          </a:stretch>
        </p:blipFill>
        <p:spPr>
          <a:xfrm>
            <a:off x="6046968" y="1894798"/>
            <a:ext cx="5171263" cy="469187"/>
          </a:xfrm>
          <a:prstGeom prst="rect">
            <a:avLst/>
          </a:prstGeom>
        </p:spPr>
      </p:pic>
      <p:pic>
        <p:nvPicPr>
          <p:cNvPr id="8" name="Picture 7" descr="The image depicts a detailed soil resource map, showcasing various coordinates and measurements for soil composition, scaled to 1:86,700 on a landscape sheet.&#10;&#10;AI-generated content may be incorrect.">
            <a:extLst>
              <a:ext uri="{FF2B5EF4-FFF2-40B4-BE49-F238E27FC236}">
                <a16:creationId xmlns:a16="http://schemas.microsoft.com/office/drawing/2014/main" id="{34C0BC92-5A15-C151-41F9-F71A51BF1A61}"/>
              </a:ext>
            </a:extLst>
          </p:cNvPr>
          <p:cNvPicPr>
            <a:picLocks noChangeAspect="1"/>
          </p:cNvPicPr>
          <p:nvPr/>
        </p:nvPicPr>
        <p:blipFill>
          <a:blip r:embed="rId5"/>
          <a:srcRect t="1336" r="2034"/>
          <a:stretch>
            <a:fillRect/>
          </a:stretch>
        </p:blipFill>
        <p:spPr>
          <a:xfrm>
            <a:off x="562844" y="4480240"/>
            <a:ext cx="2928880" cy="2162850"/>
          </a:xfrm>
          <a:prstGeom prst="rect">
            <a:avLst/>
          </a:prstGeom>
        </p:spPr>
      </p:pic>
      <p:pic>
        <p:nvPicPr>
          <p:cNvPr id="14" name="Picture 13" descr="The image depicts a map unit of 47-Mohave soils with urban land, characterized by a slopes ranging from 1 to 8 percent, elevation of 2,200 to 3,300 feet, mean annual precipitation of 10 to 12 inches, mean annual air temperature of 64 to 70 degrees Fahrenheit, a frost-free period of 220 to 280 days, and a composition of 51% Mohave soils and 49% urban land.&#10;&#10;AI-generated content may be incorrect.">
            <a:extLst>
              <a:ext uri="{FF2B5EF4-FFF2-40B4-BE49-F238E27FC236}">
                <a16:creationId xmlns:a16="http://schemas.microsoft.com/office/drawing/2014/main" id="{AC57D3F4-3299-CAF8-90C5-83373FCECDE9}"/>
              </a:ext>
            </a:extLst>
          </p:cNvPr>
          <p:cNvPicPr>
            <a:picLocks noChangeAspect="1"/>
          </p:cNvPicPr>
          <p:nvPr/>
        </p:nvPicPr>
        <p:blipFill>
          <a:blip r:embed="rId6"/>
          <a:stretch>
            <a:fillRect/>
          </a:stretch>
        </p:blipFill>
        <p:spPr>
          <a:xfrm>
            <a:off x="3751751" y="4480240"/>
            <a:ext cx="3936439" cy="1830774"/>
          </a:xfrm>
          <a:prstGeom prst="rect">
            <a:avLst/>
          </a:prstGeom>
          <a:ln>
            <a:solidFill>
              <a:schemeClr val="tx1"/>
            </a:solidFill>
          </a:ln>
        </p:spPr>
      </p:pic>
      <p:pic>
        <p:nvPicPr>
          <p:cNvPr id="17" name="Picture 16" descr="The image illustrates a soil profile categorized by depth and soil type, with additional information on slope, drainage, and water flow properties.&#10;&#10;AI-generated content may be incorrect.">
            <a:extLst>
              <a:ext uri="{FF2B5EF4-FFF2-40B4-BE49-F238E27FC236}">
                <a16:creationId xmlns:a16="http://schemas.microsoft.com/office/drawing/2014/main" id="{E3977409-A73F-48CE-A5AA-AE179CA0A6DA}"/>
              </a:ext>
            </a:extLst>
          </p:cNvPr>
          <p:cNvPicPr>
            <a:picLocks noChangeAspect="1"/>
          </p:cNvPicPr>
          <p:nvPr/>
        </p:nvPicPr>
        <p:blipFill>
          <a:blip r:embed="rId7"/>
          <a:stretch>
            <a:fillRect/>
          </a:stretch>
        </p:blipFill>
        <p:spPr>
          <a:xfrm>
            <a:off x="7877078" y="4488701"/>
            <a:ext cx="3801947" cy="1830775"/>
          </a:xfrm>
          <a:prstGeom prst="rect">
            <a:avLst/>
          </a:prstGeom>
          <a:ln>
            <a:solidFill>
              <a:schemeClr val="tx1"/>
            </a:solidFill>
          </a:ln>
        </p:spPr>
      </p:pic>
    </p:spTree>
    <p:extLst>
      <p:ext uri="{BB962C8B-B14F-4D97-AF65-F5344CB8AC3E}">
        <p14:creationId xmlns:p14="http://schemas.microsoft.com/office/powerpoint/2010/main" val="108731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0F2A98-AA6E-4180-1C90-EA988A1CF7F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2F20609-9F89-6F9E-0502-07FCFB2CDF91}"/>
              </a:ext>
            </a:extLst>
          </p:cNvPr>
          <p:cNvSpPr>
            <a:spLocks noGrp="1"/>
          </p:cNvSpPr>
          <p:nvPr>
            <p:ph type="body" idx="1"/>
          </p:nvPr>
        </p:nvSpPr>
        <p:spPr>
          <a:xfrm>
            <a:off x="562845" y="2275754"/>
            <a:ext cx="1559046" cy="585066"/>
          </a:xfrm>
        </p:spPr>
        <p:txBody>
          <a:bodyPr>
            <a:noAutofit/>
          </a:bodyPr>
          <a:lstStyle/>
          <a:p>
            <a:pPr marL="0" indent="0">
              <a:buNone/>
            </a:pPr>
            <a:r>
              <a:rPr lang="en-US" sz="3600" b="1" i="1" dirty="0">
                <a:solidFill>
                  <a:srgbClr val="0070C0"/>
                </a:solidFill>
              </a:rPr>
              <a:t>What? </a:t>
            </a:r>
          </a:p>
        </p:txBody>
      </p:sp>
      <p:sp>
        <p:nvSpPr>
          <p:cNvPr id="4" name="Title 1">
            <a:extLst>
              <a:ext uri="{FF2B5EF4-FFF2-40B4-BE49-F238E27FC236}">
                <a16:creationId xmlns:a16="http://schemas.microsoft.com/office/drawing/2014/main" id="{2EBF394D-6460-24A9-B473-DA0166CE7CFE}"/>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EPA</a:t>
            </a:r>
            <a:endParaRPr lang="en-US" dirty="0"/>
          </a:p>
        </p:txBody>
      </p:sp>
      <p:sp>
        <p:nvSpPr>
          <p:cNvPr id="5" name="Text Placeholder 2">
            <a:extLst>
              <a:ext uri="{FF2B5EF4-FFF2-40B4-BE49-F238E27FC236}">
                <a16:creationId xmlns:a16="http://schemas.microsoft.com/office/drawing/2014/main" id="{E29DCEE9-D10D-7F50-19DE-32854474B8D1}"/>
              </a:ext>
            </a:extLst>
          </p:cNvPr>
          <p:cNvSpPr txBox="1">
            <a:spLocks/>
          </p:cNvSpPr>
          <p:nvPr/>
        </p:nvSpPr>
        <p:spPr>
          <a:xfrm>
            <a:off x="488804" y="4522484"/>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Where? </a:t>
            </a:r>
          </a:p>
        </p:txBody>
      </p:sp>
      <p:sp>
        <p:nvSpPr>
          <p:cNvPr id="7" name="Text Placeholder 2">
            <a:extLst>
              <a:ext uri="{FF2B5EF4-FFF2-40B4-BE49-F238E27FC236}">
                <a16:creationId xmlns:a16="http://schemas.microsoft.com/office/drawing/2014/main" id="{787A8FBA-CA87-3E46-4D39-4905E86DEC4B}"/>
              </a:ext>
            </a:extLst>
          </p:cNvPr>
          <p:cNvSpPr txBox="1">
            <a:spLocks/>
          </p:cNvSpPr>
          <p:nvPr/>
        </p:nvSpPr>
        <p:spPr>
          <a:xfrm>
            <a:off x="525824" y="5342724"/>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i="1" dirty="0">
                <a:solidFill>
                  <a:srgbClr val="0070C0"/>
                </a:solidFill>
              </a:rPr>
              <a:t>When? </a:t>
            </a:r>
          </a:p>
        </p:txBody>
      </p:sp>
      <p:sp>
        <p:nvSpPr>
          <p:cNvPr id="13" name="Text Placeholder 2">
            <a:extLst>
              <a:ext uri="{FF2B5EF4-FFF2-40B4-BE49-F238E27FC236}">
                <a16:creationId xmlns:a16="http://schemas.microsoft.com/office/drawing/2014/main" id="{6C9EB066-3217-14B1-B7FB-88FA705272FB}"/>
              </a:ext>
            </a:extLst>
          </p:cNvPr>
          <p:cNvSpPr txBox="1">
            <a:spLocks/>
          </p:cNvSpPr>
          <p:nvPr/>
        </p:nvSpPr>
        <p:spPr>
          <a:xfrm>
            <a:off x="2294000" y="1149499"/>
            <a:ext cx="7603999" cy="585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https://www.epa.gov/enviroatlas</a:t>
            </a:r>
            <a:r>
              <a:rPr lang="en-US" dirty="0"/>
              <a:t> </a:t>
            </a:r>
          </a:p>
        </p:txBody>
      </p:sp>
      <p:sp>
        <p:nvSpPr>
          <p:cNvPr id="9" name="Text Placeholder 2">
            <a:extLst>
              <a:ext uri="{FF2B5EF4-FFF2-40B4-BE49-F238E27FC236}">
                <a16:creationId xmlns:a16="http://schemas.microsoft.com/office/drawing/2014/main" id="{E8AF77C4-29A2-FD8E-81AC-96AED0646DCD}"/>
              </a:ext>
            </a:extLst>
          </p:cNvPr>
          <p:cNvSpPr txBox="1">
            <a:spLocks/>
          </p:cNvSpPr>
          <p:nvPr/>
        </p:nvSpPr>
        <p:spPr>
          <a:xfrm>
            <a:off x="2431029" y="4522484"/>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United States only</a:t>
            </a:r>
          </a:p>
        </p:txBody>
      </p:sp>
      <p:sp>
        <p:nvSpPr>
          <p:cNvPr id="12" name="Text Placeholder 2">
            <a:extLst>
              <a:ext uri="{FF2B5EF4-FFF2-40B4-BE49-F238E27FC236}">
                <a16:creationId xmlns:a16="http://schemas.microsoft.com/office/drawing/2014/main" id="{A226B55B-60FB-278D-9901-C454FBC71CDA}"/>
              </a:ext>
            </a:extLst>
          </p:cNvPr>
          <p:cNvSpPr txBox="1">
            <a:spLocks/>
          </p:cNvSpPr>
          <p:nvPr/>
        </p:nvSpPr>
        <p:spPr>
          <a:xfrm>
            <a:off x="2431029" y="5338608"/>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Current day</a:t>
            </a:r>
          </a:p>
          <a:p>
            <a:pPr lvl="1"/>
            <a:r>
              <a:rPr lang="en-US" sz="3200" dirty="0"/>
              <a:t>some layers may have historical data</a:t>
            </a:r>
          </a:p>
        </p:txBody>
      </p:sp>
      <p:sp>
        <p:nvSpPr>
          <p:cNvPr id="15" name="Text Placeholder 2">
            <a:extLst>
              <a:ext uri="{FF2B5EF4-FFF2-40B4-BE49-F238E27FC236}">
                <a16:creationId xmlns:a16="http://schemas.microsoft.com/office/drawing/2014/main" id="{8C9AC923-1354-2639-3DF9-99C547BA405C}"/>
              </a:ext>
            </a:extLst>
          </p:cNvPr>
          <p:cNvSpPr txBox="1">
            <a:spLocks/>
          </p:cNvSpPr>
          <p:nvPr/>
        </p:nvSpPr>
        <p:spPr>
          <a:xfrm>
            <a:off x="2468049" y="2239100"/>
            <a:ext cx="7218881"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3600" b="1" dirty="0">
                <a:latin typeface="Calibri Light" panose="020F0302020204030204" pitchFamily="34" charset="0"/>
                <a:cs typeface="Calibri Light" panose="020F0302020204030204" pitchFamily="34" charset="0"/>
              </a:rPr>
              <a:t>Air quality, bodies of water, land use, boundaries, housing, and much more</a:t>
            </a:r>
          </a:p>
          <a:p>
            <a:pPr lvl="1" defTabSz="514122">
              <a:defRPr sz="2376"/>
            </a:pPr>
            <a:r>
              <a:rPr lang="en-US" dirty="0">
                <a:latin typeface="Calibri Light" panose="020F0302020204030204" pitchFamily="34" charset="0"/>
                <a:cs typeface="Calibri Light" panose="020F0302020204030204" pitchFamily="34" charset="0"/>
              </a:rPr>
              <a:t>Interactive tool and downloadable data</a:t>
            </a:r>
          </a:p>
          <a:p>
            <a:pPr lvl="1" defTabSz="514122">
              <a:defRPr sz="2376"/>
            </a:pPr>
            <a:r>
              <a:rPr lang="en-US" dirty="0">
                <a:latin typeface="Calibri Light" panose="020F0302020204030204" pitchFamily="34" charset="0"/>
                <a:cs typeface="Calibri Light" panose="020F0302020204030204" pitchFamily="34" charset="0"/>
              </a:rPr>
              <a:t>Selected high-population regions at higher resolution</a:t>
            </a:r>
          </a:p>
        </p:txBody>
      </p:sp>
      <p:pic>
        <p:nvPicPr>
          <p:cNvPr id="11" name="Picture 10" descr="EPA Adds St. Louis Environmental Data to EnviroAtlas Online | US EPA">
            <a:extLst>
              <a:ext uri="{FF2B5EF4-FFF2-40B4-BE49-F238E27FC236}">
                <a16:creationId xmlns:a16="http://schemas.microsoft.com/office/drawing/2014/main" id="{BC3F8CCD-5E76-B07F-8D28-25880060E39C}"/>
              </a:ext>
            </a:extLst>
          </p:cNvPr>
          <p:cNvPicPr>
            <a:picLocks noChangeAspect="1"/>
          </p:cNvPicPr>
          <p:nvPr/>
        </p:nvPicPr>
        <p:blipFill>
          <a:blip r:embed="rId3"/>
          <a:stretch>
            <a:fillRect/>
          </a:stretch>
        </p:blipFill>
        <p:spPr>
          <a:xfrm>
            <a:off x="8831199" y="3501657"/>
            <a:ext cx="2133600" cy="2133600"/>
          </a:xfrm>
          <a:prstGeom prst="rect">
            <a:avLst/>
          </a:prstGeom>
        </p:spPr>
      </p:pic>
    </p:spTree>
    <p:extLst>
      <p:ext uri="{BB962C8B-B14F-4D97-AF65-F5344CB8AC3E}">
        <p14:creationId xmlns:p14="http://schemas.microsoft.com/office/powerpoint/2010/main" val="25934842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6758-B2D5-D45F-1140-B16F7070E68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72F6C14-3BC7-87F9-E4AC-D46EDDFF8C2D}"/>
              </a:ext>
            </a:extLst>
          </p:cNvPr>
          <p:cNvSpPr>
            <a:spLocks noGrp="1"/>
          </p:cNvSpPr>
          <p:nvPr>
            <p:ph type="body" idx="1"/>
          </p:nvPr>
        </p:nvSpPr>
        <p:spPr>
          <a:xfrm>
            <a:off x="562845" y="2275754"/>
            <a:ext cx="1559046" cy="585066"/>
          </a:xfrm>
        </p:spPr>
        <p:txBody>
          <a:bodyPr>
            <a:noAutofit/>
          </a:bodyPr>
          <a:lstStyle/>
          <a:p>
            <a:pPr marL="0" indent="0">
              <a:buNone/>
            </a:pPr>
            <a:r>
              <a:rPr lang="en-US" sz="1800" b="1" i="1" dirty="0">
                <a:solidFill>
                  <a:srgbClr val="0070C0"/>
                </a:solidFill>
              </a:rPr>
              <a:t>What? </a:t>
            </a:r>
          </a:p>
        </p:txBody>
      </p:sp>
      <p:sp>
        <p:nvSpPr>
          <p:cNvPr id="4" name="Title 1">
            <a:extLst>
              <a:ext uri="{FF2B5EF4-FFF2-40B4-BE49-F238E27FC236}">
                <a16:creationId xmlns:a16="http://schemas.microsoft.com/office/drawing/2014/main" id="{1FF67599-A144-B1FF-952F-AFB371273947}"/>
              </a:ext>
            </a:extLst>
          </p:cNvPr>
          <p:cNvSpPr>
            <a:spLocks noGrp="1"/>
          </p:cNvSpPr>
          <p:nvPr>
            <p:ph type="title"/>
          </p:nvPr>
        </p:nvSpPr>
        <p:spPr>
          <a:xfrm>
            <a:off x="826939" y="91645"/>
            <a:ext cx="10515600" cy="1325563"/>
          </a:xfrm>
        </p:spPr>
        <p:txBody>
          <a:bodyPr/>
          <a:lstStyle/>
          <a:p>
            <a:pPr algn="ctr"/>
            <a:r>
              <a:rPr lang="en-US" b="1" dirty="0">
                <a:solidFill>
                  <a:srgbClr val="0070C0"/>
                </a:solidFill>
                <a:latin typeface="Calibri"/>
              </a:rPr>
              <a:t>Data Layer Sources: EPA</a:t>
            </a:r>
            <a:endParaRPr lang="en-US" dirty="0"/>
          </a:p>
        </p:txBody>
      </p:sp>
      <p:sp>
        <p:nvSpPr>
          <p:cNvPr id="5" name="Text Placeholder 2">
            <a:extLst>
              <a:ext uri="{FF2B5EF4-FFF2-40B4-BE49-F238E27FC236}">
                <a16:creationId xmlns:a16="http://schemas.microsoft.com/office/drawing/2014/main" id="{87571A2A-A901-656C-74F3-F4804E11B7CA}"/>
              </a:ext>
            </a:extLst>
          </p:cNvPr>
          <p:cNvSpPr txBox="1">
            <a:spLocks/>
          </p:cNvSpPr>
          <p:nvPr/>
        </p:nvSpPr>
        <p:spPr>
          <a:xfrm>
            <a:off x="565437" y="3278984"/>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Where? </a:t>
            </a:r>
          </a:p>
        </p:txBody>
      </p:sp>
      <p:sp>
        <p:nvSpPr>
          <p:cNvPr id="7" name="Text Placeholder 2">
            <a:extLst>
              <a:ext uri="{FF2B5EF4-FFF2-40B4-BE49-F238E27FC236}">
                <a16:creationId xmlns:a16="http://schemas.microsoft.com/office/drawing/2014/main" id="{099DEDC1-6BCB-6B41-2FCF-FFD49A9037C1}"/>
              </a:ext>
            </a:extLst>
          </p:cNvPr>
          <p:cNvSpPr txBox="1">
            <a:spLocks/>
          </p:cNvSpPr>
          <p:nvPr/>
        </p:nvSpPr>
        <p:spPr>
          <a:xfrm>
            <a:off x="565437" y="3950777"/>
            <a:ext cx="2093761"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i="1" dirty="0">
                <a:solidFill>
                  <a:srgbClr val="0070C0"/>
                </a:solidFill>
              </a:rPr>
              <a:t>When? </a:t>
            </a:r>
          </a:p>
        </p:txBody>
      </p:sp>
      <p:sp>
        <p:nvSpPr>
          <p:cNvPr id="13" name="Text Placeholder 2">
            <a:extLst>
              <a:ext uri="{FF2B5EF4-FFF2-40B4-BE49-F238E27FC236}">
                <a16:creationId xmlns:a16="http://schemas.microsoft.com/office/drawing/2014/main" id="{78B347F0-5CE7-15B7-DAF1-0E9B1446D274}"/>
              </a:ext>
            </a:extLst>
          </p:cNvPr>
          <p:cNvSpPr txBox="1">
            <a:spLocks/>
          </p:cNvSpPr>
          <p:nvPr/>
        </p:nvSpPr>
        <p:spPr>
          <a:xfrm>
            <a:off x="2294000" y="1149499"/>
            <a:ext cx="7603999" cy="585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hlinkClick r:id="rId2"/>
              </a:rPr>
              <a:t>https://www.epa.gov/enviroatlas</a:t>
            </a:r>
            <a:r>
              <a:rPr lang="en-US" dirty="0"/>
              <a:t> </a:t>
            </a:r>
          </a:p>
        </p:txBody>
      </p:sp>
      <p:sp>
        <p:nvSpPr>
          <p:cNvPr id="9" name="Text Placeholder 2">
            <a:extLst>
              <a:ext uri="{FF2B5EF4-FFF2-40B4-BE49-F238E27FC236}">
                <a16:creationId xmlns:a16="http://schemas.microsoft.com/office/drawing/2014/main" id="{2E6EA08A-B0CD-EDF1-A02F-DC2EBCCE4600}"/>
              </a:ext>
            </a:extLst>
          </p:cNvPr>
          <p:cNvSpPr txBox="1">
            <a:spLocks/>
          </p:cNvSpPr>
          <p:nvPr/>
        </p:nvSpPr>
        <p:spPr>
          <a:xfrm>
            <a:off x="1612317" y="3322348"/>
            <a:ext cx="5564509" cy="5850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United States only</a:t>
            </a:r>
          </a:p>
        </p:txBody>
      </p:sp>
      <p:sp>
        <p:nvSpPr>
          <p:cNvPr id="12" name="Text Placeholder 2">
            <a:extLst>
              <a:ext uri="{FF2B5EF4-FFF2-40B4-BE49-F238E27FC236}">
                <a16:creationId xmlns:a16="http://schemas.microsoft.com/office/drawing/2014/main" id="{5B3B187F-DA67-E732-9244-1F67BC0F09AB}"/>
              </a:ext>
            </a:extLst>
          </p:cNvPr>
          <p:cNvSpPr txBox="1">
            <a:spLocks/>
          </p:cNvSpPr>
          <p:nvPr/>
        </p:nvSpPr>
        <p:spPr>
          <a:xfrm>
            <a:off x="1612317" y="3907414"/>
            <a:ext cx="8874489" cy="3740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Current day</a:t>
            </a:r>
          </a:p>
          <a:p>
            <a:pPr lvl="1"/>
            <a:r>
              <a:rPr lang="en-US" sz="1800" dirty="0"/>
              <a:t>some layers may have historical data</a:t>
            </a:r>
          </a:p>
        </p:txBody>
      </p:sp>
      <p:sp>
        <p:nvSpPr>
          <p:cNvPr id="15" name="Text Placeholder 2">
            <a:extLst>
              <a:ext uri="{FF2B5EF4-FFF2-40B4-BE49-F238E27FC236}">
                <a16:creationId xmlns:a16="http://schemas.microsoft.com/office/drawing/2014/main" id="{5B3F1FF2-935E-B622-1490-C0C46FAEAA72}"/>
              </a:ext>
            </a:extLst>
          </p:cNvPr>
          <p:cNvSpPr txBox="1">
            <a:spLocks/>
          </p:cNvSpPr>
          <p:nvPr/>
        </p:nvSpPr>
        <p:spPr>
          <a:xfrm>
            <a:off x="1612318" y="2285526"/>
            <a:ext cx="7218881" cy="2221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514122">
              <a:defRPr sz="2376"/>
            </a:pPr>
            <a:r>
              <a:rPr lang="en-US" sz="1800" b="1" dirty="0">
                <a:latin typeface="Calibri Light" panose="020F0302020204030204" pitchFamily="34" charset="0"/>
                <a:cs typeface="Calibri Light" panose="020F0302020204030204" pitchFamily="34" charset="0"/>
              </a:rPr>
              <a:t>Air quality, bodies of water, land use, boundaries, housing, and much more</a:t>
            </a:r>
          </a:p>
          <a:p>
            <a:pPr lvl="1" defTabSz="514122">
              <a:defRPr sz="2376"/>
            </a:pPr>
            <a:r>
              <a:rPr lang="en-US" sz="1800" dirty="0">
                <a:latin typeface="Calibri Light" panose="020F0302020204030204" pitchFamily="34" charset="0"/>
                <a:cs typeface="Calibri Light" panose="020F0302020204030204" pitchFamily="34" charset="0"/>
              </a:rPr>
              <a:t>Interactive tool and downloadable data</a:t>
            </a:r>
          </a:p>
          <a:p>
            <a:pPr lvl="1" defTabSz="514122">
              <a:defRPr sz="2376"/>
            </a:pPr>
            <a:r>
              <a:rPr lang="en-US" sz="1800" dirty="0">
                <a:latin typeface="Calibri Light" panose="020F0302020204030204" pitchFamily="34" charset="0"/>
                <a:cs typeface="Calibri Light" panose="020F0302020204030204" pitchFamily="34" charset="0"/>
              </a:rPr>
              <a:t>Selected high-population regions at higher resolution</a:t>
            </a:r>
          </a:p>
        </p:txBody>
      </p:sp>
      <p:pic>
        <p:nvPicPr>
          <p:cNvPr id="11" name="Picture 10" descr="EPA Adds St. Louis Environmental Data to EnviroAtlas Online | US EPA">
            <a:extLst>
              <a:ext uri="{FF2B5EF4-FFF2-40B4-BE49-F238E27FC236}">
                <a16:creationId xmlns:a16="http://schemas.microsoft.com/office/drawing/2014/main" id="{F665E2D0-E0D4-354C-A8F6-A7DDE95F2710}"/>
              </a:ext>
            </a:extLst>
          </p:cNvPr>
          <p:cNvPicPr>
            <a:picLocks noChangeAspect="1"/>
          </p:cNvPicPr>
          <p:nvPr/>
        </p:nvPicPr>
        <p:blipFill>
          <a:blip r:embed="rId3"/>
          <a:stretch>
            <a:fillRect/>
          </a:stretch>
        </p:blipFill>
        <p:spPr>
          <a:xfrm>
            <a:off x="686855" y="466416"/>
            <a:ext cx="1311025" cy="1311025"/>
          </a:xfrm>
          <a:prstGeom prst="rect">
            <a:avLst/>
          </a:prstGeom>
        </p:spPr>
      </p:pic>
      <p:pic>
        <p:nvPicPr>
          <p:cNvPr id="6" name="Picture 5" descr="The image appears to be a table or list detailing various environmental and ecological factors such as carbon storage, crop productivity, ecosystem markets, energy potential, engagement with outdoors, health and economic outcomes, land cover, landscape patterns, livestock and poultry production, pollutant reduction, water supply, and weather and climate.&#10;&#10;AI-generated content may be incorrect.">
            <a:extLst>
              <a:ext uri="{FF2B5EF4-FFF2-40B4-BE49-F238E27FC236}">
                <a16:creationId xmlns:a16="http://schemas.microsoft.com/office/drawing/2014/main" id="{7DEC97B5-19DC-A63F-E8DE-CCAA16591FA0}"/>
              </a:ext>
            </a:extLst>
          </p:cNvPr>
          <p:cNvPicPr>
            <a:picLocks noChangeAspect="1"/>
          </p:cNvPicPr>
          <p:nvPr/>
        </p:nvPicPr>
        <p:blipFill>
          <a:blip r:embed="rId4"/>
          <a:srcRect t="2082" b="21847"/>
          <a:stretch>
            <a:fillRect/>
          </a:stretch>
        </p:blipFill>
        <p:spPr>
          <a:xfrm>
            <a:off x="8782585" y="2741445"/>
            <a:ext cx="3398815" cy="4069600"/>
          </a:xfrm>
          <a:prstGeom prst="rect">
            <a:avLst/>
          </a:prstGeom>
        </p:spPr>
      </p:pic>
      <p:pic>
        <p:nvPicPr>
          <p:cNvPr id="10" name="Picture 9" descr="The image appears to be a table or list detailing various environmental and ecological factors such as carbon storage, crop productivity, ecosystem markets, energy potential, engagement with outdoors, health and economic outcomes, land cover, landscape patterns, livestock and poultry production, pollutant reduction, water supply, and weather and climate.&#10;&#10;AI-generated content may be incorrect.">
            <a:extLst>
              <a:ext uri="{FF2B5EF4-FFF2-40B4-BE49-F238E27FC236}">
                <a16:creationId xmlns:a16="http://schemas.microsoft.com/office/drawing/2014/main" id="{CEF34BD4-4802-AE47-3890-773701BC8BF5}"/>
              </a:ext>
            </a:extLst>
          </p:cNvPr>
          <p:cNvPicPr>
            <a:picLocks noChangeAspect="1"/>
          </p:cNvPicPr>
          <p:nvPr/>
        </p:nvPicPr>
        <p:blipFill>
          <a:blip r:embed="rId4"/>
          <a:srcRect t="78262" r="34629"/>
          <a:stretch>
            <a:fillRect/>
          </a:stretch>
        </p:blipFill>
        <p:spPr>
          <a:xfrm>
            <a:off x="5212191" y="5161553"/>
            <a:ext cx="3151503" cy="1649492"/>
          </a:xfrm>
          <a:prstGeom prst="rect">
            <a:avLst/>
          </a:prstGeom>
        </p:spPr>
      </p:pic>
      <p:pic>
        <p:nvPicPr>
          <p:cNvPr id="16" name="Picture 15" descr="The image presents a list of factors including commuting, employment, housing, schools, population distribution, quality of life, vacancy, ecological boundaries, and hydrologic features, possibly depicting an urban planning or demographic analysis.&#10;&#10;AI-generated content may be incorrect.">
            <a:extLst>
              <a:ext uri="{FF2B5EF4-FFF2-40B4-BE49-F238E27FC236}">
                <a16:creationId xmlns:a16="http://schemas.microsoft.com/office/drawing/2014/main" id="{7A6D7E3B-4B75-6F65-1690-BA779301ECD8}"/>
              </a:ext>
            </a:extLst>
          </p:cNvPr>
          <p:cNvPicPr>
            <a:picLocks noChangeAspect="1"/>
          </p:cNvPicPr>
          <p:nvPr/>
        </p:nvPicPr>
        <p:blipFill>
          <a:blip r:embed="rId5"/>
          <a:srcRect t="4314" r="41835" b="34360"/>
          <a:stretch>
            <a:fillRect/>
          </a:stretch>
        </p:blipFill>
        <p:spPr>
          <a:xfrm>
            <a:off x="2820823" y="5689426"/>
            <a:ext cx="1972476" cy="1121619"/>
          </a:xfrm>
          <a:prstGeom prst="rect">
            <a:avLst/>
          </a:prstGeom>
        </p:spPr>
      </p:pic>
      <p:pic>
        <p:nvPicPr>
          <p:cNvPr id="18" name="Picture 17" descr="The image presents a list of factors including commuting, employment, housing, schools, population distribution, quality of life, vacancy, ecological boundaries, and hydrologic features, possibly depicting an urban planning or demographic analysis.&#10;&#10;AI-generated content may be incorrect.">
            <a:extLst>
              <a:ext uri="{FF2B5EF4-FFF2-40B4-BE49-F238E27FC236}">
                <a16:creationId xmlns:a16="http://schemas.microsoft.com/office/drawing/2014/main" id="{EA6087A2-81D6-12CA-B160-B34526CDCA7D}"/>
              </a:ext>
            </a:extLst>
          </p:cNvPr>
          <p:cNvPicPr>
            <a:picLocks noChangeAspect="1"/>
          </p:cNvPicPr>
          <p:nvPr/>
        </p:nvPicPr>
        <p:blipFill>
          <a:blip r:embed="rId5"/>
          <a:srcRect t="68010" r="53559" b="4596"/>
          <a:stretch>
            <a:fillRect/>
          </a:stretch>
        </p:blipFill>
        <p:spPr>
          <a:xfrm>
            <a:off x="562845" y="6225980"/>
            <a:ext cx="1839086" cy="585065"/>
          </a:xfrm>
          <a:prstGeom prst="rect">
            <a:avLst/>
          </a:prstGeom>
        </p:spPr>
      </p:pic>
      <p:sp>
        <p:nvSpPr>
          <p:cNvPr id="21" name="TextBox 20">
            <a:extLst>
              <a:ext uri="{FF2B5EF4-FFF2-40B4-BE49-F238E27FC236}">
                <a16:creationId xmlns:a16="http://schemas.microsoft.com/office/drawing/2014/main" id="{481B7975-BCA0-5535-595D-FFE2EEC04620}"/>
              </a:ext>
            </a:extLst>
          </p:cNvPr>
          <p:cNvSpPr txBox="1"/>
          <p:nvPr/>
        </p:nvSpPr>
        <p:spPr>
          <a:xfrm>
            <a:off x="562845" y="5689426"/>
            <a:ext cx="1839086" cy="369332"/>
          </a:xfrm>
          <a:prstGeom prst="rect">
            <a:avLst/>
          </a:prstGeom>
          <a:noFill/>
        </p:spPr>
        <p:txBody>
          <a:bodyPr wrap="square" rtlCol="0">
            <a:spAutoFit/>
          </a:bodyPr>
          <a:lstStyle/>
          <a:p>
            <a:pPr algn="ctr"/>
            <a:r>
              <a:rPr lang="en-US" b="1" dirty="0">
                <a:solidFill>
                  <a:srgbClr val="AEABA2"/>
                </a:solidFill>
              </a:rPr>
              <a:t>Boundaries</a:t>
            </a:r>
          </a:p>
        </p:txBody>
      </p:sp>
      <p:sp>
        <p:nvSpPr>
          <p:cNvPr id="23" name="TextBox 22">
            <a:extLst>
              <a:ext uri="{FF2B5EF4-FFF2-40B4-BE49-F238E27FC236}">
                <a16:creationId xmlns:a16="http://schemas.microsoft.com/office/drawing/2014/main" id="{E383CF4C-25C4-48C0-F1C2-AB9EE577B8E3}"/>
              </a:ext>
            </a:extLst>
          </p:cNvPr>
          <p:cNvSpPr txBox="1"/>
          <p:nvPr/>
        </p:nvSpPr>
        <p:spPr>
          <a:xfrm>
            <a:off x="2820823" y="4944236"/>
            <a:ext cx="1839086" cy="646331"/>
          </a:xfrm>
          <a:prstGeom prst="rect">
            <a:avLst/>
          </a:prstGeom>
          <a:noFill/>
        </p:spPr>
        <p:txBody>
          <a:bodyPr wrap="square">
            <a:spAutoFit/>
          </a:bodyPr>
          <a:lstStyle/>
          <a:p>
            <a:pPr algn="ctr"/>
            <a:r>
              <a:rPr lang="en-US" b="1" dirty="0">
                <a:solidFill>
                  <a:srgbClr val="9AADBB"/>
                </a:solidFill>
              </a:rPr>
              <a:t>People and Built Spaces</a:t>
            </a:r>
            <a:endParaRPr lang="en-US" sz="1800" b="1" dirty="0">
              <a:solidFill>
                <a:srgbClr val="9AADBB"/>
              </a:solidFill>
            </a:endParaRPr>
          </a:p>
        </p:txBody>
      </p:sp>
      <p:sp>
        <p:nvSpPr>
          <p:cNvPr id="25" name="TextBox 24">
            <a:extLst>
              <a:ext uri="{FF2B5EF4-FFF2-40B4-BE49-F238E27FC236}">
                <a16:creationId xmlns:a16="http://schemas.microsoft.com/office/drawing/2014/main" id="{B70AF8D6-B717-54D8-7614-61EDCDD280DE}"/>
              </a:ext>
            </a:extLst>
          </p:cNvPr>
          <p:cNvSpPr txBox="1"/>
          <p:nvPr/>
        </p:nvSpPr>
        <p:spPr>
          <a:xfrm>
            <a:off x="5221758" y="4562033"/>
            <a:ext cx="3151503" cy="646331"/>
          </a:xfrm>
          <a:prstGeom prst="rect">
            <a:avLst/>
          </a:prstGeom>
          <a:noFill/>
        </p:spPr>
        <p:txBody>
          <a:bodyPr wrap="square">
            <a:spAutoFit/>
          </a:bodyPr>
          <a:lstStyle/>
          <a:p>
            <a:pPr algn="ctr"/>
            <a:r>
              <a:rPr lang="en-US" sz="1800" b="1" dirty="0">
                <a:solidFill>
                  <a:srgbClr val="BB9AAD"/>
                </a:solidFill>
              </a:rPr>
              <a:t>Pollution Sources and Impacts</a:t>
            </a:r>
          </a:p>
        </p:txBody>
      </p:sp>
      <p:sp>
        <p:nvSpPr>
          <p:cNvPr id="27" name="TextBox 26">
            <a:extLst>
              <a:ext uri="{FF2B5EF4-FFF2-40B4-BE49-F238E27FC236}">
                <a16:creationId xmlns:a16="http://schemas.microsoft.com/office/drawing/2014/main" id="{E8020AC3-3ABC-9AC8-2EAC-F9DE29AC758A}"/>
              </a:ext>
            </a:extLst>
          </p:cNvPr>
          <p:cNvSpPr txBox="1"/>
          <p:nvPr/>
        </p:nvSpPr>
        <p:spPr>
          <a:xfrm>
            <a:off x="9361532" y="2095114"/>
            <a:ext cx="2436299" cy="646331"/>
          </a:xfrm>
          <a:prstGeom prst="rect">
            <a:avLst/>
          </a:prstGeom>
          <a:noFill/>
        </p:spPr>
        <p:txBody>
          <a:bodyPr wrap="square">
            <a:spAutoFit/>
          </a:bodyPr>
          <a:lstStyle/>
          <a:p>
            <a:pPr algn="ctr"/>
            <a:r>
              <a:rPr lang="en-US" sz="1800" b="1" dirty="0">
                <a:solidFill>
                  <a:srgbClr val="ADBB9A"/>
                </a:solidFill>
              </a:rPr>
              <a:t>Ecosystem Services and Biodiversity</a:t>
            </a:r>
          </a:p>
        </p:txBody>
      </p:sp>
      <p:pic>
        <p:nvPicPr>
          <p:cNvPr id="29" name="Picture 28" descr="The image features the logo of the United States Environmental Protection Agency.&#10;&#10;AI-generated content may be incorrect.">
            <a:extLst>
              <a:ext uri="{FF2B5EF4-FFF2-40B4-BE49-F238E27FC236}">
                <a16:creationId xmlns:a16="http://schemas.microsoft.com/office/drawing/2014/main" id="{149DC94A-2749-3515-716C-487BCEF66786}"/>
              </a:ext>
            </a:extLst>
          </p:cNvPr>
          <p:cNvPicPr>
            <a:picLocks noChangeAspect="1"/>
          </p:cNvPicPr>
          <p:nvPr/>
        </p:nvPicPr>
        <p:blipFill>
          <a:blip r:embed="rId6"/>
          <a:stretch>
            <a:fillRect/>
          </a:stretch>
        </p:blipFill>
        <p:spPr>
          <a:xfrm>
            <a:off x="9459945" y="852594"/>
            <a:ext cx="2139004" cy="585067"/>
          </a:xfrm>
          <a:prstGeom prst="rect">
            <a:avLst/>
          </a:prstGeom>
        </p:spPr>
      </p:pic>
    </p:spTree>
    <p:extLst>
      <p:ext uri="{BB962C8B-B14F-4D97-AF65-F5344CB8AC3E}">
        <p14:creationId xmlns:p14="http://schemas.microsoft.com/office/powerpoint/2010/main" val="29220418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B39B475-BEB7-D780-5C3A-900FBD6C5A00}"/>
              </a:ext>
            </a:extLst>
          </p:cNvPr>
          <p:cNvSpPr txBox="1">
            <a:spLocks/>
          </p:cNvSpPr>
          <p:nvPr/>
        </p:nvSpPr>
        <p:spPr>
          <a:xfrm>
            <a:off x="838200" y="35568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70C0"/>
                </a:solidFill>
                <a:latin typeface="Calibri"/>
              </a:rPr>
              <a:t>Other Data Layer Sources</a:t>
            </a:r>
            <a:endParaRPr lang="en-US" dirty="0"/>
          </a:p>
        </p:txBody>
      </p:sp>
      <p:sp>
        <p:nvSpPr>
          <p:cNvPr id="5" name="Paleoclimate data…">
            <a:extLst>
              <a:ext uri="{FF2B5EF4-FFF2-40B4-BE49-F238E27FC236}">
                <a16:creationId xmlns:a16="http://schemas.microsoft.com/office/drawing/2014/main" id="{18481F27-589C-9B93-2610-45FBAE209481}"/>
              </a:ext>
            </a:extLst>
          </p:cNvPr>
          <p:cNvSpPr txBox="1">
            <a:spLocks noGrp="1"/>
          </p:cNvSpPr>
          <p:nvPr>
            <p:ph type="body" idx="1"/>
          </p:nvPr>
        </p:nvSpPr>
        <p:spPr>
          <a:xfrm>
            <a:off x="199434" y="1654458"/>
            <a:ext cx="7913077" cy="6286500"/>
          </a:xfrm>
          <a:prstGeom prst="rect">
            <a:avLst/>
          </a:prstGeom>
        </p:spPr>
        <p:txBody>
          <a:bodyPr>
            <a:normAutofit/>
          </a:bodyPr>
          <a:lstStyle/>
          <a:p>
            <a:pPr marL="130175" indent="0" defTabSz="763393">
              <a:spcBef>
                <a:spcPts val="0"/>
              </a:spcBef>
              <a:buSzTx/>
              <a:buNone/>
              <a:defRPr sz="3528" b="1">
                <a:latin typeface="Helvetica"/>
                <a:ea typeface="Helvetica"/>
                <a:cs typeface="Helvetica"/>
                <a:sym typeface="Helvetica"/>
              </a:defRPr>
            </a:pPr>
            <a:r>
              <a:rPr lang="en-US" sz="2800" i="1" dirty="0">
                <a:solidFill>
                  <a:srgbClr val="0070C0"/>
                </a:solidFill>
                <a:latin typeface="Calibri Light" panose="020F0302020204030204" pitchFamily="34" charset="0"/>
                <a:ea typeface="Calibri Light" panose="020F0302020204030204" pitchFamily="34" charset="0"/>
                <a:cs typeface="Calibri Light" panose="020F0302020204030204" pitchFamily="34" charset="0"/>
              </a:rPr>
              <a:t>Paleoclimate data</a:t>
            </a:r>
          </a:p>
          <a:p>
            <a:pPr marL="1149831" lvl="1" indent="-580841" defTabSz="763393">
              <a:spcBef>
                <a:spcPts val="0"/>
              </a:spcBef>
              <a:defRPr sz="3528"/>
            </a:pPr>
            <a:r>
              <a:rPr lang="en-US" sz="2800" dirty="0">
                <a:latin typeface="Calibri Light" panose="020F0302020204030204" pitchFamily="34" charset="0"/>
                <a:ea typeface="Calibri Light" panose="020F0302020204030204" pitchFamily="34" charset="0"/>
                <a:cs typeface="Calibri Light" panose="020F0302020204030204" pitchFamily="34" charset="0"/>
              </a:rPr>
              <a:t>NOAA/NCEI: </a:t>
            </a:r>
            <a:r>
              <a:rPr lang="en-US" sz="2800" dirty="0">
                <a:latin typeface="Calibri Light" panose="020F0302020204030204" pitchFamily="34" charset="0"/>
                <a:ea typeface="Calibri Light" panose="020F0302020204030204" pitchFamily="34" charset="0"/>
                <a:cs typeface="Calibri Light" panose="020F0302020204030204" pitchFamily="34" charset="0"/>
                <a:hlinkClick r:id="rId2"/>
              </a:rPr>
              <a:t>ncei.noaa.gov/products/paleoclimatology</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a:p>
            <a:pPr marL="1149831" lvl="1" indent="-580841" defTabSz="763393">
              <a:spcBef>
                <a:spcPts val="0"/>
              </a:spcBef>
              <a:defRPr sz="3528"/>
            </a:pPr>
            <a:r>
              <a:rPr lang="en-US" sz="2800" dirty="0">
                <a:latin typeface="Calibri Light" panose="020F0302020204030204" pitchFamily="34" charset="0"/>
                <a:ea typeface="Calibri Light" panose="020F0302020204030204" pitchFamily="34" charset="0"/>
                <a:cs typeface="Calibri Light" panose="020F0302020204030204" pitchFamily="34" charset="0"/>
              </a:rPr>
              <a:t>PMIP: </a:t>
            </a:r>
            <a:r>
              <a:rPr lang="en-US" sz="2800" u="sng" dirty="0">
                <a:latin typeface="Calibri Light" panose="020F0302020204030204" pitchFamily="34" charset="0"/>
                <a:ea typeface="Calibri Light" panose="020F0302020204030204" pitchFamily="34" charset="0"/>
                <a:cs typeface="Calibri Light" panose="020F0302020204030204" pitchFamily="34" charset="0"/>
                <a:hlinkClick r:id="rId3"/>
              </a:rPr>
              <a:t>pmip.lsce.ipsl.fr</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a:p>
            <a:pPr marL="1101427" lvl="1" indent="-532439" defTabSz="763393">
              <a:spcBef>
                <a:spcPts val="0"/>
              </a:spcBef>
              <a:defRPr sz="3528"/>
            </a:pPr>
            <a:r>
              <a:rPr lang="en-US" sz="2800" dirty="0" err="1">
                <a:latin typeface="Calibri Light" panose="020F0302020204030204" pitchFamily="34" charset="0"/>
                <a:ea typeface="Calibri Light" panose="020F0302020204030204" pitchFamily="34" charset="0"/>
                <a:cs typeface="Calibri Light" panose="020F0302020204030204" pitchFamily="34" charset="0"/>
              </a:rPr>
              <a:t>PaleoClim</a:t>
            </a:r>
            <a:r>
              <a:rPr lang="en-US" sz="2800" dirty="0">
                <a:latin typeface="Calibri Light" panose="020F0302020204030204" pitchFamily="34" charset="0"/>
                <a:ea typeface="Calibri Light" panose="020F0302020204030204" pitchFamily="34" charset="0"/>
                <a:cs typeface="Calibri Light" panose="020F0302020204030204" pitchFamily="34" charset="0"/>
              </a:rPr>
              <a:t>: </a:t>
            </a:r>
            <a:r>
              <a:rPr lang="en-US" sz="2800" u="sng" dirty="0">
                <a:latin typeface="Calibri Light" panose="020F0302020204030204" pitchFamily="34" charset="0"/>
                <a:ea typeface="Calibri Light" panose="020F0302020204030204" pitchFamily="34" charset="0"/>
                <a:cs typeface="Calibri Light" panose="020F0302020204030204" pitchFamily="34" charset="0"/>
                <a:hlinkClick r:id="rId4"/>
              </a:rPr>
              <a:t>paleoclim.org</a:t>
            </a:r>
          </a:p>
          <a:p>
            <a:pPr marL="1161684" lvl="2" indent="0" defTabSz="763393">
              <a:spcBef>
                <a:spcPts val="0"/>
              </a:spcBef>
              <a:buNone/>
              <a:defRPr sz="3528"/>
            </a:pPr>
            <a:endParaRPr lang="en-US" sz="2800" u="sng" dirty="0">
              <a:latin typeface="Calibri Light" panose="020F0302020204030204" pitchFamily="34" charset="0"/>
              <a:ea typeface="Calibri Light" panose="020F0302020204030204" pitchFamily="34" charset="0"/>
              <a:cs typeface="Calibri Light" panose="020F0302020204030204" pitchFamily="34" charset="0"/>
              <a:hlinkClick r:id="rId4"/>
            </a:endParaRPr>
          </a:p>
          <a:p>
            <a:pPr marL="0" lvl="1" indent="185738" defTabSz="763393">
              <a:spcBef>
                <a:spcPts val="0"/>
              </a:spcBef>
              <a:buSzTx/>
              <a:buNone/>
              <a:defRPr sz="3528" b="1">
                <a:latin typeface="Helvetica"/>
                <a:ea typeface="Helvetica"/>
                <a:cs typeface="Helvetica"/>
                <a:sym typeface="Helvetica"/>
              </a:defRPr>
            </a:pPr>
            <a:r>
              <a:rPr lang="en-US" sz="2800" i="1" dirty="0">
                <a:solidFill>
                  <a:srgbClr val="0070C0"/>
                </a:solidFill>
                <a:latin typeface="Calibri Light" panose="020F0302020204030204" pitchFamily="34" charset="0"/>
                <a:ea typeface="Calibri Light" panose="020F0302020204030204" pitchFamily="34" charset="0"/>
                <a:cs typeface="Calibri Light" panose="020F0302020204030204" pitchFamily="34" charset="0"/>
              </a:rPr>
              <a:t>Aquatic Environments</a:t>
            </a:r>
          </a:p>
          <a:p>
            <a:pPr marL="1149831" lvl="1" indent="-580841" defTabSz="763393">
              <a:spcBef>
                <a:spcPts val="0"/>
              </a:spcBef>
              <a:defRPr sz="3528"/>
            </a:pPr>
            <a:r>
              <a:rPr lang="en-US" sz="2800" dirty="0" err="1">
                <a:latin typeface="Calibri Light" panose="020F0302020204030204" pitchFamily="34" charset="0"/>
                <a:ea typeface="Calibri Light" panose="020F0302020204030204" pitchFamily="34" charset="0"/>
                <a:cs typeface="Calibri Light" panose="020F0302020204030204" pitchFamily="34" charset="0"/>
              </a:rPr>
              <a:t>AquaMaps</a:t>
            </a:r>
            <a:r>
              <a:rPr lang="en-US" sz="2800" dirty="0">
                <a:latin typeface="Calibri Light" panose="020F0302020204030204" pitchFamily="34" charset="0"/>
                <a:ea typeface="Calibri Light" panose="020F0302020204030204" pitchFamily="34" charset="0"/>
                <a:cs typeface="Calibri Light" panose="020F0302020204030204" pitchFamily="34" charset="0"/>
              </a:rPr>
              <a:t>: </a:t>
            </a:r>
            <a:r>
              <a:rPr lang="en-US" sz="2800" dirty="0">
                <a:latin typeface="Calibri Light" panose="020F0302020204030204" pitchFamily="34" charset="0"/>
                <a:ea typeface="Calibri Light" panose="020F0302020204030204" pitchFamily="34" charset="0"/>
                <a:cs typeface="Calibri Light" panose="020F0302020204030204" pitchFamily="34" charset="0"/>
                <a:hlinkClick r:id="rId5"/>
              </a:rPr>
              <a:t>aquamaps.org/main/</a:t>
            </a:r>
            <a:r>
              <a:rPr lang="en-US" sz="2800" dirty="0" err="1">
                <a:latin typeface="Calibri Light" panose="020F0302020204030204" pitchFamily="34" charset="0"/>
                <a:ea typeface="Calibri Light" panose="020F0302020204030204" pitchFamily="34" charset="0"/>
                <a:cs typeface="Calibri Light" panose="020F0302020204030204" pitchFamily="34" charset="0"/>
                <a:hlinkClick r:id="rId5"/>
              </a:rPr>
              <a:t>envt_data.php</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a:p>
            <a:pPr marL="1161686" lvl="2" indent="0" defTabSz="763393">
              <a:spcBef>
                <a:spcPts val="0"/>
              </a:spcBef>
              <a:buNone/>
              <a:defRPr sz="3528"/>
            </a:pP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a:p>
            <a:pPr marL="195263" lvl="2" indent="0" defTabSz="763393">
              <a:spcBef>
                <a:spcPts val="0"/>
              </a:spcBef>
              <a:buNone/>
              <a:defRPr sz="3528"/>
            </a:pPr>
            <a:r>
              <a:rPr lang="en-US" sz="2800" b="1" i="1" dirty="0">
                <a:solidFill>
                  <a:srgbClr val="0070C0"/>
                </a:solidFill>
                <a:latin typeface="Calibri Light" panose="020F0302020204030204" pitchFamily="34" charset="0"/>
                <a:ea typeface="Calibri Light" panose="020F0302020204030204" pitchFamily="34" charset="0"/>
                <a:cs typeface="Calibri Light" panose="020F0302020204030204" pitchFamily="34" charset="0"/>
              </a:rPr>
              <a:t>Hourly or Daily data</a:t>
            </a:r>
          </a:p>
          <a:p>
            <a:pPr marL="1140853" lvl="3" indent="-585788" defTabSz="763393">
              <a:spcBef>
                <a:spcPts val="0"/>
              </a:spcBef>
              <a:defRPr sz="3528"/>
            </a:pPr>
            <a:r>
              <a:rPr lang="en-US" sz="2800" dirty="0" err="1">
                <a:latin typeface="Calibri Light" panose="020F0302020204030204" pitchFamily="34" charset="0"/>
                <a:ea typeface="Calibri Light" panose="020F0302020204030204" pitchFamily="34" charset="0"/>
                <a:cs typeface="Calibri Light" panose="020F0302020204030204" pitchFamily="34" charset="0"/>
              </a:rPr>
              <a:t>Daymet</a:t>
            </a:r>
            <a:r>
              <a:rPr lang="en-US" sz="2800" dirty="0">
                <a:latin typeface="Calibri Light" panose="020F0302020204030204" pitchFamily="34" charset="0"/>
                <a:ea typeface="Calibri Light" panose="020F0302020204030204" pitchFamily="34" charset="0"/>
                <a:cs typeface="Calibri Light" panose="020F0302020204030204" pitchFamily="34" charset="0"/>
              </a:rPr>
              <a:t>: </a:t>
            </a:r>
            <a:r>
              <a:rPr lang="en-US" sz="2800" dirty="0">
                <a:latin typeface="Calibri Light" panose="020F0302020204030204" pitchFamily="34" charset="0"/>
                <a:ea typeface="Calibri Light" panose="020F0302020204030204" pitchFamily="34" charset="0"/>
                <a:cs typeface="Calibri Light" panose="020F0302020204030204" pitchFamily="34" charset="0"/>
                <a:hlinkClick r:id="rId6"/>
              </a:rPr>
              <a:t>daymet.ornl.gov</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a:p>
            <a:pPr marL="1140853" lvl="3" indent="-585788" defTabSz="763393">
              <a:spcBef>
                <a:spcPts val="0"/>
              </a:spcBef>
              <a:defRPr sz="3528"/>
            </a:pPr>
            <a:r>
              <a:rPr lang="en-US" sz="2800" dirty="0">
                <a:latin typeface="Calibri Light" panose="020F0302020204030204" pitchFamily="34" charset="0"/>
                <a:ea typeface="Calibri Light" panose="020F0302020204030204" pitchFamily="34" charset="0"/>
                <a:cs typeface="Calibri Light" panose="020F0302020204030204" pitchFamily="34" charset="0"/>
              </a:rPr>
              <a:t>OGIMET: </a:t>
            </a:r>
            <a:r>
              <a:rPr lang="en-US" sz="2800" dirty="0">
                <a:latin typeface="Calibri Light" panose="020F0302020204030204" pitchFamily="34" charset="0"/>
                <a:ea typeface="Calibri Light" panose="020F0302020204030204" pitchFamily="34" charset="0"/>
                <a:cs typeface="Calibri Light" panose="020F0302020204030204" pitchFamily="34" charset="0"/>
                <a:hlinkClick r:id="rId7"/>
              </a:rPr>
              <a:t>ogimet.com</a:t>
            </a:r>
            <a:r>
              <a:rPr lang="en-US" sz="2800" dirty="0">
                <a:latin typeface="Calibri Light" panose="020F0302020204030204" pitchFamily="34" charset="0"/>
                <a:ea typeface="Calibri Light" panose="020F0302020204030204" pitchFamily="34" charset="0"/>
                <a:cs typeface="Calibri Light" panose="020F0302020204030204" pitchFamily="34" charset="0"/>
              </a:rPr>
              <a:t> </a:t>
            </a:r>
          </a:p>
          <a:p>
            <a:pPr marL="555065" lvl="3" indent="0" defTabSz="763393">
              <a:spcBef>
                <a:spcPts val="0"/>
              </a:spcBef>
              <a:buNone/>
              <a:defRPr sz="3528"/>
            </a:pP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a:p>
            <a:pPr marL="1147762" lvl="4" indent="0" defTabSz="763393">
              <a:spcBef>
                <a:spcPts val="0"/>
              </a:spcBef>
              <a:buNone/>
              <a:defRPr sz="3528"/>
            </a:pP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11" name="Picture 10" descr="NATIONAL OCEANIC AND ATMOSPHERIC ADMINISTRATION&#10;&#10;AI-generated content may be incorrect.">
            <a:extLst>
              <a:ext uri="{FF2B5EF4-FFF2-40B4-BE49-F238E27FC236}">
                <a16:creationId xmlns:a16="http://schemas.microsoft.com/office/drawing/2014/main" id="{262B4A8C-8E6D-AA33-E069-AFACE5DE0799}"/>
              </a:ext>
            </a:extLst>
          </p:cNvPr>
          <p:cNvPicPr>
            <a:picLocks noChangeAspect="1"/>
          </p:cNvPicPr>
          <p:nvPr/>
        </p:nvPicPr>
        <p:blipFill>
          <a:blip r:embed="rId8"/>
          <a:stretch>
            <a:fillRect/>
          </a:stretch>
        </p:blipFill>
        <p:spPr>
          <a:xfrm>
            <a:off x="8467952" y="1824918"/>
            <a:ext cx="2169174" cy="591593"/>
          </a:xfrm>
          <a:prstGeom prst="rect">
            <a:avLst/>
          </a:prstGeom>
        </p:spPr>
      </p:pic>
      <p:pic>
        <p:nvPicPr>
          <p:cNvPr id="13" name="Picture 12" descr="The text provided does not contain an actual image for me to describe. If you have an image you'd like me to describe, please provide the image or describe it for me.&#10;&#10;AI-generated content may be incorrect.">
            <a:extLst>
              <a:ext uri="{FF2B5EF4-FFF2-40B4-BE49-F238E27FC236}">
                <a16:creationId xmlns:a16="http://schemas.microsoft.com/office/drawing/2014/main" id="{7A85BD55-E729-C552-CA19-B50BF4B9EF75}"/>
              </a:ext>
            </a:extLst>
          </p:cNvPr>
          <p:cNvPicPr>
            <a:picLocks noChangeAspect="1"/>
          </p:cNvPicPr>
          <p:nvPr/>
        </p:nvPicPr>
        <p:blipFill>
          <a:blip r:embed="rId9"/>
          <a:stretch>
            <a:fillRect/>
          </a:stretch>
        </p:blipFill>
        <p:spPr>
          <a:xfrm>
            <a:off x="8467952" y="2423283"/>
            <a:ext cx="2169174" cy="823031"/>
          </a:xfrm>
          <a:prstGeom prst="rect">
            <a:avLst/>
          </a:prstGeom>
        </p:spPr>
      </p:pic>
      <p:pic>
        <p:nvPicPr>
          <p:cNvPr id="15" name="Picture 14" descr="Paleoclim&#10;&#10;AI-generated content may be incorrect.">
            <a:extLst>
              <a:ext uri="{FF2B5EF4-FFF2-40B4-BE49-F238E27FC236}">
                <a16:creationId xmlns:a16="http://schemas.microsoft.com/office/drawing/2014/main" id="{ED5576AA-EF9F-010C-3AB0-71881774D8ED}"/>
              </a:ext>
            </a:extLst>
          </p:cNvPr>
          <p:cNvPicPr>
            <a:picLocks noChangeAspect="1"/>
          </p:cNvPicPr>
          <p:nvPr/>
        </p:nvPicPr>
        <p:blipFill>
          <a:blip r:embed="rId10"/>
          <a:stretch>
            <a:fillRect/>
          </a:stretch>
        </p:blipFill>
        <p:spPr>
          <a:xfrm>
            <a:off x="8524725" y="3154232"/>
            <a:ext cx="2055629" cy="386755"/>
          </a:xfrm>
          <a:prstGeom prst="rect">
            <a:avLst/>
          </a:prstGeom>
        </p:spPr>
      </p:pic>
      <p:pic>
        <p:nvPicPr>
          <p:cNvPr id="17" name="Picture 16" descr="AquaMaps logo with a world globe symbol.&#10;&#10;AI-generated content may be incorrect.">
            <a:extLst>
              <a:ext uri="{FF2B5EF4-FFF2-40B4-BE49-F238E27FC236}">
                <a16:creationId xmlns:a16="http://schemas.microsoft.com/office/drawing/2014/main" id="{6F886505-37C3-50BF-DD1B-E5DF180C611A}"/>
              </a:ext>
            </a:extLst>
          </p:cNvPr>
          <p:cNvPicPr>
            <a:picLocks noChangeAspect="1"/>
          </p:cNvPicPr>
          <p:nvPr/>
        </p:nvPicPr>
        <p:blipFill>
          <a:blip r:embed="rId11"/>
          <a:stretch>
            <a:fillRect/>
          </a:stretch>
        </p:blipFill>
        <p:spPr>
          <a:xfrm>
            <a:off x="7751279" y="3995924"/>
            <a:ext cx="3602521" cy="629774"/>
          </a:xfrm>
          <a:prstGeom prst="rect">
            <a:avLst/>
          </a:prstGeom>
        </p:spPr>
      </p:pic>
      <p:pic>
        <p:nvPicPr>
          <p:cNvPr id="19" name="Picture 18" descr="OGIMET&#10;&#10;AI-generated content may be incorrect.">
            <a:extLst>
              <a:ext uri="{FF2B5EF4-FFF2-40B4-BE49-F238E27FC236}">
                <a16:creationId xmlns:a16="http://schemas.microsoft.com/office/drawing/2014/main" id="{4DA58F4D-9BE3-B174-B211-44497E9874BD}"/>
              </a:ext>
            </a:extLst>
          </p:cNvPr>
          <p:cNvPicPr>
            <a:picLocks noChangeAspect="1"/>
          </p:cNvPicPr>
          <p:nvPr/>
        </p:nvPicPr>
        <p:blipFill>
          <a:blip r:embed="rId12"/>
          <a:stretch>
            <a:fillRect/>
          </a:stretch>
        </p:blipFill>
        <p:spPr>
          <a:xfrm>
            <a:off x="8036028" y="5907905"/>
            <a:ext cx="3033023" cy="594412"/>
          </a:xfrm>
          <a:prstGeom prst="rect">
            <a:avLst/>
          </a:prstGeom>
        </p:spPr>
      </p:pic>
      <p:pic>
        <p:nvPicPr>
          <p:cNvPr id="21" name="Picture 20" descr="The image prominently displays the logo and slogan of DAYMET, an organization specializing in daily surface weather and climate summaries, alongside the ORNL DAAC acronym.&#10;&#10;AI-generated content may be incorrect.">
            <a:extLst>
              <a:ext uri="{FF2B5EF4-FFF2-40B4-BE49-F238E27FC236}">
                <a16:creationId xmlns:a16="http://schemas.microsoft.com/office/drawing/2014/main" id="{045DEE2A-419A-F481-441D-49223AF20154}"/>
              </a:ext>
            </a:extLst>
          </p:cNvPr>
          <p:cNvPicPr>
            <a:picLocks noChangeAspect="1"/>
          </p:cNvPicPr>
          <p:nvPr/>
        </p:nvPicPr>
        <p:blipFill>
          <a:blip r:embed="rId13"/>
          <a:stretch>
            <a:fillRect/>
          </a:stretch>
        </p:blipFill>
        <p:spPr>
          <a:xfrm>
            <a:off x="8545339" y="5120400"/>
            <a:ext cx="2014400" cy="680396"/>
          </a:xfrm>
          <a:prstGeom prst="rect">
            <a:avLst/>
          </a:prstGeom>
        </p:spPr>
      </p:pic>
    </p:spTree>
    <p:extLst>
      <p:ext uri="{BB962C8B-B14F-4D97-AF65-F5344CB8AC3E}">
        <p14:creationId xmlns:p14="http://schemas.microsoft.com/office/powerpoint/2010/main" val="3509005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AD595A-CF1C-869B-B69B-E75A046BA902}"/>
              </a:ext>
            </a:extLst>
          </p:cNvPr>
          <p:cNvSpPr>
            <a:spLocks noGrp="1"/>
          </p:cNvSpPr>
          <p:nvPr>
            <p:ph type="body" idx="1"/>
          </p:nvPr>
        </p:nvSpPr>
        <p:spPr>
          <a:xfrm>
            <a:off x="838200" y="1825625"/>
            <a:ext cx="10515600" cy="1603375"/>
          </a:xfrm>
        </p:spPr>
        <p:txBody>
          <a:bodyPr/>
          <a:lstStyle/>
          <a:p>
            <a:pPr marL="0" indent="0">
              <a:buNone/>
            </a:pPr>
            <a:r>
              <a:rPr lang="en-US" b="1" dirty="0">
                <a:solidFill>
                  <a:srgbClr val="0070C0"/>
                </a:solidFill>
              </a:rPr>
              <a:t>Goal: </a:t>
            </a:r>
          </a:p>
          <a:p>
            <a:pPr marL="0" indent="0">
              <a:buNone/>
            </a:pPr>
            <a:r>
              <a:rPr lang="en-US" dirty="0"/>
              <a:t>Examine the data to determine variables of interest, possible issues, and developing trends </a:t>
            </a:r>
          </a:p>
        </p:txBody>
      </p:sp>
      <p:sp>
        <p:nvSpPr>
          <p:cNvPr id="5" name="Title 1">
            <a:extLst>
              <a:ext uri="{FF2B5EF4-FFF2-40B4-BE49-F238E27FC236}">
                <a16:creationId xmlns:a16="http://schemas.microsoft.com/office/drawing/2014/main" id="{05F1F89B-E512-50B8-1300-D101F2D524B3}"/>
              </a:ext>
            </a:extLst>
          </p:cNvPr>
          <p:cNvSpPr txBox="1">
            <a:spLocks/>
          </p:cNvSpPr>
          <p:nvPr/>
        </p:nvSpPr>
        <p:spPr>
          <a:xfrm>
            <a:off x="838200" y="35568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70C0"/>
                </a:solidFill>
                <a:latin typeface="Calibri"/>
              </a:rPr>
              <a:t>Data Exploration</a:t>
            </a:r>
            <a:endParaRPr lang="en-US" dirty="0"/>
          </a:p>
        </p:txBody>
      </p:sp>
      <p:sp>
        <p:nvSpPr>
          <p:cNvPr id="7" name="TextBox 6">
            <a:extLst>
              <a:ext uri="{FF2B5EF4-FFF2-40B4-BE49-F238E27FC236}">
                <a16:creationId xmlns:a16="http://schemas.microsoft.com/office/drawing/2014/main" id="{BDA9B7EE-3BC2-9529-8878-944A9F953649}"/>
              </a:ext>
            </a:extLst>
          </p:cNvPr>
          <p:cNvSpPr txBox="1"/>
          <p:nvPr/>
        </p:nvSpPr>
        <p:spPr>
          <a:xfrm>
            <a:off x="838200" y="3573379"/>
            <a:ext cx="6100354" cy="523220"/>
          </a:xfrm>
          <a:prstGeom prst="rect">
            <a:avLst/>
          </a:prstGeom>
          <a:noFill/>
        </p:spPr>
        <p:txBody>
          <a:bodyPr wrap="square">
            <a:spAutoFit/>
          </a:bodyPr>
          <a:lstStyle/>
          <a:p>
            <a:pPr marL="0" indent="0">
              <a:buNone/>
            </a:pPr>
            <a:r>
              <a:rPr lang="en-US" sz="2800" b="1" dirty="0">
                <a:solidFill>
                  <a:srgbClr val="0070C0"/>
                </a:solidFill>
              </a:rPr>
              <a:t>Using:</a:t>
            </a:r>
          </a:p>
        </p:txBody>
      </p:sp>
      <p:sp>
        <p:nvSpPr>
          <p:cNvPr id="9" name="TextBox 8">
            <a:extLst>
              <a:ext uri="{FF2B5EF4-FFF2-40B4-BE49-F238E27FC236}">
                <a16:creationId xmlns:a16="http://schemas.microsoft.com/office/drawing/2014/main" id="{745659E1-C032-0B66-14C9-A437D4F0CEB9}"/>
              </a:ext>
            </a:extLst>
          </p:cNvPr>
          <p:cNvSpPr txBox="1"/>
          <p:nvPr/>
        </p:nvSpPr>
        <p:spPr>
          <a:xfrm>
            <a:off x="1563188" y="5671320"/>
            <a:ext cx="4021183" cy="830997"/>
          </a:xfrm>
          <a:prstGeom prst="rect">
            <a:avLst/>
          </a:prstGeom>
          <a:noFill/>
        </p:spPr>
        <p:txBody>
          <a:bodyPr wrap="square">
            <a:spAutoFit/>
          </a:bodyPr>
          <a:lstStyle/>
          <a:p>
            <a:pPr marL="0" indent="0" algn="ctr">
              <a:buNone/>
            </a:pPr>
            <a:r>
              <a:rPr lang="en-US" sz="2400" dirty="0"/>
              <a:t>Cleaned, georeferenced occurrences</a:t>
            </a:r>
          </a:p>
        </p:txBody>
      </p:sp>
      <p:sp>
        <p:nvSpPr>
          <p:cNvPr id="11" name="TextBox 10">
            <a:extLst>
              <a:ext uri="{FF2B5EF4-FFF2-40B4-BE49-F238E27FC236}">
                <a16:creationId xmlns:a16="http://schemas.microsoft.com/office/drawing/2014/main" id="{9114B005-473E-0496-9ECE-9EB293A737C1}"/>
              </a:ext>
            </a:extLst>
          </p:cNvPr>
          <p:cNvSpPr txBox="1"/>
          <p:nvPr/>
        </p:nvSpPr>
        <p:spPr>
          <a:xfrm>
            <a:off x="7147560" y="5699486"/>
            <a:ext cx="3481252" cy="830997"/>
          </a:xfrm>
          <a:prstGeom prst="rect">
            <a:avLst/>
          </a:prstGeom>
          <a:noFill/>
        </p:spPr>
        <p:txBody>
          <a:bodyPr wrap="square">
            <a:spAutoFit/>
          </a:bodyPr>
          <a:lstStyle/>
          <a:p>
            <a:pPr marL="0" indent="0" algn="ctr">
              <a:buNone/>
            </a:pPr>
            <a:r>
              <a:rPr lang="en-US" sz="2400" dirty="0"/>
              <a:t>Environmental variables of interest (</a:t>
            </a:r>
            <a:r>
              <a:rPr lang="en-US" sz="2400" dirty="0" err="1"/>
              <a:t>rasters</a:t>
            </a:r>
            <a:r>
              <a:rPr lang="en-US" sz="2400" dirty="0"/>
              <a:t>)</a:t>
            </a:r>
          </a:p>
        </p:txBody>
      </p:sp>
      <p:pic>
        <p:nvPicPr>
          <p:cNvPr id="13" name="Screen Shot 2016-10-04 at 12.39.00 PM.png" descr="Screen Shot 2016-10-04 at 12.39.00 PM.png">
            <a:extLst>
              <a:ext uri="{FF2B5EF4-FFF2-40B4-BE49-F238E27FC236}">
                <a16:creationId xmlns:a16="http://schemas.microsoft.com/office/drawing/2014/main" id="{1B132C51-5619-3F69-E7FD-9D8834A061A5}"/>
              </a:ext>
            </a:extLst>
          </p:cNvPr>
          <p:cNvPicPr>
            <a:picLocks noChangeAspect="1"/>
          </p:cNvPicPr>
          <p:nvPr/>
        </p:nvPicPr>
        <p:blipFill>
          <a:blip r:embed="rId2"/>
          <a:stretch>
            <a:fillRect/>
          </a:stretch>
        </p:blipFill>
        <p:spPr>
          <a:xfrm>
            <a:off x="2007325" y="4243853"/>
            <a:ext cx="3061063" cy="1229183"/>
          </a:xfrm>
          <a:prstGeom prst="rect">
            <a:avLst/>
          </a:prstGeom>
          <a:ln w="25400">
            <a:solidFill>
              <a:srgbClr val="000000"/>
            </a:solidFill>
            <a:miter lim="400000"/>
          </a:ln>
        </p:spPr>
      </p:pic>
      <p:pic>
        <p:nvPicPr>
          <p:cNvPr id="16" name="Picture 15" descr="ClimateNA - Current, historical and projected climate data for North America">
            <a:extLst>
              <a:ext uri="{FF2B5EF4-FFF2-40B4-BE49-F238E27FC236}">
                <a16:creationId xmlns:a16="http://schemas.microsoft.com/office/drawing/2014/main" id="{AD1674C9-7238-1DF2-78B0-DB88605724C7}"/>
              </a:ext>
            </a:extLst>
          </p:cNvPr>
          <p:cNvPicPr>
            <a:picLocks noChangeAspect="1"/>
          </p:cNvPicPr>
          <p:nvPr/>
        </p:nvPicPr>
        <p:blipFill>
          <a:blip r:embed="rId3"/>
          <a:stretch>
            <a:fillRect/>
          </a:stretch>
        </p:blipFill>
        <p:spPr>
          <a:xfrm>
            <a:off x="7829072" y="3233513"/>
            <a:ext cx="2118228" cy="2379238"/>
          </a:xfrm>
          <a:prstGeom prst="rect">
            <a:avLst/>
          </a:prstGeom>
        </p:spPr>
      </p:pic>
    </p:spTree>
    <p:extLst>
      <p:ext uri="{BB962C8B-B14F-4D97-AF65-F5344CB8AC3E}">
        <p14:creationId xmlns:p14="http://schemas.microsoft.com/office/powerpoint/2010/main" val="39185423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D8CA8-98CF-3F4B-898E-FE183A0FA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9095F-C0CA-5086-20AA-6B7A29B33025}"/>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Extracting Climatic Variables at Occurrences</a:t>
            </a:r>
            <a:endParaRPr lang="en-US" dirty="0"/>
          </a:p>
        </p:txBody>
      </p:sp>
      <p:grpSp>
        <p:nvGrpSpPr>
          <p:cNvPr id="24" name="Group 23">
            <a:extLst>
              <a:ext uri="{FF2B5EF4-FFF2-40B4-BE49-F238E27FC236}">
                <a16:creationId xmlns:a16="http://schemas.microsoft.com/office/drawing/2014/main" id="{A992B94F-6121-7A6F-3282-EB9D76385AAA}"/>
              </a:ext>
            </a:extLst>
          </p:cNvPr>
          <p:cNvGrpSpPr/>
          <p:nvPr/>
        </p:nvGrpSpPr>
        <p:grpSpPr>
          <a:xfrm rot="16191323">
            <a:off x="6958032" y="1393986"/>
            <a:ext cx="2448204" cy="2448204"/>
            <a:chOff x="8245740" y="2264001"/>
            <a:chExt cx="2448204" cy="2448204"/>
          </a:xfrm>
          <a:scene3d>
            <a:camera prst="perspectiveLeft"/>
            <a:lightRig rig="threePt" dir="t"/>
          </a:scene3d>
        </p:grpSpPr>
        <p:pic>
          <p:nvPicPr>
            <p:cNvPr id="49" name="Graphic 48" descr="Table outline">
              <a:extLst>
                <a:ext uri="{FF2B5EF4-FFF2-40B4-BE49-F238E27FC236}">
                  <a16:creationId xmlns:a16="http://schemas.microsoft.com/office/drawing/2014/main" id="{0B405E00-3F69-7119-F6F1-BF5DD64048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8245740" y="2264001"/>
              <a:ext cx="2448204" cy="2448204"/>
            </a:xfrm>
            <a:prstGeom prst="rect">
              <a:avLst/>
            </a:prstGeom>
          </p:spPr>
        </p:pic>
        <p:grpSp>
          <p:nvGrpSpPr>
            <p:cNvPr id="51" name="Group 50">
              <a:extLst>
                <a:ext uri="{FF2B5EF4-FFF2-40B4-BE49-F238E27FC236}">
                  <a16:creationId xmlns:a16="http://schemas.microsoft.com/office/drawing/2014/main" id="{A91C0F87-D638-9935-9D96-F3B960799D7E}"/>
                </a:ext>
              </a:extLst>
            </p:cNvPr>
            <p:cNvGrpSpPr/>
            <p:nvPr/>
          </p:nvGrpSpPr>
          <p:grpSpPr>
            <a:xfrm>
              <a:off x="8876172" y="2552959"/>
              <a:ext cx="1204533" cy="1870345"/>
              <a:chOff x="8876172" y="2552959"/>
              <a:chExt cx="1204533" cy="1870345"/>
            </a:xfrm>
          </p:grpSpPr>
          <p:sp>
            <p:nvSpPr>
              <p:cNvPr id="52" name="Rectangle 51">
                <a:extLst>
                  <a:ext uri="{FF2B5EF4-FFF2-40B4-BE49-F238E27FC236}">
                    <a16:creationId xmlns:a16="http://schemas.microsoft.com/office/drawing/2014/main" id="{64BF98DC-620D-6761-2C4C-252388DA2427}"/>
                  </a:ext>
                </a:extLst>
              </p:cNvPr>
              <p:cNvSpPr/>
              <p:nvPr/>
            </p:nvSpPr>
            <p:spPr>
              <a:xfrm rot="5400000">
                <a:off x="8756371" y="2678909"/>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84893A-0A7E-37B8-9A3F-90571E2A029F}"/>
                  </a:ext>
                </a:extLst>
              </p:cNvPr>
              <p:cNvSpPr/>
              <p:nvPr/>
            </p:nvSpPr>
            <p:spPr>
              <a:xfrm rot="5400000">
                <a:off x="8756371" y="3317309"/>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D2B4239D-77D7-804E-C811-81ED28968D9B}"/>
                  </a:ext>
                </a:extLst>
              </p:cNvPr>
              <p:cNvSpPr/>
              <p:nvPr/>
            </p:nvSpPr>
            <p:spPr>
              <a:xfrm rot="5400000">
                <a:off x="8756371" y="3933761"/>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71CD1CDB-A162-8DD8-441E-AF4C8F7BA595}"/>
                  </a:ext>
                </a:extLst>
              </p:cNvPr>
              <p:cNvSpPr/>
              <p:nvPr/>
            </p:nvSpPr>
            <p:spPr>
              <a:xfrm rot="5400000">
                <a:off x="9173767" y="2673151"/>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C2A24AB3-6D20-B006-ECBD-DECB464B0460}"/>
                  </a:ext>
                </a:extLst>
              </p:cNvPr>
              <p:cNvSpPr/>
              <p:nvPr/>
            </p:nvSpPr>
            <p:spPr>
              <a:xfrm rot="5400000">
                <a:off x="9173767" y="3311551"/>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ECF39C0A-9118-7287-9D2D-24CEAB6FECA9}"/>
                  </a:ext>
                </a:extLst>
              </p:cNvPr>
              <p:cNvSpPr/>
              <p:nvPr/>
            </p:nvSpPr>
            <p:spPr>
              <a:xfrm rot="5400000">
                <a:off x="9173767" y="3928003"/>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835114BE-3203-29A8-B169-E46A0868FE43}"/>
                  </a:ext>
                </a:extLst>
              </p:cNvPr>
              <p:cNvSpPr/>
              <p:nvPr/>
            </p:nvSpPr>
            <p:spPr>
              <a:xfrm rot="5400000">
                <a:off x="9591162" y="2672760"/>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65996ED-36CD-07FA-4B6D-586017829FF7}"/>
                  </a:ext>
                </a:extLst>
              </p:cNvPr>
              <p:cNvSpPr/>
              <p:nvPr/>
            </p:nvSpPr>
            <p:spPr>
              <a:xfrm rot="5400000">
                <a:off x="9591162" y="3311160"/>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D950D1D1-280B-57A2-3BC1-2A4E4154DA03}"/>
                  </a:ext>
                </a:extLst>
              </p:cNvPr>
              <p:cNvSpPr/>
              <p:nvPr/>
            </p:nvSpPr>
            <p:spPr>
              <a:xfrm rot="5400000">
                <a:off x="9591162" y="3927612"/>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6" name="Group 25">
            <a:extLst>
              <a:ext uri="{FF2B5EF4-FFF2-40B4-BE49-F238E27FC236}">
                <a16:creationId xmlns:a16="http://schemas.microsoft.com/office/drawing/2014/main" id="{63F9379F-7663-91E1-27CD-8BD7F46BC56D}"/>
              </a:ext>
            </a:extLst>
          </p:cNvPr>
          <p:cNvGrpSpPr/>
          <p:nvPr/>
        </p:nvGrpSpPr>
        <p:grpSpPr>
          <a:xfrm rot="16235076">
            <a:off x="4853844" y="1389578"/>
            <a:ext cx="2448204" cy="2448204"/>
            <a:chOff x="7414446" y="1927315"/>
            <a:chExt cx="2448204" cy="2448204"/>
          </a:xfrm>
        </p:grpSpPr>
        <p:pic>
          <p:nvPicPr>
            <p:cNvPr id="39" name="Graphic 38" descr="Table outline">
              <a:extLst>
                <a:ext uri="{FF2B5EF4-FFF2-40B4-BE49-F238E27FC236}">
                  <a16:creationId xmlns:a16="http://schemas.microsoft.com/office/drawing/2014/main" id="{630364D3-194F-BBAB-6B67-7A8665F480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7414446" y="1927315"/>
              <a:ext cx="2448204" cy="2448204"/>
            </a:xfrm>
            <a:prstGeom prst="rect">
              <a:avLst/>
            </a:prstGeom>
          </p:spPr>
        </p:pic>
        <p:sp>
          <p:nvSpPr>
            <p:cNvPr id="40" name="Rectangle 39">
              <a:extLst>
                <a:ext uri="{FF2B5EF4-FFF2-40B4-BE49-F238E27FC236}">
                  <a16:creationId xmlns:a16="http://schemas.microsoft.com/office/drawing/2014/main" id="{26FC5592-ECB5-F39F-CB8E-113C2CB739C5}"/>
                </a:ext>
              </a:extLst>
            </p:cNvPr>
            <p:cNvSpPr/>
            <p:nvPr/>
          </p:nvSpPr>
          <p:spPr>
            <a:xfrm rot="5400000">
              <a:off x="7925077" y="2342223"/>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9372A36-40FB-8D01-865E-966A10021145}"/>
                </a:ext>
              </a:extLst>
            </p:cNvPr>
            <p:cNvSpPr/>
            <p:nvPr/>
          </p:nvSpPr>
          <p:spPr>
            <a:xfrm rot="5400000">
              <a:off x="7925077" y="2980623"/>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4A4EE58F-34B8-84F9-51AE-E58603878750}"/>
                </a:ext>
              </a:extLst>
            </p:cNvPr>
            <p:cNvSpPr/>
            <p:nvPr/>
          </p:nvSpPr>
          <p:spPr>
            <a:xfrm rot="5400000">
              <a:off x="7925077" y="359707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C654D970-5930-91A1-5124-5F6DDC34533E}"/>
                </a:ext>
              </a:extLst>
            </p:cNvPr>
            <p:cNvSpPr/>
            <p:nvPr/>
          </p:nvSpPr>
          <p:spPr>
            <a:xfrm rot="5400000">
              <a:off x="8342473" y="2336465"/>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175F7F7-CE2E-9256-5192-1A7A425D8E89}"/>
                </a:ext>
              </a:extLst>
            </p:cNvPr>
            <p:cNvSpPr/>
            <p:nvPr/>
          </p:nvSpPr>
          <p:spPr>
            <a:xfrm rot="5400000">
              <a:off x="8342473" y="2974865"/>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7DC5C0A8-6A75-5BA6-BF5A-2846D1DAE13C}"/>
                </a:ext>
              </a:extLst>
            </p:cNvPr>
            <p:cNvSpPr/>
            <p:nvPr/>
          </p:nvSpPr>
          <p:spPr>
            <a:xfrm rot="5400000">
              <a:off x="8342473" y="3591317"/>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8949BB4E-7258-05BC-F89B-7EAA4624611D}"/>
                </a:ext>
              </a:extLst>
            </p:cNvPr>
            <p:cNvSpPr/>
            <p:nvPr/>
          </p:nvSpPr>
          <p:spPr>
            <a:xfrm rot="5400000">
              <a:off x="8759868" y="23360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A103A41-BF9F-172E-68EE-DC8E682B720A}"/>
                </a:ext>
              </a:extLst>
            </p:cNvPr>
            <p:cNvSpPr/>
            <p:nvPr/>
          </p:nvSpPr>
          <p:spPr>
            <a:xfrm rot="5400000">
              <a:off x="8759868" y="29744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FA71F238-C46D-A631-1A18-55E1553AF667}"/>
                </a:ext>
              </a:extLst>
            </p:cNvPr>
            <p:cNvSpPr/>
            <p:nvPr/>
          </p:nvSpPr>
          <p:spPr>
            <a:xfrm rot="5400000">
              <a:off x="8759868" y="3590926"/>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93516DE8-031D-9E2B-72EF-88D5560F6ECA}"/>
              </a:ext>
            </a:extLst>
          </p:cNvPr>
          <p:cNvGrpSpPr/>
          <p:nvPr/>
        </p:nvGrpSpPr>
        <p:grpSpPr>
          <a:xfrm rot="16191323">
            <a:off x="2733728" y="1366770"/>
            <a:ext cx="2448204" cy="2448204"/>
            <a:chOff x="8245740" y="2264001"/>
            <a:chExt cx="2448204" cy="2448204"/>
          </a:xfrm>
          <a:scene3d>
            <a:camera prst="perspectiveLeft"/>
            <a:lightRig rig="threePt" dir="t"/>
          </a:scene3d>
        </p:grpSpPr>
        <p:pic>
          <p:nvPicPr>
            <p:cNvPr id="28" name="Graphic 27" descr="Table outline">
              <a:extLst>
                <a:ext uri="{FF2B5EF4-FFF2-40B4-BE49-F238E27FC236}">
                  <a16:creationId xmlns:a16="http://schemas.microsoft.com/office/drawing/2014/main" id="{706A9606-EB42-0465-FBFC-048D311DA8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8245740" y="2264001"/>
              <a:ext cx="2448204" cy="2448204"/>
            </a:xfrm>
            <a:prstGeom prst="rect">
              <a:avLst/>
            </a:prstGeom>
          </p:spPr>
        </p:pic>
        <p:grpSp>
          <p:nvGrpSpPr>
            <p:cNvPr id="29" name="Group 28">
              <a:extLst>
                <a:ext uri="{FF2B5EF4-FFF2-40B4-BE49-F238E27FC236}">
                  <a16:creationId xmlns:a16="http://schemas.microsoft.com/office/drawing/2014/main" id="{C75597A8-BF0C-E742-8617-19287D55E180}"/>
                </a:ext>
              </a:extLst>
            </p:cNvPr>
            <p:cNvGrpSpPr/>
            <p:nvPr/>
          </p:nvGrpSpPr>
          <p:grpSpPr>
            <a:xfrm>
              <a:off x="8876172" y="2552959"/>
              <a:ext cx="1204533" cy="1870345"/>
              <a:chOff x="8876172" y="2552959"/>
              <a:chExt cx="1204533" cy="1870345"/>
            </a:xfrm>
          </p:grpSpPr>
          <p:sp>
            <p:nvSpPr>
              <p:cNvPr id="30" name="Rectangle 29">
                <a:extLst>
                  <a:ext uri="{FF2B5EF4-FFF2-40B4-BE49-F238E27FC236}">
                    <a16:creationId xmlns:a16="http://schemas.microsoft.com/office/drawing/2014/main" id="{5708759F-D606-F194-65D2-AF2C212C030B}"/>
                  </a:ext>
                </a:extLst>
              </p:cNvPr>
              <p:cNvSpPr/>
              <p:nvPr/>
            </p:nvSpPr>
            <p:spPr>
              <a:xfrm rot="5400000">
                <a:off x="8756371" y="2678909"/>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4E640F5-B77F-5C65-9A38-375660AB36E7}"/>
                  </a:ext>
                </a:extLst>
              </p:cNvPr>
              <p:cNvSpPr/>
              <p:nvPr/>
            </p:nvSpPr>
            <p:spPr>
              <a:xfrm rot="5400000">
                <a:off x="8756371" y="3317309"/>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DE2309E6-FE3C-F58E-3B31-3A26531A93F2}"/>
                  </a:ext>
                </a:extLst>
              </p:cNvPr>
              <p:cNvSpPr/>
              <p:nvPr/>
            </p:nvSpPr>
            <p:spPr>
              <a:xfrm rot="5400000">
                <a:off x="8756371" y="393376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5FC6A8B6-0A03-32EB-7D63-A2A506C6ADA4}"/>
                  </a:ext>
                </a:extLst>
              </p:cNvPr>
              <p:cNvSpPr/>
              <p:nvPr/>
            </p:nvSpPr>
            <p:spPr>
              <a:xfrm rot="5400000">
                <a:off x="9173767" y="26731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80414AB-AA20-01F7-5A0B-55BC2467BF3A}"/>
                  </a:ext>
                </a:extLst>
              </p:cNvPr>
              <p:cNvSpPr/>
              <p:nvPr/>
            </p:nvSpPr>
            <p:spPr>
              <a:xfrm rot="5400000">
                <a:off x="9173767" y="33115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583DAABA-0821-C3B9-4E0E-DC1017B27E08}"/>
                  </a:ext>
                </a:extLst>
              </p:cNvPr>
              <p:cNvSpPr/>
              <p:nvPr/>
            </p:nvSpPr>
            <p:spPr>
              <a:xfrm rot="5400000">
                <a:off x="9173767" y="3928003"/>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46FDE269-71B7-B359-013A-6DD656B71F42}"/>
                  </a:ext>
                </a:extLst>
              </p:cNvPr>
              <p:cNvSpPr/>
              <p:nvPr/>
            </p:nvSpPr>
            <p:spPr>
              <a:xfrm rot="5400000">
                <a:off x="9591162" y="2672760"/>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588577B-BCF8-B3CC-3DB1-BEBB77FEA467}"/>
                  </a:ext>
                </a:extLst>
              </p:cNvPr>
              <p:cNvSpPr/>
              <p:nvPr/>
            </p:nvSpPr>
            <p:spPr>
              <a:xfrm rot="5400000">
                <a:off x="9591162" y="3311160"/>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74AE759F-909C-9B97-C183-1A3FF5F9BAE0}"/>
                  </a:ext>
                </a:extLst>
              </p:cNvPr>
              <p:cNvSpPr/>
              <p:nvPr/>
            </p:nvSpPr>
            <p:spPr>
              <a:xfrm rot="5400000">
                <a:off x="9591162" y="3927612"/>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82" name="Group 81">
            <a:extLst>
              <a:ext uri="{FF2B5EF4-FFF2-40B4-BE49-F238E27FC236}">
                <a16:creationId xmlns:a16="http://schemas.microsoft.com/office/drawing/2014/main" id="{05511E5B-3D13-9DA6-2840-7B1FC040998B}"/>
              </a:ext>
            </a:extLst>
          </p:cNvPr>
          <p:cNvGrpSpPr/>
          <p:nvPr/>
        </p:nvGrpSpPr>
        <p:grpSpPr>
          <a:xfrm>
            <a:off x="3754348" y="4211812"/>
            <a:ext cx="3229261" cy="2533997"/>
            <a:chOff x="1359219" y="4166589"/>
            <a:chExt cx="3229261" cy="2533997"/>
          </a:xfrm>
        </p:grpSpPr>
        <p:grpSp>
          <p:nvGrpSpPr>
            <p:cNvPr id="21" name="Group 20">
              <a:extLst>
                <a:ext uri="{FF2B5EF4-FFF2-40B4-BE49-F238E27FC236}">
                  <a16:creationId xmlns:a16="http://schemas.microsoft.com/office/drawing/2014/main" id="{1BDC8F11-FF72-F423-0E15-40BFD8389115}"/>
                </a:ext>
              </a:extLst>
            </p:cNvPr>
            <p:cNvGrpSpPr/>
            <p:nvPr/>
          </p:nvGrpSpPr>
          <p:grpSpPr>
            <a:xfrm rot="13169292">
              <a:off x="1359219" y="4166589"/>
              <a:ext cx="3229261" cy="2533997"/>
              <a:chOff x="1490883" y="2119105"/>
              <a:chExt cx="3229261" cy="2533997"/>
            </a:xfrm>
          </p:grpSpPr>
          <p:grpSp>
            <p:nvGrpSpPr>
              <p:cNvPr id="105" name="Group 104">
                <a:extLst>
                  <a:ext uri="{FF2B5EF4-FFF2-40B4-BE49-F238E27FC236}">
                    <a16:creationId xmlns:a16="http://schemas.microsoft.com/office/drawing/2014/main" id="{349103D2-9307-9479-4B67-8610D43220DF}"/>
                  </a:ext>
                </a:extLst>
              </p:cNvPr>
              <p:cNvGrpSpPr/>
              <p:nvPr/>
            </p:nvGrpSpPr>
            <p:grpSpPr>
              <a:xfrm rot="3029235">
                <a:off x="2271940" y="2204898"/>
                <a:ext cx="2448204" cy="2448204"/>
                <a:chOff x="8245740" y="2264001"/>
                <a:chExt cx="2448204" cy="2448204"/>
              </a:xfrm>
              <a:scene3d>
                <a:camera prst="perspectiveLeft"/>
                <a:lightRig rig="threePt" dir="t"/>
              </a:scene3d>
            </p:grpSpPr>
            <p:pic>
              <p:nvPicPr>
                <p:cNvPr id="94" name="Graphic 93" descr="Table outline">
                  <a:extLst>
                    <a:ext uri="{FF2B5EF4-FFF2-40B4-BE49-F238E27FC236}">
                      <a16:creationId xmlns:a16="http://schemas.microsoft.com/office/drawing/2014/main" id="{2845C3B5-E50F-9D10-0729-BEFD9A0956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5400000">
                  <a:off x="8245740" y="2264001"/>
                  <a:ext cx="2448204" cy="2448204"/>
                </a:xfrm>
                <a:prstGeom prst="rect">
                  <a:avLst/>
                </a:prstGeom>
              </p:spPr>
            </p:pic>
            <p:grpSp>
              <p:nvGrpSpPr>
                <p:cNvPr id="104" name="Group 103">
                  <a:extLst>
                    <a:ext uri="{FF2B5EF4-FFF2-40B4-BE49-F238E27FC236}">
                      <a16:creationId xmlns:a16="http://schemas.microsoft.com/office/drawing/2014/main" id="{17DEE058-5D07-9660-21E1-CC4B26AF444F}"/>
                    </a:ext>
                  </a:extLst>
                </p:cNvPr>
                <p:cNvGrpSpPr/>
                <p:nvPr/>
              </p:nvGrpSpPr>
              <p:grpSpPr>
                <a:xfrm>
                  <a:off x="8876172" y="2552959"/>
                  <a:ext cx="1204533" cy="1870345"/>
                  <a:chOff x="8876172" y="2552959"/>
                  <a:chExt cx="1204533" cy="1870345"/>
                </a:xfrm>
              </p:grpSpPr>
              <p:sp>
                <p:nvSpPr>
                  <p:cNvPr id="95" name="Rectangle 94">
                    <a:extLst>
                      <a:ext uri="{FF2B5EF4-FFF2-40B4-BE49-F238E27FC236}">
                        <a16:creationId xmlns:a16="http://schemas.microsoft.com/office/drawing/2014/main" id="{21425389-428B-7077-5D4C-CA2E45D76704}"/>
                      </a:ext>
                    </a:extLst>
                  </p:cNvPr>
                  <p:cNvSpPr/>
                  <p:nvPr/>
                </p:nvSpPr>
                <p:spPr>
                  <a:xfrm rot="5400000">
                    <a:off x="8756371" y="2678909"/>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9C46C582-986E-1F8E-8B08-703E7CD44889}"/>
                      </a:ext>
                    </a:extLst>
                  </p:cNvPr>
                  <p:cNvSpPr/>
                  <p:nvPr/>
                </p:nvSpPr>
                <p:spPr>
                  <a:xfrm rot="5400000">
                    <a:off x="8756371" y="3317309"/>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CBCE5204-2BE0-E7FB-AC10-CB88C227D56D}"/>
                      </a:ext>
                    </a:extLst>
                  </p:cNvPr>
                  <p:cNvSpPr/>
                  <p:nvPr/>
                </p:nvSpPr>
                <p:spPr>
                  <a:xfrm rot="5400000">
                    <a:off x="8756371" y="3933761"/>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6DC6D6A3-D450-BE0E-BD29-29AC5A161069}"/>
                      </a:ext>
                    </a:extLst>
                  </p:cNvPr>
                  <p:cNvSpPr/>
                  <p:nvPr/>
                </p:nvSpPr>
                <p:spPr>
                  <a:xfrm rot="5400000">
                    <a:off x="9173767" y="2673151"/>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93E610F4-D370-FE5D-6979-43EDBB20ADAE}"/>
                      </a:ext>
                    </a:extLst>
                  </p:cNvPr>
                  <p:cNvSpPr/>
                  <p:nvPr/>
                </p:nvSpPr>
                <p:spPr>
                  <a:xfrm rot="5400000">
                    <a:off x="9173767" y="3311551"/>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99">
                    <a:extLst>
                      <a:ext uri="{FF2B5EF4-FFF2-40B4-BE49-F238E27FC236}">
                        <a16:creationId xmlns:a16="http://schemas.microsoft.com/office/drawing/2014/main" id="{B640AD4E-160A-DB00-6B49-F1FFA45FCC97}"/>
                      </a:ext>
                    </a:extLst>
                  </p:cNvPr>
                  <p:cNvSpPr/>
                  <p:nvPr/>
                </p:nvSpPr>
                <p:spPr>
                  <a:xfrm rot="5400000">
                    <a:off x="9173767" y="3928003"/>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78D4D4A8-2E5A-D1F7-4CFE-A484C4C0009A}"/>
                      </a:ext>
                    </a:extLst>
                  </p:cNvPr>
                  <p:cNvSpPr/>
                  <p:nvPr/>
                </p:nvSpPr>
                <p:spPr>
                  <a:xfrm rot="5400000">
                    <a:off x="9591162" y="2672760"/>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32D18DEC-F6C0-DB8E-BBCF-FE17B4893F15}"/>
                      </a:ext>
                    </a:extLst>
                  </p:cNvPr>
                  <p:cNvSpPr/>
                  <p:nvPr/>
                </p:nvSpPr>
                <p:spPr>
                  <a:xfrm rot="5400000">
                    <a:off x="9591162" y="3311160"/>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66F47692-6D73-E9AE-30EC-CD3835738AAA}"/>
                      </a:ext>
                    </a:extLst>
                  </p:cNvPr>
                  <p:cNvSpPr/>
                  <p:nvPr/>
                </p:nvSpPr>
                <p:spPr>
                  <a:xfrm rot="5400000">
                    <a:off x="9591162" y="3927612"/>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92" name="Group 91">
                <a:extLst>
                  <a:ext uri="{FF2B5EF4-FFF2-40B4-BE49-F238E27FC236}">
                    <a16:creationId xmlns:a16="http://schemas.microsoft.com/office/drawing/2014/main" id="{5C30E0C9-CCCB-F2EC-98E0-B80FD2804BBD}"/>
                  </a:ext>
                </a:extLst>
              </p:cNvPr>
              <p:cNvGrpSpPr/>
              <p:nvPr/>
            </p:nvGrpSpPr>
            <p:grpSpPr>
              <a:xfrm rot="3072988">
                <a:off x="1859795" y="2181952"/>
                <a:ext cx="2448204" cy="2448204"/>
                <a:chOff x="7414446" y="1927315"/>
                <a:chExt cx="2448204" cy="2448204"/>
              </a:xfrm>
            </p:grpSpPr>
            <p:pic>
              <p:nvPicPr>
                <p:cNvPr id="25" name="Graphic 24" descr="Table outline">
                  <a:extLst>
                    <a:ext uri="{FF2B5EF4-FFF2-40B4-BE49-F238E27FC236}">
                      <a16:creationId xmlns:a16="http://schemas.microsoft.com/office/drawing/2014/main" id="{55ADA549-8C9A-09C7-8D65-069F113FCA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7414446" y="1927315"/>
                  <a:ext cx="2448204" cy="2448204"/>
                </a:xfrm>
                <a:prstGeom prst="rect">
                  <a:avLst/>
                </a:prstGeom>
              </p:spPr>
            </p:pic>
            <p:sp>
              <p:nvSpPr>
                <p:cNvPr id="50" name="Rectangle 49">
                  <a:extLst>
                    <a:ext uri="{FF2B5EF4-FFF2-40B4-BE49-F238E27FC236}">
                      <a16:creationId xmlns:a16="http://schemas.microsoft.com/office/drawing/2014/main" id="{60293E43-8225-1D58-7EFA-6FA003E4D18A}"/>
                    </a:ext>
                  </a:extLst>
                </p:cNvPr>
                <p:cNvSpPr/>
                <p:nvPr/>
              </p:nvSpPr>
              <p:spPr>
                <a:xfrm rot="5400000">
                  <a:off x="7925077" y="2342223"/>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64934352-AA26-7A25-5159-EB14CF79E899}"/>
                    </a:ext>
                  </a:extLst>
                </p:cNvPr>
                <p:cNvSpPr/>
                <p:nvPr/>
              </p:nvSpPr>
              <p:spPr>
                <a:xfrm rot="5400000">
                  <a:off x="7925077" y="2980623"/>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335201CB-3516-2D2E-FEA2-199240AE69DE}"/>
                    </a:ext>
                  </a:extLst>
                </p:cNvPr>
                <p:cNvSpPr/>
                <p:nvPr/>
              </p:nvSpPr>
              <p:spPr>
                <a:xfrm rot="5400000">
                  <a:off x="7925077" y="359707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26227FB2-F3F2-702E-E686-0C0E126A6795}"/>
                    </a:ext>
                  </a:extLst>
                </p:cNvPr>
                <p:cNvSpPr/>
                <p:nvPr/>
              </p:nvSpPr>
              <p:spPr>
                <a:xfrm rot="5400000">
                  <a:off x="8342473" y="2336465"/>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7A522218-6D4C-32A9-B460-6C13DED5FD64}"/>
                    </a:ext>
                  </a:extLst>
                </p:cNvPr>
                <p:cNvSpPr/>
                <p:nvPr/>
              </p:nvSpPr>
              <p:spPr>
                <a:xfrm rot="5400000">
                  <a:off x="8342473" y="2974865"/>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8AB65E7A-C773-0D1A-68F7-ADEB9C60A603}"/>
                    </a:ext>
                  </a:extLst>
                </p:cNvPr>
                <p:cNvSpPr/>
                <p:nvPr/>
              </p:nvSpPr>
              <p:spPr>
                <a:xfrm rot="5400000">
                  <a:off x="8342473" y="3591317"/>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5FB46841-D183-50E2-2F18-47E672AEBFFE}"/>
                    </a:ext>
                  </a:extLst>
                </p:cNvPr>
                <p:cNvSpPr/>
                <p:nvPr/>
              </p:nvSpPr>
              <p:spPr>
                <a:xfrm rot="5400000">
                  <a:off x="8759868" y="23360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C274EA96-608F-BCBE-8D67-CB3030C701AE}"/>
                    </a:ext>
                  </a:extLst>
                </p:cNvPr>
                <p:cNvSpPr/>
                <p:nvPr/>
              </p:nvSpPr>
              <p:spPr>
                <a:xfrm rot="5400000">
                  <a:off x="8759868" y="29744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30F26EAC-67EB-22DF-F247-A97EFDCD07BB}"/>
                    </a:ext>
                  </a:extLst>
                </p:cNvPr>
                <p:cNvSpPr/>
                <p:nvPr/>
              </p:nvSpPr>
              <p:spPr>
                <a:xfrm rot="5400000">
                  <a:off x="8759868" y="3590926"/>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 name="Group 2">
                <a:extLst>
                  <a:ext uri="{FF2B5EF4-FFF2-40B4-BE49-F238E27FC236}">
                    <a16:creationId xmlns:a16="http://schemas.microsoft.com/office/drawing/2014/main" id="{317BCFFA-8963-BFCC-B716-BAF4814CEDB4}"/>
                  </a:ext>
                </a:extLst>
              </p:cNvPr>
              <p:cNvGrpSpPr/>
              <p:nvPr/>
            </p:nvGrpSpPr>
            <p:grpSpPr>
              <a:xfrm rot="3029235">
                <a:off x="1490883" y="2119105"/>
                <a:ext cx="2448204" cy="2448204"/>
                <a:chOff x="8245740" y="2264001"/>
                <a:chExt cx="2448204" cy="2448204"/>
              </a:xfrm>
              <a:scene3d>
                <a:camera prst="perspectiveLeft"/>
                <a:lightRig rig="threePt" dir="t"/>
              </a:scene3d>
            </p:grpSpPr>
            <p:pic>
              <p:nvPicPr>
                <p:cNvPr id="4" name="Graphic 3" descr="Table outline">
                  <a:extLst>
                    <a:ext uri="{FF2B5EF4-FFF2-40B4-BE49-F238E27FC236}">
                      <a16:creationId xmlns:a16="http://schemas.microsoft.com/office/drawing/2014/main" id="{0917B554-D91B-FE86-D858-9B7F85ADA6E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5400000">
                  <a:off x="8245740" y="2264001"/>
                  <a:ext cx="2448204" cy="2448204"/>
                </a:xfrm>
                <a:prstGeom prst="rect">
                  <a:avLst/>
                </a:prstGeom>
              </p:spPr>
            </p:pic>
            <p:grpSp>
              <p:nvGrpSpPr>
                <p:cNvPr id="5" name="Group 4">
                  <a:extLst>
                    <a:ext uri="{FF2B5EF4-FFF2-40B4-BE49-F238E27FC236}">
                      <a16:creationId xmlns:a16="http://schemas.microsoft.com/office/drawing/2014/main" id="{0B6A3D7C-E55A-B73F-2D38-02E34411FB32}"/>
                    </a:ext>
                  </a:extLst>
                </p:cNvPr>
                <p:cNvGrpSpPr/>
                <p:nvPr/>
              </p:nvGrpSpPr>
              <p:grpSpPr>
                <a:xfrm>
                  <a:off x="8876172" y="2552959"/>
                  <a:ext cx="1204533" cy="1870345"/>
                  <a:chOff x="8876172" y="2552959"/>
                  <a:chExt cx="1204533" cy="1870345"/>
                </a:xfrm>
              </p:grpSpPr>
              <p:sp>
                <p:nvSpPr>
                  <p:cNvPr id="6" name="Rectangle 5">
                    <a:extLst>
                      <a:ext uri="{FF2B5EF4-FFF2-40B4-BE49-F238E27FC236}">
                        <a16:creationId xmlns:a16="http://schemas.microsoft.com/office/drawing/2014/main" id="{79876A90-DF2E-2DFD-429B-8207D2DE6B53}"/>
                      </a:ext>
                    </a:extLst>
                  </p:cNvPr>
                  <p:cNvSpPr/>
                  <p:nvPr/>
                </p:nvSpPr>
                <p:spPr>
                  <a:xfrm rot="5400000">
                    <a:off x="8756371" y="2678909"/>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506DDD-552E-92EC-11DD-462139C8C593}"/>
                      </a:ext>
                    </a:extLst>
                  </p:cNvPr>
                  <p:cNvSpPr/>
                  <p:nvPr/>
                </p:nvSpPr>
                <p:spPr>
                  <a:xfrm rot="5400000">
                    <a:off x="8756371" y="3317309"/>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892D4DC-B957-2D80-0BAF-05107A69A561}"/>
                      </a:ext>
                    </a:extLst>
                  </p:cNvPr>
                  <p:cNvSpPr/>
                  <p:nvPr/>
                </p:nvSpPr>
                <p:spPr>
                  <a:xfrm rot="5400000">
                    <a:off x="8756371" y="393376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48C2571-6090-9CFA-1203-F5FB525AE71A}"/>
                      </a:ext>
                    </a:extLst>
                  </p:cNvPr>
                  <p:cNvSpPr/>
                  <p:nvPr/>
                </p:nvSpPr>
                <p:spPr>
                  <a:xfrm rot="5400000">
                    <a:off x="9173767" y="26731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088CE6A-921E-4322-DD7C-752A8763B203}"/>
                      </a:ext>
                    </a:extLst>
                  </p:cNvPr>
                  <p:cNvSpPr/>
                  <p:nvPr/>
                </p:nvSpPr>
                <p:spPr>
                  <a:xfrm rot="5400000">
                    <a:off x="9173767" y="33115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A2745F8-34CE-00BE-0845-F0A19753DFD8}"/>
                      </a:ext>
                    </a:extLst>
                  </p:cNvPr>
                  <p:cNvSpPr/>
                  <p:nvPr/>
                </p:nvSpPr>
                <p:spPr>
                  <a:xfrm rot="5400000">
                    <a:off x="9173767" y="3928003"/>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84EB029-097A-55DB-B8D1-8C7CC06BDBDC}"/>
                      </a:ext>
                    </a:extLst>
                  </p:cNvPr>
                  <p:cNvSpPr/>
                  <p:nvPr/>
                </p:nvSpPr>
                <p:spPr>
                  <a:xfrm rot="5400000">
                    <a:off x="9591162" y="2672760"/>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2D78FA-7F42-3FBF-67DF-CF47D6394B97}"/>
                      </a:ext>
                    </a:extLst>
                  </p:cNvPr>
                  <p:cNvSpPr/>
                  <p:nvPr/>
                </p:nvSpPr>
                <p:spPr>
                  <a:xfrm rot="5400000">
                    <a:off x="9591162" y="3311160"/>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4C15F2CF-DE88-9239-BABA-EACCDA279B41}"/>
                      </a:ext>
                    </a:extLst>
                  </p:cNvPr>
                  <p:cNvSpPr/>
                  <p:nvPr/>
                </p:nvSpPr>
                <p:spPr>
                  <a:xfrm rot="5400000">
                    <a:off x="9591162" y="3927612"/>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76" name="Group 75">
              <a:extLst>
                <a:ext uri="{FF2B5EF4-FFF2-40B4-BE49-F238E27FC236}">
                  <a16:creationId xmlns:a16="http://schemas.microsoft.com/office/drawing/2014/main" id="{325F41DA-27BF-75AA-A70C-4579EBFF9F12}"/>
                </a:ext>
              </a:extLst>
            </p:cNvPr>
            <p:cNvGrpSpPr/>
            <p:nvPr/>
          </p:nvGrpSpPr>
          <p:grpSpPr>
            <a:xfrm>
              <a:off x="1467160" y="4348701"/>
              <a:ext cx="2840483" cy="2339578"/>
              <a:chOff x="734099" y="3915579"/>
              <a:chExt cx="2840483" cy="2339578"/>
            </a:xfrm>
          </p:grpSpPr>
          <p:cxnSp>
            <p:nvCxnSpPr>
              <p:cNvPr id="70" name="Straight Connector 69">
                <a:extLst>
                  <a:ext uri="{FF2B5EF4-FFF2-40B4-BE49-F238E27FC236}">
                    <a16:creationId xmlns:a16="http://schemas.microsoft.com/office/drawing/2014/main" id="{01839C09-827E-450C-610B-CF3CF08681B2}"/>
                  </a:ext>
                </a:extLst>
              </p:cNvPr>
              <p:cNvCxnSpPr>
                <a:cxnSpLocks/>
              </p:cNvCxnSpPr>
              <p:nvPr/>
            </p:nvCxnSpPr>
            <p:spPr>
              <a:xfrm>
                <a:off x="734099" y="5294623"/>
                <a:ext cx="776360" cy="960534"/>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1A0DF0CE-F1D6-081B-1C6B-89FAB2D88E80}"/>
                  </a:ext>
                </a:extLst>
              </p:cNvPr>
              <p:cNvCxnSpPr>
                <a:cxnSpLocks/>
              </p:cNvCxnSpPr>
              <p:nvPr/>
            </p:nvCxnSpPr>
            <p:spPr>
              <a:xfrm flipH="1">
                <a:off x="1482467" y="3915579"/>
                <a:ext cx="8050" cy="232601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58825FE7-2A32-F6E5-9C10-BFAA9E2E8D18}"/>
                  </a:ext>
                </a:extLst>
              </p:cNvPr>
              <p:cNvCxnSpPr>
                <a:cxnSpLocks/>
              </p:cNvCxnSpPr>
              <p:nvPr/>
            </p:nvCxnSpPr>
            <p:spPr>
              <a:xfrm flipH="1">
                <a:off x="1482467" y="6241591"/>
                <a:ext cx="2092115"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77" name="TextBox 76">
            <a:extLst>
              <a:ext uri="{FF2B5EF4-FFF2-40B4-BE49-F238E27FC236}">
                <a16:creationId xmlns:a16="http://schemas.microsoft.com/office/drawing/2014/main" id="{4C348BBA-5AA8-5206-8EDE-8C5510540D44}"/>
              </a:ext>
            </a:extLst>
          </p:cNvPr>
          <p:cNvSpPr txBox="1"/>
          <p:nvPr/>
        </p:nvSpPr>
        <p:spPr>
          <a:xfrm>
            <a:off x="2993339" y="1598734"/>
            <a:ext cx="1644922" cy="369332"/>
          </a:xfrm>
          <a:prstGeom prst="rect">
            <a:avLst/>
          </a:prstGeom>
          <a:noFill/>
        </p:spPr>
        <p:txBody>
          <a:bodyPr wrap="square" rtlCol="0">
            <a:spAutoFit/>
          </a:bodyPr>
          <a:lstStyle/>
          <a:p>
            <a:r>
              <a:rPr lang="en-US" b="1" dirty="0">
                <a:solidFill>
                  <a:schemeClr val="accent5">
                    <a:lumMod val="50000"/>
                  </a:schemeClr>
                </a:solidFill>
              </a:rPr>
              <a:t>bioclim1</a:t>
            </a:r>
          </a:p>
        </p:txBody>
      </p:sp>
      <p:sp>
        <p:nvSpPr>
          <p:cNvPr id="79" name="TextBox 78">
            <a:extLst>
              <a:ext uri="{FF2B5EF4-FFF2-40B4-BE49-F238E27FC236}">
                <a16:creationId xmlns:a16="http://schemas.microsoft.com/office/drawing/2014/main" id="{C9E1EACC-5C3B-95C2-4D98-18F5B11D2A06}"/>
              </a:ext>
            </a:extLst>
          </p:cNvPr>
          <p:cNvSpPr txBox="1"/>
          <p:nvPr/>
        </p:nvSpPr>
        <p:spPr>
          <a:xfrm>
            <a:off x="5150558" y="1592093"/>
            <a:ext cx="1644922" cy="369332"/>
          </a:xfrm>
          <a:prstGeom prst="rect">
            <a:avLst/>
          </a:prstGeom>
          <a:noFill/>
        </p:spPr>
        <p:txBody>
          <a:bodyPr wrap="square" rtlCol="0">
            <a:spAutoFit/>
          </a:bodyPr>
          <a:lstStyle/>
          <a:p>
            <a:r>
              <a:rPr lang="en-US" b="1" dirty="0">
                <a:solidFill>
                  <a:schemeClr val="tx2">
                    <a:lumMod val="90000"/>
                    <a:lumOff val="10000"/>
                  </a:schemeClr>
                </a:solidFill>
              </a:rPr>
              <a:t>bioclim2</a:t>
            </a:r>
          </a:p>
        </p:txBody>
      </p:sp>
      <p:sp>
        <p:nvSpPr>
          <p:cNvPr id="81" name="TextBox 80">
            <a:extLst>
              <a:ext uri="{FF2B5EF4-FFF2-40B4-BE49-F238E27FC236}">
                <a16:creationId xmlns:a16="http://schemas.microsoft.com/office/drawing/2014/main" id="{54542351-960D-8721-A5C0-2DCB72E32746}"/>
              </a:ext>
            </a:extLst>
          </p:cNvPr>
          <p:cNvSpPr txBox="1"/>
          <p:nvPr/>
        </p:nvSpPr>
        <p:spPr>
          <a:xfrm>
            <a:off x="7245450" y="1603998"/>
            <a:ext cx="1644922" cy="369332"/>
          </a:xfrm>
          <a:prstGeom prst="rect">
            <a:avLst/>
          </a:prstGeom>
          <a:noFill/>
        </p:spPr>
        <p:txBody>
          <a:bodyPr wrap="square" rtlCol="0">
            <a:spAutoFit/>
          </a:bodyPr>
          <a:lstStyle/>
          <a:p>
            <a:r>
              <a:rPr lang="en-US" b="1" dirty="0">
                <a:solidFill>
                  <a:schemeClr val="accent3">
                    <a:lumMod val="50000"/>
                  </a:schemeClr>
                </a:solidFill>
              </a:rPr>
              <a:t>bioclim3</a:t>
            </a:r>
          </a:p>
        </p:txBody>
      </p:sp>
      <p:sp>
        <p:nvSpPr>
          <p:cNvPr id="93" name="TextBox 92">
            <a:extLst>
              <a:ext uri="{FF2B5EF4-FFF2-40B4-BE49-F238E27FC236}">
                <a16:creationId xmlns:a16="http://schemas.microsoft.com/office/drawing/2014/main" id="{85369DDF-24DE-6737-9168-584BCFF5EEA6}"/>
              </a:ext>
            </a:extLst>
          </p:cNvPr>
          <p:cNvSpPr txBox="1"/>
          <p:nvPr/>
        </p:nvSpPr>
        <p:spPr>
          <a:xfrm>
            <a:off x="6678897" y="5144911"/>
            <a:ext cx="1644922" cy="369332"/>
          </a:xfrm>
          <a:prstGeom prst="rect">
            <a:avLst/>
          </a:prstGeom>
          <a:noFill/>
        </p:spPr>
        <p:txBody>
          <a:bodyPr wrap="square" rtlCol="0">
            <a:spAutoFit/>
          </a:bodyPr>
          <a:lstStyle/>
          <a:p>
            <a:r>
              <a:rPr lang="en-US" b="1" dirty="0">
                <a:solidFill>
                  <a:schemeClr val="accent5">
                    <a:lumMod val="50000"/>
                  </a:schemeClr>
                </a:solidFill>
              </a:rPr>
              <a:t>bioclim1</a:t>
            </a:r>
          </a:p>
        </p:txBody>
      </p:sp>
      <p:sp>
        <p:nvSpPr>
          <p:cNvPr id="109" name="TextBox 108">
            <a:extLst>
              <a:ext uri="{FF2B5EF4-FFF2-40B4-BE49-F238E27FC236}">
                <a16:creationId xmlns:a16="http://schemas.microsoft.com/office/drawing/2014/main" id="{EDA2FF75-B5FA-A89A-8F46-0D144741642C}"/>
              </a:ext>
            </a:extLst>
          </p:cNvPr>
          <p:cNvSpPr txBox="1"/>
          <p:nvPr/>
        </p:nvSpPr>
        <p:spPr>
          <a:xfrm>
            <a:off x="6379622" y="4743984"/>
            <a:ext cx="1644922" cy="369332"/>
          </a:xfrm>
          <a:prstGeom prst="rect">
            <a:avLst/>
          </a:prstGeom>
          <a:noFill/>
        </p:spPr>
        <p:txBody>
          <a:bodyPr wrap="square" rtlCol="0">
            <a:spAutoFit/>
          </a:bodyPr>
          <a:lstStyle/>
          <a:p>
            <a:r>
              <a:rPr lang="en-US" b="1" dirty="0">
                <a:solidFill>
                  <a:schemeClr val="tx2">
                    <a:lumMod val="90000"/>
                    <a:lumOff val="10000"/>
                  </a:schemeClr>
                </a:solidFill>
              </a:rPr>
              <a:t>bioclim2</a:t>
            </a:r>
          </a:p>
        </p:txBody>
      </p:sp>
      <p:sp>
        <p:nvSpPr>
          <p:cNvPr id="111" name="TextBox 110">
            <a:extLst>
              <a:ext uri="{FF2B5EF4-FFF2-40B4-BE49-F238E27FC236}">
                <a16:creationId xmlns:a16="http://schemas.microsoft.com/office/drawing/2014/main" id="{71BBBD94-F270-B102-215F-21043DC9C8D7}"/>
              </a:ext>
            </a:extLst>
          </p:cNvPr>
          <p:cNvSpPr txBox="1"/>
          <p:nvPr/>
        </p:nvSpPr>
        <p:spPr>
          <a:xfrm>
            <a:off x="6090037" y="4428189"/>
            <a:ext cx="1644922" cy="369332"/>
          </a:xfrm>
          <a:prstGeom prst="rect">
            <a:avLst/>
          </a:prstGeom>
          <a:noFill/>
        </p:spPr>
        <p:txBody>
          <a:bodyPr wrap="square" rtlCol="0">
            <a:spAutoFit/>
          </a:bodyPr>
          <a:lstStyle/>
          <a:p>
            <a:r>
              <a:rPr lang="en-US" b="1" dirty="0">
                <a:solidFill>
                  <a:schemeClr val="accent3">
                    <a:lumMod val="50000"/>
                  </a:schemeClr>
                </a:solidFill>
              </a:rPr>
              <a:t>bioclim3</a:t>
            </a:r>
          </a:p>
        </p:txBody>
      </p:sp>
      <p:sp>
        <p:nvSpPr>
          <p:cNvPr id="112" name="Arrow: Down 111">
            <a:extLst>
              <a:ext uri="{FF2B5EF4-FFF2-40B4-BE49-F238E27FC236}">
                <a16:creationId xmlns:a16="http://schemas.microsoft.com/office/drawing/2014/main" id="{679E733C-754D-A3CA-C290-05690CE71C00}"/>
              </a:ext>
            </a:extLst>
          </p:cNvPr>
          <p:cNvSpPr/>
          <p:nvPr/>
        </p:nvSpPr>
        <p:spPr>
          <a:xfrm>
            <a:off x="5617599" y="3472058"/>
            <a:ext cx="657720" cy="70520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6A566D03-2275-0651-DCC2-4B5183FFCCCA}"/>
              </a:ext>
            </a:extLst>
          </p:cNvPr>
          <p:cNvSpPr txBox="1"/>
          <p:nvPr/>
        </p:nvSpPr>
        <p:spPr>
          <a:xfrm>
            <a:off x="6386757" y="3605982"/>
            <a:ext cx="2668940" cy="369332"/>
          </a:xfrm>
          <a:prstGeom prst="rect">
            <a:avLst/>
          </a:prstGeom>
          <a:noFill/>
        </p:spPr>
        <p:txBody>
          <a:bodyPr wrap="square" rtlCol="0">
            <a:spAutoFit/>
          </a:bodyPr>
          <a:lstStyle/>
          <a:p>
            <a:r>
              <a:rPr lang="en-US" dirty="0"/>
              <a:t>Stack the </a:t>
            </a:r>
            <a:r>
              <a:rPr lang="en-US" dirty="0" err="1"/>
              <a:t>rasters</a:t>
            </a:r>
            <a:endParaRPr lang="en-US" dirty="0"/>
          </a:p>
        </p:txBody>
      </p:sp>
      <p:sp>
        <p:nvSpPr>
          <p:cNvPr id="115" name="TextBox 114">
            <a:extLst>
              <a:ext uri="{FF2B5EF4-FFF2-40B4-BE49-F238E27FC236}">
                <a16:creationId xmlns:a16="http://schemas.microsoft.com/office/drawing/2014/main" id="{F7764A8A-2013-499F-98E0-6CAC39350539}"/>
              </a:ext>
            </a:extLst>
          </p:cNvPr>
          <p:cNvSpPr txBox="1"/>
          <p:nvPr/>
        </p:nvSpPr>
        <p:spPr>
          <a:xfrm>
            <a:off x="6758522" y="6427143"/>
            <a:ext cx="335871" cy="523220"/>
          </a:xfrm>
          <a:prstGeom prst="rect">
            <a:avLst/>
          </a:prstGeom>
          <a:noFill/>
        </p:spPr>
        <p:txBody>
          <a:bodyPr wrap="square" rtlCol="0">
            <a:spAutoFit/>
          </a:bodyPr>
          <a:lstStyle/>
          <a:p>
            <a:r>
              <a:rPr lang="en-US" sz="2800" b="1" dirty="0"/>
              <a:t>x</a:t>
            </a:r>
          </a:p>
        </p:txBody>
      </p:sp>
      <p:sp>
        <p:nvSpPr>
          <p:cNvPr id="118" name="TextBox 117">
            <a:extLst>
              <a:ext uri="{FF2B5EF4-FFF2-40B4-BE49-F238E27FC236}">
                <a16:creationId xmlns:a16="http://schemas.microsoft.com/office/drawing/2014/main" id="{ABACFC8C-A886-AC92-6641-609879849E93}"/>
              </a:ext>
            </a:extLst>
          </p:cNvPr>
          <p:cNvSpPr txBox="1"/>
          <p:nvPr/>
        </p:nvSpPr>
        <p:spPr>
          <a:xfrm>
            <a:off x="4442721" y="3870263"/>
            <a:ext cx="335871" cy="523220"/>
          </a:xfrm>
          <a:prstGeom prst="rect">
            <a:avLst/>
          </a:prstGeom>
          <a:noFill/>
        </p:spPr>
        <p:txBody>
          <a:bodyPr wrap="square" rtlCol="0">
            <a:spAutoFit/>
          </a:bodyPr>
          <a:lstStyle/>
          <a:p>
            <a:r>
              <a:rPr lang="en-US" sz="2800" b="1" dirty="0"/>
              <a:t>y</a:t>
            </a:r>
          </a:p>
        </p:txBody>
      </p:sp>
      <p:sp>
        <p:nvSpPr>
          <p:cNvPr id="120" name="TextBox 119">
            <a:extLst>
              <a:ext uri="{FF2B5EF4-FFF2-40B4-BE49-F238E27FC236}">
                <a16:creationId xmlns:a16="http://schemas.microsoft.com/office/drawing/2014/main" id="{0A5430AD-EC44-7DA5-0A35-6620F91165A7}"/>
              </a:ext>
            </a:extLst>
          </p:cNvPr>
          <p:cNvSpPr txBox="1"/>
          <p:nvPr/>
        </p:nvSpPr>
        <p:spPr>
          <a:xfrm>
            <a:off x="3601469" y="5329577"/>
            <a:ext cx="335871" cy="523220"/>
          </a:xfrm>
          <a:prstGeom prst="rect">
            <a:avLst/>
          </a:prstGeom>
          <a:noFill/>
        </p:spPr>
        <p:txBody>
          <a:bodyPr wrap="square" rtlCol="0">
            <a:spAutoFit/>
          </a:bodyPr>
          <a:lstStyle/>
          <a:p>
            <a:r>
              <a:rPr lang="en-US" sz="2800" b="1" dirty="0"/>
              <a:t>z</a:t>
            </a:r>
          </a:p>
        </p:txBody>
      </p:sp>
      <p:grpSp>
        <p:nvGrpSpPr>
          <p:cNvPr id="106" name="Group 105">
            <a:extLst>
              <a:ext uri="{FF2B5EF4-FFF2-40B4-BE49-F238E27FC236}">
                <a16:creationId xmlns:a16="http://schemas.microsoft.com/office/drawing/2014/main" id="{BAFE4EAD-02F3-73AE-231E-91E9C90C7FC4}"/>
              </a:ext>
            </a:extLst>
          </p:cNvPr>
          <p:cNvGrpSpPr/>
          <p:nvPr/>
        </p:nvGrpSpPr>
        <p:grpSpPr>
          <a:xfrm>
            <a:off x="8085630" y="4988712"/>
            <a:ext cx="1456126" cy="1321415"/>
            <a:chOff x="8851793" y="4761052"/>
            <a:chExt cx="942407" cy="853724"/>
          </a:xfrm>
        </p:grpSpPr>
        <p:pic>
          <p:nvPicPr>
            <p:cNvPr id="72" name="Graphic 71" descr="Wedding cake outline">
              <a:extLst>
                <a:ext uri="{FF2B5EF4-FFF2-40B4-BE49-F238E27FC236}">
                  <a16:creationId xmlns:a16="http://schemas.microsoft.com/office/drawing/2014/main" id="{2EDBFB73-A545-C9EF-48B2-4273CDD572CF}"/>
                </a:ext>
              </a:extLst>
            </p:cNvPr>
            <p:cNvPicPr>
              <a:picLocks noChangeAspect="1"/>
            </p:cNvPicPr>
            <p:nvPr/>
          </p:nvPicPr>
          <p:blipFill>
            <a:blip>
              <a:extLst>
                <a:ext uri="{96DAC541-7B7A-43D3-8B79-37D633B846F1}">
                  <asvg:svgBlip xmlns:asvg="http://schemas.microsoft.com/office/drawing/2016/SVG/main" r:embed="rId8"/>
                </a:ext>
              </a:extLst>
            </a:blip>
            <a:srcRect t="52661"/>
            <a:stretch>
              <a:fillRect/>
            </a:stretch>
          </p:blipFill>
          <p:spPr>
            <a:xfrm>
              <a:off x="8879800" y="5181908"/>
              <a:ext cx="914400" cy="432868"/>
            </a:xfrm>
            <a:prstGeom prst="rect">
              <a:avLst/>
            </a:prstGeom>
          </p:spPr>
        </p:pic>
        <p:pic>
          <p:nvPicPr>
            <p:cNvPr id="78" name="Graphic 77" descr="Wedding cake outline">
              <a:extLst>
                <a:ext uri="{FF2B5EF4-FFF2-40B4-BE49-F238E27FC236}">
                  <a16:creationId xmlns:a16="http://schemas.microsoft.com/office/drawing/2014/main" id="{7B8D94EE-24A6-664C-2D3B-86C73BAB3BDA}"/>
                </a:ext>
              </a:extLst>
            </p:cNvPr>
            <p:cNvPicPr>
              <a:picLocks noChangeAspect="1"/>
            </p:cNvPicPr>
            <p:nvPr/>
          </p:nvPicPr>
          <p:blipFill>
            <a:blip>
              <a:extLst>
                <a:ext uri="{96DAC541-7B7A-43D3-8B79-37D633B846F1}">
                  <asvg:svgBlip xmlns:asvg="http://schemas.microsoft.com/office/drawing/2016/SVG/main" r:embed="rId9"/>
                </a:ext>
              </a:extLst>
            </a:blip>
            <a:srcRect l="-2813" t="30409" r="2813" b="46874"/>
            <a:stretch>
              <a:fillRect/>
            </a:stretch>
          </p:blipFill>
          <p:spPr>
            <a:xfrm>
              <a:off x="8851793" y="4975579"/>
              <a:ext cx="914400" cy="207720"/>
            </a:xfrm>
            <a:prstGeom prst="rect">
              <a:avLst/>
            </a:prstGeom>
          </p:spPr>
        </p:pic>
        <p:pic>
          <p:nvPicPr>
            <p:cNvPr id="88" name="Graphic 87" descr="Wedding cake outline">
              <a:extLst>
                <a:ext uri="{FF2B5EF4-FFF2-40B4-BE49-F238E27FC236}">
                  <a16:creationId xmlns:a16="http://schemas.microsoft.com/office/drawing/2014/main" id="{9F1F070E-8C8F-E7F9-004A-BD6365A82089}"/>
                </a:ext>
              </a:extLst>
            </p:cNvPr>
            <p:cNvPicPr>
              <a:picLocks noChangeAspect="1"/>
            </p:cNvPicPr>
            <p:nvPr/>
          </p:nvPicPr>
          <p:blipFill>
            <a:blip>
              <a:extLst>
                <a:ext uri="{96DAC541-7B7A-43D3-8B79-37D633B846F1}">
                  <asvg:svgBlip xmlns:asvg="http://schemas.microsoft.com/office/drawing/2016/SVG/main" r:embed="rId10"/>
                </a:ext>
              </a:extLst>
            </a:blip>
            <a:srcRect l="-2813" t="5301" r="2813" b="70810"/>
            <a:stretch>
              <a:fillRect/>
            </a:stretch>
          </p:blipFill>
          <p:spPr>
            <a:xfrm>
              <a:off x="8851793" y="4761052"/>
              <a:ext cx="914400" cy="218444"/>
            </a:xfrm>
            <a:prstGeom prst="rect">
              <a:avLst/>
            </a:prstGeom>
          </p:spPr>
        </p:pic>
      </p:grpSp>
    </p:spTree>
    <p:extLst>
      <p:ext uri="{BB962C8B-B14F-4D97-AF65-F5344CB8AC3E}">
        <p14:creationId xmlns:p14="http://schemas.microsoft.com/office/powerpoint/2010/main" val="36807017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65F2-EDDD-F02A-7F48-DCFFB9052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D09C6-9D55-261C-3A72-0342DBA67684}"/>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Extracting Climatic Variables at Occurrences</a:t>
            </a:r>
            <a:endParaRPr lang="en-US" dirty="0"/>
          </a:p>
        </p:txBody>
      </p:sp>
      <p:grpSp>
        <p:nvGrpSpPr>
          <p:cNvPr id="82" name="Group 81">
            <a:extLst>
              <a:ext uri="{FF2B5EF4-FFF2-40B4-BE49-F238E27FC236}">
                <a16:creationId xmlns:a16="http://schemas.microsoft.com/office/drawing/2014/main" id="{5F579296-A28D-A77A-788D-76B3A35A3445}"/>
              </a:ext>
            </a:extLst>
          </p:cNvPr>
          <p:cNvGrpSpPr/>
          <p:nvPr/>
        </p:nvGrpSpPr>
        <p:grpSpPr>
          <a:xfrm>
            <a:off x="4481369" y="2336830"/>
            <a:ext cx="3229261" cy="2533997"/>
            <a:chOff x="1359219" y="4166589"/>
            <a:chExt cx="3229261" cy="2533997"/>
          </a:xfrm>
        </p:grpSpPr>
        <p:grpSp>
          <p:nvGrpSpPr>
            <p:cNvPr id="21" name="Group 20">
              <a:extLst>
                <a:ext uri="{FF2B5EF4-FFF2-40B4-BE49-F238E27FC236}">
                  <a16:creationId xmlns:a16="http://schemas.microsoft.com/office/drawing/2014/main" id="{CA2E86AD-2156-5945-AAAE-6BCE2D05008B}"/>
                </a:ext>
              </a:extLst>
            </p:cNvPr>
            <p:cNvGrpSpPr/>
            <p:nvPr/>
          </p:nvGrpSpPr>
          <p:grpSpPr>
            <a:xfrm rot="13169292">
              <a:off x="1359219" y="4166589"/>
              <a:ext cx="3229261" cy="2533997"/>
              <a:chOff x="1490883" y="2119105"/>
              <a:chExt cx="3229261" cy="2533997"/>
            </a:xfrm>
          </p:grpSpPr>
          <p:grpSp>
            <p:nvGrpSpPr>
              <p:cNvPr id="105" name="Group 104">
                <a:extLst>
                  <a:ext uri="{FF2B5EF4-FFF2-40B4-BE49-F238E27FC236}">
                    <a16:creationId xmlns:a16="http://schemas.microsoft.com/office/drawing/2014/main" id="{D53C6B1B-9FE3-1BE9-C03C-3F832C639292}"/>
                  </a:ext>
                </a:extLst>
              </p:cNvPr>
              <p:cNvGrpSpPr/>
              <p:nvPr/>
            </p:nvGrpSpPr>
            <p:grpSpPr>
              <a:xfrm rot="3029235">
                <a:off x="2271940" y="2204898"/>
                <a:ext cx="2448204" cy="2448204"/>
                <a:chOff x="8245740" y="2264001"/>
                <a:chExt cx="2448204" cy="2448204"/>
              </a:xfrm>
              <a:scene3d>
                <a:camera prst="perspectiveLeft"/>
                <a:lightRig rig="threePt" dir="t"/>
              </a:scene3d>
            </p:grpSpPr>
            <p:pic>
              <p:nvPicPr>
                <p:cNvPr id="94" name="Graphic 93" descr="Table outline">
                  <a:extLst>
                    <a:ext uri="{FF2B5EF4-FFF2-40B4-BE49-F238E27FC236}">
                      <a16:creationId xmlns:a16="http://schemas.microsoft.com/office/drawing/2014/main" id="{52ACC785-C332-7C19-AF93-EA7984A917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5400000">
                  <a:off x="8245740" y="2264001"/>
                  <a:ext cx="2448204" cy="2448204"/>
                </a:xfrm>
                <a:prstGeom prst="rect">
                  <a:avLst/>
                </a:prstGeom>
              </p:spPr>
            </p:pic>
            <p:grpSp>
              <p:nvGrpSpPr>
                <p:cNvPr id="104" name="Group 103">
                  <a:extLst>
                    <a:ext uri="{FF2B5EF4-FFF2-40B4-BE49-F238E27FC236}">
                      <a16:creationId xmlns:a16="http://schemas.microsoft.com/office/drawing/2014/main" id="{F6465935-4F7A-64FC-E211-4586110F91BD}"/>
                    </a:ext>
                  </a:extLst>
                </p:cNvPr>
                <p:cNvGrpSpPr/>
                <p:nvPr/>
              </p:nvGrpSpPr>
              <p:grpSpPr>
                <a:xfrm>
                  <a:off x="8876172" y="2552959"/>
                  <a:ext cx="1204533" cy="1870345"/>
                  <a:chOff x="8876172" y="2552959"/>
                  <a:chExt cx="1204533" cy="1870345"/>
                </a:xfrm>
              </p:grpSpPr>
              <p:sp>
                <p:nvSpPr>
                  <p:cNvPr id="95" name="Rectangle 94">
                    <a:extLst>
                      <a:ext uri="{FF2B5EF4-FFF2-40B4-BE49-F238E27FC236}">
                        <a16:creationId xmlns:a16="http://schemas.microsoft.com/office/drawing/2014/main" id="{C2FBFF75-692E-D24A-79A8-338050FA04B7}"/>
                      </a:ext>
                    </a:extLst>
                  </p:cNvPr>
                  <p:cNvSpPr/>
                  <p:nvPr/>
                </p:nvSpPr>
                <p:spPr>
                  <a:xfrm rot="5400000">
                    <a:off x="8756371" y="2678909"/>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3D2FDC88-592A-F167-BB0F-8D5B8BE293C9}"/>
                      </a:ext>
                    </a:extLst>
                  </p:cNvPr>
                  <p:cNvSpPr/>
                  <p:nvPr/>
                </p:nvSpPr>
                <p:spPr>
                  <a:xfrm rot="5400000">
                    <a:off x="8756371" y="3317309"/>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96AF957F-4684-B787-7DCA-D0B0BBDEDD40}"/>
                      </a:ext>
                    </a:extLst>
                  </p:cNvPr>
                  <p:cNvSpPr/>
                  <p:nvPr/>
                </p:nvSpPr>
                <p:spPr>
                  <a:xfrm rot="5400000">
                    <a:off x="8756371" y="3933761"/>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3F0975E3-18F5-84E5-DA3C-DC6D64405879}"/>
                      </a:ext>
                    </a:extLst>
                  </p:cNvPr>
                  <p:cNvSpPr/>
                  <p:nvPr/>
                </p:nvSpPr>
                <p:spPr>
                  <a:xfrm rot="5400000">
                    <a:off x="9173767" y="2673151"/>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87983094-B3A1-340E-F64E-14FAA99EBB71}"/>
                      </a:ext>
                    </a:extLst>
                  </p:cNvPr>
                  <p:cNvSpPr/>
                  <p:nvPr/>
                </p:nvSpPr>
                <p:spPr>
                  <a:xfrm rot="5400000">
                    <a:off x="9173767" y="3311551"/>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99">
                    <a:extLst>
                      <a:ext uri="{FF2B5EF4-FFF2-40B4-BE49-F238E27FC236}">
                        <a16:creationId xmlns:a16="http://schemas.microsoft.com/office/drawing/2014/main" id="{458FAAC2-AA32-2769-8261-FD61CC338EA0}"/>
                      </a:ext>
                    </a:extLst>
                  </p:cNvPr>
                  <p:cNvSpPr/>
                  <p:nvPr/>
                </p:nvSpPr>
                <p:spPr>
                  <a:xfrm rot="5400000">
                    <a:off x="9173767" y="3928003"/>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824587A1-FC63-2994-45FF-060E812482AD}"/>
                      </a:ext>
                    </a:extLst>
                  </p:cNvPr>
                  <p:cNvSpPr/>
                  <p:nvPr/>
                </p:nvSpPr>
                <p:spPr>
                  <a:xfrm rot="5400000">
                    <a:off x="9591162" y="2672760"/>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D1E26DE2-FF4C-441E-EFDB-068C66BBFB80}"/>
                      </a:ext>
                    </a:extLst>
                  </p:cNvPr>
                  <p:cNvSpPr/>
                  <p:nvPr/>
                </p:nvSpPr>
                <p:spPr>
                  <a:xfrm rot="5400000">
                    <a:off x="9591162" y="3311160"/>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DCE2B43B-ECEE-F5C3-560F-301E1B4E0D7C}"/>
                      </a:ext>
                    </a:extLst>
                  </p:cNvPr>
                  <p:cNvSpPr/>
                  <p:nvPr/>
                </p:nvSpPr>
                <p:spPr>
                  <a:xfrm rot="5400000">
                    <a:off x="9591162" y="3927612"/>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92" name="Group 91">
                <a:extLst>
                  <a:ext uri="{FF2B5EF4-FFF2-40B4-BE49-F238E27FC236}">
                    <a16:creationId xmlns:a16="http://schemas.microsoft.com/office/drawing/2014/main" id="{912EDFFF-3667-5AF0-DC32-D72B5C9C2CAD}"/>
                  </a:ext>
                </a:extLst>
              </p:cNvPr>
              <p:cNvGrpSpPr/>
              <p:nvPr/>
            </p:nvGrpSpPr>
            <p:grpSpPr>
              <a:xfrm rot="3072988">
                <a:off x="1859795" y="2181952"/>
                <a:ext cx="2448204" cy="2448204"/>
                <a:chOff x="7414446" y="1927315"/>
                <a:chExt cx="2448204" cy="2448204"/>
              </a:xfrm>
            </p:grpSpPr>
            <p:pic>
              <p:nvPicPr>
                <p:cNvPr id="25" name="Graphic 24" descr="Table outline">
                  <a:extLst>
                    <a:ext uri="{FF2B5EF4-FFF2-40B4-BE49-F238E27FC236}">
                      <a16:creationId xmlns:a16="http://schemas.microsoft.com/office/drawing/2014/main" id="{577EDE1F-1632-70F9-E7DB-509904465B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7414446" y="1927315"/>
                  <a:ext cx="2448204" cy="2448204"/>
                </a:xfrm>
                <a:prstGeom prst="rect">
                  <a:avLst/>
                </a:prstGeom>
              </p:spPr>
            </p:pic>
            <p:sp>
              <p:nvSpPr>
                <p:cNvPr id="50" name="Rectangle 49">
                  <a:extLst>
                    <a:ext uri="{FF2B5EF4-FFF2-40B4-BE49-F238E27FC236}">
                      <a16:creationId xmlns:a16="http://schemas.microsoft.com/office/drawing/2014/main" id="{D7D59534-2301-5397-9D2C-744B79587523}"/>
                    </a:ext>
                  </a:extLst>
                </p:cNvPr>
                <p:cNvSpPr/>
                <p:nvPr/>
              </p:nvSpPr>
              <p:spPr>
                <a:xfrm rot="5400000">
                  <a:off x="7925077" y="2342223"/>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17DF18BE-9D97-BFA6-5A27-BD256F69BB5C}"/>
                    </a:ext>
                  </a:extLst>
                </p:cNvPr>
                <p:cNvSpPr/>
                <p:nvPr/>
              </p:nvSpPr>
              <p:spPr>
                <a:xfrm rot="5400000">
                  <a:off x="7925077" y="2980623"/>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3D327FD6-D224-641D-FB79-F6CCD3AD4B4D}"/>
                    </a:ext>
                  </a:extLst>
                </p:cNvPr>
                <p:cNvSpPr/>
                <p:nvPr/>
              </p:nvSpPr>
              <p:spPr>
                <a:xfrm rot="5400000">
                  <a:off x="7925077" y="359707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7A791690-481A-3893-F0EA-B8F7CE08BAE8}"/>
                    </a:ext>
                  </a:extLst>
                </p:cNvPr>
                <p:cNvSpPr/>
                <p:nvPr/>
              </p:nvSpPr>
              <p:spPr>
                <a:xfrm rot="5400000">
                  <a:off x="8342473" y="2336465"/>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47B46F5A-EF45-D5CC-90CD-9E4990E639F3}"/>
                    </a:ext>
                  </a:extLst>
                </p:cNvPr>
                <p:cNvSpPr/>
                <p:nvPr/>
              </p:nvSpPr>
              <p:spPr>
                <a:xfrm rot="5400000">
                  <a:off x="8342473" y="2974865"/>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E9F68119-F16B-DCCC-308E-9B0AE9B8A045}"/>
                    </a:ext>
                  </a:extLst>
                </p:cNvPr>
                <p:cNvSpPr/>
                <p:nvPr/>
              </p:nvSpPr>
              <p:spPr>
                <a:xfrm rot="5400000">
                  <a:off x="8342473" y="3591317"/>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8B8938D4-5C62-EB25-2B32-684448BB425D}"/>
                    </a:ext>
                  </a:extLst>
                </p:cNvPr>
                <p:cNvSpPr/>
                <p:nvPr/>
              </p:nvSpPr>
              <p:spPr>
                <a:xfrm rot="5400000">
                  <a:off x="8759868" y="23360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9926151A-05A9-C739-D378-A11A6FCB5B61}"/>
                    </a:ext>
                  </a:extLst>
                </p:cNvPr>
                <p:cNvSpPr/>
                <p:nvPr/>
              </p:nvSpPr>
              <p:spPr>
                <a:xfrm rot="5400000">
                  <a:off x="8759868" y="29744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982FA946-A109-08F4-240E-68275A044BB6}"/>
                    </a:ext>
                  </a:extLst>
                </p:cNvPr>
                <p:cNvSpPr/>
                <p:nvPr/>
              </p:nvSpPr>
              <p:spPr>
                <a:xfrm rot="5400000">
                  <a:off x="8759868" y="3590926"/>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 name="Group 2">
                <a:extLst>
                  <a:ext uri="{FF2B5EF4-FFF2-40B4-BE49-F238E27FC236}">
                    <a16:creationId xmlns:a16="http://schemas.microsoft.com/office/drawing/2014/main" id="{D71D77B5-6CAE-C916-FC12-3FB27AA2970A}"/>
                  </a:ext>
                </a:extLst>
              </p:cNvPr>
              <p:cNvGrpSpPr/>
              <p:nvPr/>
            </p:nvGrpSpPr>
            <p:grpSpPr>
              <a:xfrm rot="3029235">
                <a:off x="1490883" y="2119105"/>
                <a:ext cx="2448204" cy="2448204"/>
                <a:chOff x="8245740" y="2264001"/>
                <a:chExt cx="2448204" cy="2448204"/>
              </a:xfrm>
              <a:scene3d>
                <a:camera prst="perspectiveLeft"/>
                <a:lightRig rig="threePt" dir="t"/>
              </a:scene3d>
            </p:grpSpPr>
            <p:pic>
              <p:nvPicPr>
                <p:cNvPr id="4" name="Graphic 3" descr="Table outline">
                  <a:extLst>
                    <a:ext uri="{FF2B5EF4-FFF2-40B4-BE49-F238E27FC236}">
                      <a16:creationId xmlns:a16="http://schemas.microsoft.com/office/drawing/2014/main" id="{26054896-75D7-C961-964F-8D7AE5D7FD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8245740" y="2264001"/>
                  <a:ext cx="2448204" cy="2448204"/>
                </a:xfrm>
                <a:prstGeom prst="rect">
                  <a:avLst/>
                </a:prstGeom>
              </p:spPr>
            </p:pic>
            <p:grpSp>
              <p:nvGrpSpPr>
                <p:cNvPr id="5" name="Group 4">
                  <a:extLst>
                    <a:ext uri="{FF2B5EF4-FFF2-40B4-BE49-F238E27FC236}">
                      <a16:creationId xmlns:a16="http://schemas.microsoft.com/office/drawing/2014/main" id="{61956F46-EA99-882B-F47E-B9CE48AB61F5}"/>
                    </a:ext>
                  </a:extLst>
                </p:cNvPr>
                <p:cNvGrpSpPr/>
                <p:nvPr/>
              </p:nvGrpSpPr>
              <p:grpSpPr>
                <a:xfrm>
                  <a:off x="8876172" y="2552959"/>
                  <a:ext cx="1204533" cy="1870345"/>
                  <a:chOff x="8876172" y="2552959"/>
                  <a:chExt cx="1204533" cy="1870345"/>
                </a:xfrm>
              </p:grpSpPr>
              <p:sp>
                <p:nvSpPr>
                  <p:cNvPr id="6" name="Rectangle 5">
                    <a:extLst>
                      <a:ext uri="{FF2B5EF4-FFF2-40B4-BE49-F238E27FC236}">
                        <a16:creationId xmlns:a16="http://schemas.microsoft.com/office/drawing/2014/main" id="{69853530-B6F2-29B0-8146-0C1CDD0AAE65}"/>
                      </a:ext>
                    </a:extLst>
                  </p:cNvPr>
                  <p:cNvSpPr/>
                  <p:nvPr/>
                </p:nvSpPr>
                <p:spPr>
                  <a:xfrm rot="5400000">
                    <a:off x="8756371" y="2678909"/>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B601298-514D-E662-ECD7-1B1AD335AA11}"/>
                      </a:ext>
                    </a:extLst>
                  </p:cNvPr>
                  <p:cNvSpPr/>
                  <p:nvPr/>
                </p:nvSpPr>
                <p:spPr>
                  <a:xfrm rot="5400000">
                    <a:off x="8756371" y="3317309"/>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7572AFE-E9FE-0C5E-3CA9-84DE28DF56DF}"/>
                      </a:ext>
                    </a:extLst>
                  </p:cNvPr>
                  <p:cNvSpPr/>
                  <p:nvPr/>
                </p:nvSpPr>
                <p:spPr>
                  <a:xfrm rot="5400000">
                    <a:off x="8756371" y="393376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8C513D-B520-3B4B-0090-83A85ECEFACC}"/>
                      </a:ext>
                    </a:extLst>
                  </p:cNvPr>
                  <p:cNvSpPr/>
                  <p:nvPr/>
                </p:nvSpPr>
                <p:spPr>
                  <a:xfrm rot="5400000">
                    <a:off x="9173767" y="26731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B3BEBC-2D7D-6344-EA2A-2E5908009D90}"/>
                      </a:ext>
                    </a:extLst>
                  </p:cNvPr>
                  <p:cNvSpPr/>
                  <p:nvPr/>
                </p:nvSpPr>
                <p:spPr>
                  <a:xfrm rot="5400000">
                    <a:off x="9173767" y="33115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8EC083A-EF12-D3AF-97D1-475844CF4E58}"/>
                      </a:ext>
                    </a:extLst>
                  </p:cNvPr>
                  <p:cNvSpPr/>
                  <p:nvPr/>
                </p:nvSpPr>
                <p:spPr>
                  <a:xfrm rot="5400000">
                    <a:off x="9173767" y="3928003"/>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9A213D2-B5D3-4758-4780-0ABEC2DD6602}"/>
                      </a:ext>
                    </a:extLst>
                  </p:cNvPr>
                  <p:cNvSpPr/>
                  <p:nvPr/>
                </p:nvSpPr>
                <p:spPr>
                  <a:xfrm rot="5400000">
                    <a:off x="9591162" y="2672760"/>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1D85F-2B56-1EBD-713C-2E592B3639F0}"/>
                      </a:ext>
                    </a:extLst>
                  </p:cNvPr>
                  <p:cNvSpPr/>
                  <p:nvPr/>
                </p:nvSpPr>
                <p:spPr>
                  <a:xfrm rot="5400000">
                    <a:off x="9591162" y="3311160"/>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533EA3C-70FA-3E4C-7996-929555E1932D}"/>
                      </a:ext>
                    </a:extLst>
                  </p:cNvPr>
                  <p:cNvSpPr/>
                  <p:nvPr/>
                </p:nvSpPr>
                <p:spPr>
                  <a:xfrm rot="5400000">
                    <a:off x="9591162" y="3927612"/>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76" name="Group 75">
              <a:extLst>
                <a:ext uri="{FF2B5EF4-FFF2-40B4-BE49-F238E27FC236}">
                  <a16:creationId xmlns:a16="http://schemas.microsoft.com/office/drawing/2014/main" id="{54DED2F5-9800-E183-7C59-291A440FDC00}"/>
                </a:ext>
              </a:extLst>
            </p:cNvPr>
            <p:cNvGrpSpPr/>
            <p:nvPr/>
          </p:nvGrpSpPr>
          <p:grpSpPr>
            <a:xfrm>
              <a:off x="1467160" y="4348701"/>
              <a:ext cx="2840483" cy="2339578"/>
              <a:chOff x="734099" y="3915579"/>
              <a:chExt cx="2840483" cy="2339578"/>
            </a:xfrm>
          </p:grpSpPr>
          <p:cxnSp>
            <p:nvCxnSpPr>
              <p:cNvPr id="70" name="Straight Connector 69">
                <a:extLst>
                  <a:ext uri="{FF2B5EF4-FFF2-40B4-BE49-F238E27FC236}">
                    <a16:creationId xmlns:a16="http://schemas.microsoft.com/office/drawing/2014/main" id="{64DD1145-8844-8D49-ED03-07EBF8232537}"/>
                  </a:ext>
                </a:extLst>
              </p:cNvPr>
              <p:cNvCxnSpPr>
                <a:cxnSpLocks/>
              </p:cNvCxnSpPr>
              <p:nvPr/>
            </p:nvCxnSpPr>
            <p:spPr>
              <a:xfrm>
                <a:off x="734099" y="5294623"/>
                <a:ext cx="776360" cy="960534"/>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24325BFE-4D65-9DA5-1A78-4A7E25E91F82}"/>
                  </a:ext>
                </a:extLst>
              </p:cNvPr>
              <p:cNvCxnSpPr>
                <a:cxnSpLocks/>
              </p:cNvCxnSpPr>
              <p:nvPr/>
            </p:nvCxnSpPr>
            <p:spPr>
              <a:xfrm flipH="1">
                <a:off x="1482467" y="3915579"/>
                <a:ext cx="8050" cy="232601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DF27AF0E-7618-2B11-A8A7-02FFC62A9272}"/>
                  </a:ext>
                </a:extLst>
              </p:cNvPr>
              <p:cNvCxnSpPr>
                <a:cxnSpLocks/>
              </p:cNvCxnSpPr>
              <p:nvPr/>
            </p:nvCxnSpPr>
            <p:spPr>
              <a:xfrm flipH="1">
                <a:off x="1482467" y="6241591"/>
                <a:ext cx="2092115"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93" name="TextBox 92">
            <a:extLst>
              <a:ext uri="{FF2B5EF4-FFF2-40B4-BE49-F238E27FC236}">
                <a16:creationId xmlns:a16="http://schemas.microsoft.com/office/drawing/2014/main" id="{3CB63893-93BB-A1B4-DC79-C2B6C3857B93}"/>
              </a:ext>
            </a:extLst>
          </p:cNvPr>
          <p:cNvSpPr txBox="1"/>
          <p:nvPr/>
        </p:nvSpPr>
        <p:spPr>
          <a:xfrm>
            <a:off x="7405918" y="3269929"/>
            <a:ext cx="1644922" cy="369332"/>
          </a:xfrm>
          <a:prstGeom prst="rect">
            <a:avLst/>
          </a:prstGeom>
          <a:noFill/>
        </p:spPr>
        <p:txBody>
          <a:bodyPr wrap="square" rtlCol="0">
            <a:spAutoFit/>
          </a:bodyPr>
          <a:lstStyle/>
          <a:p>
            <a:r>
              <a:rPr lang="en-US" b="1" dirty="0">
                <a:solidFill>
                  <a:schemeClr val="accent5">
                    <a:lumMod val="50000"/>
                  </a:schemeClr>
                </a:solidFill>
              </a:rPr>
              <a:t>bioclim1</a:t>
            </a:r>
          </a:p>
        </p:txBody>
      </p:sp>
      <p:sp>
        <p:nvSpPr>
          <p:cNvPr id="109" name="TextBox 108">
            <a:extLst>
              <a:ext uri="{FF2B5EF4-FFF2-40B4-BE49-F238E27FC236}">
                <a16:creationId xmlns:a16="http://schemas.microsoft.com/office/drawing/2014/main" id="{3C66DB77-8D29-1F52-0FE3-C05084D488AC}"/>
              </a:ext>
            </a:extLst>
          </p:cNvPr>
          <p:cNvSpPr txBox="1"/>
          <p:nvPr/>
        </p:nvSpPr>
        <p:spPr>
          <a:xfrm>
            <a:off x="7106643" y="2869002"/>
            <a:ext cx="1644922" cy="369332"/>
          </a:xfrm>
          <a:prstGeom prst="rect">
            <a:avLst/>
          </a:prstGeom>
          <a:noFill/>
        </p:spPr>
        <p:txBody>
          <a:bodyPr wrap="square" rtlCol="0">
            <a:spAutoFit/>
          </a:bodyPr>
          <a:lstStyle/>
          <a:p>
            <a:r>
              <a:rPr lang="en-US" b="1" dirty="0">
                <a:solidFill>
                  <a:schemeClr val="tx2">
                    <a:lumMod val="90000"/>
                    <a:lumOff val="10000"/>
                  </a:schemeClr>
                </a:solidFill>
              </a:rPr>
              <a:t>bioclim2</a:t>
            </a:r>
          </a:p>
        </p:txBody>
      </p:sp>
      <p:sp>
        <p:nvSpPr>
          <p:cNvPr id="111" name="TextBox 110">
            <a:extLst>
              <a:ext uri="{FF2B5EF4-FFF2-40B4-BE49-F238E27FC236}">
                <a16:creationId xmlns:a16="http://schemas.microsoft.com/office/drawing/2014/main" id="{C9E8DBCC-D89B-5998-881E-F240B70ACA6E}"/>
              </a:ext>
            </a:extLst>
          </p:cNvPr>
          <p:cNvSpPr txBox="1"/>
          <p:nvPr/>
        </p:nvSpPr>
        <p:spPr>
          <a:xfrm>
            <a:off x="6817058" y="2553207"/>
            <a:ext cx="1644922" cy="369332"/>
          </a:xfrm>
          <a:prstGeom prst="rect">
            <a:avLst/>
          </a:prstGeom>
          <a:noFill/>
        </p:spPr>
        <p:txBody>
          <a:bodyPr wrap="square" rtlCol="0">
            <a:spAutoFit/>
          </a:bodyPr>
          <a:lstStyle/>
          <a:p>
            <a:r>
              <a:rPr lang="en-US" b="1" dirty="0">
                <a:solidFill>
                  <a:schemeClr val="accent3">
                    <a:lumMod val="50000"/>
                  </a:schemeClr>
                </a:solidFill>
              </a:rPr>
              <a:t>bioclim3</a:t>
            </a:r>
          </a:p>
        </p:txBody>
      </p:sp>
      <p:sp>
        <p:nvSpPr>
          <p:cNvPr id="115" name="TextBox 114">
            <a:extLst>
              <a:ext uri="{FF2B5EF4-FFF2-40B4-BE49-F238E27FC236}">
                <a16:creationId xmlns:a16="http://schemas.microsoft.com/office/drawing/2014/main" id="{F0AE1D75-2945-F712-EF4A-CBEAA876A437}"/>
              </a:ext>
            </a:extLst>
          </p:cNvPr>
          <p:cNvSpPr txBox="1"/>
          <p:nvPr/>
        </p:nvSpPr>
        <p:spPr>
          <a:xfrm>
            <a:off x="7485543" y="4552161"/>
            <a:ext cx="335871" cy="523220"/>
          </a:xfrm>
          <a:prstGeom prst="rect">
            <a:avLst/>
          </a:prstGeom>
          <a:noFill/>
        </p:spPr>
        <p:txBody>
          <a:bodyPr wrap="square" rtlCol="0">
            <a:spAutoFit/>
          </a:bodyPr>
          <a:lstStyle/>
          <a:p>
            <a:r>
              <a:rPr lang="en-US" sz="2800" b="1" dirty="0"/>
              <a:t>x</a:t>
            </a:r>
          </a:p>
        </p:txBody>
      </p:sp>
      <p:sp>
        <p:nvSpPr>
          <p:cNvPr id="118" name="TextBox 117">
            <a:extLst>
              <a:ext uri="{FF2B5EF4-FFF2-40B4-BE49-F238E27FC236}">
                <a16:creationId xmlns:a16="http://schemas.microsoft.com/office/drawing/2014/main" id="{D36C21FB-537B-7E1E-8E6B-FBD4A237E3A6}"/>
              </a:ext>
            </a:extLst>
          </p:cNvPr>
          <p:cNvSpPr txBox="1"/>
          <p:nvPr/>
        </p:nvSpPr>
        <p:spPr>
          <a:xfrm>
            <a:off x="5169742" y="1995281"/>
            <a:ext cx="335871" cy="523220"/>
          </a:xfrm>
          <a:prstGeom prst="rect">
            <a:avLst/>
          </a:prstGeom>
          <a:noFill/>
        </p:spPr>
        <p:txBody>
          <a:bodyPr wrap="square" rtlCol="0">
            <a:spAutoFit/>
          </a:bodyPr>
          <a:lstStyle/>
          <a:p>
            <a:r>
              <a:rPr lang="en-US" sz="2800" b="1" dirty="0"/>
              <a:t>y</a:t>
            </a:r>
          </a:p>
        </p:txBody>
      </p:sp>
      <p:sp>
        <p:nvSpPr>
          <p:cNvPr id="120" name="TextBox 119">
            <a:extLst>
              <a:ext uri="{FF2B5EF4-FFF2-40B4-BE49-F238E27FC236}">
                <a16:creationId xmlns:a16="http://schemas.microsoft.com/office/drawing/2014/main" id="{85B3679A-FB96-7044-459E-B63945E79E64}"/>
              </a:ext>
            </a:extLst>
          </p:cNvPr>
          <p:cNvSpPr txBox="1"/>
          <p:nvPr/>
        </p:nvSpPr>
        <p:spPr>
          <a:xfrm>
            <a:off x="4328490" y="3454595"/>
            <a:ext cx="335871" cy="523220"/>
          </a:xfrm>
          <a:prstGeom prst="rect">
            <a:avLst/>
          </a:prstGeom>
          <a:noFill/>
        </p:spPr>
        <p:txBody>
          <a:bodyPr wrap="square" rtlCol="0">
            <a:spAutoFit/>
          </a:bodyPr>
          <a:lstStyle/>
          <a:p>
            <a:r>
              <a:rPr lang="en-US" sz="2800" b="1" dirty="0"/>
              <a:t>z</a:t>
            </a:r>
          </a:p>
        </p:txBody>
      </p:sp>
    </p:spTree>
    <p:extLst>
      <p:ext uri="{BB962C8B-B14F-4D97-AF65-F5344CB8AC3E}">
        <p14:creationId xmlns:p14="http://schemas.microsoft.com/office/powerpoint/2010/main" val="41376258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EDCED-57E6-DA5F-C559-35D6BD6A7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0E573-4DA4-333C-C116-7737F63236EC}"/>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Extracting Climatic Variables at Occurrences</a:t>
            </a:r>
            <a:endParaRPr lang="en-US" dirty="0"/>
          </a:p>
        </p:txBody>
      </p:sp>
      <p:grpSp>
        <p:nvGrpSpPr>
          <p:cNvPr id="105" name="Group 104">
            <a:extLst>
              <a:ext uri="{FF2B5EF4-FFF2-40B4-BE49-F238E27FC236}">
                <a16:creationId xmlns:a16="http://schemas.microsoft.com/office/drawing/2014/main" id="{AB2AB53D-D975-F65F-C206-02EC247D901F}"/>
              </a:ext>
            </a:extLst>
          </p:cNvPr>
          <p:cNvGrpSpPr/>
          <p:nvPr/>
        </p:nvGrpSpPr>
        <p:grpSpPr>
          <a:xfrm rot="16198527">
            <a:off x="4202673" y="2202712"/>
            <a:ext cx="2448204" cy="2448204"/>
            <a:chOff x="8245740" y="2264001"/>
            <a:chExt cx="2448204" cy="2448204"/>
          </a:xfrm>
          <a:scene3d>
            <a:camera prst="perspectiveLeft"/>
            <a:lightRig rig="threePt" dir="t"/>
          </a:scene3d>
        </p:grpSpPr>
        <p:pic>
          <p:nvPicPr>
            <p:cNvPr id="94" name="Graphic 93" descr="Table outline">
              <a:extLst>
                <a:ext uri="{FF2B5EF4-FFF2-40B4-BE49-F238E27FC236}">
                  <a16:creationId xmlns:a16="http://schemas.microsoft.com/office/drawing/2014/main" id="{52FF4369-27CE-2598-E52B-0C5D88A595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8245740" y="2264001"/>
              <a:ext cx="2448204" cy="2448204"/>
            </a:xfrm>
            <a:prstGeom prst="rect">
              <a:avLst/>
            </a:prstGeom>
          </p:spPr>
        </p:pic>
        <p:grpSp>
          <p:nvGrpSpPr>
            <p:cNvPr id="104" name="Group 103">
              <a:extLst>
                <a:ext uri="{FF2B5EF4-FFF2-40B4-BE49-F238E27FC236}">
                  <a16:creationId xmlns:a16="http://schemas.microsoft.com/office/drawing/2014/main" id="{8F5E1D38-2D3C-D569-4B4C-2EA99247C1CA}"/>
                </a:ext>
              </a:extLst>
            </p:cNvPr>
            <p:cNvGrpSpPr/>
            <p:nvPr/>
          </p:nvGrpSpPr>
          <p:grpSpPr>
            <a:xfrm>
              <a:off x="8876172" y="2552959"/>
              <a:ext cx="1204533" cy="1870345"/>
              <a:chOff x="8876172" y="2552959"/>
              <a:chExt cx="1204533" cy="1870345"/>
            </a:xfrm>
          </p:grpSpPr>
          <p:sp>
            <p:nvSpPr>
              <p:cNvPr id="95" name="Rectangle 94">
                <a:extLst>
                  <a:ext uri="{FF2B5EF4-FFF2-40B4-BE49-F238E27FC236}">
                    <a16:creationId xmlns:a16="http://schemas.microsoft.com/office/drawing/2014/main" id="{46377891-3E69-F61B-0EA8-C58B77209909}"/>
                  </a:ext>
                </a:extLst>
              </p:cNvPr>
              <p:cNvSpPr/>
              <p:nvPr/>
            </p:nvSpPr>
            <p:spPr>
              <a:xfrm rot="5400000">
                <a:off x="8756371" y="2678909"/>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C74B3934-AB49-2ED1-4ECB-868C7A5DEFD1}"/>
                  </a:ext>
                </a:extLst>
              </p:cNvPr>
              <p:cNvSpPr/>
              <p:nvPr/>
            </p:nvSpPr>
            <p:spPr>
              <a:xfrm rot="5400000">
                <a:off x="8756371" y="3317309"/>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BE665D15-9798-C589-1C26-5ADBDD2FA235}"/>
                  </a:ext>
                </a:extLst>
              </p:cNvPr>
              <p:cNvSpPr/>
              <p:nvPr/>
            </p:nvSpPr>
            <p:spPr>
              <a:xfrm rot="5400000">
                <a:off x="8756371" y="3933761"/>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90F744C1-D5BE-2445-9DA4-A1D0EECFC468}"/>
                  </a:ext>
                </a:extLst>
              </p:cNvPr>
              <p:cNvSpPr/>
              <p:nvPr/>
            </p:nvSpPr>
            <p:spPr>
              <a:xfrm rot="5400000">
                <a:off x="9173767" y="2673151"/>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9538D218-7471-8C10-8A02-C23E3B35D33A}"/>
                  </a:ext>
                </a:extLst>
              </p:cNvPr>
              <p:cNvSpPr/>
              <p:nvPr/>
            </p:nvSpPr>
            <p:spPr>
              <a:xfrm rot="5400000">
                <a:off x="9173767" y="3311551"/>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99">
                <a:extLst>
                  <a:ext uri="{FF2B5EF4-FFF2-40B4-BE49-F238E27FC236}">
                    <a16:creationId xmlns:a16="http://schemas.microsoft.com/office/drawing/2014/main" id="{6BD02A60-7C16-CDB7-1847-3A74E849BE7D}"/>
                  </a:ext>
                </a:extLst>
              </p:cNvPr>
              <p:cNvSpPr/>
              <p:nvPr/>
            </p:nvSpPr>
            <p:spPr>
              <a:xfrm rot="5400000">
                <a:off x="9173767" y="3928003"/>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CB75FCBF-F585-1691-1B18-53ACA5F56FE7}"/>
                  </a:ext>
                </a:extLst>
              </p:cNvPr>
              <p:cNvSpPr/>
              <p:nvPr/>
            </p:nvSpPr>
            <p:spPr>
              <a:xfrm rot="5400000">
                <a:off x="9591162" y="2672760"/>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906C550A-8E8D-9397-A309-90CB03455E62}"/>
                  </a:ext>
                </a:extLst>
              </p:cNvPr>
              <p:cNvSpPr/>
              <p:nvPr/>
            </p:nvSpPr>
            <p:spPr>
              <a:xfrm rot="5400000">
                <a:off x="9591162" y="3311160"/>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988827E3-47B9-0128-7A77-EEA73259E868}"/>
                  </a:ext>
                </a:extLst>
              </p:cNvPr>
              <p:cNvSpPr/>
              <p:nvPr/>
            </p:nvSpPr>
            <p:spPr>
              <a:xfrm rot="5400000">
                <a:off x="9591162" y="3927612"/>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1" name="Group 40">
            <a:extLst>
              <a:ext uri="{FF2B5EF4-FFF2-40B4-BE49-F238E27FC236}">
                <a16:creationId xmlns:a16="http://schemas.microsoft.com/office/drawing/2014/main" id="{C8E13A11-3A9C-8244-1479-359E294BAB96}"/>
              </a:ext>
            </a:extLst>
          </p:cNvPr>
          <p:cNvGrpSpPr/>
          <p:nvPr/>
        </p:nvGrpSpPr>
        <p:grpSpPr>
          <a:xfrm>
            <a:off x="4506156" y="2482512"/>
            <a:ext cx="4149573" cy="2731305"/>
            <a:chOff x="4901267" y="2378076"/>
            <a:chExt cx="4149573" cy="2731305"/>
          </a:xfrm>
        </p:grpSpPr>
        <p:pic>
          <p:nvPicPr>
            <p:cNvPr id="40" name="Graphic 39" descr="Cactus with solid fill">
              <a:extLst>
                <a:ext uri="{FF2B5EF4-FFF2-40B4-BE49-F238E27FC236}">
                  <a16:creationId xmlns:a16="http://schemas.microsoft.com/office/drawing/2014/main" id="{210CBEFD-E3C4-C403-9FD0-B07B1C6327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V="1">
              <a:off x="4962954" y="2742910"/>
              <a:ext cx="465622" cy="322748"/>
            </a:xfrm>
            <a:prstGeom prst="rect">
              <a:avLst/>
            </a:prstGeom>
          </p:spPr>
        </p:pic>
        <p:grpSp>
          <p:nvGrpSpPr>
            <p:cNvPr id="92" name="Group 91">
              <a:extLst>
                <a:ext uri="{FF2B5EF4-FFF2-40B4-BE49-F238E27FC236}">
                  <a16:creationId xmlns:a16="http://schemas.microsoft.com/office/drawing/2014/main" id="{544545E0-74B1-7C62-E4C7-D0EAFD962020}"/>
                </a:ext>
              </a:extLst>
            </p:cNvPr>
            <p:cNvGrpSpPr/>
            <p:nvPr/>
          </p:nvGrpSpPr>
          <p:grpSpPr>
            <a:xfrm rot="16242280">
              <a:off x="4901267" y="2378076"/>
              <a:ext cx="2448204" cy="2448204"/>
              <a:chOff x="7414446" y="1927315"/>
              <a:chExt cx="2448204" cy="2448204"/>
            </a:xfrm>
          </p:grpSpPr>
          <p:pic>
            <p:nvPicPr>
              <p:cNvPr id="25" name="Graphic 24" descr="Table outline">
                <a:extLst>
                  <a:ext uri="{FF2B5EF4-FFF2-40B4-BE49-F238E27FC236}">
                    <a16:creationId xmlns:a16="http://schemas.microsoft.com/office/drawing/2014/main" id="{C5392502-64D4-F397-95CC-660BAE26B4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7414446" y="1927315"/>
                <a:ext cx="2448204" cy="2448204"/>
              </a:xfrm>
              <a:prstGeom prst="rect">
                <a:avLst/>
              </a:prstGeom>
            </p:spPr>
          </p:pic>
          <p:sp>
            <p:nvSpPr>
              <p:cNvPr id="50" name="Rectangle 49">
                <a:extLst>
                  <a:ext uri="{FF2B5EF4-FFF2-40B4-BE49-F238E27FC236}">
                    <a16:creationId xmlns:a16="http://schemas.microsoft.com/office/drawing/2014/main" id="{66338794-EAA5-B79D-D9DC-D41AAE0D297A}"/>
                  </a:ext>
                </a:extLst>
              </p:cNvPr>
              <p:cNvSpPr/>
              <p:nvPr/>
            </p:nvSpPr>
            <p:spPr>
              <a:xfrm rot="5400000">
                <a:off x="7925077" y="2342223"/>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B24E96E-C96D-DB0A-A16E-47B97980B802}"/>
                  </a:ext>
                </a:extLst>
              </p:cNvPr>
              <p:cNvSpPr/>
              <p:nvPr/>
            </p:nvSpPr>
            <p:spPr>
              <a:xfrm rot="5400000">
                <a:off x="7925077" y="2980623"/>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47B3CA15-C0EE-0807-7ED1-A4CC6936A4D8}"/>
                  </a:ext>
                </a:extLst>
              </p:cNvPr>
              <p:cNvSpPr/>
              <p:nvPr/>
            </p:nvSpPr>
            <p:spPr>
              <a:xfrm rot="5400000">
                <a:off x="7925077" y="359707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830D753B-6D04-710C-7CCD-C08CE9803871}"/>
                  </a:ext>
                </a:extLst>
              </p:cNvPr>
              <p:cNvSpPr/>
              <p:nvPr/>
            </p:nvSpPr>
            <p:spPr>
              <a:xfrm rot="5400000">
                <a:off x="8342473" y="2336465"/>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C87B134C-08E4-6C9D-0501-FF8ED2936019}"/>
                  </a:ext>
                </a:extLst>
              </p:cNvPr>
              <p:cNvSpPr/>
              <p:nvPr/>
            </p:nvSpPr>
            <p:spPr>
              <a:xfrm rot="5400000">
                <a:off x="8342473" y="2974865"/>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0714C444-A878-6735-5AA6-F61AC7C73CFA}"/>
                  </a:ext>
                </a:extLst>
              </p:cNvPr>
              <p:cNvSpPr/>
              <p:nvPr/>
            </p:nvSpPr>
            <p:spPr>
              <a:xfrm rot="5400000">
                <a:off x="8342473" y="3591317"/>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64EC670-F753-BB06-C310-3633E12DDDDC}"/>
                  </a:ext>
                </a:extLst>
              </p:cNvPr>
              <p:cNvSpPr/>
              <p:nvPr/>
            </p:nvSpPr>
            <p:spPr>
              <a:xfrm rot="5400000">
                <a:off x="8759868" y="23360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8BCA25A-C0B8-FCCE-0D0B-1911DE2FACE6}"/>
                  </a:ext>
                </a:extLst>
              </p:cNvPr>
              <p:cNvSpPr/>
              <p:nvPr/>
            </p:nvSpPr>
            <p:spPr>
              <a:xfrm rot="5400000">
                <a:off x="8759868" y="29744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2D29C4EC-0E05-AC4A-3E25-3AE6AB8CB3AD}"/>
                  </a:ext>
                </a:extLst>
              </p:cNvPr>
              <p:cNvSpPr/>
              <p:nvPr/>
            </p:nvSpPr>
            <p:spPr>
              <a:xfrm rot="5400000">
                <a:off x="8759868" y="3590926"/>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8" name="Graphic 37" descr="Cactus with solid fill">
              <a:extLst>
                <a:ext uri="{FF2B5EF4-FFF2-40B4-BE49-F238E27FC236}">
                  <a16:creationId xmlns:a16="http://schemas.microsoft.com/office/drawing/2014/main" id="{9510DF61-246D-C235-314E-B95D615BA7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flipV="1">
              <a:off x="5261570" y="3026816"/>
              <a:ext cx="465622" cy="322748"/>
            </a:xfrm>
            <a:prstGeom prst="rect">
              <a:avLst/>
            </a:prstGeom>
          </p:spPr>
        </p:pic>
        <p:grpSp>
          <p:nvGrpSpPr>
            <p:cNvPr id="3" name="Group 2">
              <a:extLst>
                <a:ext uri="{FF2B5EF4-FFF2-40B4-BE49-F238E27FC236}">
                  <a16:creationId xmlns:a16="http://schemas.microsoft.com/office/drawing/2014/main" id="{3804F939-0320-CD44-F88B-E67C36E7F921}"/>
                </a:ext>
              </a:extLst>
            </p:cNvPr>
            <p:cNvGrpSpPr/>
            <p:nvPr/>
          </p:nvGrpSpPr>
          <p:grpSpPr>
            <a:xfrm rot="16198527">
              <a:off x="5146011" y="2661177"/>
              <a:ext cx="2448204" cy="2448204"/>
              <a:chOff x="8245740" y="2264001"/>
              <a:chExt cx="2448204" cy="2448204"/>
            </a:xfrm>
            <a:scene3d>
              <a:camera prst="perspectiveLeft"/>
              <a:lightRig rig="threePt" dir="t"/>
            </a:scene3d>
          </p:grpSpPr>
          <p:pic>
            <p:nvPicPr>
              <p:cNvPr id="4" name="Graphic 3" descr="Table outline">
                <a:extLst>
                  <a:ext uri="{FF2B5EF4-FFF2-40B4-BE49-F238E27FC236}">
                    <a16:creationId xmlns:a16="http://schemas.microsoft.com/office/drawing/2014/main" id="{9FE820AE-F8F2-9AE5-584C-4D1AC3AD023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5400000">
                <a:off x="8245740" y="2264001"/>
                <a:ext cx="2448204" cy="2448204"/>
              </a:xfrm>
              <a:prstGeom prst="rect">
                <a:avLst/>
              </a:prstGeom>
            </p:spPr>
          </p:pic>
          <p:grpSp>
            <p:nvGrpSpPr>
              <p:cNvPr id="5" name="Group 4">
                <a:extLst>
                  <a:ext uri="{FF2B5EF4-FFF2-40B4-BE49-F238E27FC236}">
                    <a16:creationId xmlns:a16="http://schemas.microsoft.com/office/drawing/2014/main" id="{82DF6A46-B0BF-7038-A0AB-73FEA05EF10F}"/>
                  </a:ext>
                </a:extLst>
              </p:cNvPr>
              <p:cNvGrpSpPr/>
              <p:nvPr/>
            </p:nvGrpSpPr>
            <p:grpSpPr>
              <a:xfrm>
                <a:off x="8876172" y="2552959"/>
                <a:ext cx="1204533" cy="1870345"/>
                <a:chOff x="8876172" y="2552959"/>
                <a:chExt cx="1204533" cy="1870345"/>
              </a:xfrm>
            </p:grpSpPr>
            <p:sp>
              <p:nvSpPr>
                <p:cNvPr id="6" name="Rectangle 5">
                  <a:extLst>
                    <a:ext uri="{FF2B5EF4-FFF2-40B4-BE49-F238E27FC236}">
                      <a16:creationId xmlns:a16="http://schemas.microsoft.com/office/drawing/2014/main" id="{9A000B30-9B43-2FF4-5F92-D1CF1FA2F162}"/>
                    </a:ext>
                  </a:extLst>
                </p:cNvPr>
                <p:cNvSpPr/>
                <p:nvPr/>
              </p:nvSpPr>
              <p:spPr>
                <a:xfrm rot="5400000">
                  <a:off x="8756371" y="2678909"/>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22914E1-04C4-5BEB-9475-A8B1FBB71B69}"/>
                    </a:ext>
                  </a:extLst>
                </p:cNvPr>
                <p:cNvSpPr/>
                <p:nvPr/>
              </p:nvSpPr>
              <p:spPr>
                <a:xfrm rot="5400000">
                  <a:off x="8756371" y="3317309"/>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016BE2E-7973-F6A2-55CA-4A25B7E0144D}"/>
                    </a:ext>
                  </a:extLst>
                </p:cNvPr>
                <p:cNvSpPr/>
                <p:nvPr/>
              </p:nvSpPr>
              <p:spPr>
                <a:xfrm rot="5400000">
                  <a:off x="8756371" y="393376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B54513-2D6A-FFC0-14BD-EC4209EF6719}"/>
                    </a:ext>
                  </a:extLst>
                </p:cNvPr>
                <p:cNvSpPr/>
                <p:nvPr/>
              </p:nvSpPr>
              <p:spPr>
                <a:xfrm rot="5400000">
                  <a:off x="9173767" y="26731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315FA9B-8209-B130-55E0-650D26EB6D87}"/>
                    </a:ext>
                  </a:extLst>
                </p:cNvPr>
                <p:cNvSpPr/>
                <p:nvPr/>
              </p:nvSpPr>
              <p:spPr>
                <a:xfrm rot="5400000">
                  <a:off x="9173767" y="33115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AFE8201-2AD6-30F8-707C-C57E9651B093}"/>
                    </a:ext>
                  </a:extLst>
                </p:cNvPr>
                <p:cNvSpPr/>
                <p:nvPr/>
              </p:nvSpPr>
              <p:spPr>
                <a:xfrm rot="5400000">
                  <a:off x="9173767" y="3928003"/>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15B2B82-DCFB-D3E3-248E-1E5761522CAC}"/>
                    </a:ext>
                  </a:extLst>
                </p:cNvPr>
                <p:cNvSpPr/>
                <p:nvPr/>
              </p:nvSpPr>
              <p:spPr>
                <a:xfrm rot="5400000">
                  <a:off x="9591162" y="2672760"/>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9519A1D-C8AD-1794-6E48-BB267F599FE5}"/>
                    </a:ext>
                  </a:extLst>
                </p:cNvPr>
                <p:cNvSpPr/>
                <p:nvPr/>
              </p:nvSpPr>
              <p:spPr>
                <a:xfrm rot="5400000">
                  <a:off x="9591162" y="3311160"/>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ADB618-4E33-AFD3-992F-C70678C16C89}"/>
                    </a:ext>
                  </a:extLst>
                </p:cNvPr>
                <p:cNvSpPr/>
                <p:nvPr/>
              </p:nvSpPr>
              <p:spPr>
                <a:xfrm rot="5400000">
                  <a:off x="9591162" y="3927612"/>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93" name="TextBox 92">
              <a:extLst>
                <a:ext uri="{FF2B5EF4-FFF2-40B4-BE49-F238E27FC236}">
                  <a16:creationId xmlns:a16="http://schemas.microsoft.com/office/drawing/2014/main" id="{969F956F-AB5A-4D58-84CD-82685871F0A7}"/>
                </a:ext>
              </a:extLst>
            </p:cNvPr>
            <p:cNvSpPr txBox="1"/>
            <p:nvPr/>
          </p:nvSpPr>
          <p:spPr>
            <a:xfrm>
              <a:off x="7405918" y="3269929"/>
              <a:ext cx="1644922" cy="369332"/>
            </a:xfrm>
            <a:prstGeom prst="rect">
              <a:avLst/>
            </a:prstGeom>
            <a:noFill/>
          </p:spPr>
          <p:txBody>
            <a:bodyPr wrap="square" rtlCol="0">
              <a:spAutoFit/>
            </a:bodyPr>
            <a:lstStyle/>
            <a:p>
              <a:r>
                <a:rPr lang="en-US" b="1" dirty="0">
                  <a:solidFill>
                    <a:schemeClr val="accent5">
                      <a:lumMod val="50000"/>
                    </a:schemeClr>
                  </a:solidFill>
                </a:rPr>
                <a:t>bioclim1</a:t>
              </a:r>
            </a:p>
          </p:txBody>
        </p:sp>
        <p:sp>
          <p:nvSpPr>
            <p:cNvPr id="109" name="TextBox 108">
              <a:extLst>
                <a:ext uri="{FF2B5EF4-FFF2-40B4-BE49-F238E27FC236}">
                  <a16:creationId xmlns:a16="http://schemas.microsoft.com/office/drawing/2014/main" id="{25EE257F-3084-BD0D-D6D1-BB1F43A65014}"/>
                </a:ext>
              </a:extLst>
            </p:cNvPr>
            <p:cNvSpPr txBox="1"/>
            <p:nvPr/>
          </p:nvSpPr>
          <p:spPr>
            <a:xfrm>
              <a:off x="7106643" y="2869002"/>
              <a:ext cx="1644922" cy="369332"/>
            </a:xfrm>
            <a:prstGeom prst="rect">
              <a:avLst/>
            </a:prstGeom>
            <a:noFill/>
          </p:spPr>
          <p:txBody>
            <a:bodyPr wrap="square" rtlCol="0">
              <a:spAutoFit/>
            </a:bodyPr>
            <a:lstStyle/>
            <a:p>
              <a:r>
                <a:rPr lang="en-US" b="1" dirty="0">
                  <a:solidFill>
                    <a:schemeClr val="tx2">
                      <a:lumMod val="90000"/>
                      <a:lumOff val="10000"/>
                    </a:schemeClr>
                  </a:solidFill>
                </a:rPr>
                <a:t>bioclim2</a:t>
              </a:r>
            </a:p>
          </p:txBody>
        </p:sp>
        <p:sp>
          <p:nvSpPr>
            <p:cNvPr id="111" name="TextBox 110">
              <a:extLst>
                <a:ext uri="{FF2B5EF4-FFF2-40B4-BE49-F238E27FC236}">
                  <a16:creationId xmlns:a16="http://schemas.microsoft.com/office/drawing/2014/main" id="{E5F89B32-0B16-B478-A3CC-51B81309727B}"/>
                </a:ext>
              </a:extLst>
            </p:cNvPr>
            <p:cNvSpPr txBox="1"/>
            <p:nvPr/>
          </p:nvSpPr>
          <p:spPr>
            <a:xfrm>
              <a:off x="6817058" y="2553207"/>
              <a:ext cx="1644922" cy="369332"/>
            </a:xfrm>
            <a:prstGeom prst="rect">
              <a:avLst/>
            </a:prstGeom>
            <a:noFill/>
          </p:spPr>
          <p:txBody>
            <a:bodyPr wrap="square" rtlCol="0">
              <a:spAutoFit/>
            </a:bodyPr>
            <a:lstStyle/>
            <a:p>
              <a:r>
                <a:rPr lang="en-US" b="1" dirty="0">
                  <a:solidFill>
                    <a:schemeClr val="accent3">
                      <a:lumMod val="50000"/>
                    </a:schemeClr>
                  </a:solidFill>
                </a:rPr>
                <a:t>bioclim3</a:t>
              </a:r>
            </a:p>
          </p:txBody>
        </p:sp>
        <p:pic>
          <p:nvPicPr>
            <p:cNvPr id="26" name="Graphic 25" descr="Flower without stem with solid fill">
              <a:extLst>
                <a:ext uri="{FF2B5EF4-FFF2-40B4-BE49-F238E27FC236}">
                  <a16:creationId xmlns:a16="http://schemas.microsoft.com/office/drawing/2014/main" id="{8B962549-6B64-D8E2-6728-4B9BC13507B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38907" y="3644161"/>
              <a:ext cx="435666" cy="435666"/>
            </a:xfrm>
            <a:prstGeom prst="rect">
              <a:avLst/>
            </a:prstGeom>
          </p:spPr>
        </p:pic>
        <p:pic>
          <p:nvPicPr>
            <p:cNvPr id="28" name="Graphic 27" descr="Cactus with solid fill">
              <a:extLst>
                <a:ext uri="{FF2B5EF4-FFF2-40B4-BE49-F238E27FC236}">
                  <a16:creationId xmlns:a16="http://schemas.microsoft.com/office/drawing/2014/main" id="{5FEF634A-07DC-8B10-7DA7-6CCBDEFD02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0800000" flipV="1">
              <a:off x="5504737" y="3310352"/>
              <a:ext cx="465622" cy="322748"/>
            </a:xfrm>
            <a:prstGeom prst="rect">
              <a:avLst/>
            </a:prstGeom>
          </p:spPr>
        </p:pic>
        <p:pic>
          <p:nvPicPr>
            <p:cNvPr id="30" name="Graphic 29" descr="Cactus with solid fill">
              <a:extLst>
                <a:ext uri="{FF2B5EF4-FFF2-40B4-BE49-F238E27FC236}">
                  <a16:creationId xmlns:a16="http://schemas.microsoft.com/office/drawing/2014/main" id="{7F516665-9C70-5135-ED9E-6602462EFAE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0800000" flipV="1">
              <a:off x="6757704" y="3715040"/>
              <a:ext cx="465622" cy="322748"/>
            </a:xfrm>
            <a:prstGeom prst="rect">
              <a:avLst/>
            </a:prstGeom>
          </p:spPr>
        </p:pic>
        <p:pic>
          <p:nvPicPr>
            <p:cNvPr id="32" name="Graphic 31" descr="Cactus with solid fill">
              <a:extLst>
                <a:ext uri="{FF2B5EF4-FFF2-40B4-BE49-F238E27FC236}">
                  <a16:creationId xmlns:a16="http://schemas.microsoft.com/office/drawing/2014/main" id="{20A06184-C8DD-A36F-63A0-F361C3575CE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0800000" flipV="1">
              <a:off x="6936155" y="4093280"/>
              <a:ext cx="465622" cy="322748"/>
            </a:xfrm>
            <a:prstGeom prst="rect">
              <a:avLst/>
            </a:prstGeom>
          </p:spPr>
        </p:pic>
        <p:pic>
          <p:nvPicPr>
            <p:cNvPr id="34" name="Graphic 33" descr="Flower without stem with solid fill">
              <a:extLst>
                <a:ext uri="{FF2B5EF4-FFF2-40B4-BE49-F238E27FC236}">
                  <a16:creationId xmlns:a16="http://schemas.microsoft.com/office/drawing/2014/main" id="{392B7978-C434-795D-4ABB-82FD2DF9C03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44487" y="4041139"/>
              <a:ext cx="435666" cy="435666"/>
            </a:xfrm>
            <a:prstGeom prst="rect">
              <a:avLst/>
            </a:prstGeom>
          </p:spPr>
        </p:pic>
        <p:pic>
          <p:nvPicPr>
            <p:cNvPr id="36" name="Graphic 35" descr="Flower without stem with solid fill">
              <a:extLst>
                <a:ext uri="{FF2B5EF4-FFF2-40B4-BE49-F238E27FC236}">
                  <a16:creationId xmlns:a16="http://schemas.microsoft.com/office/drawing/2014/main" id="{A26B066E-8032-5478-34CF-1E8412CBA31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79243" y="4075119"/>
              <a:ext cx="381420" cy="381420"/>
            </a:xfrm>
            <a:prstGeom prst="rect">
              <a:avLst/>
            </a:prstGeom>
          </p:spPr>
        </p:pic>
      </p:grpSp>
      <p:sp>
        <p:nvSpPr>
          <p:cNvPr id="43" name="TextBox 42">
            <a:extLst>
              <a:ext uri="{FF2B5EF4-FFF2-40B4-BE49-F238E27FC236}">
                <a16:creationId xmlns:a16="http://schemas.microsoft.com/office/drawing/2014/main" id="{9A2CF34E-24A8-ABEA-8D10-84599825FA81}"/>
              </a:ext>
            </a:extLst>
          </p:cNvPr>
          <p:cNvSpPr txBox="1"/>
          <p:nvPr/>
        </p:nvSpPr>
        <p:spPr>
          <a:xfrm>
            <a:off x="3088669" y="5706656"/>
            <a:ext cx="6014662" cy="369332"/>
          </a:xfrm>
          <a:prstGeom prst="rect">
            <a:avLst/>
          </a:prstGeom>
          <a:noFill/>
        </p:spPr>
        <p:txBody>
          <a:bodyPr wrap="square" rtlCol="0">
            <a:spAutoFit/>
          </a:bodyPr>
          <a:lstStyle/>
          <a:p>
            <a:r>
              <a:rPr lang="en-US" dirty="0"/>
              <a:t>Extract data from raster for each occurrence point</a:t>
            </a:r>
          </a:p>
        </p:txBody>
      </p:sp>
      <p:grpSp>
        <p:nvGrpSpPr>
          <p:cNvPr id="10" name="Group 9">
            <a:extLst>
              <a:ext uri="{FF2B5EF4-FFF2-40B4-BE49-F238E27FC236}">
                <a16:creationId xmlns:a16="http://schemas.microsoft.com/office/drawing/2014/main" id="{7CEC3E13-8565-EB1D-49B4-CE8BDA52AAE6}"/>
              </a:ext>
            </a:extLst>
          </p:cNvPr>
          <p:cNvGrpSpPr/>
          <p:nvPr/>
        </p:nvGrpSpPr>
        <p:grpSpPr>
          <a:xfrm>
            <a:off x="2774016" y="3305722"/>
            <a:ext cx="1456126" cy="1321415"/>
            <a:chOff x="8851793" y="4761052"/>
            <a:chExt cx="942407" cy="853724"/>
          </a:xfrm>
        </p:grpSpPr>
        <p:pic>
          <p:nvPicPr>
            <p:cNvPr id="12" name="Graphic 11" descr="Wedding cake outline">
              <a:extLst>
                <a:ext uri="{FF2B5EF4-FFF2-40B4-BE49-F238E27FC236}">
                  <a16:creationId xmlns:a16="http://schemas.microsoft.com/office/drawing/2014/main" id="{479F60EC-2098-012B-3C36-450D11922BB7}"/>
                </a:ext>
              </a:extLst>
            </p:cNvPr>
            <p:cNvPicPr>
              <a:picLocks noChangeAspect="1"/>
            </p:cNvPicPr>
            <p:nvPr/>
          </p:nvPicPr>
          <p:blipFill>
            <a:blip>
              <a:extLst>
                <a:ext uri="{96DAC541-7B7A-43D3-8B79-37D633B846F1}">
                  <asvg:svgBlip xmlns:asvg="http://schemas.microsoft.com/office/drawing/2016/SVG/main" r:embed="rId11"/>
                </a:ext>
              </a:extLst>
            </a:blip>
            <a:srcRect t="52661"/>
            <a:stretch>
              <a:fillRect/>
            </a:stretch>
          </p:blipFill>
          <p:spPr>
            <a:xfrm>
              <a:off x="8879800" y="5181908"/>
              <a:ext cx="914400" cy="432868"/>
            </a:xfrm>
            <a:prstGeom prst="rect">
              <a:avLst/>
            </a:prstGeom>
          </p:spPr>
        </p:pic>
        <p:pic>
          <p:nvPicPr>
            <p:cNvPr id="14" name="Graphic 13" descr="Wedding cake outline">
              <a:extLst>
                <a:ext uri="{FF2B5EF4-FFF2-40B4-BE49-F238E27FC236}">
                  <a16:creationId xmlns:a16="http://schemas.microsoft.com/office/drawing/2014/main" id="{151C97E4-59E8-3C66-D5DB-96CF26C044FB}"/>
                </a:ext>
              </a:extLst>
            </p:cNvPr>
            <p:cNvPicPr>
              <a:picLocks noChangeAspect="1"/>
            </p:cNvPicPr>
            <p:nvPr/>
          </p:nvPicPr>
          <p:blipFill>
            <a:blip>
              <a:extLst>
                <a:ext uri="{96DAC541-7B7A-43D3-8B79-37D633B846F1}">
                  <asvg:svgBlip xmlns:asvg="http://schemas.microsoft.com/office/drawing/2016/SVG/main" r:embed="rId12"/>
                </a:ext>
              </a:extLst>
            </a:blip>
            <a:srcRect l="-2813" t="30409" r="2813" b="46874"/>
            <a:stretch>
              <a:fillRect/>
            </a:stretch>
          </p:blipFill>
          <p:spPr>
            <a:xfrm>
              <a:off x="8851793" y="4975579"/>
              <a:ext cx="914400" cy="207720"/>
            </a:xfrm>
            <a:prstGeom prst="rect">
              <a:avLst/>
            </a:prstGeom>
          </p:spPr>
        </p:pic>
        <p:pic>
          <p:nvPicPr>
            <p:cNvPr id="16" name="Graphic 15" descr="Wedding cake outline">
              <a:extLst>
                <a:ext uri="{FF2B5EF4-FFF2-40B4-BE49-F238E27FC236}">
                  <a16:creationId xmlns:a16="http://schemas.microsoft.com/office/drawing/2014/main" id="{B16DD305-5D85-F7DC-3DFE-E398E6AC3540}"/>
                </a:ext>
              </a:extLst>
            </p:cNvPr>
            <p:cNvPicPr>
              <a:picLocks noChangeAspect="1"/>
            </p:cNvPicPr>
            <p:nvPr/>
          </p:nvPicPr>
          <p:blipFill>
            <a:blip>
              <a:extLst>
                <a:ext uri="{96DAC541-7B7A-43D3-8B79-37D633B846F1}">
                  <asvg:svgBlip xmlns:asvg="http://schemas.microsoft.com/office/drawing/2016/SVG/main" r:embed="rId13"/>
                </a:ext>
              </a:extLst>
            </a:blip>
            <a:srcRect l="-2813" t="5301" r="2813" b="70810"/>
            <a:stretch>
              <a:fillRect/>
            </a:stretch>
          </p:blipFill>
          <p:spPr>
            <a:xfrm>
              <a:off x="8851793" y="4761052"/>
              <a:ext cx="914400" cy="218444"/>
            </a:xfrm>
            <a:prstGeom prst="rect">
              <a:avLst/>
            </a:prstGeom>
          </p:spPr>
        </p:pic>
      </p:grpSp>
      <p:pic>
        <p:nvPicPr>
          <p:cNvPr id="20" name="Graphic 19" descr="Arrow Up outline">
            <a:extLst>
              <a:ext uri="{FF2B5EF4-FFF2-40B4-BE49-F238E27FC236}">
                <a16:creationId xmlns:a16="http://schemas.microsoft.com/office/drawing/2014/main" id="{B0088D9A-2389-B2EB-D3D9-B3A1415C695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10800000">
            <a:off x="2897342" y="3248501"/>
            <a:ext cx="914400" cy="914400"/>
          </a:xfrm>
          <a:prstGeom prst="rect">
            <a:avLst/>
          </a:prstGeom>
        </p:spPr>
      </p:pic>
      <p:pic>
        <p:nvPicPr>
          <p:cNvPr id="22" name="Graphic 21" descr="Arrow Up outline">
            <a:extLst>
              <a:ext uri="{FF2B5EF4-FFF2-40B4-BE49-F238E27FC236}">
                <a16:creationId xmlns:a16="http://schemas.microsoft.com/office/drawing/2014/main" id="{BC6BBD37-728A-63E1-A8E8-2E347EEFC8F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10800000">
            <a:off x="3243936" y="3248501"/>
            <a:ext cx="914400" cy="914400"/>
          </a:xfrm>
          <a:prstGeom prst="rect">
            <a:avLst/>
          </a:prstGeom>
        </p:spPr>
      </p:pic>
    </p:spTree>
    <p:extLst>
      <p:ext uri="{BB962C8B-B14F-4D97-AF65-F5344CB8AC3E}">
        <p14:creationId xmlns:p14="http://schemas.microsoft.com/office/powerpoint/2010/main" val="11542098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E86DF-CD18-43C4-A8F0-B7C69C485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EC69A-C7D5-B9F6-EB5F-E66ED8930E78}"/>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Extracting Climatic Variables at Occurrences</a:t>
            </a:r>
            <a:endParaRPr lang="en-US" dirty="0"/>
          </a:p>
        </p:txBody>
      </p:sp>
      <p:grpSp>
        <p:nvGrpSpPr>
          <p:cNvPr id="105" name="Group 104">
            <a:extLst>
              <a:ext uri="{FF2B5EF4-FFF2-40B4-BE49-F238E27FC236}">
                <a16:creationId xmlns:a16="http://schemas.microsoft.com/office/drawing/2014/main" id="{B999A8A7-3F56-2EC9-B848-78C70253DAC6}"/>
              </a:ext>
            </a:extLst>
          </p:cNvPr>
          <p:cNvGrpSpPr/>
          <p:nvPr/>
        </p:nvGrpSpPr>
        <p:grpSpPr>
          <a:xfrm rot="16198527">
            <a:off x="677536" y="1378429"/>
            <a:ext cx="2448204" cy="2448204"/>
            <a:chOff x="8245740" y="2264001"/>
            <a:chExt cx="2448204" cy="2448204"/>
          </a:xfrm>
          <a:scene3d>
            <a:camera prst="perspectiveLeft"/>
            <a:lightRig rig="threePt" dir="t"/>
          </a:scene3d>
        </p:grpSpPr>
        <p:pic>
          <p:nvPicPr>
            <p:cNvPr id="94" name="Graphic 93" descr="Table outline">
              <a:extLst>
                <a:ext uri="{FF2B5EF4-FFF2-40B4-BE49-F238E27FC236}">
                  <a16:creationId xmlns:a16="http://schemas.microsoft.com/office/drawing/2014/main" id="{4F0B3C10-157F-0A9E-FF69-2DC7AAAA85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8245740" y="2264001"/>
              <a:ext cx="2448204" cy="2448204"/>
            </a:xfrm>
            <a:prstGeom prst="rect">
              <a:avLst/>
            </a:prstGeom>
          </p:spPr>
        </p:pic>
        <p:grpSp>
          <p:nvGrpSpPr>
            <p:cNvPr id="104" name="Group 103">
              <a:extLst>
                <a:ext uri="{FF2B5EF4-FFF2-40B4-BE49-F238E27FC236}">
                  <a16:creationId xmlns:a16="http://schemas.microsoft.com/office/drawing/2014/main" id="{9519EDD8-4E43-4065-496A-47C790BF95A2}"/>
                </a:ext>
              </a:extLst>
            </p:cNvPr>
            <p:cNvGrpSpPr/>
            <p:nvPr/>
          </p:nvGrpSpPr>
          <p:grpSpPr>
            <a:xfrm>
              <a:off x="8876172" y="2552959"/>
              <a:ext cx="1204533" cy="1870345"/>
              <a:chOff x="8876172" y="2552959"/>
              <a:chExt cx="1204533" cy="1870345"/>
            </a:xfrm>
          </p:grpSpPr>
          <p:sp>
            <p:nvSpPr>
              <p:cNvPr id="95" name="Rectangle 94">
                <a:extLst>
                  <a:ext uri="{FF2B5EF4-FFF2-40B4-BE49-F238E27FC236}">
                    <a16:creationId xmlns:a16="http://schemas.microsoft.com/office/drawing/2014/main" id="{45022F27-4FEE-C236-1722-36DE6FF3710E}"/>
                  </a:ext>
                </a:extLst>
              </p:cNvPr>
              <p:cNvSpPr/>
              <p:nvPr/>
            </p:nvSpPr>
            <p:spPr>
              <a:xfrm rot="5400000">
                <a:off x="8756371" y="2678909"/>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18C1ECEB-2841-F06A-D5F3-63A1160FFFCB}"/>
                  </a:ext>
                </a:extLst>
              </p:cNvPr>
              <p:cNvSpPr/>
              <p:nvPr/>
            </p:nvSpPr>
            <p:spPr>
              <a:xfrm rot="5400000">
                <a:off x="8756371" y="3317309"/>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C43AB0A4-AC8F-91E3-19FC-344E6687ED56}"/>
                  </a:ext>
                </a:extLst>
              </p:cNvPr>
              <p:cNvSpPr/>
              <p:nvPr/>
            </p:nvSpPr>
            <p:spPr>
              <a:xfrm rot="5400000">
                <a:off x="8756371" y="3933761"/>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C112F66D-AEDA-ED70-1DBA-EA3FDFC2530F}"/>
                  </a:ext>
                </a:extLst>
              </p:cNvPr>
              <p:cNvSpPr/>
              <p:nvPr/>
            </p:nvSpPr>
            <p:spPr>
              <a:xfrm rot="5400000">
                <a:off x="9173767" y="2673151"/>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5F8234C3-6ACB-5428-A52D-CA58C0B363F8}"/>
                  </a:ext>
                </a:extLst>
              </p:cNvPr>
              <p:cNvSpPr/>
              <p:nvPr/>
            </p:nvSpPr>
            <p:spPr>
              <a:xfrm rot="5400000">
                <a:off x="9173767" y="3311551"/>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99">
                <a:extLst>
                  <a:ext uri="{FF2B5EF4-FFF2-40B4-BE49-F238E27FC236}">
                    <a16:creationId xmlns:a16="http://schemas.microsoft.com/office/drawing/2014/main" id="{759B0734-BAE0-F722-1371-6279CE149D81}"/>
                  </a:ext>
                </a:extLst>
              </p:cNvPr>
              <p:cNvSpPr/>
              <p:nvPr/>
            </p:nvSpPr>
            <p:spPr>
              <a:xfrm rot="5400000">
                <a:off x="9173767" y="3928003"/>
                <a:ext cx="609344" cy="369742"/>
              </a:xfrm>
              <a:prstGeom prst="rect">
                <a:avLst/>
              </a:prstGeom>
              <a:solidFill>
                <a:schemeClr val="accent3">
                  <a:lumMod val="75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a:extLst>
                  <a:ext uri="{FF2B5EF4-FFF2-40B4-BE49-F238E27FC236}">
                    <a16:creationId xmlns:a16="http://schemas.microsoft.com/office/drawing/2014/main" id="{4E9B0E55-8507-D418-DE4D-CAD88F36447B}"/>
                  </a:ext>
                </a:extLst>
              </p:cNvPr>
              <p:cNvSpPr/>
              <p:nvPr/>
            </p:nvSpPr>
            <p:spPr>
              <a:xfrm rot="5400000">
                <a:off x="9591162" y="2672760"/>
                <a:ext cx="609344" cy="369742"/>
              </a:xfrm>
              <a:prstGeom prst="rect">
                <a:avLst/>
              </a:prstGeom>
              <a:solidFill>
                <a:schemeClr val="accent3">
                  <a:lumMod val="60000"/>
                  <a:lumOff val="4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a:extLst>
                  <a:ext uri="{FF2B5EF4-FFF2-40B4-BE49-F238E27FC236}">
                    <a16:creationId xmlns:a16="http://schemas.microsoft.com/office/drawing/2014/main" id="{A12480AE-4052-2412-CB8A-CFF8DD630D52}"/>
                  </a:ext>
                </a:extLst>
              </p:cNvPr>
              <p:cNvSpPr/>
              <p:nvPr/>
            </p:nvSpPr>
            <p:spPr>
              <a:xfrm rot="5400000">
                <a:off x="9591162" y="3311160"/>
                <a:ext cx="609344" cy="369742"/>
              </a:xfrm>
              <a:prstGeom prst="rect">
                <a:avLst/>
              </a:prstGeom>
              <a:solidFill>
                <a:schemeClr val="accent3">
                  <a:lumMod val="40000"/>
                  <a:lumOff val="6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102">
                <a:extLst>
                  <a:ext uri="{FF2B5EF4-FFF2-40B4-BE49-F238E27FC236}">
                    <a16:creationId xmlns:a16="http://schemas.microsoft.com/office/drawing/2014/main" id="{9F3732AB-CDD8-AC8A-F720-C53B7616C30E}"/>
                  </a:ext>
                </a:extLst>
              </p:cNvPr>
              <p:cNvSpPr/>
              <p:nvPr/>
            </p:nvSpPr>
            <p:spPr>
              <a:xfrm rot="5400000">
                <a:off x="9591162" y="3927612"/>
                <a:ext cx="609344" cy="369742"/>
              </a:xfrm>
              <a:prstGeom prst="rect">
                <a:avLst/>
              </a:prstGeom>
              <a:solidFill>
                <a:schemeClr val="accent3">
                  <a:lumMod val="20000"/>
                  <a:lumOff val="8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40" name="Graphic 39" descr="Cactus with solid fill">
            <a:extLst>
              <a:ext uri="{FF2B5EF4-FFF2-40B4-BE49-F238E27FC236}">
                <a16:creationId xmlns:a16="http://schemas.microsoft.com/office/drawing/2014/main" id="{739B99B6-21A0-1D01-599A-71D0C4726C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V="1">
            <a:off x="1042706" y="2023063"/>
            <a:ext cx="465622" cy="322748"/>
          </a:xfrm>
          <a:prstGeom prst="rect">
            <a:avLst/>
          </a:prstGeom>
        </p:spPr>
      </p:pic>
      <p:sp>
        <p:nvSpPr>
          <p:cNvPr id="111" name="TextBox 110">
            <a:extLst>
              <a:ext uri="{FF2B5EF4-FFF2-40B4-BE49-F238E27FC236}">
                <a16:creationId xmlns:a16="http://schemas.microsoft.com/office/drawing/2014/main" id="{9ED14441-1945-F085-197D-8CE1B6F3DDF7}"/>
              </a:ext>
            </a:extLst>
          </p:cNvPr>
          <p:cNvSpPr txBox="1"/>
          <p:nvPr/>
        </p:nvSpPr>
        <p:spPr>
          <a:xfrm>
            <a:off x="2896810" y="1833360"/>
            <a:ext cx="1644922" cy="369332"/>
          </a:xfrm>
          <a:prstGeom prst="rect">
            <a:avLst/>
          </a:prstGeom>
          <a:noFill/>
        </p:spPr>
        <p:txBody>
          <a:bodyPr wrap="square" rtlCol="0">
            <a:spAutoFit/>
          </a:bodyPr>
          <a:lstStyle/>
          <a:p>
            <a:r>
              <a:rPr lang="en-US" b="1" dirty="0">
                <a:solidFill>
                  <a:schemeClr val="accent3">
                    <a:lumMod val="50000"/>
                  </a:schemeClr>
                </a:solidFill>
              </a:rPr>
              <a:t>bioclim3</a:t>
            </a:r>
          </a:p>
        </p:txBody>
      </p:sp>
      <p:grpSp>
        <p:nvGrpSpPr>
          <p:cNvPr id="12" name="Group 11">
            <a:extLst>
              <a:ext uri="{FF2B5EF4-FFF2-40B4-BE49-F238E27FC236}">
                <a16:creationId xmlns:a16="http://schemas.microsoft.com/office/drawing/2014/main" id="{729BB3FF-ACBE-1D62-B657-793E18E32E7A}"/>
              </a:ext>
            </a:extLst>
          </p:cNvPr>
          <p:cNvGrpSpPr/>
          <p:nvPr/>
        </p:nvGrpSpPr>
        <p:grpSpPr>
          <a:xfrm>
            <a:off x="718831" y="4087742"/>
            <a:ext cx="3904829" cy="2448204"/>
            <a:chOff x="1225763" y="1941330"/>
            <a:chExt cx="3904829" cy="2448204"/>
          </a:xfrm>
        </p:grpSpPr>
        <p:sp>
          <p:nvSpPr>
            <p:cNvPr id="93" name="TextBox 92">
              <a:extLst>
                <a:ext uri="{FF2B5EF4-FFF2-40B4-BE49-F238E27FC236}">
                  <a16:creationId xmlns:a16="http://schemas.microsoft.com/office/drawing/2014/main" id="{7531B87F-20EF-93EF-1771-B04B96688418}"/>
                </a:ext>
              </a:extLst>
            </p:cNvPr>
            <p:cNvSpPr txBox="1"/>
            <p:nvPr/>
          </p:nvSpPr>
          <p:spPr>
            <a:xfrm>
              <a:off x="3485670" y="2550082"/>
              <a:ext cx="1644922" cy="369332"/>
            </a:xfrm>
            <a:prstGeom prst="rect">
              <a:avLst/>
            </a:prstGeom>
            <a:noFill/>
          </p:spPr>
          <p:txBody>
            <a:bodyPr wrap="square" rtlCol="0">
              <a:spAutoFit/>
            </a:bodyPr>
            <a:lstStyle/>
            <a:p>
              <a:r>
                <a:rPr lang="en-US" b="1" dirty="0">
                  <a:solidFill>
                    <a:schemeClr val="accent5">
                      <a:lumMod val="50000"/>
                    </a:schemeClr>
                  </a:solidFill>
                </a:rPr>
                <a:t>bioclim1</a:t>
              </a:r>
            </a:p>
          </p:txBody>
        </p:sp>
        <p:grpSp>
          <p:nvGrpSpPr>
            <p:cNvPr id="10" name="Group 9">
              <a:extLst>
                <a:ext uri="{FF2B5EF4-FFF2-40B4-BE49-F238E27FC236}">
                  <a16:creationId xmlns:a16="http://schemas.microsoft.com/office/drawing/2014/main" id="{61507DBA-1A39-A0D8-C9E5-B693B05C83B8}"/>
                </a:ext>
              </a:extLst>
            </p:cNvPr>
            <p:cNvGrpSpPr/>
            <p:nvPr/>
          </p:nvGrpSpPr>
          <p:grpSpPr>
            <a:xfrm>
              <a:off x="1225763" y="1941330"/>
              <a:ext cx="2448204" cy="2448204"/>
              <a:chOff x="1225763" y="1941330"/>
              <a:chExt cx="2448204" cy="2448204"/>
            </a:xfrm>
          </p:grpSpPr>
          <p:grpSp>
            <p:nvGrpSpPr>
              <p:cNvPr id="3" name="Group 2">
                <a:extLst>
                  <a:ext uri="{FF2B5EF4-FFF2-40B4-BE49-F238E27FC236}">
                    <a16:creationId xmlns:a16="http://schemas.microsoft.com/office/drawing/2014/main" id="{691DFF6A-05CE-0094-1B98-6FB1859DDCB1}"/>
                  </a:ext>
                </a:extLst>
              </p:cNvPr>
              <p:cNvGrpSpPr/>
              <p:nvPr/>
            </p:nvGrpSpPr>
            <p:grpSpPr>
              <a:xfrm rot="16198527">
                <a:off x="1225763" y="1941330"/>
                <a:ext cx="2448204" cy="2448204"/>
                <a:chOff x="8245740" y="2264001"/>
                <a:chExt cx="2448204" cy="2448204"/>
              </a:xfrm>
              <a:scene3d>
                <a:camera prst="perspectiveLeft"/>
                <a:lightRig rig="threePt" dir="t"/>
              </a:scene3d>
            </p:grpSpPr>
            <p:pic>
              <p:nvPicPr>
                <p:cNvPr id="4" name="Graphic 3" descr="Table outline">
                  <a:extLst>
                    <a:ext uri="{FF2B5EF4-FFF2-40B4-BE49-F238E27FC236}">
                      <a16:creationId xmlns:a16="http://schemas.microsoft.com/office/drawing/2014/main" id="{35E1C6EB-DC13-CDEE-E9B6-0B3465FE6F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8245740" y="2264001"/>
                  <a:ext cx="2448204" cy="2448204"/>
                </a:xfrm>
                <a:prstGeom prst="rect">
                  <a:avLst/>
                </a:prstGeom>
              </p:spPr>
            </p:pic>
            <p:grpSp>
              <p:nvGrpSpPr>
                <p:cNvPr id="5" name="Group 4">
                  <a:extLst>
                    <a:ext uri="{FF2B5EF4-FFF2-40B4-BE49-F238E27FC236}">
                      <a16:creationId xmlns:a16="http://schemas.microsoft.com/office/drawing/2014/main" id="{6B5D8893-4EFC-BDB1-222A-752C41A35837}"/>
                    </a:ext>
                  </a:extLst>
                </p:cNvPr>
                <p:cNvGrpSpPr/>
                <p:nvPr/>
              </p:nvGrpSpPr>
              <p:grpSpPr>
                <a:xfrm>
                  <a:off x="8876172" y="2552959"/>
                  <a:ext cx="1204533" cy="1870345"/>
                  <a:chOff x="8876172" y="2552959"/>
                  <a:chExt cx="1204533" cy="1870345"/>
                </a:xfrm>
              </p:grpSpPr>
              <p:sp>
                <p:nvSpPr>
                  <p:cNvPr id="6" name="Rectangle 5">
                    <a:extLst>
                      <a:ext uri="{FF2B5EF4-FFF2-40B4-BE49-F238E27FC236}">
                        <a16:creationId xmlns:a16="http://schemas.microsoft.com/office/drawing/2014/main" id="{41BB8B1F-6C0C-EA84-CBA8-E977324E85B0}"/>
                      </a:ext>
                    </a:extLst>
                  </p:cNvPr>
                  <p:cNvSpPr/>
                  <p:nvPr/>
                </p:nvSpPr>
                <p:spPr>
                  <a:xfrm rot="5400000">
                    <a:off x="8756371" y="2678909"/>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54EB7C2-F594-61AC-9098-F56D72FF1D52}"/>
                      </a:ext>
                    </a:extLst>
                  </p:cNvPr>
                  <p:cNvSpPr/>
                  <p:nvPr/>
                </p:nvSpPr>
                <p:spPr>
                  <a:xfrm rot="5400000">
                    <a:off x="8756371" y="3317309"/>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513F32B-1DA0-406A-F817-EB75D91007F3}"/>
                      </a:ext>
                    </a:extLst>
                  </p:cNvPr>
                  <p:cNvSpPr/>
                  <p:nvPr/>
                </p:nvSpPr>
                <p:spPr>
                  <a:xfrm rot="5400000">
                    <a:off x="8756371" y="393376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F6F84F2-E9AA-14E3-9BA8-DBCE9D6325F5}"/>
                      </a:ext>
                    </a:extLst>
                  </p:cNvPr>
                  <p:cNvSpPr/>
                  <p:nvPr/>
                </p:nvSpPr>
                <p:spPr>
                  <a:xfrm rot="5400000">
                    <a:off x="9173767" y="26731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83FF74E-5129-6786-A202-F044853E1ACD}"/>
                      </a:ext>
                    </a:extLst>
                  </p:cNvPr>
                  <p:cNvSpPr/>
                  <p:nvPr/>
                </p:nvSpPr>
                <p:spPr>
                  <a:xfrm rot="5400000">
                    <a:off x="9173767" y="3311551"/>
                    <a:ext cx="609344" cy="369742"/>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277BB4E-821C-8F35-88E5-4FDA2DDACB53}"/>
                      </a:ext>
                    </a:extLst>
                  </p:cNvPr>
                  <p:cNvSpPr/>
                  <p:nvPr/>
                </p:nvSpPr>
                <p:spPr>
                  <a:xfrm rot="5400000">
                    <a:off x="9173767" y="3928003"/>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C0953C2-D7CC-683A-E4F7-FEE4E2A7C4D3}"/>
                      </a:ext>
                    </a:extLst>
                  </p:cNvPr>
                  <p:cNvSpPr/>
                  <p:nvPr/>
                </p:nvSpPr>
                <p:spPr>
                  <a:xfrm rot="5400000">
                    <a:off x="9591162" y="2672760"/>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D0EA338-4F83-E4D0-F121-BB02BE2225BF}"/>
                      </a:ext>
                    </a:extLst>
                  </p:cNvPr>
                  <p:cNvSpPr/>
                  <p:nvPr/>
                </p:nvSpPr>
                <p:spPr>
                  <a:xfrm rot="5400000">
                    <a:off x="9591162" y="3311160"/>
                    <a:ext cx="609344" cy="369742"/>
                  </a:xfrm>
                  <a:prstGeom prst="rect">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D779870-B318-00B7-DEF7-E18D5CFFE3E3}"/>
                      </a:ext>
                    </a:extLst>
                  </p:cNvPr>
                  <p:cNvSpPr/>
                  <p:nvPr/>
                </p:nvSpPr>
                <p:spPr>
                  <a:xfrm rot="5400000">
                    <a:off x="9591162" y="3927612"/>
                    <a:ext cx="609344" cy="369742"/>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26" name="Graphic 25" descr="Flower without stem with solid fill">
                <a:extLst>
                  <a:ext uri="{FF2B5EF4-FFF2-40B4-BE49-F238E27FC236}">
                    <a16:creationId xmlns:a16="http://schemas.microsoft.com/office/drawing/2014/main" id="{7B4C4CB4-C107-3C28-6E99-66B48ED9BB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18659" y="2924314"/>
                <a:ext cx="435666" cy="435666"/>
              </a:xfrm>
              <a:prstGeom prst="rect">
                <a:avLst/>
              </a:prstGeom>
            </p:spPr>
          </p:pic>
          <p:pic>
            <p:nvPicPr>
              <p:cNvPr id="28" name="Graphic 27" descr="Cactus with solid fill">
                <a:extLst>
                  <a:ext uri="{FF2B5EF4-FFF2-40B4-BE49-F238E27FC236}">
                    <a16:creationId xmlns:a16="http://schemas.microsoft.com/office/drawing/2014/main" id="{ABC06026-46F0-6577-D635-13B493F54C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1584489" y="2590505"/>
                <a:ext cx="465622" cy="322748"/>
              </a:xfrm>
              <a:prstGeom prst="rect">
                <a:avLst/>
              </a:prstGeom>
            </p:spPr>
          </p:pic>
          <p:pic>
            <p:nvPicPr>
              <p:cNvPr id="30" name="Graphic 29" descr="Cactus with solid fill">
                <a:extLst>
                  <a:ext uri="{FF2B5EF4-FFF2-40B4-BE49-F238E27FC236}">
                    <a16:creationId xmlns:a16="http://schemas.microsoft.com/office/drawing/2014/main" id="{D46DF963-2092-0110-44DA-346FF799A1E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2837456" y="2995193"/>
                <a:ext cx="465622" cy="322748"/>
              </a:xfrm>
              <a:prstGeom prst="rect">
                <a:avLst/>
              </a:prstGeom>
            </p:spPr>
          </p:pic>
          <p:pic>
            <p:nvPicPr>
              <p:cNvPr id="32" name="Graphic 31" descr="Cactus with solid fill">
                <a:extLst>
                  <a:ext uri="{FF2B5EF4-FFF2-40B4-BE49-F238E27FC236}">
                    <a16:creationId xmlns:a16="http://schemas.microsoft.com/office/drawing/2014/main" id="{0AFDDECD-0001-C252-C613-E70D1DE07C0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3015907" y="3373433"/>
                <a:ext cx="465622" cy="322748"/>
              </a:xfrm>
              <a:prstGeom prst="rect">
                <a:avLst/>
              </a:prstGeom>
            </p:spPr>
          </p:pic>
          <p:pic>
            <p:nvPicPr>
              <p:cNvPr id="34" name="Graphic 33" descr="Flower without stem with solid fill">
                <a:extLst>
                  <a:ext uri="{FF2B5EF4-FFF2-40B4-BE49-F238E27FC236}">
                    <a16:creationId xmlns:a16="http://schemas.microsoft.com/office/drawing/2014/main" id="{1B9B6C2F-14E2-7087-BB44-9135902E3CC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24239" y="3321292"/>
                <a:ext cx="435666" cy="435666"/>
              </a:xfrm>
              <a:prstGeom prst="rect">
                <a:avLst/>
              </a:prstGeom>
            </p:spPr>
          </p:pic>
          <p:pic>
            <p:nvPicPr>
              <p:cNvPr id="36" name="Graphic 35" descr="Flower without stem with solid fill">
                <a:extLst>
                  <a:ext uri="{FF2B5EF4-FFF2-40B4-BE49-F238E27FC236}">
                    <a16:creationId xmlns:a16="http://schemas.microsoft.com/office/drawing/2014/main" id="{2C0522D1-AE50-2C57-E1B8-4B933AAB119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58995" y="3355272"/>
                <a:ext cx="381420" cy="381420"/>
              </a:xfrm>
              <a:prstGeom prst="rect">
                <a:avLst/>
              </a:prstGeom>
            </p:spPr>
          </p:pic>
        </p:grpSp>
      </p:grpSp>
      <p:sp>
        <p:nvSpPr>
          <p:cNvPr id="43" name="TextBox 42">
            <a:extLst>
              <a:ext uri="{FF2B5EF4-FFF2-40B4-BE49-F238E27FC236}">
                <a16:creationId xmlns:a16="http://schemas.microsoft.com/office/drawing/2014/main" id="{EE1EEA0A-8328-9DEA-A9D2-10C2BE38C359}"/>
              </a:ext>
            </a:extLst>
          </p:cNvPr>
          <p:cNvSpPr txBox="1"/>
          <p:nvPr/>
        </p:nvSpPr>
        <p:spPr>
          <a:xfrm>
            <a:off x="3353138" y="6201234"/>
            <a:ext cx="6014662" cy="369332"/>
          </a:xfrm>
          <a:prstGeom prst="rect">
            <a:avLst/>
          </a:prstGeom>
          <a:noFill/>
        </p:spPr>
        <p:txBody>
          <a:bodyPr wrap="square" rtlCol="0">
            <a:spAutoFit/>
          </a:bodyPr>
          <a:lstStyle/>
          <a:p>
            <a:r>
              <a:rPr lang="en-US" dirty="0"/>
              <a:t>Extract data from raster for each occurrence point</a:t>
            </a:r>
          </a:p>
        </p:txBody>
      </p:sp>
      <p:grpSp>
        <p:nvGrpSpPr>
          <p:cNvPr id="27" name="Group 26">
            <a:extLst>
              <a:ext uri="{FF2B5EF4-FFF2-40B4-BE49-F238E27FC236}">
                <a16:creationId xmlns:a16="http://schemas.microsoft.com/office/drawing/2014/main" id="{C8FDDE16-2856-FE15-8493-BBAA45188CA7}"/>
              </a:ext>
            </a:extLst>
          </p:cNvPr>
          <p:cNvGrpSpPr/>
          <p:nvPr/>
        </p:nvGrpSpPr>
        <p:grpSpPr>
          <a:xfrm>
            <a:off x="707118" y="2715567"/>
            <a:ext cx="3850298" cy="2448204"/>
            <a:chOff x="981019" y="1658229"/>
            <a:chExt cx="3850298" cy="2448204"/>
          </a:xfrm>
        </p:grpSpPr>
        <p:grpSp>
          <p:nvGrpSpPr>
            <p:cNvPr id="92" name="Group 91">
              <a:extLst>
                <a:ext uri="{FF2B5EF4-FFF2-40B4-BE49-F238E27FC236}">
                  <a16:creationId xmlns:a16="http://schemas.microsoft.com/office/drawing/2014/main" id="{FE05E58B-5EEE-7411-DFFB-718300690733}"/>
                </a:ext>
              </a:extLst>
            </p:cNvPr>
            <p:cNvGrpSpPr/>
            <p:nvPr/>
          </p:nvGrpSpPr>
          <p:grpSpPr>
            <a:xfrm rot="16242280">
              <a:off x="981019" y="1658229"/>
              <a:ext cx="2448204" cy="2448204"/>
              <a:chOff x="7414446" y="1927315"/>
              <a:chExt cx="2448204" cy="2448204"/>
            </a:xfrm>
          </p:grpSpPr>
          <p:pic>
            <p:nvPicPr>
              <p:cNvPr id="25" name="Graphic 24" descr="Table outline">
                <a:extLst>
                  <a:ext uri="{FF2B5EF4-FFF2-40B4-BE49-F238E27FC236}">
                    <a16:creationId xmlns:a16="http://schemas.microsoft.com/office/drawing/2014/main" id="{78151ED8-567F-35A4-D5B9-69B411AB3F1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400000">
                <a:off x="7414446" y="1927315"/>
                <a:ext cx="2448204" cy="2448204"/>
              </a:xfrm>
              <a:prstGeom prst="rect">
                <a:avLst/>
              </a:prstGeom>
            </p:spPr>
          </p:pic>
          <p:sp>
            <p:nvSpPr>
              <p:cNvPr id="50" name="Rectangle 49">
                <a:extLst>
                  <a:ext uri="{FF2B5EF4-FFF2-40B4-BE49-F238E27FC236}">
                    <a16:creationId xmlns:a16="http://schemas.microsoft.com/office/drawing/2014/main" id="{DEAC66D4-4FD8-57E4-4A70-3E525D7CC8FA}"/>
                  </a:ext>
                </a:extLst>
              </p:cNvPr>
              <p:cNvSpPr/>
              <p:nvPr/>
            </p:nvSpPr>
            <p:spPr>
              <a:xfrm rot="5400000">
                <a:off x="7925077" y="2342223"/>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C138077-858C-3012-1449-E33400AD033C}"/>
                  </a:ext>
                </a:extLst>
              </p:cNvPr>
              <p:cNvSpPr/>
              <p:nvPr/>
            </p:nvSpPr>
            <p:spPr>
              <a:xfrm rot="5400000">
                <a:off x="7925077" y="2980623"/>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E1ACE34F-40BF-663C-128D-6AB5A58B517C}"/>
                  </a:ext>
                </a:extLst>
              </p:cNvPr>
              <p:cNvSpPr/>
              <p:nvPr/>
            </p:nvSpPr>
            <p:spPr>
              <a:xfrm rot="5400000">
                <a:off x="7925077" y="359707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D734FCCC-367D-CB3C-5D2D-9E413ECF452D}"/>
                  </a:ext>
                </a:extLst>
              </p:cNvPr>
              <p:cNvSpPr/>
              <p:nvPr/>
            </p:nvSpPr>
            <p:spPr>
              <a:xfrm rot="5400000">
                <a:off x="8342473" y="2336465"/>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99374DC-AD03-2B2A-4DE6-8CE85420FB96}"/>
                  </a:ext>
                </a:extLst>
              </p:cNvPr>
              <p:cNvSpPr/>
              <p:nvPr/>
            </p:nvSpPr>
            <p:spPr>
              <a:xfrm rot="5400000">
                <a:off x="8342473" y="2974865"/>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F17EC94F-86CB-9D3C-B04F-6574E304545A}"/>
                  </a:ext>
                </a:extLst>
              </p:cNvPr>
              <p:cNvSpPr/>
              <p:nvPr/>
            </p:nvSpPr>
            <p:spPr>
              <a:xfrm rot="5400000">
                <a:off x="8342473" y="3591317"/>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F877B6D6-EC85-06D6-D989-D3D59BF6408D}"/>
                  </a:ext>
                </a:extLst>
              </p:cNvPr>
              <p:cNvSpPr/>
              <p:nvPr/>
            </p:nvSpPr>
            <p:spPr>
              <a:xfrm rot="5400000">
                <a:off x="8759868" y="23360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C5B3FFD3-626F-9A59-E0E0-942F25550F41}"/>
                  </a:ext>
                </a:extLst>
              </p:cNvPr>
              <p:cNvSpPr/>
              <p:nvPr/>
            </p:nvSpPr>
            <p:spPr>
              <a:xfrm rot="5400000">
                <a:off x="8759868" y="297447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AE61A075-020C-6F49-1049-1E9C6C18D4A0}"/>
                  </a:ext>
                </a:extLst>
              </p:cNvPr>
              <p:cNvSpPr/>
              <p:nvPr/>
            </p:nvSpPr>
            <p:spPr>
              <a:xfrm rot="5400000">
                <a:off x="8759868" y="3590926"/>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8" name="Graphic 37" descr="Cactus with solid fill">
              <a:extLst>
                <a:ext uri="{FF2B5EF4-FFF2-40B4-BE49-F238E27FC236}">
                  <a16:creationId xmlns:a16="http://schemas.microsoft.com/office/drawing/2014/main" id="{D7B958AE-8114-0367-A937-02577752379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0800000" flipV="1">
              <a:off x="1341322" y="2306969"/>
              <a:ext cx="465622" cy="322748"/>
            </a:xfrm>
            <a:prstGeom prst="rect">
              <a:avLst/>
            </a:prstGeom>
          </p:spPr>
        </p:pic>
        <p:sp>
          <p:nvSpPr>
            <p:cNvPr id="109" name="TextBox 108">
              <a:extLst>
                <a:ext uri="{FF2B5EF4-FFF2-40B4-BE49-F238E27FC236}">
                  <a16:creationId xmlns:a16="http://schemas.microsoft.com/office/drawing/2014/main" id="{07689C62-1F77-9C92-903A-309C21711455}"/>
                </a:ext>
              </a:extLst>
            </p:cNvPr>
            <p:cNvSpPr txBox="1"/>
            <p:nvPr/>
          </p:nvSpPr>
          <p:spPr>
            <a:xfrm>
              <a:off x="3186395" y="2149155"/>
              <a:ext cx="1644922" cy="369332"/>
            </a:xfrm>
            <a:prstGeom prst="rect">
              <a:avLst/>
            </a:prstGeom>
            <a:noFill/>
          </p:spPr>
          <p:txBody>
            <a:bodyPr wrap="square" rtlCol="0">
              <a:spAutoFit/>
            </a:bodyPr>
            <a:lstStyle/>
            <a:p>
              <a:r>
                <a:rPr lang="en-US" b="1" dirty="0">
                  <a:solidFill>
                    <a:schemeClr val="tx2">
                      <a:lumMod val="90000"/>
                      <a:lumOff val="10000"/>
                    </a:schemeClr>
                  </a:solidFill>
                </a:rPr>
                <a:t>bioclim2</a:t>
              </a:r>
            </a:p>
          </p:txBody>
        </p:sp>
        <p:pic>
          <p:nvPicPr>
            <p:cNvPr id="16" name="Graphic 15" descr="Flower without stem with solid fill">
              <a:extLst>
                <a:ext uri="{FF2B5EF4-FFF2-40B4-BE49-F238E27FC236}">
                  <a16:creationId xmlns:a16="http://schemas.microsoft.com/office/drawing/2014/main" id="{C9179ED9-EDF4-4A4F-C652-4C4D5E93BD1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74572" y="2655187"/>
              <a:ext cx="435666" cy="435666"/>
            </a:xfrm>
            <a:prstGeom prst="rect">
              <a:avLst/>
            </a:prstGeom>
          </p:spPr>
        </p:pic>
        <p:pic>
          <p:nvPicPr>
            <p:cNvPr id="20" name="Graphic 19" descr="Flower without stem with solid fill">
              <a:extLst>
                <a:ext uri="{FF2B5EF4-FFF2-40B4-BE49-F238E27FC236}">
                  <a16:creationId xmlns:a16="http://schemas.microsoft.com/office/drawing/2014/main" id="{E190A8AC-C137-4DC4-0E25-4FCFCDF82D3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95925" y="3073439"/>
              <a:ext cx="435666" cy="435666"/>
            </a:xfrm>
            <a:prstGeom prst="rect">
              <a:avLst/>
            </a:prstGeom>
          </p:spPr>
        </p:pic>
        <p:pic>
          <p:nvPicPr>
            <p:cNvPr id="22" name="Graphic 21" descr="Cactus with solid fill">
              <a:extLst>
                <a:ext uri="{FF2B5EF4-FFF2-40B4-BE49-F238E27FC236}">
                  <a16:creationId xmlns:a16="http://schemas.microsoft.com/office/drawing/2014/main" id="{4C810A66-0DEB-D020-D62B-C228BA9BF8F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0800000" flipV="1">
              <a:off x="2745939" y="3133066"/>
              <a:ext cx="465622" cy="322748"/>
            </a:xfrm>
            <a:prstGeom prst="rect">
              <a:avLst/>
            </a:prstGeom>
          </p:spPr>
        </p:pic>
        <p:pic>
          <p:nvPicPr>
            <p:cNvPr id="24" name="Graphic 23" descr="Flower without stem with solid fill">
              <a:extLst>
                <a:ext uri="{FF2B5EF4-FFF2-40B4-BE49-F238E27FC236}">
                  <a16:creationId xmlns:a16="http://schemas.microsoft.com/office/drawing/2014/main" id="{9A7C71F4-EA6C-F448-DDA4-BD55C05E9B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489027" y="3114905"/>
              <a:ext cx="381420" cy="381420"/>
            </a:xfrm>
            <a:prstGeom prst="rect">
              <a:avLst/>
            </a:prstGeom>
          </p:spPr>
        </p:pic>
      </p:grpSp>
      <p:pic>
        <p:nvPicPr>
          <p:cNvPr id="31" name="Graphic 30" descr="Flower without stem with solid fill">
            <a:extLst>
              <a:ext uri="{FF2B5EF4-FFF2-40B4-BE49-F238E27FC236}">
                <a16:creationId xmlns:a16="http://schemas.microsoft.com/office/drawing/2014/main" id="{3C7442D7-45BA-12C1-F989-ABEF322BFC1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81146" y="2374208"/>
            <a:ext cx="435666" cy="435666"/>
          </a:xfrm>
          <a:prstGeom prst="rect">
            <a:avLst/>
          </a:prstGeom>
        </p:spPr>
      </p:pic>
      <p:pic>
        <p:nvPicPr>
          <p:cNvPr id="35" name="Graphic 34" descr="Flower without stem with solid fill">
            <a:extLst>
              <a:ext uri="{FF2B5EF4-FFF2-40B4-BE49-F238E27FC236}">
                <a16:creationId xmlns:a16="http://schemas.microsoft.com/office/drawing/2014/main" id="{03262858-8FEF-91CD-EDFC-5C5A99C9D0B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98057" y="2795373"/>
            <a:ext cx="435666" cy="435666"/>
          </a:xfrm>
          <a:prstGeom prst="rect">
            <a:avLst/>
          </a:prstGeom>
        </p:spPr>
      </p:pic>
      <p:pic>
        <p:nvPicPr>
          <p:cNvPr id="39" name="Graphic 38" descr="Cactus with solid fill">
            <a:extLst>
              <a:ext uri="{FF2B5EF4-FFF2-40B4-BE49-F238E27FC236}">
                <a16:creationId xmlns:a16="http://schemas.microsoft.com/office/drawing/2014/main" id="{FE3438DC-CCBE-D684-C858-B4DDDFEA836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10800000" flipV="1">
            <a:off x="2330523" y="3786049"/>
            <a:ext cx="465622" cy="322748"/>
          </a:xfrm>
          <a:prstGeom prst="rect">
            <a:avLst/>
          </a:prstGeom>
        </p:spPr>
      </p:pic>
      <p:pic>
        <p:nvPicPr>
          <p:cNvPr id="44" name="Graphic 43" descr="Cactus with solid fill">
            <a:extLst>
              <a:ext uri="{FF2B5EF4-FFF2-40B4-BE49-F238E27FC236}">
                <a16:creationId xmlns:a16="http://schemas.microsoft.com/office/drawing/2014/main" id="{76A4D6F0-552D-EA4E-1C5C-2234045225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V="1">
            <a:off x="2318131" y="2422192"/>
            <a:ext cx="465622" cy="322748"/>
          </a:xfrm>
          <a:prstGeom prst="rect">
            <a:avLst/>
          </a:prstGeom>
        </p:spPr>
      </p:pic>
      <p:pic>
        <p:nvPicPr>
          <p:cNvPr id="46" name="Graphic 45" descr="Cactus with solid fill">
            <a:extLst>
              <a:ext uri="{FF2B5EF4-FFF2-40B4-BE49-F238E27FC236}">
                <a16:creationId xmlns:a16="http://schemas.microsoft.com/office/drawing/2014/main" id="{69D89D05-5715-25DB-A5DA-0E53E1EE8D5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10800000" flipV="1">
            <a:off x="2460241" y="2814990"/>
            <a:ext cx="465622" cy="322748"/>
          </a:xfrm>
          <a:prstGeom prst="rect">
            <a:avLst/>
          </a:prstGeom>
        </p:spPr>
      </p:pic>
      <p:pic>
        <p:nvPicPr>
          <p:cNvPr id="48" name="Graphic 47" descr="Flower without stem with solid fill">
            <a:extLst>
              <a:ext uri="{FF2B5EF4-FFF2-40B4-BE49-F238E27FC236}">
                <a16:creationId xmlns:a16="http://schemas.microsoft.com/office/drawing/2014/main" id="{C7CC380F-7A2A-6C50-E2BD-D52DB87CF34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203329" y="2796829"/>
            <a:ext cx="381420" cy="381420"/>
          </a:xfrm>
          <a:prstGeom prst="rect">
            <a:avLst/>
          </a:prstGeom>
        </p:spPr>
      </p:pic>
      <p:sp>
        <p:nvSpPr>
          <p:cNvPr id="51" name="Arrow: Down 50">
            <a:extLst>
              <a:ext uri="{FF2B5EF4-FFF2-40B4-BE49-F238E27FC236}">
                <a16:creationId xmlns:a16="http://schemas.microsoft.com/office/drawing/2014/main" id="{8EA8A98E-16B1-EC15-2046-76C8FC47D6A8}"/>
              </a:ext>
            </a:extLst>
          </p:cNvPr>
          <p:cNvSpPr/>
          <p:nvPr/>
        </p:nvSpPr>
        <p:spPr>
          <a:xfrm rot="16200000">
            <a:off x="5414536" y="3492103"/>
            <a:ext cx="657720" cy="70520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Graphic 52" descr="Cactus with solid fill">
            <a:extLst>
              <a:ext uri="{FF2B5EF4-FFF2-40B4-BE49-F238E27FC236}">
                <a16:creationId xmlns:a16="http://schemas.microsoft.com/office/drawing/2014/main" id="{7250688A-F854-95C8-B598-4BED588441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6777754" y="2101743"/>
            <a:ext cx="465622" cy="322748"/>
          </a:xfrm>
          <a:prstGeom prst="rect">
            <a:avLst/>
          </a:prstGeom>
        </p:spPr>
      </p:pic>
      <p:sp>
        <p:nvSpPr>
          <p:cNvPr id="55" name="TextBox 54">
            <a:extLst>
              <a:ext uri="{FF2B5EF4-FFF2-40B4-BE49-F238E27FC236}">
                <a16:creationId xmlns:a16="http://schemas.microsoft.com/office/drawing/2014/main" id="{FB0C4E6B-B899-8D60-2BA2-01039E3154DF}"/>
              </a:ext>
            </a:extLst>
          </p:cNvPr>
          <p:cNvSpPr txBox="1"/>
          <p:nvPr/>
        </p:nvSpPr>
        <p:spPr>
          <a:xfrm>
            <a:off x="7200465" y="1552770"/>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57" name="TextBox 56">
            <a:extLst>
              <a:ext uri="{FF2B5EF4-FFF2-40B4-BE49-F238E27FC236}">
                <a16:creationId xmlns:a16="http://schemas.microsoft.com/office/drawing/2014/main" id="{4964D9F2-F41F-0606-D6E9-70459916172C}"/>
              </a:ext>
            </a:extLst>
          </p:cNvPr>
          <p:cNvSpPr txBox="1"/>
          <p:nvPr/>
        </p:nvSpPr>
        <p:spPr>
          <a:xfrm>
            <a:off x="8577655" y="1552770"/>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60" name="TextBox 59">
            <a:extLst>
              <a:ext uri="{FF2B5EF4-FFF2-40B4-BE49-F238E27FC236}">
                <a16:creationId xmlns:a16="http://schemas.microsoft.com/office/drawing/2014/main" id="{30D236CA-9214-A419-54FA-C65967BC31B9}"/>
              </a:ext>
            </a:extLst>
          </p:cNvPr>
          <p:cNvSpPr txBox="1"/>
          <p:nvPr/>
        </p:nvSpPr>
        <p:spPr>
          <a:xfrm>
            <a:off x="9954845" y="1552770"/>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62" name="Rectangle 61">
            <a:extLst>
              <a:ext uri="{FF2B5EF4-FFF2-40B4-BE49-F238E27FC236}">
                <a16:creationId xmlns:a16="http://schemas.microsoft.com/office/drawing/2014/main" id="{C75A6487-5DC0-2915-F699-1C20371D4F5C}"/>
              </a:ext>
            </a:extLst>
          </p:cNvPr>
          <p:cNvSpPr/>
          <p:nvPr/>
        </p:nvSpPr>
        <p:spPr>
          <a:xfrm rot="21598527">
            <a:off x="7718254" y="2078246"/>
            <a:ext cx="609344" cy="369742"/>
          </a:xfrm>
          <a:prstGeom prst="rect">
            <a:avLst/>
          </a:prstGeom>
          <a:solidFill>
            <a:schemeClr val="accent5">
              <a:lumMod val="20000"/>
              <a:lumOff val="8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D4A898BA-5A28-187F-6446-A87CE95F46BA}"/>
              </a:ext>
            </a:extLst>
          </p:cNvPr>
          <p:cNvSpPr/>
          <p:nvPr/>
        </p:nvSpPr>
        <p:spPr>
          <a:xfrm rot="42280">
            <a:off x="9095444" y="2078246"/>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539BF7CA-E262-09BD-CCAF-A67E272316D7}"/>
              </a:ext>
            </a:extLst>
          </p:cNvPr>
          <p:cNvSpPr/>
          <p:nvPr/>
        </p:nvSpPr>
        <p:spPr>
          <a:xfrm rot="21598527">
            <a:off x="10472634" y="2078246"/>
            <a:ext cx="609344" cy="369742"/>
          </a:xfrm>
          <a:prstGeom prst="rect">
            <a:avLst/>
          </a:prstGeom>
          <a:solidFill>
            <a:schemeClr val="accent3">
              <a:lumMod val="60000"/>
              <a:lumOff val="4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Graphic 68" descr="Flower without stem with solid fill">
            <a:extLst>
              <a:ext uri="{FF2B5EF4-FFF2-40B4-BE49-F238E27FC236}">
                <a16:creationId xmlns:a16="http://schemas.microsoft.com/office/drawing/2014/main" id="{D9681D5D-2133-3AEB-924A-5243489EEF6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53346" y="2663978"/>
            <a:ext cx="435666" cy="435666"/>
          </a:xfrm>
          <a:prstGeom prst="rect">
            <a:avLst/>
          </a:prstGeom>
        </p:spPr>
      </p:pic>
      <p:sp>
        <p:nvSpPr>
          <p:cNvPr id="75" name="Rectangle 74">
            <a:extLst>
              <a:ext uri="{FF2B5EF4-FFF2-40B4-BE49-F238E27FC236}">
                <a16:creationId xmlns:a16="http://schemas.microsoft.com/office/drawing/2014/main" id="{7DDDBFC7-2602-BEEC-50ED-F3B56FF54997}"/>
              </a:ext>
            </a:extLst>
          </p:cNvPr>
          <p:cNvSpPr/>
          <p:nvPr/>
        </p:nvSpPr>
        <p:spPr>
          <a:xfrm rot="21598527">
            <a:off x="7718254" y="2764512"/>
            <a:ext cx="609344" cy="369742"/>
          </a:xfrm>
          <a:prstGeom prst="rect">
            <a:avLst/>
          </a:prstGeom>
          <a:solidFill>
            <a:schemeClr val="accent5">
              <a:lumMod val="75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6D01A821-84E6-501F-216F-BEF3FA2A8C01}"/>
              </a:ext>
            </a:extLst>
          </p:cNvPr>
          <p:cNvSpPr/>
          <p:nvPr/>
        </p:nvSpPr>
        <p:spPr>
          <a:xfrm rot="21591323">
            <a:off x="10472634" y="3332690"/>
            <a:ext cx="609344" cy="369742"/>
          </a:xfrm>
          <a:prstGeom prst="rect">
            <a:avLst/>
          </a:prstGeom>
          <a:solidFill>
            <a:schemeClr val="accent3">
              <a:lumMod val="75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66578EBC-E58E-E67C-10D5-B05A0BAB85A7}"/>
              </a:ext>
            </a:extLst>
          </p:cNvPr>
          <p:cNvSpPr/>
          <p:nvPr/>
        </p:nvSpPr>
        <p:spPr>
          <a:xfrm rot="21591323">
            <a:off x="10472634" y="5214357"/>
            <a:ext cx="609344" cy="369742"/>
          </a:xfrm>
          <a:prstGeom prst="rect">
            <a:avLst/>
          </a:prstGeom>
          <a:solidFill>
            <a:schemeClr val="accent3">
              <a:lumMod val="20000"/>
              <a:lumOff val="8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66759505-F8F2-0FBE-6615-993A35C8D606}"/>
              </a:ext>
            </a:extLst>
          </p:cNvPr>
          <p:cNvSpPr/>
          <p:nvPr/>
        </p:nvSpPr>
        <p:spPr>
          <a:xfrm rot="21591323">
            <a:off x="10472634" y="2705468"/>
            <a:ext cx="609344" cy="369742"/>
          </a:xfrm>
          <a:prstGeom prst="rect">
            <a:avLst/>
          </a:prstGeom>
          <a:solidFill>
            <a:schemeClr val="accent3">
              <a:lumMod val="75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B61C785E-42B5-3328-550C-7C1791990A9A}"/>
              </a:ext>
            </a:extLst>
          </p:cNvPr>
          <p:cNvSpPr/>
          <p:nvPr/>
        </p:nvSpPr>
        <p:spPr>
          <a:xfrm rot="21591323">
            <a:off x="10472634" y="3959912"/>
            <a:ext cx="609344" cy="369742"/>
          </a:xfrm>
          <a:prstGeom prst="rect">
            <a:avLst/>
          </a:prstGeom>
          <a:solidFill>
            <a:schemeClr val="accent3">
              <a:lumMod val="75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A35A0066-EB81-6DDC-DCBE-3F5C4A18C65C}"/>
              </a:ext>
            </a:extLst>
          </p:cNvPr>
          <p:cNvSpPr/>
          <p:nvPr/>
        </p:nvSpPr>
        <p:spPr>
          <a:xfrm rot="35076">
            <a:off x="9095063" y="3327158"/>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1F750668-E575-8775-C709-7847EF3A8489}"/>
              </a:ext>
            </a:extLst>
          </p:cNvPr>
          <p:cNvSpPr/>
          <p:nvPr/>
        </p:nvSpPr>
        <p:spPr>
          <a:xfrm rot="35076">
            <a:off x="9095064" y="4576070"/>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Rectangle 119">
            <a:extLst>
              <a:ext uri="{FF2B5EF4-FFF2-40B4-BE49-F238E27FC236}">
                <a16:creationId xmlns:a16="http://schemas.microsoft.com/office/drawing/2014/main" id="{81F2D74C-82FD-37B8-642A-C818FC3F4784}"/>
              </a:ext>
            </a:extLst>
          </p:cNvPr>
          <p:cNvSpPr/>
          <p:nvPr/>
        </p:nvSpPr>
        <p:spPr>
          <a:xfrm rot="35076">
            <a:off x="9114641" y="2702702"/>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Rectangle 120">
            <a:extLst>
              <a:ext uri="{FF2B5EF4-FFF2-40B4-BE49-F238E27FC236}">
                <a16:creationId xmlns:a16="http://schemas.microsoft.com/office/drawing/2014/main" id="{4143EEDF-AFD1-8E6E-CDC2-439BED33EF6E}"/>
              </a:ext>
            </a:extLst>
          </p:cNvPr>
          <p:cNvSpPr/>
          <p:nvPr/>
        </p:nvSpPr>
        <p:spPr>
          <a:xfrm rot="35076">
            <a:off x="9095064" y="3951614"/>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Rectangle 128">
            <a:extLst>
              <a:ext uri="{FF2B5EF4-FFF2-40B4-BE49-F238E27FC236}">
                <a16:creationId xmlns:a16="http://schemas.microsoft.com/office/drawing/2014/main" id="{3F1BBA13-FD80-7EA4-C87A-F61713B62A9E}"/>
              </a:ext>
            </a:extLst>
          </p:cNvPr>
          <p:cNvSpPr/>
          <p:nvPr/>
        </p:nvSpPr>
        <p:spPr>
          <a:xfrm rot="21591323">
            <a:off x="7718254" y="3372933"/>
            <a:ext cx="609344" cy="369742"/>
          </a:xfrm>
          <a:prstGeom prst="rect">
            <a:avLst/>
          </a:prstGeom>
          <a:solidFill>
            <a:schemeClr val="accent5">
              <a:lumMod val="40000"/>
              <a:lumOff val="6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F9DC21A3-8F07-09B3-9BD2-E58A659196BA}"/>
              </a:ext>
            </a:extLst>
          </p:cNvPr>
          <p:cNvSpPr/>
          <p:nvPr/>
        </p:nvSpPr>
        <p:spPr>
          <a:xfrm rot="21591323">
            <a:off x="7718254" y="5198195"/>
            <a:ext cx="609344" cy="369742"/>
          </a:xfrm>
          <a:prstGeom prst="rect">
            <a:avLst/>
          </a:prstGeom>
          <a:solidFill>
            <a:schemeClr val="accent5">
              <a:lumMod val="75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Rectangle 132">
            <a:extLst>
              <a:ext uri="{FF2B5EF4-FFF2-40B4-BE49-F238E27FC236}">
                <a16:creationId xmlns:a16="http://schemas.microsoft.com/office/drawing/2014/main" id="{198A324C-E796-8AB4-3E93-558B8C44CE8C}"/>
              </a:ext>
            </a:extLst>
          </p:cNvPr>
          <p:cNvSpPr/>
          <p:nvPr/>
        </p:nvSpPr>
        <p:spPr>
          <a:xfrm rot="21591323">
            <a:off x="7718254" y="3981354"/>
            <a:ext cx="609344" cy="369742"/>
          </a:xfrm>
          <a:prstGeom prst="rect">
            <a:avLst/>
          </a:prstGeom>
          <a:solidFill>
            <a:schemeClr val="accent5">
              <a:lumMod val="40000"/>
              <a:lumOff val="6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8" name="Graphic 137" descr="Flower without stem with solid fill">
            <a:extLst>
              <a:ext uri="{FF2B5EF4-FFF2-40B4-BE49-F238E27FC236}">
                <a16:creationId xmlns:a16="http://schemas.microsoft.com/office/drawing/2014/main" id="{16B7AA14-3474-9817-6D6B-9ED53808704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78853" y="3339131"/>
            <a:ext cx="435666" cy="435666"/>
          </a:xfrm>
          <a:prstGeom prst="rect">
            <a:avLst/>
          </a:prstGeom>
        </p:spPr>
      </p:pic>
      <p:pic>
        <p:nvPicPr>
          <p:cNvPr id="140" name="Graphic 139" descr="Cactus with solid fill">
            <a:extLst>
              <a:ext uri="{FF2B5EF4-FFF2-40B4-BE49-F238E27FC236}">
                <a16:creationId xmlns:a16="http://schemas.microsoft.com/office/drawing/2014/main" id="{573CDEA9-6F2F-40E4-F3E9-D14D02BBE8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6878853" y="4014284"/>
            <a:ext cx="465622" cy="322748"/>
          </a:xfrm>
          <a:prstGeom prst="rect">
            <a:avLst/>
          </a:prstGeom>
        </p:spPr>
      </p:pic>
      <p:pic>
        <p:nvPicPr>
          <p:cNvPr id="142" name="Graphic 141" descr="Flower without stem with solid fill">
            <a:extLst>
              <a:ext uri="{FF2B5EF4-FFF2-40B4-BE49-F238E27FC236}">
                <a16:creationId xmlns:a16="http://schemas.microsoft.com/office/drawing/2014/main" id="{764D3062-275D-378C-E24C-E0B3BC3A94E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20953" y="4576519"/>
            <a:ext cx="381420" cy="381420"/>
          </a:xfrm>
          <a:prstGeom prst="rect">
            <a:avLst/>
          </a:prstGeom>
        </p:spPr>
      </p:pic>
      <p:pic>
        <p:nvPicPr>
          <p:cNvPr id="144" name="Graphic 143" descr="Cactus with solid fill">
            <a:extLst>
              <a:ext uri="{FF2B5EF4-FFF2-40B4-BE49-F238E27FC236}">
                <a16:creationId xmlns:a16="http://schemas.microsoft.com/office/drawing/2014/main" id="{A8C566F3-990A-2EA0-4E82-07C99537F2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flipV="1">
            <a:off x="6892408" y="5197426"/>
            <a:ext cx="465622" cy="322748"/>
          </a:xfrm>
          <a:prstGeom prst="rect">
            <a:avLst/>
          </a:prstGeom>
        </p:spPr>
      </p:pic>
      <p:sp>
        <p:nvSpPr>
          <p:cNvPr id="146" name="Rectangle 145">
            <a:extLst>
              <a:ext uri="{FF2B5EF4-FFF2-40B4-BE49-F238E27FC236}">
                <a16:creationId xmlns:a16="http://schemas.microsoft.com/office/drawing/2014/main" id="{0233731A-CF69-C69A-9EF4-783E717E0D19}"/>
              </a:ext>
            </a:extLst>
          </p:cNvPr>
          <p:cNvSpPr/>
          <p:nvPr/>
        </p:nvSpPr>
        <p:spPr>
          <a:xfrm rot="21591323">
            <a:off x="7718254" y="4589775"/>
            <a:ext cx="609344" cy="369742"/>
          </a:xfrm>
          <a:prstGeom prst="rect">
            <a:avLst/>
          </a:prstGeom>
          <a:solidFill>
            <a:schemeClr val="accent5">
              <a:lumMod val="75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Rectangle 147">
            <a:extLst>
              <a:ext uri="{FF2B5EF4-FFF2-40B4-BE49-F238E27FC236}">
                <a16:creationId xmlns:a16="http://schemas.microsoft.com/office/drawing/2014/main" id="{006B2188-0D15-D607-80EF-8AAB08E2FE2C}"/>
              </a:ext>
            </a:extLst>
          </p:cNvPr>
          <p:cNvSpPr/>
          <p:nvPr/>
        </p:nvSpPr>
        <p:spPr>
          <a:xfrm rot="35076">
            <a:off x="9095063" y="520052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Rectangle 149">
            <a:extLst>
              <a:ext uri="{FF2B5EF4-FFF2-40B4-BE49-F238E27FC236}">
                <a16:creationId xmlns:a16="http://schemas.microsoft.com/office/drawing/2014/main" id="{300A9249-24C7-1C6A-33D5-8D4F2A65F9F8}"/>
              </a:ext>
            </a:extLst>
          </p:cNvPr>
          <p:cNvSpPr/>
          <p:nvPr/>
        </p:nvSpPr>
        <p:spPr>
          <a:xfrm rot="21591323">
            <a:off x="10472634" y="4587134"/>
            <a:ext cx="609344" cy="369742"/>
          </a:xfrm>
          <a:prstGeom prst="rect">
            <a:avLst/>
          </a:prstGeom>
          <a:solidFill>
            <a:schemeClr val="accent3">
              <a:lumMod val="20000"/>
              <a:lumOff val="8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5226FA41-4372-7BBB-9458-1A2D51FC4BCA}"/>
              </a:ext>
            </a:extLst>
          </p:cNvPr>
          <p:cNvCxnSpPr>
            <a:cxnSpLocks/>
          </p:cNvCxnSpPr>
          <p:nvPr/>
        </p:nvCxnSpPr>
        <p:spPr>
          <a:xfrm flipH="1">
            <a:off x="591626" y="2663978"/>
            <a:ext cx="27590" cy="3239392"/>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A47C1C3-F24C-7C4B-5E86-6E443ED279B6}"/>
              </a:ext>
            </a:extLst>
          </p:cNvPr>
          <p:cNvSpPr txBox="1"/>
          <p:nvPr/>
        </p:nvSpPr>
        <p:spPr>
          <a:xfrm>
            <a:off x="440966" y="2177243"/>
            <a:ext cx="335871" cy="523220"/>
          </a:xfrm>
          <a:prstGeom prst="rect">
            <a:avLst/>
          </a:prstGeom>
          <a:noFill/>
        </p:spPr>
        <p:txBody>
          <a:bodyPr wrap="square" rtlCol="0">
            <a:spAutoFit/>
          </a:bodyPr>
          <a:lstStyle/>
          <a:p>
            <a:r>
              <a:rPr lang="en-US" sz="2800" b="1" dirty="0"/>
              <a:t>z</a:t>
            </a:r>
          </a:p>
        </p:txBody>
      </p:sp>
    </p:spTree>
    <p:extLst>
      <p:ext uri="{BB962C8B-B14F-4D97-AF65-F5344CB8AC3E}">
        <p14:creationId xmlns:p14="http://schemas.microsoft.com/office/powerpoint/2010/main" val="23541367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F3FBB-2DDB-AF3F-9FFF-E44B536D1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962CB-1579-0D00-91B4-E68C7A78AF0A}"/>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pic>
        <p:nvPicPr>
          <p:cNvPr id="53" name="Graphic 52" descr="Cactus with solid fill">
            <a:extLst>
              <a:ext uri="{FF2B5EF4-FFF2-40B4-BE49-F238E27FC236}">
                <a16:creationId xmlns:a16="http://schemas.microsoft.com/office/drawing/2014/main" id="{36121AD9-7ED1-9AFB-8062-C7E1291CCA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425592" y="2073658"/>
            <a:ext cx="465622" cy="322748"/>
          </a:xfrm>
          <a:prstGeom prst="rect">
            <a:avLst/>
          </a:prstGeom>
        </p:spPr>
      </p:pic>
      <p:sp>
        <p:nvSpPr>
          <p:cNvPr id="55" name="TextBox 54">
            <a:extLst>
              <a:ext uri="{FF2B5EF4-FFF2-40B4-BE49-F238E27FC236}">
                <a16:creationId xmlns:a16="http://schemas.microsoft.com/office/drawing/2014/main" id="{F9AD4165-60CA-4C3C-B9D7-8E13C9DD8B5F}"/>
              </a:ext>
            </a:extLst>
          </p:cNvPr>
          <p:cNvSpPr txBox="1"/>
          <p:nvPr/>
        </p:nvSpPr>
        <p:spPr>
          <a:xfrm>
            <a:off x="848303" y="1524685"/>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57" name="TextBox 56">
            <a:extLst>
              <a:ext uri="{FF2B5EF4-FFF2-40B4-BE49-F238E27FC236}">
                <a16:creationId xmlns:a16="http://schemas.microsoft.com/office/drawing/2014/main" id="{54D0C2AC-23A6-5568-FF01-E032FA8B161E}"/>
              </a:ext>
            </a:extLst>
          </p:cNvPr>
          <p:cNvSpPr txBox="1"/>
          <p:nvPr/>
        </p:nvSpPr>
        <p:spPr>
          <a:xfrm>
            <a:off x="2225493" y="15246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60" name="TextBox 59">
            <a:extLst>
              <a:ext uri="{FF2B5EF4-FFF2-40B4-BE49-F238E27FC236}">
                <a16:creationId xmlns:a16="http://schemas.microsoft.com/office/drawing/2014/main" id="{48314F37-9C68-B044-86A8-F590ACC922BD}"/>
              </a:ext>
            </a:extLst>
          </p:cNvPr>
          <p:cNvSpPr txBox="1"/>
          <p:nvPr/>
        </p:nvSpPr>
        <p:spPr>
          <a:xfrm>
            <a:off x="3602683" y="1524685"/>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62" name="Rectangle 61">
            <a:extLst>
              <a:ext uri="{FF2B5EF4-FFF2-40B4-BE49-F238E27FC236}">
                <a16:creationId xmlns:a16="http://schemas.microsoft.com/office/drawing/2014/main" id="{EEAFBF38-0BB7-9EA9-3033-2AC125D02E23}"/>
              </a:ext>
            </a:extLst>
          </p:cNvPr>
          <p:cNvSpPr/>
          <p:nvPr/>
        </p:nvSpPr>
        <p:spPr>
          <a:xfrm rot="21598527">
            <a:off x="1366092" y="2050161"/>
            <a:ext cx="609344" cy="369742"/>
          </a:xfrm>
          <a:prstGeom prst="rect">
            <a:avLst/>
          </a:prstGeom>
          <a:solidFill>
            <a:schemeClr val="accent5">
              <a:lumMod val="20000"/>
              <a:lumOff val="8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0EAA41D8-5F46-D7FD-41D0-AB4C522699A5}"/>
              </a:ext>
            </a:extLst>
          </p:cNvPr>
          <p:cNvSpPr/>
          <p:nvPr/>
        </p:nvSpPr>
        <p:spPr>
          <a:xfrm rot="42280">
            <a:off x="2743282" y="2050161"/>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BFD753BB-B6A1-3EEF-77FD-B86C951F62E1}"/>
              </a:ext>
            </a:extLst>
          </p:cNvPr>
          <p:cNvSpPr/>
          <p:nvPr/>
        </p:nvSpPr>
        <p:spPr>
          <a:xfrm rot="21598527">
            <a:off x="4120472" y="2050161"/>
            <a:ext cx="609344" cy="369742"/>
          </a:xfrm>
          <a:prstGeom prst="rect">
            <a:avLst/>
          </a:prstGeom>
          <a:solidFill>
            <a:schemeClr val="accent3">
              <a:lumMod val="60000"/>
              <a:lumOff val="4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Graphic 68" descr="Flower without stem with solid fill">
            <a:extLst>
              <a:ext uri="{FF2B5EF4-FFF2-40B4-BE49-F238E27FC236}">
                <a16:creationId xmlns:a16="http://schemas.microsoft.com/office/drawing/2014/main" id="{21E47C93-FE77-122E-0456-DF54B14FE1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184" y="2635893"/>
            <a:ext cx="435666" cy="435666"/>
          </a:xfrm>
          <a:prstGeom prst="rect">
            <a:avLst/>
          </a:prstGeom>
        </p:spPr>
      </p:pic>
      <p:sp>
        <p:nvSpPr>
          <p:cNvPr id="75" name="Rectangle 74">
            <a:extLst>
              <a:ext uri="{FF2B5EF4-FFF2-40B4-BE49-F238E27FC236}">
                <a16:creationId xmlns:a16="http://schemas.microsoft.com/office/drawing/2014/main" id="{8EF7D782-BB22-2169-F233-D602E49F01F7}"/>
              </a:ext>
            </a:extLst>
          </p:cNvPr>
          <p:cNvSpPr/>
          <p:nvPr/>
        </p:nvSpPr>
        <p:spPr>
          <a:xfrm rot="21598527">
            <a:off x="1366092" y="2736427"/>
            <a:ext cx="609344" cy="369742"/>
          </a:xfrm>
          <a:prstGeom prst="rect">
            <a:avLst/>
          </a:prstGeom>
          <a:solidFill>
            <a:schemeClr val="accent5">
              <a:lumMod val="75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1A7ECEAD-B74D-C2D7-7ACC-E28B178CBA12}"/>
              </a:ext>
            </a:extLst>
          </p:cNvPr>
          <p:cNvSpPr/>
          <p:nvPr/>
        </p:nvSpPr>
        <p:spPr>
          <a:xfrm rot="21591323">
            <a:off x="4120472" y="3304605"/>
            <a:ext cx="609344" cy="369742"/>
          </a:xfrm>
          <a:prstGeom prst="rect">
            <a:avLst/>
          </a:prstGeom>
          <a:solidFill>
            <a:schemeClr val="accent3">
              <a:lumMod val="75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50C2E1E5-B8A3-493C-8E14-8E2F1603791E}"/>
              </a:ext>
            </a:extLst>
          </p:cNvPr>
          <p:cNvSpPr/>
          <p:nvPr/>
        </p:nvSpPr>
        <p:spPr>
          <a:xfrm rot="21591323">
            <a:off x="4120472" y="5186272"/>
            <a:ext cx="609344" cy="369742"/>
          </a:xfrm>
          <a:prstGeom prst="rect">
            <a:avLst/>
          </a:prstGeom>
          <a:solidFill>
            <a:schemeClr val="accent3">
              <a:lumMod val="20000"/>
              <a:lumOff val="8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106">
            <a:extLst>
              <a:ext uri="{FF2B5EF4-FFF2-40B4-BE49-F238E27FC236}">
                <a16:creationId xmlns:a16="http://schemas.microsoft.com/office/drawing/2014/main" id="{E307D31C-99A3-7781-BF96-BE42DB696766}"/>
              </a:ext>
            </a:extLst>
          </p:cNvPr>
          <p:cNvSpPr/>
          <p:nvPr/>
        </p:nvSpPr>
        <p:spPr>
          <a:xfrm rot="21591323">
            <a:off x="4120472" y="2677383"/>
            <a:ext cx="609344" cy="369742"/>
          </a:xfrm>
          <a:prstGeom prst="rect">
            <a:avLst/>
          </a:prstGeom>
          <a:solidFill>
            <a:schemeClr val="accent3">
              <a:lumMod val="75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a:extLst>
              <a:ext uri="{FF2B5EF4-FFF2-40B4-BE49-F238E27FC236}">
                <a16:creationId xmlns:a16="http://schemas.microsoft.com/office/drawing/2014/main" id="{5F6B635F-ADEC-BAA7-2D45-B7CE5487570E}"/>
              </a:ext>
            </a:extLst>
          </p:cNvPr>
          <p:cNvSpPr/>
          <p:nvPr/>
        </p:nvSpPr>
        <p:spPr>
          <a:xfrm rot="21591323">
            <a:off x="4120472" y="3931827"/>
            <a:ext cx="609344" cy="369742"/>
          </a:xfrm>
          <a:prstGeom prst="rect">
            <a:avLst/>
          </a:prstGeom>
          <a:solidFill>
            <a:schemeClr val="accent3">
              <a:lumMod val="75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116">
            <a:extLst>
              <a:ext uri="{FF2B5EF4-FFF2-40B4-BE49-F238E27FC236}">
                <a16:creationId xmlns:a16="http://schemas.microsoft.com/office/drawing/2014/main" id="{8A7383AA-0AF1-36BD-1F7B-A8212D61A270}"/>
              </a:ext>
            </a:extLst>
          </p:cNvPr>
          <p:cNvSpPr/>
          <p:nvPr/>
        </p:nvSpPr>
        <p:spPr>
          <a:xfrm rot="35076">
            <a:off x="2742901" y="3299073"/>
            <a:ext cx="609344" cy="369742"/>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117">
            <a:extLst>
              <a:ext uri="{FF2B5EF4-FFF2-40B4-BE49-F238E27FC236}">
                <a16:creationId xmlns:a16="http://schemas.microsoft.com/office/drawing/2014/main" id="{775FB773-F2CC-A7D9-9D08-6A6D132D3CEF}"/>
              </a:ext>
            </a:extLst>
          </p:cNvPr>
          <p:cNvSpPr/>
          <p:nvPr/>
        </p:nvSpPr>
        <p:spPr>
          <a:xfrm rot="35076">
            <a:off x="2742902" y="4547985"/>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Rectangle 119">
            <a:extLst>
              <a:ext uri="{FF2B5EF4-FFF2-40B4-BE49-F238E27FC236}">
                <a16:creationId xmlns:a16="http://schemas.microsoft.com/office/drawing/2014/main" id="{1F6ED2B0-1CCC-F066-1EB7-7473CBF5EDB3}"/>
              </a:ext>
            </a:extLst>
          </p:cNvPr>
          <p:cNvSpPr/>
          <p:nvPr/>
        </p:nvSpPr>
        <p:spPr>
          <a:xfrm rot="35076">
            <a:off x="2762479" y="2674617"/>
            <a:ext cx="609344" cy="36974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Rectangle 120">
            <a:extLst>
              <a:ext uri="{FF2B5EF4-FFF2-40B4-BE49-F238E27FC236}">
                <a16:creationId xmlns:a16="http://schemas.microsoft.com/office/drawing/2014/main" id="{DD784703-2346-C2D5-8DDC-39212A8060E4}"/>
              </a:ext>
            </a:extLst>
          </p:cNvPr>
          <p:cNvSpPr/>
          <p:nvPr/>
        </p:nvSpPr>
        <p:spPr>
          <a:xfrm rot="35076">
            <a:off x="2742902" y="3923529"/>
            <a:ext cx="609344" cy="369742"/>
          </a:xfrm>
          <a:prstGeom prst="rect">
            <a:avLst/>
          </a:prstGeom>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Rectangle 128">
            <a:extLst>
              <a:ext uri="{FF2B5EF4-FFF2-40B4-BE49-F238E27FC236}">
                <a16:creationId xmlns:a16="http://schemas.microsoft.com/office/drawing/2014/main" id="{B504ED68-D0D5-860A-3E24-D561762509C2}"/>
              </a:ext>
            </a:extLst>
          </p:cNvPr>
          <p:cNvSpPr/>
          <p:nvPr/>
        </p:nvSpPr>
        <p:spPr>
          <a:xfrm rot="21591323">
            <a:off x="1366092" y="3344848"/>
            <a:ext cx="609344" cy="369742"/>
          </a:xfrm>
          <a:prstGeom prst="rect">
            <a:avLst/>
          </a:prstGeom>
          <a:solidFill>
            <a:schemeClr val="accent5">
              <a:lumMod val="40000"/>
              <a:lumOff val="6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E55996AC-025A-79C8-DAA5-FF99FBE61B03}"/>
              </a:ext>
            </a:extLst>
          </p:cNvPr>
          <p:cNvSpPr/>
          <p:nvPr/>
        </p:nvSpPr>
        <p:spPr>
          <a:xfrm rot="21591323">
            <a:off x="1366092" y="5170110"/>
            <a:ext cx="609344" cy="369742"/>
          </a:xfrm>
          <a:prstGeom prst="rect">
            <a:avLst/>
          </a:prstGeom>
          <a:solidFill>
            <a:schemeClr val="accent5">
              <a:lumMod val="75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Rectangle 132">
            <a:extLst>
              <a:ext uri="{FF2B5EF4-FFF2-40B4-BE49-F238E27FC236}">
                <a16:creationId xmlns:a16="http://schemas.microsoft.com/office/drawing/2014/main" id="{C20B6448-8DB4-4D45-DB4A-EB851C4F640A}"/>
              </a:ext>
            </a:extLst>
          </p:cNvPr>
          <p:cNvSpPr/>
          <p:nvPr/>
        </p:nvSpPr>
        <p:spPr>
          <a:xfrm rot="21591323">
            <a:off x="1366092" y="3953269"/>
            <a:ext cx="609344" cy="369742"/>
          </a:xfrm>
          <a:prstGeom prst="rect">
            <a:avLst/>
          </a:prstGeom>
          <a:solidFill>
            <a:schemeClr val="accent5">
              <a:lumMod val="40000"/>
              <a:lumOff val="6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8" name="Graphic 137" descr="Flower without stem with solid fill">
            <a:extLst>
              <a:ext uri="{FF2B5EF4-FFF2-40B4-BE49-F238E27FC236}">
                <a16:creationId xmlns:a16="http://schemas.microsoft.com/office/drawing/2014/main" id="{55BC6016-5E4F-2AB8-625B-3862CC638E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691" y="3311046"/>
            <a:ext cx="435666" cy="435666"/>
          </a:xfrm>
          <a:prstGeom prst="rect">
            <a:avLst/>
          </a:prstGeom>
        </p:spPr>
      </p:pic>
      <p:pic>
        <p:nvPicPr>
          <p:cNvPr id="140" name="Graphic 139" descr="Cactus with solid fill">
            <a:extLst>
              <a:ext uri="{FF2B5EF4-FFF2-40B4-BE49-F238E27FC236}">
                <a16:creationId xmlns:a16="http://schemas.microsoft.com/office/drawing/2014/main" id="{8B936683-4A2F-BD6E-D120-42D5AD996C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526691" y="3986199"/>
            <a:ext cx="465622" cy="322748"/>
          </a:xfrm>
          <a:prstGeom prst="rect">
            <a:avLst/>
          </a:prstGeom>
        </p:spPr>
      </p:pic>
      <p:pic>
        <p:nvPicPr>
          <p:cNvPr id="142" name="Graphic 141" descr="Flower without stem with solid fill">
            <a:extLst>
              <a:ext uri="{FF2B5EF4-FFF2-40B4-BE49-F238E27FC236}">
                <a16:creationId xmlns:a16="http://schemas.microsoft.com/office/drawing/2014/main" id="{E4DD2A9C-1EAA-3AD6-CCD5-753485B65F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8791" y="4548434"/>
            <a:ext cx="381420" cy="381420"/>
          </a:xfrm>
          <a:prstGeom prst="rect">
            <a:avLst/>
          </a:prstGeom>
        </p:spPr>
      </p:pic>
      <p:pic>
        <p:nvPicPr>
          <p:cNvPr id="144" name="Graphic 143" descr="Cactus with solid fill">
            <a:extLst>
              <a:ext uri="{FF2B5EF4-FFF2-40B4-BE49-F238E27FC236}">
                <a16:creationId xmlns:a16="http://schemas.microsoft.com/office/drawing/2014/main" id="{AFEBD804-F0B4-7E4C-C3F4-17FB8E94C4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540246" y="5169341"/>
            <a:ext cx="465622" cy="322748"/>
          </a:xfrm>
          <a:prstGeom prst="rect">
            <a:avLst/>
          </a:prstGeom>
        </p:spPr>
      </p:pic>
      <p:sp>
        <p:nvSpPr>
          <p:cNvPr id="146" name="Rectangle 145">
            <a:extLst>
              <a:ext uri="{FF2B5EF4-FFF2-40B4-BE49-F238E27FC236}">
                <a16:creationId xmlns:a16="http://schemas.microsoft.com/office/drawing/2014/main" id="{E9B534EC-4B1E-965C-4318-FA71A705B232}"/>
              </a:ext>
            </a:extLst>
          </p:cNvPr>
          <p:cNvSpPr/>
          <p:nvPr/>
        </p:nvSpPr>
        <p:spPr>
          <a:xfrm rot="21591323">
            <a:off x="1366092" y="4561690"/>
            <a:ext cx="609344" cy="369742"/>
          </a:xfrm>
          <a:prstGeom prst="rect">
            <a:avLst/>
          </a:prstGeom>
          <a:solidFill>
            <a:schemeClr val="accent5">
              <a:lumMod val="75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Rectangle 147">
            <a:extLst>
              <a:ext uri="{FF2B5EF4-FFF2-40B4-BE49-F238E27FC236}">
                <a16:creationId xmlns:a16="http://schemas.microsoft.com/office/drawing/2014/main" id="{DA78A98D-9F54-0BDB-FEEC-CD19CC7CC039}"/>
              </a:ext>
            </a:extLst>
          </p:cNvPr>
          <p:cNvSpPr/>
          <p:nvPr/>
        </p:nvSpPr>
        <p:spPr>
          <a:xfrm rot="35076">
            <a:off x="2742901" y="5172440"/>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Rectangle 149">
            <a:extLst>
              <a:ext uri="{FF2B5EF4-FFF2-40B4-BE49-F238E27FC236}">
                <a16:creationId xmlns:a16="http://schemas.microsoft.com/office/drawing/2014/main" id="{9939817B-E9FC-C74A-E739-73E174D8F529}"/>
              </a:ext>
            </a:extLst>
          </p:cNvPr>
          <p:cNvSpPr/>
          <p:nvPr/>
        </p:nvSpPr>
        <p:spPr>
          <a:xfrm rot="21591323">
            <a:off x="4120472" y="4559049"/>
            <a:ext cx="609344" cy="369742"/>
          </a:xfrm>
          <a:prstGeom prst="rect">
            <a:avLst/>
          </a:prstGeom>
          <a:solidFill>
            <a:schemeClr val="accent3">
              <a:lumMod val="20000"/>
              <a:lumOff val="8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86DFE301-CE1B-E8EA-0102-4A3EB348D3B1}"/>
              </a:ext>
            </a:extLst>
          </p:cNvPr>
          <p:cNvCxnSpPr>
            <a:cxnSpLocks/>
          </p:cNvCxnSpPr>
          <p:nvPr/>
        </p:nvCxnSpPr>
        <p:spPr>
          <a:xfrm flipH="1">
            <a:off x="7712129" y="3211101"/>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C431229-C6C7-CB5D-64D5-4CBDD44E11AB}"/>
              </a:ext>
            </a:extLst>
          </p:cNvPr>
          <p:cNvCxnSpPr>
            <a:cxnSpLocks/>
          </p:cNvCxnSpPr>
          <p:nvPr/>
        </p:nvCxnSpPr>
        <p:spPr>
          <a:xfrm>
            <a:off x="7692673" y="2318237"/>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E47F8F3-D2BA-0EF6-C1B6-D87C9FFE249A}"/>
              </a:ext>
            </a:extLst>
          </p:cNvPr>
          <p:cNvCxnSpPr>
            <a:cxnSpLocks/>
          </p:cNvCxnSpPr>
          <p:nvPr/>
        </p:nvCxnSpPr>
        <p:spPr>
          <a:xfrm>
            <a:off x="7664104" y="4856423"/>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96E6E5DF-F7E8-10A2-7903-91A88F1EE588}"/>
              </a:ext>
            </a:extLst>
          </p:cNvPr>
          <p:cNvSpPr txBox="1"/>
          <p:nvPr/>
        </p:nvSpPr>
        <p:spPr>
          <a:xfrm rot="277114">
            <a:off x="8008066" y="50166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56" name="TextBox 155">
            <a:extLst>
              <a:ext uri="{FF2B5EF4-FFF2-40B4-BE49-F238E27FC236}">
                <a16:creationId xmlns:a16="http://schemas.microsoft.com/office/drawing/2014/main" id="{954428B3-2B73-57BC-D269-854F58186F03}"/>
              </a:ext>
            </a:extLst>
          </p:cNvPr>
          <p:cNvSpPr txBox="1"/>
          <p:nvPr/>
        </p:nvSpPr>
        <p:spPr>
          <a:xfrm rot="16200000">
            <a:off x="6571269" y="350101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58" name="TextBox 157">
            <a:extLst>
              <a:ext uri="{FF2B5EF4-FFF2-40B4-BE49-F238E27FC236}">
                <a16:creationId xmlns:a16="http://schemas.microsoft.com/office/drawing/2014/main" id="{4CDC8F8A-E26D-C483-FFD5-CAEF78CB437B}"/>
              </a:ext>
            </a:extLst>
          </p:cNvPr>
          <p:cNvSpPr txBox="1"/>
          <p:nvPr/>
        </p:nvSpPr>
        <p:spPr>
          <a:xfrm rot="18862476">
            <a:off x="9028476" y="2601867"/>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173" name="Rectangle 172">
            <a:extLst>
              <a:ext uri="{FF2B5EF4-FFF2-40B4-BE49-F238E27FC236}">
                <a16:creationId xmlns:a16="http://schemas.microsoft.com/office/drawing/2014/main" id="{F0B9612A-E442-3D6C-1823-57F43E9BA8F4}"/>
              </a:ext>
            </a:extLst>
          </p:cNvPr>
          <p:cNvSpPr/>
          <p:nvPr/>
        </p:nvSpPr>
        <p:spPr>
          <a:xfrm rot="16200000">
            <a:off x="7055608" y="2443149"/>
            <a:ext cx="609344" cy="369742"/>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9" name="Graphic 208" descr="Cactus with solid fill">
            <a:extLst>
              <a:ext uri="{FF2B5EF4-FFF2-40B4-BE49-F238E27FC236}">
                <a16:creationId xmlns:a16="http://schemas.microsoft.com/office/drawing/2014/main" id="{028FFEA1-FAD8-9D1A-1A2D-A5D0C8E3A4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9451518" y="3898729"/>
            <a:ext cx="294303" cy="322748"/>
          </a:xfrm>
          <a:prstGeom prst="rect">
            <a:avLst/>
          </a:prstGeom>
        </p:spPr>
      </p:pic>
      <p:pic>
        <p:nvPicPr>
          <p:cNvPr id="211" name="Graphic 210" descr="Flower without stem with solid fill">
            <a:extLst>
              <a:ext uri="{FF2B5EF4-FFF2-40B4-BE49-F238E27FC236}">
                <a16:creationId xmlns:a16="http://schemas.microsoft.com/office/drawing/2014/main" id="{67925801-6306-B251-4CC7-E7FF1F4374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41170" y="3083306"/>
            <a:ext cx="367001" cy="435666"/>
          </a:xfrm>
          <a:prstGeom prst="rect">
            <a:avLst/>
          </a:prstGeom>
        </p:spPr>
      </p:pic>
      <p:pic>
        <p:nvPicPr>
          <p:cNvPr id="213" name="Graphic 212" descr="Flower without stem with solid fill">
            <a:extLst>
              <a:ext uri="{FF2B5EF4-FFF2-40B4-BE49-F238E27FC236}">
                <a16:creationId xmlns:a16="http://schemas.microsoft.com/office/drawing/2014/main" id="{220A8CCE-D8B0-0F2A-94A4-775A429C7C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8171" y="3735854"/>
            <a:ext cx="374580" cy="435666"/>
          </a:xfrm>
          <a:prstGeom prst="rect">
            <a:avLst/>
          </a:prstGeom>
        </p:spPr>
      </p:pic>
      <p:pic>
        <p:nvPicPr>
          <p:cNvPr id="215" name="Graphic 214" descr="Cactus with solid fill">
            <a:extLst>
              <a:ext uri="{FF2B5EF4-FFF2-40B4-BE49-F238E27FC236}">
                <a16:creationId xmlns:a16="http://schemas.microsoft.com/office/drawing/2014/main" id="{AD24A4F7-DA25-5BDD-F9E4-C267AF3A7F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8591781" y="4527154"/>
            <a:ext cx="320763" cy="322748"/>
          </a:xfrm>
          <a:prstGeom prst="rect">
            <a:avLst/>
          </a:prstGeom>
        </p:spPr>
      </p:pic>
      <p:pic>
        <p:nvPicPr>
          <p:cNvPr id="217" name="Graphic 216" descr="Flower without stem with solid fill">
            <a:extLst>
              <a:ext uri="{FF2B5EF4-FFF2-40B4-BE49-F238E27FC236}">
                <a16:creationId xmlns:a16="http://schemas.microsoft.com/office/drawing/2014/main" id="{D89CC898-FF8B-0161-488D-651B4EB962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2751" y="2113747"/>
            <a:ext cx="271772" cy="381420"/>
          </a:xfrm>
          <a:prstGeom prst="rect">
            <a:avLst/>
          </a:prstGeom>
        </p:spPr>
      </p:pic>
      <p:pic>
        <p:nvPicPr>
          <p:cNvPr id="221" name="Graphic 220" descr="Cactus with solid fill">
            <a:extLst>
              <a:ext uri="{FF2B5EF4-FFF2-40B4-BE49-F238E27FC236}">
                <a16:creationId xmlns:a16="http://schemas.microsoft.com/office/drawing/2014/main" id="{A77A49CF-5354-0FB1-D514-D22F39869B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8651807" y="2135182"/>
            <a:ext cx="357440" cy="322748"/>
          </a:xfrm>
          <a:prstGeom prst="rect">
            <a:avLst/>
          </a:prstGeom>
        </p:spPr>
      </p:pic>
      <p:sp>
        <p:nvSpPr>
          <p:cNvPr id="223" name="Arrow: Down 222">
            <a:extLst>
              <a:ext uri="{FF2B5EF4-FFF2-40B4-BE49-F238E27FC236}">
                <a16:creationId xmlns:a16="http://schemas.microsoft.com/office/drawing/2014/main" id="{056A48D8-68FA-DC38-CC59-1237209E0E6D}"/>
              </a:ext>
            </a:extLst>
          </p:cNvPr>
          <p:cNvSpPr/>
          <p:nvPr/>
        </p:nvSpPr>
        <p:spPr>
          <a:xfrm rot="16200000">
            <a:off x="5198389" y="3497220"/>
            <a:ext cx="657720" cy="43566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BE251751-5894-0737-4EFD-957CF9C87D75}"/>
              </a:ext>
            </a:extLst>
          </p:cNvPr>
          <p:cNvSpPr/>
          <p:nvPr/>
        </p:nvSpPr>
        <p:spPr>
          <a:xfrm rot="19135865">
            <a:off x="10156465" y="2216027"/>
            <a:ext cx="491838" cy="122230"/>
          </a:xfrm>
          <a:prstGeom prst="rect">
            <a:avLst/>
          </a:prstGeom>
          <a:solidFill>
            <a:schemeClr val="accent3">
              <a:lumMod val="20000"/>
              <a:lumOff val="80000"/>
            </a:schemeClr>
          </a:solidFill>
          <a:ln>
            <a:solidFill>
              <a:schemeClr val="accent3">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Rectangle 226">
            <a:extLst>
              <a:ext uri="{FF2B5EF4-FFF2-40B4-BE49-F238E27FC236}">
                <a16:creationId xmlns:a16="http://schemas.microsoft.com/office/drawing/2014/main" id="{CE9CF591-6D8F-F8F8-B173-C391B42694EE}"/>
              </a:ext>
            </a:extLst>
          </p:cNvPr>
          <p:cNvSpPr/>
          <p:nvPr/>
        </p:nvSpPr>
        <p:spPr>
          <a:xfrm rot="210063">
            <a:off x="9485254" y="5145843"/>
            <a:ext cx="525023" cy="369742"/>
          </a:xfrm>
          <a:prstGeom prst="rect">
            <a:avLst/>
          </a:prstGeom>
          <a:solidFill>
            <a:schemeClr val="accent5">
              <a:lumMod val="20000"/>
              <a:lumOff val="80000"/>
            </a:schemeClr>
          </a:solidFill>
          <a:ln>
            <a:solidFill>
              <a:schemeClr val="accent5">
                <a:lumMod val="50000"/>
              </a:schemeClr>
            </a:soli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51892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DBD7A-65D8-A0AC-DB26-CB53F2E0B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7BA0F-F6FF-2C44-A7E4-CD296AAF4351}"/>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cxnSp>
        <p:nvCxnSpPr>
          <p:cNvPr id="23" name="Straight Connector 22">
            <a:extLst>
              <a:ext uri="{FF2B5EF4-FFF2-40B4-BE49-F238E27FC236}">
                <a16:creationId xmlns:a16="http://schemas.microsoft.com/office/drawing/2014/main" id="{9F550A32-D63A-436C-44B0-311971013008}"/>
              </a:ext>
            </a:extLst>
          </p:cNvPr>
          <p:cNvCxnSpPr>
            <a:cxnSpLocks/>
          </p:cNvCxnSpPr>
          <p:nvPr/>
        </p:nvCxnSpPr>
        <p:spPr>
          <a:xfrm flipH="1">
            <a:off x="4637024" y="3192433"/>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B6286E5-48C6-11C1-C4C5-C4D03505817A}"/>
              </a:ext>
            </a:extLst>
          </p:cNvPr>
          <p:cNvCxnSpPr>
            <a:cxnSpLocks/>
          </p:cNvCxnSpPr>
          <p:nvPr/>
        </p:nvCxnSpPr>
        <p:spPr>
          <a:xfrm>
            <a:off x="4617568" y="2299569"/>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F1DD472-892E-2DE1-0EF8-2EDF0936371E}"/>
              </a:ext>
            </a:extLst>
          </p:cNvPr>
          <p:cNvCxnSpPr>
            <a:cxnSpLocks/>
          </p:cNvCxnSpPr>
          <p:nvPr/>
        </p:nvCxnSpPr>
        <p:spPr>
          <a:xfrm>
            <a:off x="4588999" y="4837755"/>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09B4BBB2-5420-B693-02B6-2B492B082025}"/>
              </a:ext>
            </a:extLst>
          </p:cNvPr>
          <p:cNvSpPr txBox="1"/>
          <p:nvPr/>
        </p:nvSpPr>
        <p:spPr>
          <a:xfrm>
            <a:off x="6721811" y="4836603"/>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56" name="TextBox 155">
            <a:extLst>
              <a:ext uri="{FF2B5EF4-FFF2-40B4-BE49-F238E27FC236}">
                <a16:creationId xmlns:a16="http://schemas.microsoft.com/office/drawing/2014/main" id="{62F73869-1343-AFB4-7154-C51D09241D38}"/>
              </a:ext>
            </a:extLst>
          </p:cNvPr>
          <p:cNvSpPr txBox="1"/>
          <p:nvPr/>
        </p:nvSpPr>
        <p:spPr>
          <a:xfrm>
            <a:off x="3851335" y="1903904"/>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58" name="TextBox 157">
            <a:extLst>
              <a:ext uri="{FF2B5EF4-FFF2-40B4-BE49-F238E27FC236}">
                <a16:creationId xmlns:a16="http://schemas.microsoft.com/office/drawing/2014/main" id="{149E859A-01EA-4250-003D-8E6A77EC8228}"/>
              </a:ext>
            </a:extLst>
          </p:cNvPr>
          <p:cNvSpPr txBox="1"/>
          <p:nvPr/>
        </p:nvSpPr>
        <p:spPr>
          <a:xfrm>
            <a:off x="6105961" y="2943870"/>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209" name="Graphic 208" descr="Cactus with solid fill">
            <a:extLst>
              <a:ext uri="{FF2B5EF4-FFF2-40B4-BE49-F238E27FC236}">
                <a16:creationId xmlns:a16="http://schemas.microsoft.com/office/drawing/2014/main" id="{44968ABF-10C6-840F-0ECF-9C29D52D51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6376413" y="3880061"/>
            <a:ext cx="294303" cy="322748"/>
          </a:xfrm>
          <a:prstGeom prst="rect">
            <a:avLst/>
          </a:prstGeom>
        </p:spPr>
      </p:pic>
      <p:pic>
        <p:nvPicPr>
          <p:cNvPr id="211" name="Graphic 210" descr="Flower without stem with solid fill">
            <a:extLst>
              <a:ext uri="{FF2B5EF4-FFF2-40B4-BE49-F238E27FC236}">
                <a16:creationId xmlns:a16="http://schemas.microsoft.com/office/drawing/2014/main" id="{749B575D-EBA8-9ED4-38C1-186EE6BEA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6065" y="3064638"/>
            <a:ext cx="367001" cy="435666"/>
          </a:xfrm>
          <a:prstGeom prst="rect">
            <a:avLst/>
          </a:prstGeom>
        </p:spPr>
      </p:pic>
      <p:pic>
        <p:nvPicPr>
          <p:cNvPr id="213" name="Graphic 212" descr="Flower without stem with solid fill">
            <a:extLst>
              <a:ext uri="{FF2B5EF4-FFF2-40B4-BE49-F238E27FC236}">
                <a16:creationId xmlns:a16="http://schemas.microsoft.com/office/drawing/2014/main" id="{49100B54-27CD-2F51-4EEC-F80BA9AFA6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3066" y="3717186"/>
            <a:ext cx="374580" cy="435666"/>
          </a:xfrm>
          <a:prstGeom prst="rect">
            <a:avLst/>
          </a:prstGeom>
        </p:spPr>
      </p:pic>
      <p:pic>
        <p:nvPicPr>
          <p:cNvPr id="215" name="Graphic 214" descr="Cactus with solid fill">
            <a:extLst>
              <a:ext uri="{FF2B5EF4-FFF2-40B4-BE49-F238E27FC236}">
                <a16:creationId xmlns:a16="http://schemas.microsoft.com/office/drawing/2014/main" id="{B8ABC7FC-FB1E-4F33-F43C-A9F0649175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5516676" y="4508486"/>
            <a:ext cx="320763" cy="322748"/>
          </a:xfrm>
          <a:prstGeom prst="rect">
            <a:avLst/>
          </a:prstGeom>
        </p:spPr>
      </p:pic>
      <p:pic>
        <p:nvPicPr>
          <p:cNvPr id="217" name="Graphic 216" descr="Flower without stem with solid fill">
            <a:extLst>
              <a:ext uri="{FF2B5EF4-FFF2-40B4-BE49-F238E27FC236}">
                <a16:creationId xmlns:a16="http://schemas.microsoft.com/office/drawing/2014/main" id="{49CA2E82-D064-DABB-054F-2F55496D27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7646" y="2095079"/>
            <a:ext cx="271772" cy="381420"/>
          </a:xfrm>
          <a:prstGeom prst="rect">
            <a:avLst/>
          </a:prstGeom>
        </p:spPr>
      </p:pic>
      <p:pic>
        <p:nvPicPr>
          <p:cNvPr id="221" name="Graphic 220" descr="Cactus with solid fill">
            <a:extLst>
              <a:ext uri="{FF2B5EF4-FFF2-40B4-BE49-F238E27FC236}">
                <a16:creationId xmlns:a16="http://schemas.microsoft.com/office/drawing/2014/main" id="{C6E94F54-F3A1-7F9D-230C-45AB7DF105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5576702" y="2116514"/>
            <a:ext cx="357440" cy="322748"/>
          </a:xfrm>
          <a:prstGeom prst="rect">
            <a:avLst/>
          </a:prstGeom>
        </p:spPr>
      </p:pic>
    </p:spTree>
    <p:extLst>
      <p:ext uri="{BB962C8B-B14F-4D97-AF65-F5344CB8AC3E}">
        <p14:creationId xmlns:p14="http://schemas.microsoft.com/office/powerpoint/2010/main" val="10752963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C4B65-7E4E-9ADA-6801-DA5468028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904AE-B242-2539-CEDA-0E9F618A00D9}"/>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cxnSp>
        <p:nvCxnSpPr>
          <p:cNvPr id="23" name="Straight Connector 22">
            <a:extLst>
              <a:ext uri="{FF2B5EF4-FFF2-40B4-BE49-F238E27FC236}">
                <a16:creationId xmlns:a16="http://schemas.microsoft.com/office/drawing/2014/main" id="{FCAA1935-7E29-7C08-129A-4735B4C3A086}"/>
              </a:ext>
            </a:extLst>
          </p:cNvPr>
          <p:cNvCxnSpPr>
            <a:cxnSpLocks/>
          </p:cNvCxnSpPr>
          <p:nvPr/>
        </p:nvCxnSpPr>
        <p:spPr>
          <a:xfrm flipH="1">
            <a:off x="4637024" y="3192433"/>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14423E1-1796-9471-F771-9EFCFF9101B0}"/>
              </a:ext>
            </a:extLst>
          </p:cNvPr>
          <p:cNvCxnSpPr>
            <a:cxnSpLocks/>
          </p:cNvCxnSpPr>
          <p:nvPr/>
        </p:nvCxnSpPr>
        <p:spPr>
          <a:xfrm>
            <a:off x="4617568" y="2299569"/>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756BD85-B944-2C15-7311-D3ECB5F3BDE8}"/>
              </a:ext>
            </a:extLst>
          </p:cNvPr>
          <p:cNvCxnSpPr>
            <a:cxnSpLocks/>
          </p:cNvCxnSpPr>
          <p:nvPr/>
        </p:nvCxnSpPr>
        <p:spPr>
          <a:xfrm>
            <a:off x="4588999" y="4837755"/>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22ECF85F-3607-D831-B2EB-6955D6760F55}"/>
              </a:ext>
            </a:extLst>
          </p:cNvPr>
          <p:cNvSpPr txBox="1"/>
          <p:nvPr/>
        </p:nvSpPr>
        <p:spPr>
          <a:xfrm>
            <a:off x="6721811" y="4836603"/>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56" name="TextBox 155">
            <a:extLst>
              <a:ext uri="{FF2B5EF4-FFF2-40B4-BE49-F238E27FC236}">
                <a16:creationId xmlns:a16="http://schemas.microsoft.com/office/drawing/2014/main" id="{C5FD75E5-7F5D-6B50-E0ED-D8A6EF9B6D03}"/>
              </a:ext>
            </a:extLst>
          </p:cNvPr>
          <p:cNvSpPr txBox="1"/>
          <p:nvPr/>
        </p:nvSpPr>
        <p:spPr>
          <a:xfrm>
            <a:off x="3851335" y="1903904"/>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58" name="TextBox 157">
            <a:extLst>
              <a:ext uri="{FF2B5EF4-FFF2-40B4-BE49-F238E27FC236}">
                <a16:creationId xmlns:a16="http://schemas.microsoft.com/office/drawing/2014/main" id="{A5547C53-62E4-E6FE-5F52-985C0CA92A4C}"/>
              </a:ext>
            </a:extLst>
          </p:cNvPr>
          <p:cNvSpPr txBox="1"/>
          <p:nvPr/>
        </p:nvSpPr>
        <p:spPr>
          <a:xfrm>
            <a:off x="6105961" y="2943870"/>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209" name="Graphic 208" descr="Cactus with solid fill">
            <a:extLst>
              <a:ext uri="{FF2B5EF4-FFF2-40B4-BE49-F238E27FC236}">
                <a16:creationId xmlns:a16="http://schemas.microsoft.com/office/drawing/2014/main" id="{0022C536-A81A-1C87-B04D-4B43613C20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6376413" y="3880061"/>
            <a:ext cx="294303" cy="322748"/>
          </a:xfrm>
          <a:prstGeom prst="rect">
            <a:avLst/>
          </a:prstGeom>
        </p:spPr>
      </p:pic>
      <p:pic>
        <p:nvPicPr>
          <p:cNvPr id="211" name="Graphic 210" descr="Flower without stem with solid fill">
            <a:extLst>
              <a:ext uri="{FF2B5EF4-FFF2-40B4-BE49-F238E27FC236}">
                <a16:creationId xmlns:a16="http://schemas.microsoft.com/office/drawing/2014/main" id="{A537E038-0862-AC9F-7382-9EC7C900F7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6065" y="3064638"/>
            <a:ext cx="367001" cy="435666"/>
          </a:xfrm>
          <a:prstGeom prst="rect">
            <a:avLst/>
          </a:prstGeom>
        </p:spPr>
      </p:pic>
      <p:pic>
        <p:nvPicPr>
          <p:cNvPr id="213" name="Graphic 212" descr="Flower without stem with solid fill">
            <a:extLst>
              <a:ext uri="{FF2B5EF4-FFF2-40B4-BE49-F238E27FC236}">
                <a16:creationId xmlns:a16="http://schemas.microsoft.com/office/drawing/2014/main" id="{9E24BDFD-44DE-D68A-9901-942AE51CC4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3066" y="3717186"/>
            <a:ext cx="374580" cy="435666"/>
          </a:xfrm>
          <a:prstGeom prst="rect">
            <a:avLst/>
          </a:prstGeom>
        </p:spPr>
      </p:pic>
      <p:pic>
        <p:nvPicPr>
          <p:cNvPr id="215" name="Graphic 214" descr="Cactus with solid fill">
            <a:extLst>
              <a:ext uri="{FF2B5EF4-FFF2-40B4-BE49-F238E27FC236}">
                <a16:creationId xmlns:a16="http://schemas.microsoft.com/office/drawing/2014/main" id="{46E8610D-2472-7C02-F51D-B7B3B71FF5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5516676" y="4508486"/>
            <a:ext cx="320763" cy="322748"/>
          </a:xfrm>
          <a:prstGeom prst="rect">
            <a:avLst/>
          </a:prstGeom>
        </p:spPr>
      </p:pic>
      <p:pic>
        <p:nvPicPr>
          <p:cNvPr id="217" name="Graphic 216" descr="Flower without stem with solid fill">
            <a:extLst>
              <a:ext uri="{FF2B5EF4-FFF2-40B4-BE49-F238E27FC236}">
                <a16:creationId xmlns:a16="http://schemas.microsoft.com/office/drawing/2014/main" id="{DB81123F-91A1-6EE0-9A61-3770F5F077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7646" y="2095079"/>
            <a:ext cx="271772" cy="381420"/>
          </a:xfrm>
          <a:prstGeom prst="rect">
            <a:avLst/>
          </a:prstGeom>
        </p:spPr>
      </p:pic>
      <p:pic>
        <p:nvPicPr>
          <p:cNvPr id="221" name="Graphic 220" descr="Cactus with solid fill">
            <a:extLst>
              <a:ext uri="{FF2B5EF4-FFF2-40B4-BE49-F238E27FC236}">
                <a16:creationId xmlns:a16="http://schemas.microsoft.com/office/drawing/2014/main" id="{FD79246D-DDA0-D99C-8CB1-96D4DFC154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5576702" y="2116514"/>
            <a:ext cx="357440" cy="322748"/>
          </a:xfrm>
          <a:prstGeom prst="rect">
            <a:avLst/>
          </a:prstGeom>
        </p:spPr>
      </p:pic>
      <p:sp>
        <p:nvSpPr>
          <p:cNvPr id="3" name="Rectangle 2">
            <a:extLst>
              <a:ext uri="{FF2B5EF4-FFF2-40B4-BE49-F238E27FC236}">
                <a16:creationId xmlns:a16="http://schemas.microsoft.com/office/drawing/2014/main" id="{A48D5F5F-0147-6B22-1F6C-ED92E4E22023}"/>
              </a:ext>
            </a:extLst>
          </p:cNvPr>
          <p:cNvSpPr/>
          <p:nvPr/>
        </p:nvSpPr>
        <p:spPr>
          <a:xfrm rot="14618980">
            <a:off x="4362031" y="2674685"/>
            <a:ext cx="2451227" cy="1596096"/>
          </a:xfrm>
          <a:prstGeom prst="rect">
            <a:avLst/>
          </a:prstGeom>
          <a:solidFill>
            <a:srgbClr val="FFFFCC">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35109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4DF9-05F1-CE24-0B79-1E2E130DD8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7875B-F5AA-CDA4-CE61-7DEF2713DE40}"/>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cxnSp>
        <p:nvCxnSpPr>
          <p:cNvPr id="23" name="Straight Connector 22">
            <a:extLst>
              <a:ext uri="{FF2B5EF4-FFF2-40B4-BE49-F238E27FC236}">
                <a16:creationId xmlns:a16="http://schemas.microsoft.com/office/drawing/2014/main" id="{AE7AC436-9020-6AF2-4661-012D6EB813E8}"/>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868EBF4-713B-DEC7-3F8E-51852988B830}"/>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F002270-53A3-694B-2407-481B30FA3BF1}"/>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602639F0-A112-27D9-2FDE-4EB4B6561C9D}"/>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56" name="TextBox 155">
            <a:extLst>
              <a:ext uri="{FF2B5EF4-FFF2-40B4-BE49-F238E27FC236}">
                <a16:creationId xmlns:a16="http://schemas.microsoft.com/office/drawing/2014/main" id="{9F771D7B-DEB3-7234-6044-D5BB1505F66F}"/>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58" name="TextBox 157">
            <a:extLst>
              <a:ext uri="{FF2B5EF4-FFF2-40B4-BE49-F238E27FC236}">
                <a16:creationId xmlns:a16="http://schemas.microsoft.com/office/drawing/2014/main" id="{5995779C-94AF-7286-BE6D-E923388FB2CE}"/>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209" name="Graphic 208" descr="Cactus with solid fill">
            <a:extLst>
              <a:ext uri="{FF2B5EF4-FFF2-40B4-BE49-F238E27FC236}">
                <a16:creationId xmlns:a16="http://schemas.microsoft.com/office/drawing/2014/main" id="{023188C2-B65E-4766-060D-8E3749708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211" name="Graphic 210" descr="Flower without stem with solid fill">
            <a:extLst>
              <a:ext uri="{FF2B5EF4-FFF2-40B4-BE49-F238E27FC236}">
                <a16:creationId xmlns:a16="http://schemas.microsoft.com/office/drawing/2014/main" id="{464E097C-F5F9-DDB1-EB75-742947626F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213" name="Graphic 212" descr="Flower without stem with solid fill">
            <a:extLst>
              <a:ext uri="{FF2B5EF4-FFF2-40B4-BE49-F238E27FC236}">
                <a16:creationId xmlns:a16="http://schemas.microsoft.com/office/drawing/2014/main" id="{BE939AC8-71F9-89D8-306B-6372052D7F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215" name="Graphic 214" descr="Cactus with solid fill">
            <a:extLst>
              <a:ext uri="{FF2B5EF4-FFF2-40B4-BE49-F238E27FC236}">
                <a16:creationId xmlns:a16="http://schemas.microsoft.com/office/drawing/2014/main" id="{5333536C-1082-3F92-6CA4-E673D16B3E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217" name="Graphic 216" descr="Flower without stem with solid fill">
            <a:extLst>
              <a:ext uri="{FF2B5EF4-FFF2-40B4-BE49-F238E27FC236}">
                <a16:creationId xmlns:a16="http://schemas.microsoft.com/office/drawing/2014/main" id="{5EC950C2-D5F8-C2E8-C539-ABDE092B41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221" name="Graphic 220" descr="Cactus with solid fill">
            <a:extLst>
              <a:ext uri="{FF2B5EF4-FFF2-40B4-BE49-F238E27FC236}">
                <a16:creationId xmlns:a16="http://schemas.microsoft.com/office/drawing/2014/main" id="{A69C29D3-7D2A-E6E1-7CE9-993D52D6BD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3" name="Rectangle 2">
            <a:extLst>
              <a:ext uri="{FF2B5EF4-FFF2-40B4-BE49-F238E27FC236}">
                <a16:creationId xmlns:a16="http://schemas.microsoft.com/office/drawing/2014/main" id="{405E017C-3C29-BF8F-900C-CE5B29DA1E3F}"/>
              </a:ext>
            </a:extLst>
          </p:cNvPr>
          <p:cNvSpPr/>
          <p:nvPr/>
        </p:nvSpPr>
        <p:spPr>
          <a:xfrm rot="14618980">
            <a:off x="1103265" y="2878966"/>
            <a:ext cx="2451227" cy="1596096"/>
          </a:xfrm>
          <a:prstGeom prst="rect">
            <a:avLst/>
          </a:prstGeom>
          <a:solidFill>
            <a:srgbClr val="FFFFCC">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A0EAFD26-46DE-3F96-F58F-AD869B4B99C3}"/>
              </a:ext>
            </a:extLst>
          </p:cNvPr>
          <p:cNvSpPr/>
          <p:nvPr/>
        </p:nvSpPr>
        <p:spPr>
          <a:xfrm rot="16200000">
            <a:off x="5808435" y="3374774"/>
            <a:ext cx="657720" cy="43566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4F0AF178-54F4-72F8-E923-821EDDE1F3E9}"/>
              </a:ext>
            </a:extLst>
          </p:cNvPr>
          <p:cNvGrpSpPr/>
          <p:nvPr/>
        </p:nvGrpSpPr>
        <p:grpSpPr>
          <a:xfrm>
            <a:off x="7439423" y="2193289"/>
            <a:ext cx="3994970" cy="3132973"/>
            <a:chOff x="7794253" y="2108185"/>
            <a:chExt cx="3382438" cy="2630725"/>
          </a:xfrm>
        </p:grpSpPr>
        <p:grpSp>
          <p:nvGrpSpPr>
            <p:cNvPr id="25" name="Group 24">
              <a:extLst>
                <a:ext uri="{FF2B5EF4-FFF2-40B4-BE49-F238E27FC236}">
                  <a16:creationId xmlns:a16="http://schemas.microsoft.com/office/drawing/2014/main" id="{23AC30EC-BBB3-2663-3F4F-758AE18CED30}"/>
                </a:ext>
              </a:extLst>
            </p:cNvPr>
            <p:cNvGrpSpPr/>
            <p:nvPr/>
          </p:nvGrpSpPr>
          <p:grpSpPr>
            <a:xfrm>
              <a:off x="7794253" y="2490070"/>
              <a:ext cx="3144948" cy="2248840"/>
              <a:chOff x="7568916" y="2786675"/>
              <a:chExt cx="2451227" cy="1620415"/>
            </a:xfrm>
          </p:grpSpPr>
          <p:sp>
            <p:nvSpPr>
              <p:cNvPr id="5" name="Rectangle 4">
                <a:extLst>
                  <a:ext uri="{FF2B5EF4-FFF2-40B4-BE49-F238E27FC236}">
                    <a16:creationId xmlns:a16="http://schemas.microsoft.com/office/drawing/2014/main" id="{79910509-03AE-85F2-D64E-AA88060E0794}"/>
                  </a:ext>
                </a:extLst>
              </p:cNvPr>
              <p:cNvSpPr/>
              <p:nvPr/>
            </p:nvSpPr>
            <p:spPr>
              <a:xfrm>
                <a:off x="7568916" y="2786675"/>
                <a:ext cx="2451227" cy="1596096"/>
              </a:xfrm>
              <a:prstGeom prst="rect">
                <a:avLst/>
              </a:prstGeom>
              <a:solidFill>
                <a:srgbClr val="FFFFCC">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actus with solid fill">
                <a:extLst>
                  <a:ext uri="{FF2B5EF4-FFF2-40B4-BE49-F238E27FC236}">
                    <a16:creationId xmlns:a16="http://schemas.microsoft.com/office/drawing/2014/main" id="{F9F60816-54F9-2D0B-C23E-95721BC328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7605997" y="2825403"/>
                <a:ext cx="465622" cy="322748"/>
              </a:xfrm>
              <a:prstGeom prst="rect">
                <a:avLst/>
              </a:prstGeom>
            </p:spPr>
          </p:pic>
          <p:pic>
            <p:nvPicPr>
              <p:cNvPr id="11" name="Graphic 10" descr="Flower without stem with solid fill">
                <a:extLst>
                  <a:ext uri="{FF2B5EF4-FFF2-40B4-BE49-F238E27FC236}">
                    <a16:creationId xmlns:a16="http://schemas.microsoft.com/office/drawing/2014/main" id="{8897F91E-3895-5799-0475-B048A091DA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5997" y="2833479"/>
                <a:ext cx="381420" cy="381420"/>
              </a:xfrm>
              <a:prstGeom prst="rect">
                <a:avLst/>
              </a:prstGeom>
            </p:spPr>
          </p:pic>
          <p:pic>
            <p:nvPicPr>
              <p:cNvPr id="15" name="Graphic 14" descr="Flower without stem with solid fill">
                <a:extLst>
                  <a:ext uri="{FF2B5EF4-FFF2-40B4-BE49-F238E27FC236}">
                    <a16:creationId xmlns:a16="http://schemas.microsoft.com/office/drawing/2014/main" id="{E0CD617C-53DF-A4C1-A459-C5452BE202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576" y="4025670"/>
                <a:ext cx="381420" cy="381420"/>
              </a:xfrm>
              <a:prstGeom prst="rect">
                <a:avLst/>
              </a:prstGeom>
            </p:spPr>
          </p:pic>
          <p:pic>
            <p:nvPicPr>
              <p:cNvPr id="17" name="Graphic 16" descr="Flower without stem with solid fill">
                <a:extLst>
                  <a:ext uri="{FF2B5EF4-FFF2-40B4-BE49-F238E27FC236}">
                    <a16:creationId xmlns:a16="http://schemas.microsoft.com/office/drawing/2014/main" id="{8E76C5CE-E8B6-9A5B-AFE3-8F9EB6ABEF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09751" y="3893632"/>
                <a:ext cx="381420" cy="381420"/>
              </a:xfrm>
              <a:prstGeom prst="rect">
                <a:avLst/>
              </a:prstGeom>
            </p:spPr>
          </p:pic>
          <p:pic>
            <p:nvPicPr>
              <p:cNvPr id="21" name="Graphic 20" descr="Cactus with solid fill">
                <a:extLst>
                  <a:ext uri="{FF2B5EF4-FFF2-40B4-BE49-F238E27FC236}">
                    <a16:creationId xmlns:a16="http://schemas.microsoft.com/office/drawing/2014/main" id="{C92335D5-80B2-B7A3-9291-0A75E66687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9536372" y="3730524"/>
                <a:ext cx="465622" cy="322748"/>
              </a:xfrm>
              <a:prstGeom prst="rect">
                <a:avLst/>
              </a:prstGeom>
            </p:spPr>
          </p:pic>
          <p:pic>
            <p:nvPicPr>
              <p:cNvPr id="24" name="Graphic 23" descr="Cactus with solid fill">
                <a:extLst>
                  <a:ext uri="{FF2B5EF4-FFF2-40B4-BE49-F238E27FC236}">
                    <a16:creationId xmlns:a16="http://schemas.microsoft.com/office/drawing/2014/main" id="{696FE428-F8F9-3B9F-9519-25436B83A6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9344805" y="2948690"/>
                <a:ext cx="465622" cy="322748"/>
              </a:xfrm>
              <a:prstGeom prst="rect">
                <a:avLst/>
              </a:prstGeom>
            </p:spPr>
          </p:pic>
        </p:grpSp>
        <p:cxnSp>
          <p:nvCxnSpPr>
            <p:cNvPr id="30" name="Straight Arrow Connector 29">
              <a:extLst>
                <a:ext uri="{FF2B5EF4-FFF2-40B4-BE49-F238E27FC236}">
                  <a16:creationId xmlns:a16="http://schemas.microsoft.com/office/drawing/2014/main" id="{6DBE77CE-5E27-5DB2-32FB-D4C0D09381AD}"/>
                </a:ext>
              </a:extLst>
            </p:cNvPr>
            <p:cNvCxnSpPr>
              <a:cxnSpLocks/>
            </p:cNvCxnSpPr>
            <p:nvPr/>
          </p:nvCxnSpPr>
          <p:spPr>
            <a:xfrm flipV="1">
              <a:off x="7794253" y="2108185"/>
              <a:ext cx="0" cy="2630725"/>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2EA0960-88F4-79F3-7268-6ED753CBA315}"/>
                </a:ext>
              </a:extLst>
            </p:cNvPr>
            <p:cNvCxnSpPr>
              <a:cxnSpLocks/>
            </p:cNvCxnSpPr>
            <p:nvPr/>
          </p:nvCxnSpPr>
          <p:spPr>
            <a:xfrm>
              <a:off x="7794253" y="4712767"/>
              <a:ext cx="3382438" cy="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626402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F014F-3B49-8EA3-702B-176F51494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E0572-3CE9-3B8E-2F46-4BF567E7B6C0}"/>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grpSp>
        <p:nvGrpSpPr>
          <p:cNvPr id="6" name="Group 5">
            <a:extLst>
              <a:ext uri="{FF2B5EF4-FFF2-40B4-BE49-F238E27FC236}">
                <a16:creationId xmlns:a16="http://schemas.microsoft.com/office/drawing/2014/main" id="{B2AFC29B-75EE-6D6A-DFC2-0631CF616C76}"/>
              </a:ext>
            </a:extLst>
          </p:cNvPr>
          <p:cNvGrpSpPr/>
          <p:nvPr/>
        </p:nvGrpSpPr>
        <p:grpSpPr>
          <a:xfrm>
            <a:off x="592569" y="2108185"/>
            <a:ext cx="4515398" cy="3302031"/>
            <a:chOff x="592569" y="2108185"/>
            <a:chExt cx="4515398" cy="3302031"/>
          </a:xfrm>
        </p:grpSpPr>
        <p:cxnSp>
          <p:nvCxnSpPr>
            <p:cNvPr id="23" name="Straight Connector 22">
              <a:extLst>
                <a:ext uri="{FF2B5EF4-FFF2-40B4-BE49-F238E27FC236}">
                  <a16:creationId xmlns:a16="http://schemas.microsoft.com/office/drawing/2014/main" id="{448876DD-92BE-DF49-9D0F-F5E8E8842069}"/>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B555B2A-FB13-6241-A875-24F8EEE4CA2E}"/>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49C58AA-A6F1-354D-1B87-B405002BC17E}"/>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AFB94623-ADCA-B60D-EA8A-537990CEBF90}"/>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56" name="TextBox 155">
              <a:extLst>
                <a:ext uri="{FF2B5EF4-FFF2-40B4-BE49-F238E27FC236}">
                  <a16:creationId xmlns:a16="http://schemas.microsoft.com/office/drawing/2014/main" id="{EE9BC7DC-EA61-5313-3FBB-D36A54A6017A}"/>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58" name="TextBox 157">
              <a:extLst>
                <a:ext uri="{FF2B5EF4-FFF2-40B4-BE49-F238E27FC236}">
                  <a16:creationId xmlns:a16="http://schemas.microsoft.com/office/drawing/2014/main" id="{6B78DCB1-DB0B-E501-23E0-59AE4CD8F9D2}"/>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209" name="Graphic 208" descr="Cactus with solid fill">
              <a:extLst>
                <a:ext uri="{FF2B5EF4-FFF2-40B4-BE49-F238E27FC236}">
                  <a16:creationId xmlns:a16="http://schemas.microsoft.com/office/drawing/2014/main" id="{EA931463-1F0C-547C-53D5-1074BB2649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211" name="Graphic 210" descr="Flower without stem with solid fill">
              <a:extLst>
                <a:ext uri="{FF2B5EF4-FFF2-40B4-BE49-F238E27FC236}">
                  <a16:creationId xmlns:a16="http://schemas.microsoft.com/office/drawing/2014/main" id="{33A7CC32-A142-8B22-7701-48D522C60C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213" name="Graphic 212" descr="Flower without stem with solid fill">
              <a:extLst>
                <a:ext uri="{FF2B5EF4-FFF2-40B4-BE49-F238E27FC236}">
                  <a16:creationId xmlns:a16="http://schemas.microsoft.com/office/drawing/2014/main" id="{71B708F1-AB1D-387E-6372-070C4884C8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215" name="Graphic 214" descr="Cactus with solid fill">
              <a:extLst>
                <a:ext uri="{FF2B5EF4-FFF2-40B4-BE49-F238E27FC236}">
                  <a16:creationId xmlns:a16="http://schemas.microsoft.com/office/drawing/2014/main" id="{F38BE06E-2CEB-3508-F3FF-6BE2F9797A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217" name="Graphic 216" descr="Flower without stem with solid fill">
              <a:extLst>
                <a:ext uri="{FF2B5EF4-FFF2-40B4-BE49-F238E27FC236}">
                  <a16:creationId xmlns:a16="http://schemas.microsoft.com/office/drawing/2014/main" id="{053B9E36-DE1D-04F8-0ED6-8E54DC3C38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221" name="Graphic 220" descr="Cactus with solid fill">
              <a:extLst>
                <a:ext uri="{FF2B5EF4-FFF2-40B4-BE49-F238E27FC236}">
                  <a16:creationId xmlns:a16="http://schemas.microsoft.com/office/drawing/2014/main" id="{38CFD1FB-FCB8-D509-3E7D-65D01749A2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3" name="Rectangle 2">
              <a:extLst>
                <a:ext uri="{FF2B5EF4-FFF2-40B4-BE49-F238E27FC236}">
                  <a16:creationId xmlns:a16="http://schemas.microsoft.com/office/drawing/2014/main" id="{4E243BB9-C287-299D-7EB5-A897621494CC}"/>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DAC95283-3648-2B83-32C5-927691E41958}"/>
              </a:ext>
            </a:extLst>
          </p:cNvPr>
          <p:cNvGrpSpPr/>
          <p:nvPr/>
        </p:nvGrpSpPr>
        <p:grpSpPr>
          <a:xfrm>
            <a:off x="7794253" y="2443838"/>
            <a:ext cx="3382438" cy="2630725"/>
            <a:chOff x="7794253" y="2108185"/>
            <a:chExt cx="3382438" cy="2630725"/>
          </a:xfrm>
        </p:grpSpPr>
        <p:sp>
          <p:nvSpPr>
            <p:cNvPr id="5" name="Rectangle 4">
              <a:extLst>
                <a:ext uri="{FF2B5EF4-FFF2-40B4-BE49-F238E27FC236}">
                  <a16:creationId xmlns:a16="http://schemas.microsoft.com/office/drawing/2014/main" id="{DC6E385C-DD90-B9D9-7584-B4EA4D777362}"/>
                </a:ext>
              </a:extLst>
            </p:cNvPr>
            <p:cNvSpPr/>
            <p:nvPr/>
          </p:nvSpPr>
          <p:spPr>
            <a:xfrm>
              <a:off x="7794253" y="2490070"/>
              <a:ext cx="3144948" cy="2215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actus with solid fill">
              <a:extLst>
                <a:ext uri="{FF2B5EF4-FFF2-40B4-BE49-F238E27FC236}">
                  <a16:creationId xmlns:a16="http://schemas.microsoft.com/office/drawing/2014/main" id="{FEE503BF-3528-1D1F-36F6-5DE3C2A1CC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7841828" y="2543817"/>
              <a:ext cx="597398" cy="447915"/>
            </a:xfrm>
            <a:prstGeom prst="rect">
              <a:avLst/>
            </a:prstGeom>
          </p:spPr>
        </p:pic>
        <p:pic>
          <p:nvPicPr>
            <p:cNvPr id="11" name="Graphic 10" descr="Flower without stem with solid fill">
              <a:extLst>
                <a:ext uri="{FF2B5EF4-FFF2-40B4-BE49-F238E27FC236}">
                  <a16:creationId xmlns:a16="http://schemas.microsoft.com/office/drawing/2014/main" id="{23E16758-4500-480E-9EAA-9AA49EC35B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1828" y="2555025"/>
              <a:ext cx="489366" cy="529341"/>
            </a:xfrm>
            <a:prstGeom prst="rect">
              <a:avLst/>
            </a:prstGeom>
          </p:spPr>
        </p:pic>
        <p:pic>
          <p:nvPicPr>
            <p:cNvPr id="15" name="Graphic 14" descr="Flower without stem with solid fill">
              <a:extLst>
                <a:ext uri="{FF2B5EF4-FFF2-40B4-BE49-F238E27FC236}">
                  <a16:creationId xmlns:a16="http://schemas.microsoft.com/office/drawing/2014/main" id="{86C807A9-2D2D-504F-0651-039108EDF5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2905" y="4209569"/>
              <a:ext cx="489366" cy="529341"/>
            </a:xfrm>
            <a:prstGeom prst="rect">
              <a:avLst/>
            </a:prstGeom>
          </p:spPr>
        </p:pic>
        <p:pic>
          <p:nvPicPr>
            <p:cNvPr id="17" name="Graphic 16" descr="Flower without stem with solid fill">
              <a:extLst>
                <a:ext uri="{FF2B5EF4-FFF2-40B4-BE49-F238E27FC236}">
                  <a16:creationId xmlns:a16="http://schemas.microsoft.com/office/drawing/2014/main" id="{6C346AA2-EE02-85A1-E838-B16991A1A7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6256" y="4026324"/>
              <a:ext cx="489366" cy="529341"/>
            </a:xfrm>
            <a:prstGeom prst="rect">
              <a:avLst/>
            </a:prstGeom>
          </p:spPr>
        </p:pic>
        <p:pic>
          <p:nvPicPr>
            <p:cNvPr id="21" name="Graphic 20" descr="Cactus with solid fill">
              <a:extLst>
                <a:ext uri="{FF2B5EF4-FFF2-40B4-BE49-F238E27FC236}">
                  <a16:creationId xmlns:a16="http://schemas.microsoft.com/office/drawing/2014/main" id="{DC672A53-7926-38D4-4BB9-6CADF90920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318518" y="3799960"/>
              <a:ext cx="597398" cy="447915"/>
            </a:xfrm>
            <a:prstGeom prst="rect">
              <a:avLst/>
            </a:prstGeom>
          </p:spPr>
        </p:pic>
        <p:pic>
          <p:nvPicPr>
            <p:cNvPr id="24" name="Graphic 23" descr="Cactus with solid fill">
              <a:extLst>
                <a:ext uri="{FF2B5EF4-FFF2-40B4-BE49-F238E27FC236}">
                  <a16:creationId xmlns:a16="http://schemas.microsoft.com/office/drawing/2014/main" id="{97998C79-79F6-C520-1157-6DCBB5060F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072736" y="2714917"/>
              <a:ext cx="597398" cy="447915"/>
            </a:xfrm>
            <a:prstGeom prst="rect">
              <a:avLst/>
            </a:prstGeom>
          </p:spPr>
        </p:pic>
        <p:cxnSp>
          <p:nvCxnSpPr>
            <p:cNvPr id="30" name="Straight Arrow Connector 29">
              <a:extLst>
                <a:ext uri="{FF2B5EF4-FFF2-40B4-BE49-F238E27FC236}">
                  <a16:creationId xmlns:a16="http://schemas.microsoft.com/office/drawing/2014/main" id="{46DD948B-08E5-7DB3-A972-21DA3532C970}"/>
                </a:ext>
              </a:extLst>
            </p:cNvPr>
            <p:cNvCxnSpPr/>
            <p:nvPr/>
          </p:nvCxnSpPr>
          <p:spPr>
            <a:xfrm flipV="1">
              <a:off x="7794253" y="2108185"/>
              <a:ext cx="0" cy="2630725"/>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7EF4AF80-82F3-75F4-C2A9-287389EFE71A}"/>
                </a:ext>
              </a:extLst>
            </p:cNvPr>
            <p:cNvCxnSpPr>
              <a:cxnSpLocks/>
            </p:cNvCxnSpPr>
            <p:nvPr/>
          </p:nvCxnSpPr>
          <p:spPr>
            <a:xfrm>
              <a:off x="7794253" y="4712767"/>
              <a:ext cx="3382438" cy="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380E1203-C629-3BBC-C498-CFB92EDFA81A}"/>
              </a:ext>
            </a:extLst>
          </p:cNvPr>
          <p:cNvSpPr txBox="1"/>
          <p:nvPr/>
        </p:nvSpPr>
        <p:spPr>
          <a:xfrm>
            <a:off x="8017523" y="5273368"/>
            <a:ext cx="2737465" cy="369332"/>
          </a:xfrm>
          <a:prstGeom prst="rect">
            <a:avLst/>
          </a:prstGeom>
          <a:noFill/>
        </p:spPr>
        <p:txBody>
          <a:bodyPr wrap="square" rtlCol="0">
            <a:spAutoFit/>
          </a:bodyPr>
          <a:lstStyle/>
          <a:p>
            <a:r>
              <a:rPr lang="en-US" b="1" dirty="0"/>
              <a:t>Principal Component 1</a:t>
            </a:r>
          </a:p>
        </p:txBody>
      </p:sp>
      <p:sp>
        <p:nvSpPr>
          <p:cNvPr id="10" name="TextBox 9">
            <a:extLst>
              <a:ext uri="{FF2B5EF4-FFF2-40B4-BE49-F238E27FC236}">
                <a16:creationId xmlns:a16="http://schemas.microsoft.com/office/drawing/2014/main" id="{E0B346C4-F8DB-E388-3681-81E3F206FF2B}"/>
              </a:ext>
            </a:extLst>
          </p:cNvPr>
          <p:cNvSpPr txBox="1"/>
          <p:nvPr/>
        </p:nvSpPr>
        <p:spPr>
          <a:xfrm rot="16200000">
            <a:off x="6017717" y="3499616"/>
            <a:ext cx="2737465" cy="369332"/>
          </a:xfrm>
          <a:prstGeom prst="rect">
            <a:avLst/>
          </a:prstGeom>
          <a:noFill/>
        </p:spPr>
        <p:txBody>
          <a:bodyPr wrap="square" rtlCol="0">
            <a:spAutoFit/>
          </a:bodyPr>
          <a:lstStyle/>
          <a:p>
            <a:r>
              <a:rPr lang="en-US" b="1" dirty="0"/>
              <a:t>Principal Component 2</a:t>
            </a:r>
          </a:p>
        </p:txBody>
      </p:sp>
      <p:sp>
        <p:nvSpPr>
          <p:cNvPr id="16" name="TextBox 15">
            <a:extLst>
              <a:ext uri="{FF2B5EF4-FFF2-40B4-BE49-F238E27FC236}">
                <a16:creationId xmlns:a16="http://schemas.microsoft.com/office/drawing/2014/main" id="{8DFF66C0-9765-2341-1E93-7D97D11DED53}"/>
              </a:ext>
            </a:extLst>
          </p:cNvPr>
          <p:cNvSpPr txBox="1"/>
          <p:nvPr/>
        </p:nvSpPr>
        <p:spPr>
          <a:xfrm>
            <a:off x="319144" y="6070859"/>
            <a:ext cx="11553712" cy="461665"/>
          </a:xfrm>
          <a:prstGeom prst="rect">
            <a:avLst/>
          </a:prstGeom>
          <a:noFill/>
        </p:spPr>
        <p:txBody>
          <a:bodyPr wrap="square">
            <a:spAutoFit/>
          </a:bodyPr>
          <a:lstStyle/>
          <a:p>
            <a:pPr algn="ctr"/>
            <a:r>
              <a:rPr lang="en-US" sz="2400" dirty="0"/>
              <a:t>Transforms data into new set of variables, called </a:t>
            </a:r>
            <a:r>
              <a:rPr lang="en-US" sz="2400" b="1" dirty="0">
                <a:solidFill>
                  <a:srgbClr val="0070C0"/>
                </a:solidFill>
              </a:rPr>
              <a:t>Principal Components (PCs)</a:t>
            </a:r>
            <a:endParaRPr lang="en-US" sz="2400" dirty="0">
              <a:solidFill>
                <a:srgbClr val="0070C0"/>
              </a:solidFill>
            </a:endParaRPr>
          </a:p>
        </p:txBody>
      </p:sp>
      <p:sp>
        <p:nvSpPr>
          <p:cNvPr id="19" name="Arrow: Down 18">
            <a:extLst>
              <a:ext uri="{FF2B5EF4-FFF2-40B4-BE49-F238E27FC236}">
                <a16:creationId xmlns:a16="http://schemas.microsoft.com/office/drawing/2014/main" id="{CE399D9C-8AC7-76E5-66A4-D94D79DF30AC}"/>
              </a:ext>
            </a:extLst>
          </p:cNvPr>
          <p:cNvSpPr/>
          <p:nvPr/>
        </p:nvSpPr>
        <p:spPr>
          <a:xfrm rot="16200000">
            <a:off x="5808435" y="3374774"/>
            <a:ext cx="657720" cy="43566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2654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BA1FC-A875-853B-6AEB-807E6AE12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206A4-1B4D-C040-4EFF-33378A57F306}"/>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grpSp>
        <p:nvGrpSpPr>
          <p:cNvPr id="6" name="Group 5">
            <a:extLst>
              <a:ext uri="{FF2B5EF4-FFF2-40B4-BE49-F238E27FC236}">
                <a16:creationId xmlns:a16="http://schemas.microsoft.com/office/drawing/2014/main" id="{0EF45780-6B8B-AB8A-D5AE-0C6735397020}"/>
              </a:ext>
            </a:extLst>
          </p:cNvPr>
          <p:cNvGrpSpPr/>
          <p:nvPr/>
        </p:nvGrpSpPr>
        <p:grpSpPr>
          <a:xfrm>
            <a:off x="4187516" y="1929683"/>
            <a:ext cx="4515398" cy="3302031"/>
            <a:chOff x="592569" y="2108185"/>
            <a:chExt cx="4515398" cy="3302031"/>
          </a:xfrm>
        </p:grpSpPr>
        <p:cxnSp>
          <p:nvCxnSpPr>
            <p:cNvPr id="23" name="Straight Connector 22">
              <a:extLst>
                <a:ext uri="{FF2B5EF4-FFF2-40B4-BE49-F238E27FC236}">
                  <a16:creationId xmlns:a16="http://schemas.microsoft.com/office/drawing/2014/main" id="{97739267-7517-AEF5-5BA5-A561DAA45968}"/>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67ADC8F-BA65-E627-3CF5-76AA0A15696D}"/>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A1BD265-B1CA-5FDB-0D61-CA2FD3DA9CC7}"/>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8FF1A2FF-4CB3-3C2D-8FB5-E52AE92DFB35}"/>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56" name="TextBox 155">
              <a:extLst>
                <a:ext uri="{FF2B5EF4-FFF2-40B4-BE49-F238E27FC236}">
                  <a16:creationId xmlns:a16="http://schemas.microsoft.com/office/drawing/2014/main" id="{07323FC4-53D8-9BE1-1406-0B5016E77BAA}"/>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58" name="TextBox 157">
              <a:extLst>
                <a:ext uri="{FF2B5EF4-FFF2-40B4-BE49-F238E27FC236}">
                  <a16:creationId xmlns:a16="http://schemas.microsoft.com/office/drawing/2014/main" id="{947897E6-700B-175A-BEDF-73345B7BEB05}"/>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209" name="Graphic 208" descr="Cactus with solid fill">
              <a:extLst>
                <a:ext uri="{FF2B5EF4-FFF2-40B4-BE49-F238E27FC236}">
                  <a16:creationId xmlns:a16="http://schemas.microsoft.com/office/drawing/2014/main" id="{53EC9FF3-4E72-0ED7-3313-042387042C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211" name="Graphic 210" descr="Flower without stem with solid fill">
              <a:extLst>
                <a:ext uri="{FF2B5EF4-FFF2-40B4-BE49-F238E27FC236}">
                  <a16:creationId xmlns:a16="http://schemas.microsoft.com/office/drawing/2014/main" id="{9132AE5C-636D-A94C-6E08-F5CB01B7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213" name="Graphic 212" descr="Flower without stem with solid fill">
              <a:extLst>
                <a:ext uri="{FF2B5EF4-FFF2-40B4-BE49-F238E27FC236}">
                  <a16:creationId xmlns:a16="http://schemas.microsoft.com/office/drawing/2014/main" id="{983B039A-D726-8B5C-0C4D-968BDD014F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215" name="Graphic 214" descr="Cactus with solid fill">
              <a:extLst>
                <a:ext uri="{FF2B5EF4-FFF2-40B4-BE49-F238E27FC236}">
                  <a16:creationId xmlns:a16="http://schemas.microsoft.com/office/drawing/2014/main" id="{5BB905F1-3171-65BC-316A-5D8DB9BA39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217" name="Graphic 216" descr="Flower without stem with solid fill">
              <a:extLst>
                <a:ext uri="{FF2B5EF4-FFF2-40B4-BE49-F238E27FC236}">
                  <a16:creationId xmlns:a16="http://schemas.microsoft.com/office/drawing/2014/main" id="{EC282898-F48C-803E-E45C-0AD40FB55F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221" name="Graphic 220" descr="Cactus with solid fill">
              <a:extLst>
                <a:ext uri="{FF2B5EF4-FFF2-40B4-BE49-F238E27FC236}">
                  <a16:creationId xmlns:a16="http://schemas.microsoft.com/office/drawing/2014/main" id="{DE8D0F39-41E2-D89A-7315-D54390625F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3" name="Rectangle 2">
              <a:extLst>
                <a:ext uri="{FF2B5EF4-FFF2-40B4-BE49-F238E27FC236}">
                  <a16:creationId xmlns:a16="http://schemas.microsoft.com/office/drawing/2014/main" id="{18EC86C5-8753-EE99-53B4-D5811B2D000D}"/>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ABB2CAD5-BC17-6146-D61F-B65736D85ED0}"/>
              </a:ext>
            </a:extLst>
          </p:cNvPr>
          <p:cNvSpPr txBox="1"/>
          <p:nvPr/>
        </p:nvSpPr>
        <p:spPr>
          <a:xfrm>
            <a:off x="319144" y="6070859"/>
            <a:ext cx="11553712" cy="461665"/>
          </a:xfrm>
          <a:prstGeom prst="rect">
            <a:avLst/>
          </a:prstGeom>
          <a:noFill/>
        </p:spPr>
        <p:txBody>
          <a:bodyPr wrap="square">
            <a:spAutoFit/>
          </a:bodyPr>
          <a:lstStyle/>
          <a:p>
            <a:pPr algn="ctr"/>
            <a:r>
              <a:rPr lang="en-US" sz="2400" b="1" dirty="0">
                <a:solidFill>
                  <a:srgbClr val="0070C0"/>
                </a:solidFill>
              </a:rPr>
              <a:t>Loading: </a:t>
            </a:r>
            <a:r>
              <a:rPr lang="en-US" sz="2400" dirty="0"/>
              <a:t>How much of each original variable contributes to a Principal Component</a:t>
            </a:r>
          </a:p>
        </p:txBody>
      </p:sp>
    </p:spTree>
    <p:extLst>
      <p:ext uri="{BB962C8B-B14F-4D97-AF65-F5344CB8AC3E}">
        <p14:creationId xmlns:p14="http://schemas.microsoft.com/office/powerpoint/2010/main" val="36740243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C1AF2-E0B9-8595-D664-55990C073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EDEA4-F4C9-C8B8-FDBA-145D3482F650}"/>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sp>
        <p:nvSpPr>
          <p:cNvPr id="12" name="TextBox 11">
            <a:extLst>
              <a:ext uri="{FF2B5EF4-FFF2-40B4-BE49-F238E27FC236}">
                <a16:creationId xmlns:a16="http://schemas.microsoft.com/office/drawing/2014/main" id="{A012B9C9-EEFD-3B40-4489-FE1C1EB0E178}"/>
              </a:ext>
            </a:extLst>
          </p:cNvPr>
          <p:cNvSpPr txBox="1"/>
          <p:nvPr/>
        </p:nvSpPr>
        <p:spPr>
          <a:xfrm>
            <a:off x="209266" y="6149582"/>
            <a:ext cx="11872856" cy="461665"/>
          </a:xfrm>
          <a:prstGeom prst="rect">
            <a:avLst/>
          </a:prstGeom>
          <a:noFill/>
        </p:spPr>
        <p:txBody>
          <a:bodyPr wrap="square">
            <a:spAutoFit/>
          </a:bodyPr>
          <a:lstStyle/>
          <a:p>
            <a:pPr algn="ctr"/>
            <a:r>
              <a:rPr lang="en-US" sz="2400" b="1" dirty="0">
                <a:solidFill>
                  <a:srgbClr val="0070C0"/>
                </a:solidFill>
              </a:rPr>
              <a:t>Loading: </a:t>
            </a:r>
            <a:r>
              <a:rPr lang="en-US" sz="2400" dirty="0"/>
              <a:t>How much of each original variable contributes to a Principal Component (PC)</a:t>
            </a:r>
          </a:p>
        </p:txBody>
      </p:sp>
      <p:grpSp>
        <p:nvGrpSpPr>
          <p:cNvPr id="27" name="Group 26">
            <a:extLst>
              <a:ext uri="{FF2B5EF4-FFF2-40B4-BE49-F238E27FC236}">
                <a16:creationId xmlns:a16="http://schemas.microsoft.com/office/drawing/2014/main" id="{CEDB89AA-183F-415A-AAED-7EAAAA115EC6}"/>
              </a:ext>
            </a:extLst>
          </p:cNvPr>
          <p:cNvGrpSpPr/>
          <p:nvPr/>
        </p:nvGrpSpPr>
        <p:grpSpPr>
          <a:xfrm>
            <a:off x="4187516" y="1929683"/>
            <a:ext cx="4515398" cy="3302031"/>
            <a:chOff x="592569" y="2108185"/>
            <a:chExt cx="4515398" cy="3302031"/>
          </a:xfrm>
        </p:grpSpPr>
        <p:cxnSp>
          <p:nvCxnSpPr>
            <p:cNvPr id="28" name="Straight Connector 27">
              <a:extLst>
                <a:ext uri="{FF2B5EF4-FFF2-40B4-BE49-F238E27FC236}">
                  <a16:creationId xmlns:a16="http://schemas.microsoft.com/office/drawing/2014/main" id="{087E61FC-7175-1378-6CDF-2E88FBA3EC6B}"/>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C55ACDB6-147F-B560-2CAC-8B4C24289EB5}"/>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6D49EBE-96A3-95F4-30FC-A7BC3E431C3A}"/>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6CA8AFA-FD66-44DD-5167-6FAC6D9908C7}"/>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34" name="TextBox 33">
              <a:extLst>
                <a:ext uri="{FF2B5EF4-FFF2-40B4-BE49-F238E27FC236}">
                  <a16:creationId xmlns:a16="http://schemas.microsoft.com/office/drawing/2014/main" id="{D0923208-404B-2C2D-4054-129BCBE8072F}"/>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35" name="TextBox 34">
              <a:extLst>
                <a:ext uri="{FF2B5EF4-FFF2-40B4-BE49-F238E27FC236}">
                  <a16:creationId xmlns:a16="http://schemas.microsoft.com/office/drawing/2014/main" id="{971455B9-50B0-7D3D-510C-E003B4DDD022}"/>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36" name="Graphic 35" descr="Cactus with solid fill">
              <a:extLst>
                <a:ext uri="{FF2B5EF4-FFF2-40B4-BE49-F238E27FC236}">
                  <a16:creationId xmlns:a16="http://schemas.microsoft.com/office/drawing/2014/main" id="{29B811BC-6AF9-9D3A-7976-7228F363BA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37" name="Graphic 36" descr="Flower without stem with solid fill">
              <a:extLst>
                <a:ext uri="{FF2B5EF4-FFF2-40B4-BE49-F238E27FC236}">
                  <a16:creationId xmlns:a16="http://schemas.microsoft.com/office/drawing/2014/main" id="{0172E939-CFEF-0F9C-C6D5-D1B497F454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38" name="Graphic 37" descr="Flower without stem with solid fill">
              <a:extLst>
                <a:ext uri="{FF2B5EF4-FFF2-40B4-BE49-F238E27FC236}">
                  <a16:creationId xmlns:a16="http://schemas.microsoft.com/office/drawing/2014/main" id="{0F4E9B1B-3426-5D35-F6C6-E62A3403D2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39" name="Graphic 38" descr="Cactus with solid fill">
              <a:extLst>
                <a:ext uri="{FF2B5EF4-FFF2-40B4-BE49-F238E27FC236}">
                  <a16:creationId xmlns:a16="http://schemas.microsoft.com/office/drawing/2014/main" id="{3E2763DC-1CE1-7A7C-3D4C-01487119AD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40" name="Graphic 39" descr="Flower without stem with solid fill">
              <a:extLst>
                <a:ext uri="{FF2B5EF4-FFF2-40B4-BE49-F238E27FC236}">
                  <a16:creationId xmlns:a16="http://schemas.microsoft.com/office/drawing/2014/main" id="{93239D16-48D0-E423-EC40-640DE7ACAC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41" name="Graphic 40" descr="Cactus with solid fill">
              <a:extLst>
                <a:ext uri="{FF2B5EF4-FFF2-40B4-BE49-F238E27FC236}">
                  <a16:creationId xmlns:a16="http://schemas.microsoft.com/office/drawing/2014/main" id="{67A0CC8F-3BEC-5153-53F5-A5A44980A9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42" name="Rectangle 41">
              <a:extLst>
                <a:ext uri="{FF2B5EF4-FFF2-40B4-BE49-F238E27FC236}">
                  <a16:creationId xmlns:a16="http://schemas.microsoft.com/office/drawing/2014/main" id="{8F5EA4A1-557C-9558-881A-DA0973A90B2A}"/>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 name="Straight Arrow Connector 44">
            <a:extLst>
              <a:ext uri="{FF2B5EF4-FFF2-40B4-BE49-F238E27FC236}">
                <a16:creationId xmlns:a16="http://schemas.microsoft.com/office/drawing/2014/main" id="{9301627A-787D-B230-ABD5-3C0551AEBC46}"/>
              </a:ext>
            </a:extLst>
          </p:cNvPr>
          <p:cNvCxnSpPr>
            <a:cxnSpLocks/>
          </p:cNvCxnSpPr>
          <p:nvPr/>
        </p:nvCxnSpPr>
        <p:spPr>
          <a:xfrm flipV="1">
            <a:off x="4646836" y="1823152"/>
            <a:ext cx="1883056" cy="949596"/>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020F7941-C694-673E-8C6A-4FE6C2647607}"/>
              </a:ext>
            </a:extLst>
          </p:cNvPr>
          <p:cNvSpPr txBox="1"/>
          <p:nvPr/>
        </p:nvSpPr>
        <p:spPr>
          <a:xfrm rot="20077302">
            <a:off x="6491845" y="1537300"/>
            <a:ext cx="610207" cy="369332"/>
          </a:xfrm>
          <a:prstGeom prst="rect">
            <a:avLst/>
          </a:prstGeom>
          <a:noFill/>
        </p:spPr>
        <p:txBody>
          <a:bodyPr wrap="square" rtlCol="0">
            <a:spAutoFit/>
          </a:bodyPr>
          <a:lstStyle/>
          <a:p>
            <a:r>
              <a:rPr lang="en-US" b="1" dirty="0"/>
              <a:t>PC2</a:t>
            </a:r>
          </a:p>
        </p:txBody>
      </p:sp>
      <p:cxnSp>
        <p:nvCxnSpPr>
          <p:cNvPr id="49" name="Straight Arrow Connector 48">
            <a:extLst>
              <a:ext uri="{FF2B5EF4-FFF2-40B4-BE49-F238E27FC236}">
                <a16:creationId xmlns:a16="http://schemas.microsoft.com/office/drawing/2014/main" id="{5A120CA8-C54D-FA07-C878-BBE48D4094B2}"/>
              </a:ext>
            </a:extLst>
          </p:cNvPr>
          <p:cNvCxnSpPr>
            <a:cxnSpLocks/>
          </p:cNvCxnSpPr>
          <p:nvPr/>
        </p:nvCxnSpPr>
        <p:spPr>
          <a:xfrm>
            <a:off x="4664698" y="2757359"/>
            <a:ext cx="1310875" cy="2653737"/>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1078C4E9-880C-8A53-DE26-5B4B33B13EA8}"/>
              </a:ext>
            </a:extLst>
          </p:cNvPr>
          <p:cNvSpPr txBox="1"/>
          <p:nvPr/>
        </p:nvSpPr>
        <p:spPr>
          <a:xfrm rot="3810374">
            <a:off x="5815630" y="5481510"/>
            <a:ext cx="610207" cy="369332"/>
          </a:xfrm>
          <a:prstGeom prst="rect">
            <a:avLst/>
          </a:prstGeom>
          <a:noFill/>
        </p:spPr>
        <p:txBody>
          <a:bodyPr wrap="square" rtlCol="0">
            <a:spAutoFit/>
          </a:bodyPr>
          <a:lstStyle/>
          <a:p>
            <a:r>
              <a:rPr lang="en-US" b="1" dirty="0"/>
              <a:t>PC1</a:t>
            </a:r>
          </a:p>
        </p:txBody>
      </p:sp>
    </p:spTree>
    <p:extLst>
      <p:ext uri="{BB962C8B-B14F-4D97-AF65-F5344CB8AC3E}">
        <p14:creationId xmlns:p14="http://schemas.microsoft.com/office/powerpoint/2010/main" val="13831129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F5DDE-B7CD-13AE-1089-944FFDF03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1ABA6-F7C9-25A4-3164-6D5C42B406CC}"/>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sp>
        <p:nvSpPr>
          <p:cNvPr id="12" name="TextBox 11">
            <a:extLst>
              <a:ext uri="{FF2B5EF4-FFF2-40B4-BE49-F238E27FC236}">
                <a16:creationId xmlns:a16="http://schemas.microsoft.com/office/drawing/2014/main" id="{3762DDBF-0CDA-683B-178D-0864A5B23C68}"/>
              </a:ext>
            </a:extLst>
          </p:cNvPr>
          <p:cNvSpPr txBox="1"/>
          <p:nvPr/>
        </p:nvSpPr>
        <p:spPr>
          <a:xfrm>
            <a:off x="209266" y="5877834"/>
            <a:ext cx="11872856" cy="461665"/>
          </a:xfrm>
          <a:prstGeom prst="rect">
            <a:avLst/>
          </a:prstGeom>
          <a:noFill/>
        </p:spPr>
        <p:txBody>
          <a:bodyPr wrap="square">
            <a:spAutoFit/>
          </a:bodyPr>
          <a:lstStyle/>
          <a:p>
            <a:pPr algn="ctr"/>
            <a:r>
              <a:rPr lang="en-US" sz="2400" b="1" dirty="0">
                <a:solidFill>
                  <a:srgbClr val="0070C0"/>
                </a:solidFill>
              </a:rPr>
              <a:t>Loading: </a:t>
            </a:r>
            <a:r>
              <a:rPr lang="en-US" sz="2400" dirty="0"/>
              <a:t>How much of each original variable contributes to a Principal Component (PC)</a:t>
            </a:r>
          </a:p>
        </p:txBody>
      </p:sp>
      <p:grpSp>
        <p:nvGrpSpPr>
          <p:cNvPr id="4" name="Group 3">
            <a:extLst>
              <a:ext uri="{FF2B5EF4-FFF2-40B4-BE49-F238E27FC236}">
                <a16:creationId xmlns:a16="http://schemas.microsoft.com/office/drawing/2014/main" id="{16D5BA52-CBAF-7DAC-7948-26B2933FAD9C}"/>
              </a:ext>
            </a:extLst>
          </p:cNvPr>
          <p:cNvGrpSpPr/>
          <p:nvPr/>
        </p:nvGrpSpPr>
        <p:grpSpPr>
          <a:xfrm>
            <a:off x="209266" y="1458690"/>
            <a:ext cx="4057934" cy="4132504"/>
            <a:chOff x="4187516" y="1464531"/>
            <a:chExt cx="4515398" cy="4691632"/>
          </a:xfrm>
        </p:grpSpPr>
        <p:grpSp>
          <p:nvGrpSpPr>
            <p:cNvPr id="3" name="Group 2">
              <a:extLst>
                <a:ext uri="{FF2B5EF4-FFF2-40B4-BE49-F238E27FC236}">
                  <a16:creationId xmlns:a16="http://schemas.microsoft.com/office/drawing/2014/main" id="{801A0F87-C91C-EC91-FF4A-7562CBB6A5AD}"/>
                </a:ext>
              </a:extLst>
            </p:cNvPr>
            <p:cNvGrpSpPr/>
            <p:nvPr/>
          </p:nvGrpSpPr>
          <p:grpSpPr>
            <a:xfrm>
              <a:off x="4187516" y="1464531"/>
              <a:ext cx="4515398" cy="3946565"/>
              <a:chOff x="4187516" y="1464531"/>
              <a:chExt cx="4515398" cy="3946565"/>
            </a:xfrm>
          </p:grpSpPr>
          <p:grpSp>
            <p:nvGrpSpPr>
              <p:cNvPr id="27" name="Group 26">
                <a:extLst>
                  <a:ext uri="{FF2B5EF4-FFF2-40B4-BE49-F238E27FC236}">
                    <a16:creationId xmlns:a16="http://schemas.microsoft.com/office/drawing/2014/main" id="{C7B20787-D524-6EED-827D-A7484123206A}"/>
                  </a:ext>
                </a:extLst>
              </p:cNvPr>
              <p:cNvGrpSpPr/>
              <p:nvPr/>
            </p:nvGrpSpPr>
            <p:grpSpPr>
              <a:xfrm>
                <a:off x="4187516" y="1929683"/>
                <a:ext cx="4515398" cy="3302031"/>
                <a:chOff x="592569" y="2108185"/>
                <a:chExt cx="4515398" cy="3302031"/>
              </a:xfrm>
            </p:grpSpPr>
            <p:cxnSp>
              <p:nvCxnSpPr>
                <p:cNvPr id="28" name="Straight Connector 27">
                  <a:extLst>
                    <a:ext uri="{FF2B5EF4-FFF2-40B4-BE49-F238E27FC236}">
                      <a16:creationId xmlns:a16="http://schemas.microsoft.com/office/drawing/2014/main" id="{6162197B-F449-FF1E-97DB-2F91A2B2BEB5}"/>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F525A26-FC99-E349-1351-F49C1A5DD0ED}"/>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368FCAA-A0B9-BCFE-1A75-21273AE05850}"/>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5E08538F-9388-5B65-AA0A-F07025FE0F99}"/>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34" name="TextBox 33">
                  <a:extLst>
                    <a:ext uri="{FF2B5EF4-FFF2-40B4-BE49-F238E27FC236}">
                      <a16:creationId xmlns:a16="http://schemas.microsoft.com/office/drawing/2014/main" id="{78575E3C-F485-C785-B01E-1D6B4138F88E}"/>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35" name="TextBox 34">
                  <a:extLst>
                    <a:ext uri="{FF2B5EF4-FFF2-40B4-BE49-F238E27FC236}">
                      <a16:creationId xmlns:a16="http://schemas.microsoft.com/office/drawing/2014/main" id="{8F6FAAF6-730E-226F-E2BB-5D964D1AEE3E}"/>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36" name="Graphic 35" descr="Cactus with solid fill">
                  <a:extLst>
                    <a:ext uri="{FF2B5EF4-FFF2-40B4-BE49-F238E27FC236}">
                      <a16:creationId xmlns:a16="http://schemas.microsoft.com/office/drawing/2014/main" id="{5F396DEE-BEDC-188E-A0DC-2A8356B0FE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37" name="Graphic 36" descr="Flower without stem with solid fill">
                  <a:extLst>
                    <a:ext uri="{FF2B5EF4-FFF2-40B4-BE49-F238E27FC236}">
                      <a16:creationId xmlns:a16="http://schemas.microsoft.com/office/drawing/2014/main" id="{F916677F-FD02-C4AA-68B4-C4195EE86E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38" name="Graphic 37" descr="Flower without stem with solid fill">
                  <a:extLst>
                    <a:ext uri="{FF2B5EF4-FFF2-40B4-BE49-F238E27FC236}">
                      <a16:creationId xmlns:a16="http://schemas.microsoft.com/office/drawing/2014/main" id="{E0F63400-7B97-9DF1-AC93-5155AD67E9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39" name="Graphic 38" descr="Cactus with solid fill">
                  <a:extLst>
                    <a:ext uri="{FF2B5EF4-FFF2-40B4-BE49-F238E27FC236}">
                      <a16:creationId xmlns:a16="http://schemas.microsoft.com/office/drawing/2014/main" id="{DCCAEBA5-0C2D-B1BB-3F14-D2BD6B0BF6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40" name="Graphic 39" descr="Flower without stem with solid fill">
                  <a:extLst>
                    <a:ext uri="{FF2B5EF4-FFF2-40B4-BE49-F238E27FC236}">
                      <a16:creationId xmlns:a16="http://schemas.microsoft.com/office/drawing/2014/main" id="{E28CAD2C-7104-04FA-E906-0F6431EB08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41" name="Graphic 40" descr="Cactus with solid fill">
                  <a:extLst>
                    <a:ext uri="{FF2B5EF4-FFF2-40B4-BE49-F238E27FC236}">
                      <a16:creationId xmlns:a16="http://schemas.microsoft.com/office/drawing/2014/main" id="{F585AECA-CF25-34B7-CB94-8F553F1108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42" name="Rectangle 41">
                  <a:extLst>
                    <a:ext uri="{FF2B5EF4-FFF2-40B4-BE49-F238E27FC236}">
                      <a16:creationId xmlns:a16="http://schemas.microsoft.com/office/drawing/2014/main" id="{4E66C63B-3BE0-E02A-177F-E1F7D30166EC}"/>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 name="Straight Arrow Connector 44">
                <a:extLst>
                  <a:ext uri="{FF2B5EF4-FFF2-40B4-BE49-F238E27FC236}">
                    <a16:creationId xmlns:a16="http://schemas.microsoft.com/office/drawing/2014/main" id="{50A8978C-3CEB-105A-3479-6E3DFBA641AF}"/>
                  </a:ext>
                </a:extLst>
              </p:cNvPr>
              <p:cNvCxnSpPr>
                <a:cxnSpLocks/>
              </p:cNvCxnSpPr>
              <p:nvPr/>
            </p:nvCxnSpPr>
            <p:spPr>
              <a:xfrm flipV="1">
                <a:off x="4646836" y="1823152"/>
                <a:ext cx="1883056" cy="949596"/>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0853462E-9B79-9E84-38D6-3DE79788EA1D}"/>
                  </a:ext>
                </a:extLst>
              </p:cNvPr>
              <p:cNvSpPr txBox="1"/>
              <p:nvPr/>
            </p:nvSpPr>
            <p:spPr>
              <a:xfrm rot="20077302">
                <a:off x="6482196" y="1464531"/>
                <a:ext cx="845533" cy="419303"/>
              </a:xfrm>
              <a:prstGeom prst="rect">
                <a:avLst/>
              </a:prstGeom>
              <a:noFill/>
            </p:spPr>
            <p:txBody>
              <a:bodyPr wrap="square" rtlCol="0">
                <a:spAutoFit/>
              </a:bodyPr>
              <a:lstStyle/>
              <a:p>
                <a:r>
                  <a:rPr lang="en-US" b="1" dirty="0"/>
                  <a:t>PC2</a:t>
                </a:r>
              </a:p>
            </p:txBody>
          </p:sp>
          <p:cxnSp>
            <p:nvCxnSpPr>
              <p:cNvPr id="49" name="Straight Arrow Connector 48">
                <a:extLst>
                  <a:ext uri="{FF2B5EF4-FFF2-40B4-BE49-F238E27FC236}">
                    <a16:creationId xmlns:a16="http://schemas.microsoft.com/office/drawing/2014/main" id="{5DB49606-5834-0883-D584-B9458CED6242}"/>
                  </a:ext>
                </a:extLst>
              </p:cNvPr>
              <p:cNvCxnSpPr>
                <a:cxnSpLocks/>
              </p:cNvCxnSpPr>
              <p:nvPr/>
            </p:nvCxnSpPr>
            <p:spPr>
              <a:xfrm>
                <a:off x="4664698" y="2757359"/>
                <a:ext cx="1310875" cy="2653737"/>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57" name="TextBox 56">
              <a:extLst>
                <a:ext uri="{FF2B5EF4-FFF2-40B4-BE49-F238E27FC236}">
                  <a16:creationId xmlns:a16="http://schemas.microsoft.com/office/drawing/2014/main" id="{FA4F4134-D93F-91DF-0DEF-5F3653EC5E2D}"/>
                </a:ext>
              </a:extLst>
            </p:cNvPr>
            <p:cNvSpPr txBox="1"/>
            <p:nvPr/>
          </p:nvSpPr>
          <p:spPr>
            <a:xfrm rot="3810374">
              <a:off x="5700478" y="5567055"/>
              <a:ext cx="767249" cy="410968"/>
            </a:xfrm>
            <a:prstGeom prst="rect">
              <a:avLst/>
            </a:prstGeom>
            <a:noFill/>
          </p:spPr>
          <p:txBody>
            <a:bodyPr wrap="square" rtlCol="0">
              <a:spAutoFit/>
            </a:bodyPr>
            <a:lstStyle/>
            <a:p>
              <a:r>
                <a:rPr lang="en-US" b="1" dirty="0"/>
                <a:t>PC1</a:t>
              </a:r>
            </a:p>
          </p:txBody>
        </p:sp>
      </p:grpSp>
      <p:sp>
        <p:nvSpPr>
          <p:cNvPr id="8" name="TextBox 7">
            <a:extLst>
              <a:ext uri="{FF2B5EF4-FFF2-40B4-BE49-F238E27FC236}">
                <a16:creationId xmlns:a16="http://schemas.microsoft.com/office/drawing/2014/main" id="{9B0AA39F-5739-2555-C89B-845DE70D3154}"/>
              </a:ext>
            </a:extLst>
          </p:cNvPr>
          <p:cNvSpPr txBox="1"/>
          <p:nvPr/>
        </p:nvSpPr>
        <p:spPr>
          <a:xfrm>
            <a:off x="5807787" y="1558424"/>
            <a:ext cx="2058955" cy="584775"/>
          </a:xfrm>
          <a:prstGeom prst="rect">
            <a:avLst/>
          </a:prstGeom>
          <a:noFill/>
        </p:spPr>
        <p:txBody>
          <a:bodyPr wrap="square" rtlCol="0">
            <a:spAutoFit/>
          </a:bodyPr>
          <a:lstStyle/>
          <a:p>
            <a:r>
              <a:rPr lang="en-US" sz="3200" b="1" dirty="0"/>
              <a:t>PC1:</a:t>
            </a:r>
          </a:p>
        </p:txBody>
      </p:sp>
      <p:sp>
        <p:nvSpPr>
          <p:cNvPr id="10" name="TextBox 9">
            <a:extLst>
              <a:ext uri="{FF2B5EF4-FFF2-40B4-BE49-F238E27FC236}">
                <a16:creationId xmlns:a16="http://schemas.microsoft.com/office/drawing/2014/main" id="{1DF9DF76-9E53-73F6-5F4B-BABCF969B294}"/>
              </a:ext>
            </a:extLst>
          </p:cNvPr>
          <p:cNvSpPr txBox="1"/>
          <p:nvPr/>
        </p:nvSpPr>
        <p:spPr>
          <a:xfrm>
            <a:off x="5869435" y="3786960"/>
            <a:ext cx="1188099" cy="584775"/>
          </a:xfrm>
          <a:prstGeom prst="rect">
            <a:avLst/>
          </a:prstGeom>
          <a:noFill/>
        </p:spPr>
        <p:txBody>
          <a:bodyPr wrap="square">
            <a:spAutoFit/>
          </a:bodyPr>
          <a:lstStyle/>
          <a:p>
            <a:r>
              <a:rPr lang="en-US" sz="3200" b="1" dirty="0"/>
              <a:t>PC2:</a:t>
            </a:r>
          </a:p>
        </p:txBody>
      </p:sp>
      <p:sp>
        <p:nvSpPr>
          <p:cNvPr id="13" name="TextBox 12">
            <a:extLst>
              <a:ext uri="{FF2B5EF4-FFF2-40B4-BE49-F238E27FC236}">
                <a16:creationId xmlns:a16="http://schemas.microsoft.com/office/drawing/2014/main" id="{4F0D6AEC-B28B-5668-DC80-C270DBDA645C}"/>
              </a:ext>
            </a:extLst>
          </p:cNvPr>
          <p:cNvSpPr txBox="1"/>
          <p:nvPr/>
        </p:nvSpPr>
        <p:spPr>
          <a:xfrm>
            <a:off x="5807787" y="4285169"/>
            <a:ext cx="4860213" cy="1200329"/>
          </a:xfrm>
          <a:prstGeom prst="rect">
            <a:avLst/>
          </a:prstGeom>
          <a:noFill/>
        </p:spPr>
        <p:txBody>
          <a:bodyPr wrap="square">
            <a:spAutoFit/>
          </a:bodyPr>
          <a:lstStyle/>
          <a:p>
            <a:r>
              <a:rPr lang="en-US" sz="2400" b="1" i="1" dirty="0">
                <a:solidFill>
                  <a:srgbClr val="0070C0"/>
                </a:solidFill>
              </a:rPr>
              <a:t>Variable	Loading</a:t>
            </a:r>
          </a:p>
          <a:p>
            <a:r>
              <a:rPr lang="en-US" sz="2400" i="1" dirty="0"/>
              <a:t>Bioclim3</a:t>
            </a:r>
            <a:r>
              <a:rPr lang="en-US" sz="2400" dirty="0"/>
              <a:t>	2.65567</a:t>
            </a:r>
          </a:p>
          <a:p>
            <a:r>
              <a:rPr lang="en-US" sz="2400" i="1" dirty="0"/>
              <a:t>Bioclim1	2.34566</a:t>
            </a:r>
          </a:p>
        </p:txBody>
      </p:sp>
      <p:sp>
        <p:nvSpPr>
          <p:cNvPr id="15" name="TextBox 14">
            <a:extLst>
              <a:ext uri="{FF2B5EF4-FFF2-40B4-BE49-F238E27FC236}">
                <a16:creationId xmlns:a16="http://schemas.microsoft.com/office/drawing/2014/main" id="{BFE08518-3EDA-37F5-88F9-ADB4A9733B3A}"/>
              </a:ext>
            </a:extLst>
          </p:cNvPr>
          <p:cNvSpPr txBox="1"/>
          <p:nvPr/>
        </p:nvSpPr>
        <p:spPr>
          <a:xfrm>
            <a:off x="5807787" y="2052099"/>
            <a:ext cx="4860213" cy="1569660"/>
          </a:xfrm>
          <a:prstGeom prst="rect">
            <a:avLst/>
          </a:prstGeom>
          <a:noFill/>
        </p:spPr>
        <p:txBody>
          <a:bodyPr wrap="square">
            <a:spAutoFit/>
          </a:bodyPr>
          <a:lstStyle/>
          <a:p>
            <a:r>
              <a:rPr lang="en-US" sz="2400" b="1" i="1" dirty="0">
                <a:solidFill>
                  <a:srgbClr val="0070C0"/>
                </a:solidFill>
              </a:rPr>
              <a:t>Variable	Loading</a:t>
            </a:r>
          </a:p>
          <a:p>
            <a:r>
              <a:rPr lang="en-US" sz="2400" i="1" dirty="0"/>
              <a:t>Bioclim2</a:t>
            </a:r>
            <a:r>
              <a:rPr lang="en-US" sz="2400" dirty="0"/>
              <a:t>	-1.45636</a:t>
            </a:r>
          </a:p>
          <a:p>
            <a:r>
              <a:rPr lang="en-US" sz="2400" i="1" dirty="0"/>
              <a:t>Bioclim1	0.45256</a:t>
            </a:r>
          </a:p>
          <a:p>
            <a:r>
              <a:rPr lang="en-US" sz="2400" i="1" dirty="0"/>
              <a:t>Bioclim3	0.11324</a:t>
            </a:r>
          </a:p>
        </p:txBody>
      </p:sp>
    </p:spTree>
    <p:extLst>
      <p:ext uri="{BB962C8B-B14F-4D97-AF65-F5344CB8AC3E}">
        <p14:creationId xmlns:p14="http://schemas.microsoft.com/office/powerpoint/2010/main" val="12005901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D280D-E8A0-AA70-0970-449903690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95FF1-3A5B-F97C-7C0D-2B1486FCB4F2}"/>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sp>
        <p:nvSpPr>
          <p:cNvPr id="12" name="TextBox 11">
            <a:extLst>
              <a:ext uri="{FF2B5EF4-FFF2-40B4-BE49-F238E27FC236}">
                <a16:creationId xmlns:a16="http://schemas.microsoft.com/office/drawing/2014/main" id="{147B9732-EBA8-A212-9174-A3AA50ED799D}"/>
              </a:ext>
            </a:extLst>
          </p:cNvPr>
          <p:cNvSpPr txBox="1"/>
          <p:nvPr/>
        </p:nvSpPr>
        <p:spPr>
          <a:xfrm>
            <a:off x="209266" y="5407256"/>
            <a:ext cx="11872856" cy="461665"/>
          </a:xfrm>
          <a:prstGeom prst="rect">
            <a:avLst/>
          </a:prstGeom>
          <a:noFill/>
        </p:spPr>
        <p:txBody>
          <a:bodyPr wrap="square">
            <a:spAutoFit/>
          </a:bodyPr>
          <a:lstStyle/>
          <a:p>
            <a:pPr algn="ctr"/>
            <a:r>
              <a:rPr lang="en-US" sz="2400" b="1" dirty="0">
                <a:solidFill>
                  <a:srgbClr val="0070C0"/>
                </a:solidFill>
              </a:rPr>
              <a:t>Loading: </a:t>
            </a:r>
            <a:r>
              <a:rPr lang="en-US" sz="2400" dirty="0"/>
              <a:t>How much of each original variable contributes to a Principal Component (PC)</a:t>
            </a:r>
          </a:p>
        </p:txBody>
      </p:sp>
      <p:grpSp>
        <p:nvGrpSpPr>
          <p:cNvPr id="4" name="Group 3">
            <a:extLst>
              <a:ext uri="{FF2B5EF4-FFF2-40B4-BE49-F238E27FC236}">
                <a16:creationId xmlns:a16="http://schemas.microsoft.com/office/drawing/2014/main" id="{6DDE9C66-DCD4-514D-DE70-AD6AE6199869}"/>
              </a:ext>
            </a:extLst>
          </p:cNvPr>
          <p:cNvGrpSpPr/>
          <p:nvPr/>
        </p:nvGrpSpPr>
        <p:grpSpPr>
          <a:xfrm>
            <a:off x="209266" y="1458690"/>
            <a:ext cx="4057934" cy="4132504"/>
            <a:chOff x="4187516" y="1464531"/>
            <a:chExt cx="4515398" cy="4691632"/>
          </a:xfrm>
        </p:grpSpPr>
        <p:grpSp>
          <p:nvGrpSpPr>
            <p:cNvPr id="3" name="Group 2">
              <a:extLst>
                <a:ext uri="{FF2B5EF4-FFF2-40B4-BE49-F238E27FC236}">
                  <a16:creationId xmlns:a16="http://schemas.microsoft.com/office/drawing/2014/main" id="{2C24FA2C-305B-9059-DC0A-6696A16A2EBC}"/>
                </a:ext>
              </a:extLst>
            </p:cNvPr>
            <p:cNvGrpSpPr/>
            <p:nvPr/>
          </p:nvGrpSpPr>
          <p:grpSpPr>
            <a:xfrm>
              <a:off x="4187516" y="1464531"/>
              <a:ext cx="4515398" cy="3946565"/>
              <a:chOff x="4187516" y="1464531"/>
              <a:chExt cx="4515398" cy="3946565"/>
            </a:xfrm>
          </p:grpSpPr>
          <p:grpSp>
            <p:nvGrpSpPr>
              <p:cNvPr id="27" name="Group 26">
                <a:extLst>
                  <a:ext uri="{FF2B5EF4-FFF2-40B4-BE49-F238E27FC236}">
                    <a16:creationId xmlns:a16="http://schemas.microsoft.com/office/drawing/2014/main" id="{574B7555-B760-F0EC-FF66-D56C9EAAAF3D}"/>
                  </a:ext>
                </a:extLst>
              </p:cNvPr>
              <p:cNvGrpSpPr/>
              <p:nvPr/>
            </p:nvGrpSpPr>
            <p:grpSpPr>
              <a:xfrm>
                <a:off x="4187516" y="1929683"/>
                <a:ext cx="4515398" cy="3302031"/>
                <a:chOff x="592569" y="2108185"/>
                <a:chExt cx="4515398" cy="3302031"/>
              </a:xfrm>
            </p:grpSpPr>
            <p:cxnSp>
              <p:nvCxnSpPr>
                <p:cNvPr id="28" name="Straight Connector 27">
                  <a:extLst>
                    <a:ext uri="{FF2B5EF4-FFF2-40B4-BE49-F238E27FC236}">
                      <a16:creationId xmlns:a16="http://schemas.microsoft.com/office/drawing/2014/main" id="{FA5F2358-0D1E-16D5-EE05-F6B1383F8990}"/>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11AC14A-DD2A-371F-09B9-6E21A6330C95}"/>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DB98C93-25A5-92D5-4879-4C1ABE4FDFBC}"/>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AD976FE-2ECD-DA32-A299-35251BF1DA75}"/>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34" name="TextBox 33">
                  <a:extLst>
                    <a:ext uri="{FF2B5EF4-FFF2-40B4-BE49-F238E27FC236}">
                      <a16:creationId xmlns:a16="http://schemas.microsoft.com/office/drawing/2014/main" id="{BCB5DBE7-0B77-3634-C79E-78D4969769CB}"/>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35" name="TextBox 34">
                  <a:extLst>
                    <a:ext uri="{FF2B5EF4-FFF2-40B4-BE49-F238E27FC236}">
                      <a16:creationId xmlns:a16="http://schemas.microsoft.com/office/drawing/2014/main" id="{C8E579AA-ED5D-F2F9-E293-DA53CA231B2C}"/>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36" name="Graphic 35" descr="Cactus with solid fill">
                  <a:extLst>
                    <a:ext uri="{FF2B5EF4-FFF2-40B4-BE49-F238E27FC236}">
                      <a16:creationId xmlns:a16="http://schemas.microsoft.com/office/drawing/2014/main" id="{19F2BFF0-9DF1-EF75-4147-38C3BDA1D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37" name="Graphic 36" descr="Flower without stem with solid fill">
                  <a:extLst>
                    <a:ext uri="{FF2B5EF4-FFF2-40B4-BE49-F238E27FC236}">
                      <a16:creationId xmlns:a16="http://schemas.microsoft.com/office/drawing/2014/main" id="{06F92707-21B2-0EA7-EEE1-4C40E58041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38" name="Graphic 37" descr="Flower without stem with solid fill">
                  <a:extLst>
                    <a:ext uri="{FF2B5EF4-FFF2-40B4-BE49-F238E27FC236}">
                      <a16:creationId xmlns:a16="http://schemas.microsoft.com/office/drawing/2014/main" id="{EB05925F-D077-750E-B297-B9E819F758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39" name="Graphic 38" descr="Cactus with solid fill">
                  <a:extLst>
                    <a:ext uri="{FF2B5EF4-FFF2-40B4-BE49-F238E27FC236}">
                      <a16:creationId xmlns:a16="http://schemas.microsoft.com/office/drawing/2014/main" id="{2E6C1435-1FD0-FA9C-6FB8-E62128B811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40" name="Graphic 39" descr="Flower without stem with solid fill">
                  <a:extLst>
                    <a:ext uri="{FF2B5EF4-FFF2-40B4-BE49-F238E27FC236}">
                      <a16:creationId xmlns:a16="http://schemas.microsoft.com/office/drawing/2014/main" id="{2D3F5F09-1465-1BB3-2CDD-92536A312F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41" name="Graphic 40" descr="Cactus with solid fill">
                  <a:extLst>
                    <a:ext uri="{FF2B5EF4-FFF2-40B4-BE49-F238E27FC236}">
                      <a16:creationId xmlns:a16="http://schemas.microsoft.com/office/drawing/2014/main" id="{39EB3A12-4AC5-AC3B-92CB-09F1146419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42" name="Rectangle 41">
                  <a:extLst>
                    <a:ext uri="{FF2B5EF4-FFF2-40B4-BE49-F238E27FC236}">
                      <a16:creationId xmlns:a16="http://schemas.microsoft.com/office/drawing/2014/main" id="{4E3ABED9-45D4-E597-1DFB-15C7E9EFCB3D}"/>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5" name="Straight Arrow Connector 44">
                <a:extLst>
                  <a:ext uri="{FF2B5EF4-FFF2-40B4-BE49-F238E27FC236}">
                    <a16:creationId xmlns:a16="http://schemas.microsoft.com/office/drawing/2014/main" id="{0C5ABBC6-48A8-4DD9-5682-2723AFAC8FC3}"/>
                  </a:ext>
                </a:extLst>
              </p:cNvPr>
              <p:cNvCxnSpPr>
                <a:cxnSpLocks/>
              </p:cNvCxnSpPr>
              <p:nvPr/>
            </p:nvCxnSpPr>
            <p:spPr>
              <a:xfrm flipV="1">
                <a:off x="4646836" y="1823152"/>
                <a:ext cx="1883056" cy="949596"/>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2130C1B6-B178-0E72-D232-0FD01F369241}"/>
                  </a:ext>
                </a:extLst>
              </p:cNvPr>
              <p:cNvSpPr txBox="1"/>
              <p:nvPr/>
            </p:nvSpPr>
            <p:spPr>
              <a:xfrm rot="20077302">
                <a:off x="6482196" y="1464531"/>
                <a:ext cx="845533" cy="419303"/>
              </a:xfrm>
              <a:prstGeom prst="rect">
                <a:avLst/>
              </a:prstGeom>
              <a:noFill/>
            </p:spPr>
            <p:txBody>
              <a:bodyPr wrap="square" rtlCol="0">
                <a:spAutoFit/>
              </a:bodyPr>
              <a:lstStyle/>
              <a:p>
                <a:r>
                  <a:rPr lang="en-US" b="1" dirty="0"/>
                  <a:t>PC2</a:t>
                </a:r>
              </a:p>
            </p:txBody>
          </p:sp>
          <p:cxnSp>
            <p:nvCxnSpPr>
              <p:cNvPr id="49" name="Straight Arrow Connector 48">
                <a:extLst>
                  <a:ext uri="{FF2B5EF4-FFF2-40B4-BE49-F238E27FC236}">
                    <a16:creationId xmlns:a16="http://schemas.microsoft.com/office/drawing/2014/main" id="{567A19B6-DE29-08CE-482B-BEE603F77041}"/>
                  </a:ext>
                </a:extLst>
              </p:cNvPr>
              <p:cNvCxnSpPr>
                <a:cxnSpLocks/>
              </p:cNvCxnSpPr>
              <p:nvPr/>
            </p:nvCxnSpPr>
            <p:spPr>
              <a:xfrm>
                <a:off x="4664698" y="2757359"/>
                <a:ext cx="1310875" cy="2653737"/>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57" name="TextBox 56">
              <a:extLst>
                <a:ext uri="{FF2B5EF4-FFF2-40B4-BE49-F238E27FC236}">
                  <a16:creationId xmlns:a16="http://schemas.microsoft.com/office/drawing/2014/main" id="{E89D3EEF-06E5-F068-AC35-8B473155636F}"/>
                </a:ext>
              </a:extLst>
            </p:cNvPr>
            <p:cNvSpPr txBox="1"/>
            <p:nvPr/>
          </p:nvSpPr>
          <p:spPr>
            <a:xfrm rot="3810374">
              <a:off x="5700478" y="5567055"/>
              <a:ext cx="767249" cy="410968"/>
            </a:xfrm>
            <a:prstGeom prst="rect">
              <a:avLst/>
            </a:prstGeom>
            <a:noFill/>
          </p:spPr>
          <p:txBody>
            <a:bodyPr wrap="square" rtlCol="0">
              <a:spAutoFit/>
            </a:bodyPr>
            <a:lstStyle/>
            <a:p>
              <a:r>
                <a:rPr lang="en-US" b="1" dirty="0"/>
                <a:t>PC1</a:t>
              </a:r>
            </a:p>
          </p:txBody>
        </p:sp>
      </p:grpSp>
      <p:sp>
        <p:nvSpPr>
          <p:cNvPr id="6" name="TextBox 5">
            <a:extLst>
              <a:ext uri="{FF2B5EF4-FFF2-40B4-BE49-F238E27FC236}">
                <a16:creationId xmlns:a16="http://schemas.microsoft.com/office/drawing/2014/main" id="{D20DACCD-29A9-2D4C-F423-AA82C29B642C}"/>
              </a:ext>
            </a:extLst>
          </p:cNvPr>
          <p:cNvSpPr txBox="1"/>
          <p:nvPr/>
        </p:nvSpPr>
        <p:spPr>
          <a:xfrm>
            <a:off x="159572" y="6057654"/>
            <a:ext cx="11872856" cy="461665"/>
          </a:xfrm>
          <a:prstGeom prst="rect">
            <a:avLst/>
          </a:prstGeom>
          <a:noFill/>
        </p:spPr>
        <p:txBody>
          <a:bodyPr wrap="square">
            <a:spAutoFit/>
          </a:bodyPr>
          <a:lstStyle/>
          <a:p>
            <a:pPr algn="ctr"/>
            <a:r>
              <a:rPr lang="en-US" sz="2400" i="1" dirty="0"/>
              <a:t>Can calculate and examine the relative contribution of each climatic variable to each PC</a:t>
            </a:r>
          </a:p>
        </p:txBody>
      </p:sp>
      <p:sp>
        <p:nvSpPr>
          <p:cNvPr id="8" name="TextBox 7">
            <a:extLst>
              <a:ext uri="{FF2B5EF4-FFF2-40B4-BE49-F238E27FC236}">
                <a16:creationId xmlns:a16="http://schemas.microsoft.com/office/drawing/2014/main" id="{5536B14B-D4FC-846A-EBCC-B640CC254CA2}"/>
              </a:ext>
            </a:extLst>
          </p:cNvPr>
          <p:cNvSpPr txBox="1"/>
          <p:nvPr/>
        </p:nvSpPr>
        <p:spPr>
          <a:xfrm>
            <a:off x="5807787" y="1558424"/>
            <a:ext cx="2058955" cy="523220"/>
          </a:xfrm>
          <a:prstGeom prst="rect">
            <a:avLst/>
          </a:prstGeom>
          <a:noFill/>
        </p:spPr>
        <p:txBody>
          <a:bodyPr wrap="square" rtlCol="0">
            <a:spAutoFit/>
          </a:bodyPr>
          <a:lstStyle/>
          <a:p>
            <a:r>
              <a:rPr lang="en-US" sz="2800" b="1" u="sng" dirty="0"/>
              <a:t>PC1:</a:t>
            </a:r>
          </a:p>
        </p:txBody>
      </p:sp>
      <p:sp>
        <p:nvSpPr>
          <p:cNvPr id="11" name="TextBox 10">
            <a:extLst>
              <a:ext uri="{FF2B5EF4-FFF2-40B4-BE49-F238E27FC236}">
                <a16:creationId xmlns:a16="http://schemas.microsoft.com/office/drawing/2014/main" id="{826733A6-CAF5-2893-C66C-E2D0CE4232E3}"/>
              </a:ext>
            </a:extLst>
          </p:cNvPr>
          <p:cNvSpPr txBox="1"/>
          <p:nvPr/>
        </p:nvSpPr>
        <p:spPr>
          <a:xfrm>
            <a:off x="5807787" y="2031065"/>
            <a:ext cx="6274335" cy="1631216"/>
          </a:xfrm>
          <a:prstGeom prst="rect">
            <a:avLst/>
          </a:prstGeom>
          <a:noFill/>
        </p:spPr>
        <p:txBody>
          <a:bodyPr wrap="square">
            <a:spAutoFit/>
          </a:bodyPr>
          <a:lstStyle/>
          <a:p>
            <a:r>
              <a:rPr lang="en-US" sz="2000" b="1" i="1" dirty="0">
                <a:solidFill>
                  <a:srgbClr val="0070C0"/>
                </a:solidFill>
              </a:rPr>
              <a:t>Variable	Loading		Relative Loading</a:t>
            </a:r>
          </a:p>
          <a:p>
            <a:r>
              <a:rPr lang="en-US" sz="2000" i="1" dirty="0"/>
              <a:t>Bioclim2</a:t>
            </a:r>
            <a:r>
              <a:rPr lang="en-US" sz="2000" dirty="0"/>
              <a:t>	-1.45636	72.0%</a:t>
            </a:r>
          </a:p>
          <a:p>
            <a:r>
              <a:rPr lang="en-US" sz="2000" i="1" dirty="0"/>
              <a:t>Bioclim1	0.45256		22.4%</a:t>
            </a:r>
          </a:p>
          <a:p>
            <a:r>
              <a:rPr lang="en-US" sz="2000" i="1" dirty="0"/>
              <a:t>Bioclim3	</a:t>
            </a:r>
            <a:r>
              <a:rPr lang="en-US" sz="2000" i="1" u="sng" dirty="0"/>
              <a:t>0.11324</a:t>
            </a:r>
            <a:r>
              <a:rPr lang="en-US" sz="2000" i="1" dirty="0"/>
              <a:t>		5.6%</a:t>
            </a:r>
            <a:endParaRPr lang="en-US" sz="2000" i="1" u="sng" dirty="0"/>
          </a:p>
          <a:p>
            <a:r>
              <a:rPr lang="en-US" sz="2000" i="1" dirty="0"/>
              <a:t>		</a:t>
            </a:r>
            <a:r>
              <a:rPr lang="en-US" sz="2000" b="1" i="1" dirty="0"/>
              <a:t>2.0221</a:t>
            </a:r>
            <a:endParaRPr lang="en-US" sz="2000" i="1" dirty="0"/>
          </a:p>
        </p:txBody>
      </p:sp>
      <p:sp>
        <p:nvSpPr>
          <p:cNvPr id="15" name="TextBox 14">
            <a:extLst>
              <a:ext uri="{FF2B5EF4-FFF2-40B4-BE49-F238E27FC236}">
                <a16:creationId xmlns:a16="http://schemas.microsoft.com/office/drawing/2014/main" id="{B839313D-594E-0F45-2D56-FE5BD29D9288}"/>
              </a:ext>
            </a:extLst>
          </p:cNvPr>
          <p:cNvSpPr txBox="1"/>
          <p:nvPr/>
        </p:nvSpPr>
        <p:spPr>
          <a:xfrm>
            <a:off x="5795742" y="3407234"/>
            <a:ext cx="1188099" cy="584775"/>
          </a:xfrm>
          <a:prstGeom prst="rect">
            <a:avLst/>
          </a:prstGeom>
          <a:noFill/>
        </p:spPr>
        <p:txBody>
          <a:bodyPr wrap="square">
            <a:spAutoFit/>
          </a:bodyPr>
          <a:lstStyle/>
          <a:p>
            <a:r>
              <a:rPr lang="en-US" sz="2800" b="1" u="sng" dirty="0"/>
              <a:t>PC2</a:t>
            </a:r>
            <a:r>
              <a:rPr lang="en-US" sz="3200" b="1" u="sng" dirty="0"/>
              <a:t>:</a:t>
            </a:r>
          </a:p>
        </p:txBody>
      </p:sp>
      <p:sp>
        <p:nvSpPr>
          <p:cNvPr id="17" name="TextBox 16">
            <a:extLst>
              <a:ext uri="{FF2B5EF4-FFF2-40B4-BE49-F238E27FC236}">
                <a16:creationId xmlns:a16="http://schemas.microsoft.com/office/drawing/2014/main" id="{8A0A9B88-5586-482D-9D4A-23F17AD73F1F}"/>
              </a:ext>
            </a:extLst>
          </p:cNvPr>
          <p:cNvSpPr txBox="1"/>
          <p:nvPr/>
        </p:nvSpPr>
        <p:spPr>
          <a:xfrm>
            <a:off x="5734094" y="3905443"/>
            <a:ext cx="6457906" cy="1323439"/>
          </a:xfrm>
          <a:prstGeom prst="rect">
            <a:avLst/>
          </a:prstGeom>
          <a:noFill/>
        </p:spPr>
        <p:txBody>
          <a:bodyPr wrap="square">
            <a:spAutoFit/>
          </a:bodyPr>
          <a:lstStyle/>
          <a:p>
            <a:r>
              <a:rPr lang="en-US" sz="2000" b="1" i="1" dirty="0">
                <a:solidFill>
                  <a:srgbClr val="0070C0"/>
                </a:solidFill>
              </a:rPr>
              <a:t>Variable	Loading		Relative Loading</a:t>
            </a:r>
          </a:p>
          <a:p>
            <a:r>
              <a:rPr lang="en-US" sz="2000" i="1" dirty="0"/>
              <a:t>Bioclim3</a:t>
            </a:r>
            <a:r>
              <a:rPr lang="en-US" sz="2000" dirty="0"/>
              <a:t>	2.65567		53.1%</a:t>
            </a:r>
          </a:p>
          <a:p>
            <a:r>
              <a:rPr lang="en-US" sz="2000" i="1" dirty="0"/>
              <a:t>Bioclim1	</a:t>
            </a:r>
            <a:r>
              <a:rPr lang="en-US" sz="2000" i="1" u="sng" dirty="0"/>
              <a:t>2.34566	</a:t>
            </a:r>
            <a:r>
              <a:rPr lang="en-US" sz="2000" i="1" dirty="0"/>
              <a:t>	46.9%</a:t>
            </a:r>
            <a:endParaRPr lang="en-US" sz="2000" i="1" u="sng" dirty="0"/>
          </a:p>
          <a:p>
            <a:r>
              <a:rPr lang="en-US" sz="2000" i="1" dirty="0"/>
              <a:t>		</a:t>
            </a:r>
            <a:r>
              <a:rPr lang="en-US" sz="2000" b="1" i="1" dirty="0"/>
              <a:t>5.00133</a:t>
            </a:r>
          </a:p>
        </p:txBody>
      </p:sp>
    </p:spTree>
    <p:extLst>
      <p:ext uri="{BB962C8B-B14F-4D97-AF65-F5344CB8AC3E}">
        <p14:creationId xmlns:p14="http://schemas.microsoft.com/office/powerpoint/2010/main" val="33206796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E1B59-427A-A46B-86E7-3657C8A35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0514-B7D8-8284-CD39-AEDB95908696}"/>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sp>
        <p:nvSpPr>
          <p:cNvPr id="27" name="Arrow: Down 26">
            <a:extLst>
              <a:ext uri="{FF2B5EF4-FFF2-40B4-BE49-F238E27FC236}">
                <a16:creationId xmlns:a16="http://schemas.microsoft.com/office/drawing/2014/main" id="{9A472DCE-38A9-A458-E20F-41B819578C00}"/>
              </a:ext>
            </a:extLst>
          </p:cNvPr>
          <p:cNvSpPr/>
          <p:nvPr/>
        </p:nvSpPr>
        <p:spPr>
          <a:xfrm rot="16200000">
            <a:off x="5290225" y="3473750"/>
            <a:ext cx="657720" cy="43566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9" name="Group 148">
            <a:extLst>
              <a:ext uri="{FF2B5EF4-FFF2-40B4-BE49-F238E27FC236}">
                <a16:creationId xmlns:a16="http://schemas.microsoft.com/office/drawing/2014/main" id="{AC51EA31-A203-4542-CE80-5E79C2427712}"/>
              </a:ext>
            </a:extLst>
          </p:cNvPr>
          <p:cNvGrpSpPr/>
          <p:nvPr/>
        </p:nvGrpSpPr>
        <p:grpSpPr>
          <a:xfrm>
            <a:off x="6223483" y="2317610"/>
            <a:ext cx="5271594" cy="3379262"/>
            <a:chOff x="7201784" y="2263438"/>
            <a:chExt cx="5271594" cy="3379262"/>
          </a:xfrm>
        </p:grpSpPr>
        <p:cxnSp>
          <p:nvCxnSpPr>
            <p:cNvPr id="41" name="Straight Connector 40">
              <a:extLst>
                <a:ext uri="{FF2B5EF4-FFF2-40B4-BE49-F238E27FC236}">
                  <a16:creationId xmlns:a16="http://schemas.microsoft.com/office/drawing/2014/main" id="{F35DCDE8-A0B7-918D-CE62-659CF72C337B}"/>
                </a:ext>
              </a:extLst>
            </p:cNvPr>
            <p:cNvCxnSpPr>
              <a:cxnSpLocks/>
            </p:cNvCxnSpPr>
            <p:nvPr/>
          </p:nvCxnSpPr>
          <p:spPr>
            <a:xfrm flipV="1">
              <a:off x="9505710" y="4146831"/>
              <a:ext cx="474788" cy="744487"/>
            </a:xfrm>
            <a:prstGeom prst="line">
              <a:avLst/>
            </a:prstGeom>
            <a:ln w="57150">
              <a:solidFill>
                <a:srgbClr val="0B304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FD9F7D27-DD91-385C-89EB-58BCE3527911}"/>
                </a:ext>
              </a:extLst>
            </p:cNvPr>
            <p:cNvGrpSpPr/>
            <p:nvPr/>
          </p:nvGrpSpPr>
          <p:grpSpPr>
            <a:xfrm>
              <a:off x="7794253" y="2443838"/>
              <a:ext cx="3382438" cy="2630725"/>
              <a:chOff x="7794253" y="2108185"/>
              <a:chExt cx="3382438" cy="2630725"/>
            </a:xfrm>
          </p:grpSpPr>
          <p:sp>
            <p:nvSpPr>
              <p:cNvPr id="5" name="Rectangle 4">
                <a:extLst>
                  <a:ext uri="{FF2B5EF4-FFF2-40B4-BE49-F238E27FC236}">
                    <a16:creationId xmlns:a16="http://schemas.microsoft.com/office/drawing/2014/main" id="{CF26F664-11A5-48DE-2427-9C44C11061CD}"/>
                  </a:ext>
                </a:extLst>
              </p:cNvPr>
              <p:cNvSpPr/>
              <p:nvPr/>
            </p:nvSpPr>
            <p:spPr>
              <a:xfrm>
                <a:off x="7794253" y="2490070"/>
                <a:ext cx="3144948" cy="2215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actus with solid fill">
                <a:extLst>
                  <a:ext uri="{FF2B5EF4-FFF2-40B4-BE49-F238E27FC236}">
                    <a16:creationId xmlns:a16="http://schemas.microsoft.com/office/drawing/2014/main" id="{B03EA911-1814-954E-5B1B-6BCB66115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7841828" y="2543817"/>
                <a:ext cx="597398" cy="447915"/>
              </a:xfrm>
              <a:prstGeom prst="rect">
                <a:avLst/>
              </a:prstGeom>
            </p:spPr>
          </p:pic>
          <p:pic>
            <p:nvPicPr>
              <p:cNvPr id="11" name="Graphic 10" descr="Flower without stem with solid fill">
                <a:extLst>
                  <a:ext uri="{FF2B5EF4-FFF2-40B4-BE49-F238E27FC236}">
                    <a16:creationId xmlns:a16="http://schemas.microsoft.com/office/drawing/2014/main" id="{6D07FA03-A20C-2A4E-F294-72A226D9CF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1828" y="2555025"/>
                <a:ext cx="489366" cy="529341"/>
              </a:xfrm>
              <a:prstGeom prst="rect">
                <a:avLst/>
              </a:prstGeom>
            </p:spPr>
          </p:pic>
          <p:pic>
            <p:nvPicPr>
              <p:cNvPr id="15" name="Graphic 14" descr="Flower without stem with solid fill">
                <a:extLst>
                  <a:ext uri="{FF2B5EF4-FFF2-40B4-BE49-F238E27FC236}">
                    <a16:creationId xmlns:a16="http://schemas.microsoft.com/office/drawing/2014/main" id="{14306DB8-0FD8-E68F-4D10-995B1015C2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2905" y="4209569"/>
                <a:ext cx="489366" cy="529341"/>
              </a:xfrm>
              <a:prstGeom prst="rect">
                <a:avLst/>
              </a:prstGeom>
            </p:spPr>
          </p:pic>
          <p:pic>
            <p:nvPicPr>
              <p:cNvPr id="17" name="Graphic 16" descr="Flower without stem with solid fill">
                <a:extLst>
                  <a:ext uri="{FF2B5EF4-FFF2-40B4-BE49-F238E27FC236}">
                    <a16:creationId xmlns:a16="http://schemas.microsoft.com/office/drawing/2014/main" id="{55159DD2-1CA5-1B5D-0C9E-5AAB0320A1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6256" y="4026324"/>
                <a:ext cx="489366" cy="529341"/>
              </a:xfrm>
              <a:prstGeom prst="rect">
                <a:avLst/>
              </a:prstGeom>
            </p:spPr>
          </p:pic>
          <p:pic>
            <p:nvPicPr>
              <p:cNvPr id="21" name="Graphic 20" descr="Cactus with solid fill">
                <a:extLst>
                  <a:ext uri="{FF2B5EF4-FFF2-40B4-BE49-F238E27FC236}">
                    <a16:creationId xmlns:a16="http://schemas.microsoft.com/office/drawing/2014/main" id="{338A06DE-DF4C-D666-10EB-6027D85CE2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318518" y="3799960"/>
                <a:ext cx="597398" cy="447915"/>
              </a:xfrm>
              <a:prstGeom prst="rect">
                <a:avLst/>
              </a:prstGeom>
            </p:spPr>
          </p:pic>
          <p:pic>
            <p:nvPicPr>
              <p:cNvPr id="24" name="Graphic 23" descr="Cactus with solid fill">
                <a:extLst>
                  <a:ext uri="{FF2B5EF4-FFF2-40B4-BE49-F238E27FC236}">
                    <a16:creationId xmlns:a16="http://schemas.microsoft.com/office/drawing/2014/main" id="{19ADF5B3-F2F2-F8D1-EB63-EADCD8301D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072736" y="2714917"/>
                <a:ext cx="597398" cy="447915"/>
              </a:xfrm>
              <a:prstGeom prst="rect">
                <a:avLst/>
              </a:prstGeom>
            </p:spPr>
          </p:pic>
          <p:cxnSp>
            <p:nvCxnSpPr>
              <p:cNvPr id="30" name="Straight Arrow Connector 29">
                <a:extLst>
                  <a:ext uri="{FF2B5EF4-FFF2-40B4-BE49-F238E27FC236}">
                    <a16:creationId xmlns:a16="http://schemas.microsoft.com/office/drawing/2014/main" id="{D40C760F-DFE8-34D4-88AB-75BFE14E2D0C}"/>
                  </a:ext>
                </a:extLst>
              </p:cNvPr>
              <p:cNvCxnSpPr/>
              <p:nvPr/>
            </p:nvCxnSpPr>
            <p:spPr>
              <a:xfrm flipV="1">
                <a:off x="7794253" y="2108185"/>
                <a:ext cx="0" cy="2630725"/>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252A618-7190-1301-075F-447757A70C02}"/>
                  </a:ext>
                </a:extLst>
              </p:cNvPr>
              <p:cNvCxnSpPr>
                <a:cxnSpLocks/>
              </p:cNvCxnSpPr>
              <p:nvPr/>
            </p:nvCxnSpPr>
            <p:spPr>
              <a:xfrm>
                <a:off x="7794253" y="4712767"/>
                <a:ext cx="3382438" cy="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C3BFC4E1-BA13-7AF5-F1A2-1E84B05EA51C}"/>
                </a:ext>
              </a:extLst>
            </p:cNvPr>
            <p:cNvSpPr txBox="1"/>
            <p:nvPr/>
          </p:nvSpPr>
          <p:spPr>
            <a:xfrm>
              <a:off x="8017523" y="5273368"/>
              <a:ext cx="2737465" cy="369332"/>
            </a:xfrm>
            <a:prstGeom prst="rect">
              <a:avLst/>
            </a:prstGeom>
            <a:noFill/>
          </p:spPr>
          <p:txBody>
            <a:bodyPr wrap="square" rtlCol="0">
              <a:spAutoFit/>
            </a:bodyPr>
            <a:lstStyle/>
            <a:p>
              <a:r>
                <a:rPr lang="en-US" b="1" dirty="0"/>
                <a:t>Principal Component 1</a:t>
              </a:r>
            </a:p>
          </p:txBody>
        </p:sp>
        <p:sp>
          <p:nvSpPr>
            <p:cNvPr id="10" name="TextBox 9">
              <a:extLst>
                <a:ext uri="{FF2B5EF4-FFF2-40B4-BE49-F238E27FC236}">
                  <a16:creationId xmlns:a16="http://schemas.microsoft.com/office/drawing/2014/main" id="{04604DA2-150F-EB75-2BE1-E7AB479BC20E}"/>
                </a:ext>
              </a:extLst>
            </p:cNvPr>
            <p:cNvSpPr txBox="1"/>
            <p:nvPr/>
          </p:nvSpPr>
          <p:spPr>
            <a:xfrm rot="16200000">
              <a:off x="6017717" y="3499616"/>
              <a:ext cx="2737465" cy="369332"/>
            </a:xfrm>
            <a:prstGeom prst="rect">
              <a:avLst/>
            </a:prstGeom>
            <a:noFill/>
          </p:spPr>
          <p:txBody>
            <a:bodyPr wrap="square" rtlCol="0">
              <a:spAutoFit/>
            </a:bodyPr>
            <a:lstStyle/>
            <a:p>
              <a:r>
                <a:rPr lang="en-US" b="1" dirty="0"/>
                <a:t>Principal Component 2</a:t>
              </a:r>
            </a:p>
          </p:txBody>
        </p:sp>
        <p:cxnSp>
          <p:nvCxnSpPr>
            <p:cNvPr id="28" name="Straight Connector 27">
              <a:extLst>
                <a:ext uri="{FF2B5EF4-FFF2-40B4-BE49-F238E27FC236}">
                  <a16:creationId xmlns:a16="http://schemas.microsoft.com/office/drawing/2014/main" id="{68442A24-4FD5-34F1-6E70-5D16E320BEF2}"/>
                </a:ext>
              </a:extLst>
            </p:cNvPr>
            <p:cNvCxnSpPr>
              <a:cxnSpLocks/>
            </p:cNvCxnSpPr>
            <p:nvPr/>
          </p:nvCxnSpPr>
          <p:spPr>
            <a:xfrm>
              <a:off x="9285025" y="2875033"/>
              <a:ext cx="677162" cy="1337449"/>
            </a:xfrm>
            <a:prstGeom prst="line">
              <a:avLst/>
            </a:prstGeom>
            <a:ln w="57150">
              <a:solidFill>
                <a:srgbClr val="275317"/>
              </a:solidFill>
              <a:prstDash val="soli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89B4401-E931-1B6D-63EE-45C1EAC7EEF7}"/>
                </a:ext>
              </a:extLst>
            </p:cNvPr>
            <p:cNvSpPr txBox="1"/>
            <p:nvPr/>
          </p:nvSpPr>
          <p:spPr>
            <a:xfrm rot="20829331">
              <a:off x="10828456" y="3557660"/>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grpSp>
          <p:nvGrpSpPr>
            <p:cNvPr id="54" name="Group 53">
              <a:extLst>
                <a:ext uri="{FF2B5EF4-FFF2-40B4-BE49-F238E27FC236}">
                  <a16:creationId xmlns:a16="http://schemas.microsoft.com/office/drawing/2014/main" id="{4575AC5D-BC36-6FB6-B892-371172D30A11}"/>
                </a:ext>
              </a:extLst>
            </p:cNvPr>
            <p:cNvGrpSpPr/>
            <p:nvPr/>
          </p:nvGrpSpPr>
          <p:grpSpPr>
            <a:xfrm>
              <a:off x="9929995" y="3826602"/>
              <a:ext cx="1192255" cy="376090"/>
              <a:chOff x="9929993" y="3826602"/>
              <a:chExt cx="1263793" cy="376090"/>
            </a:xfrm>
          </p:grpSpPr>
          <p:cxnSp>
            <p:nvCxnSpPr>
              <p:cNvPr id="34" name="Straight Connector 33">
                <a:extLst>
                  <a:ext uri="{FF2B5EF4-FFF2-40B4-BE49-F238E27FC236}">
                    <a16:creationId xmlns:a16="http://schemas.microsoft.com/office/drawing/2014/main" id="{8204A1A2-E1B8-0719-42E7-BD2958CBF40B}"/>
                  </a:ext>
                </a:extLst>
              </p:cNvPr>
              <p:cNvCxnSpPr>
                <a:cxnSpLocks/>
                <a:endCxn id="5" idx="3"/>
              </p:cNvCxnSpPr>
              <p:nvPr/>
            </p:nvCxnSpPr>
            <p:spPr>
              <a:xfrm flipV="1">
                <a:off x="9929993" y="3933268"/>
                <a:ext cx="1009204" cy="269424"/>
              </a:xfrm>
              <a:prstGeom prst="line">
                <a:avLst/>
              </a:prstGeom>
              <a:ln w="57150">
                <a:solidFill>
                  <a:srgbClr val="50164A"/>
                </a:solidFill>
              </a:ln>
            </p:spPr>
            <p:style>
              <a:lnRef idx="2">
                <a:schemeClr val="accent1"/>
              </a:lnRef>
              <a:fillRef idx="0">
                <a:schemeClr val="accent1"/>
              </a:fillRef>
              <a:effectRef idx="1">
                <a:schemeClr val="accent1"/>
              </a:effectRef>
              <a:fontRef idx="minor">
                <a:schemeClr val="tx1"/>
              </a:fontRef>
            </p:style>
          </p:cxnSp>
          <p:sp>
            <p:nvSpPr>
              <p:cNvPr id="48" name="Isosceles Triangle 47">
                <a:extLst>
                  <a:ext uri="{FF2B5EF4-FFF2-40B4-BE49-F238E27FC236}">
                    <a16:creationId xmlns:a16="http://schemas.microsoft.com/office/drawing/2014/main" id="{5955DE67-CAFA-36A3-2EF7-0CDC192229A1}"/>
                  </a:ext>
                </a:extLst>
              </p:cNvPr>
              <p:cNvSpPr/>
              <p:nvPr/>
            </p:nvSpPr>
            <p:spPr>
              <a:xfrm rot="4741796">
                <a:off x="10981191" y="3766406"/>
                <a:ext cx="152400" cy="272791"/>
              </a:xfrm>
              <a:prstGeom prst="triangle">
                <a:avLst>
                  <a:gd name="adj" fmla="val 55729"/>
                </a:avLst>
              </a:prstGeom>
              <a:solidFill>
                <a:schemeClr val="accent5">
                  <a:lumMod val="5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0" name="Isosceles Triangle 49">
              <a:extLst>
                <a:ext uri="{FF2B5EF4-FFF2-40B4-BE49-F238E27FC236}">
                  <a16:creationId xmlns:a16="http://schemas.microsoft.com/office/drawing/2014/main" id="{A226099A-EDCD-B7E8-44BA-65831CF539A4}"/>
                </a:ext>
              </a:extLst>
            </p:cNvPr>
            <p:cNvSpPr/>
            <p:nvPr/>
          </p:nvSpPr>
          <p:spPr>
            <a:xfrm rot="19834514">
              <a:off x="9157148" y="2639234"/>
              <a:ext cx="152400" cy="272791"/>
            </a:xfrm>
            <a:prstGeom prst="triangle">
              <a:avLst>
                <a:gd name="adj" fmla="val 55729"/>
              </a:avLst>
            </a:prstGeom>
            <a:solidFill>
              <a:schemeClr val="accent3">
                <a:lumMod val="50000"/>
              </a:schemeClr>
            </a:solidFill>
            <a:ln>
              <a:solidFill>
                <a:srgbClr val="0D35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4E11F9FD-AF89-16A8-0F69-BCE8B97B6420}"/>
                </a:ext>
              </a:extLst>
            </p:cNvPr>
            <p:cNvSpPr txBox="1"/>
            <p:nvPr/>
          </p:nvSpPr>
          <p:spPr>
            <a:xfrm rot="19622059">
              <a:off x="8869705" y="2263438"/>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61" name="Isosceles Triangle 60">
              <a:extLst>
                <a:ext uri="{FF2B5EF4-FFF2-40B4-BE49-F238E27FC236}">
                  <a16:creationId xmlns:a16="http://schemas.microsoft.com/office/drawing/2014/main" id="{EE01B1F3-3B26-3353-F176-31545BB3ED22}"/>
                </a:ext>
              </a:extLst>
            </p:cNvPr>
            <p:cNvSpPr/>
            <p:nvPr/>
          </p:nvSpPr>
          <p:spPr>
            <a:xfrm rot="13472024">
              <a:off x="9369783" y="4829850"/>
              <a:ext cx="152400" cy="272791"/>
            </a:xfrm>
            <a:prstGeom prst="triangle">
              <a:avLst>
                <a:gd name="adj" fmla="val 55729"/>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A5F53322-F029-1EBF-FF4C-0F10A0AA14DD}"/>
                </a:ext>
              </a:extLst>
            </p:cNvPr>
            <p:cNvSpPr txBox="1"/>
            <p:nvPr/>
          </p:nvSpPr>
          <p:spPr>
            <a:xfrm rot="18148229">
              <a:off x="8778991" y="4261155"/>
              <a:ext cx="1206758"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grpSp>
      <p:grpSp>
        <p:nvGrpSpPr>
          <p:cNvPr id="128" name="Group 127">
            <a:extLst>
              <a:ext uri="{FF2B5EF4-FFF2-40B4-BE49-F238E27FC236}">
                <a16:creationId xmlns:a16="http://schemas.microsoft.com/office/drawing/2014/main" id="{614E89D7-026D-3E9E-9F14-EECA75E841A5}"/>
              </a:ext>
            </a:extLst>
          </p:cNvPr>
          <p:cNvGrpSpPr/>
          <p:nvPr/>
        </p:nvGrpSpPr>
        <p:grpSpPr>
          <a:xfrm>
            <a:off x="503964" y="2001728"/>
            <a:ext cx="4057934" cy="4132504"/>
            <a:chOff x="4187516" y="1464531"/>
            <a:chExt cx="4515398" cy="4691632"/>
          </a:xfrm>
        </p:grpSpPr>
        <p:grpSp>
          <p:nvGrpSpPr>
            <p:cNvPr id="129" name="Group 128">
              <a:extLst>
                <a:ext uri="{FF2B5EF4-FFF2-40B4-BE49-F238E27FC236}">
                  <a16:creationId xmlns:a16="http://schemas.microsoft.com/office/drawing/2014/main" id="{083C3417-753E-C84C-D7C2-8CDBD5A465C0}"/>
                </a:ext>
              </a:extLst>
            </p:cNvPr>
            <p:cNvGrpSpPr/>
            <p:nvPr/>
          </p:nvGrpSpPr>
          <p:grpSpPr>
            <a:xfrm>
              <a:off x="4187516" y="1464531"/>
              <a:ext cx="4515398" cy="3946565"/>
              <a:chOff x="4187516" y="1464531"/>
              <a:chExt cx="4515398" cy="3946565"/>
            </a:xfrm>
          </p:grpSpPr>
          <p:grpSp>
            <p:nvGrpSpPr>
              <p:cNvPr id="131" name="Group 130">
                <a:extLst>
                  <a:ext uri="{FF2B5EF4-FFF2-40B4-BE49-F238E27FC236}">
                    <a16:creationId xmlns:a16="http://schemas.microsoft.com/office/drawing/2014/main" id="{163B1DF0-8C7A-929F-DE59-EFF617C18E49}"/>
                  </a:ext>
                </a:extLst>
              </p:cNvPr>
              <p:cNvGrpSpPr/>
              <p:nvPr/>
            </p:nvGrpSpPr>
            <p:grpSpPr>
              <a:xfrm>
                <a:off x="4187516" y="1929683"/>
                <a:ext cx="4515398" cy="3302031"/>
                <a:chOff x="592569" y="2108185"/>
                <a:chExt cx="4515398" cy="3302031"/>
              </a:xfrm>
            </p:grpSpPr>
            <p:cxnSp>
              <p:nvCxnSpPr>
                <p:cNvPr id="135" name="Straight Connector 134">
                  <a:extLst>
                    <a:ext uri="{FF2B5EF4-FFF2-40B4-BE49-F238E27FC236}">
                      <a16:creationId xmlns:a16="http://schemas.microsoft.com/office/drawing/2014/main" id="{B3080AF0-3B6F-30C8-DA0B-3B124E687129}"/>
                    </a:ext>
                  </a:extLst>
                </p:cNvPr>
                <p:cNvCxnSpPr>
                  <a:cxnSpLocks/>
                </p:cNvCxnSpPr>
                <p:nvPr/>
              </p:nvCxnSpPr>
              <p:spPr>
                <a:xfrm flipH="1">
                  <a:off x="1378258" y="3396714"/>
                  <a:ext cx="1743179" cy="1605595"/>
                </a:xfrm>
                <a:prstGeom prst="line">
                  <a:avLst/>
                </a:prstGeom>
                <a:ln w="5715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A0D46CAA-001C-B9E2-A437-1822078D5129}"/>
                    </a:ext>
                  </a:extLst>
                </p:cNvPr>
                <p:cNvCxnSpPr>
                  <a:cxnSpLocks/>
                </p:cNvCxnSpPr>
                <p:nvPr/>
              </p:nvCxnSpPr>
              <p:spPr>
                <a:xfrm>
                  <a:off x="1358802" y="2503850"/>
                  <a:ext cx="0" cy="2511853"/>
                </a:xfrm>
                <a:prstGeom prst="line">
                  <a:avLst/>
                </a:prstGeom>
                <a:ln w="57150">
                  <a:solidFill>
                    <a:schemeClr val="tx2">
                      <a:lumMod val="90000"/>
                      <a:lumOff val="10000"/>
                    </a:schemeClr>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BCB98D5B-5FF4-47A8-DE4F-7644652834A4}"/>
                    </a:ext>
                  </a:extLst>
                </p:cNvPr>
                <p:cNvCxnSpPr>
                  <a:cxnSpLocks/>
                </p:cNvCxnSpPr>
                <p:nvPr/>
              </p:nvCxnSpPr>
              <p:spPr>
                <a:xfrm>
                  <a:off x="1330233" y="5042036"/>
                  <a:ext cx="2441029" cy="183514"/>
                </a:xfrm>
                <a:prstGeom prst="line">
                  <a:avLst/>
                </a:prstGeom>
                <a:ln w="57150">
                  <a:solidFill>
                    <a:schemeClr val="accent5">
                      <a:lumMod val="50000"/>
                    </a:schemeClr>
                  </a:solidFill>
                </a:ln>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446D5E1A-2FB3-FE69-D142-05F2DD142228}"/>
                    </a:ext>
                  </a:extLst>
                </p:cNvPr>
                <p:cNvSpPr txBox="1"/>
                <p:nvPr/>
              </p:nvSpPr>
              <p:spPr>
                <a:xfrm>
                  <a:off x="3463045" y="5040884"/>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sp>
              <p:nvSpPr>
                <p:cNvPr id="139" name="TextBox 138">
                  <a:extLst>
                    <a:ext uri="{FF2B5EF4-FFF2-40B4-BE49-F238E27FC236}">
                      <a16:creationId xmlns:a16="http://schemas.microsoft.com/office/drawing/2014/main" id="{A762D396-0662-C7B4-4FFA-7B0BD2616ED6}"/>
                    </a:ext>
                  </a:extLst>
                </p:cNvPr>
                <p:cNvSpPr txBox="1"/>
                <p:nvPr/>
              </p:nvSpPr>
              <p:spPr>
                <a:xfrm>
                  <a:off x="592569" y="2108185"/>
                  <a:ext cx="1644922"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sp>
              <p:nvSpPr>
                <p:cNvPr id="140" name="TextBox 139">
                  <a:extLst>
                    <a:ext uri="{FF2B5EF4-FFF2-40B4-BE49-F238E27FC236}">
                      <a16:creationId xmlns:a16="http://schemas.microsoft.com/office/drawing/2014/main" id="{670D9217-30DD-C266-41DF-F43A38838668}"/>
                    </a:ext>
                  </a:extLst>
                </p:cNvPr>
                <p:cNvSpPr txBox="1"/>
                <p:nvPr/>
              </p:nvSpPr>
              <p:spPr>
                <a:xfrm>
                  <a:off x="2847195" y="3148151"/>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pic>
              <p:nvPicPr>
                <p:cNvPr id="141" name="Graphic 140" descr="Cactus with solid fill">
                  <a:extLst>
                    <a:ext uri="{FF2B5EF4-FFF2-40B4-BE49-F238E27FC236}">
                      <a16:creationId xmlns:a16="http://schemas.microsoft.com/office/drawing/2014/main" id="{9D5B280E-27F2-9030-7112-E8881C7891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3117647" y="4084342"/>
                  <a:ext cx="294303" cy="322748"/>
                </a:xfrm>
                <a:prstGeom prst="rect">
                  <a:avLst/>
                </a:prstGeom>
              </p:spPr>
            </p:pic>
            <p:pic>
              <p:nvPicPr>
                <p:cNvPr id="142" name="Graphic 141" descr="Flower without stem with solid fill">
                  <a:extLst>
                    <a:ext uri="{FF2B5EF4-FFF2-40B4-BE49-F238E27FC236}">
                      <a16:creationId xmlns:a16="http://schemas.microsoft.com/office/drawing/2014/main" id="{8DB07E94-872F-2342-5F1F-26F88CFB4D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7299" y="3268919"/>
                  <a:ext cx="367001" cy="435666"/>
                </a:xfrm>
                <a:prstGeom prst="rect">
                  <a:avLst/>
                </a:prstGeom>
              </p:spPr>
            </p:pic>
            <p:pic>
              <p:nvPicPr>
                <p:cNvPr id="143" name="Graphic 142" descr="Flower without stem with solid fill">
                  <a:extLst>
                    <a:ext uri="{FF2B5EF4-FFF2-40B4-BE49-F238E27FC236}">
                      <a16:creationId xmlns:a16="http://schemas.microsoft.com/office/drawing/2014/main" id="{12ECD5E8-E3BD-A36B-C176-787C521EF5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4300" y="3921467"/>
                  <a:ext cx="374580" cy="435666"/>
                </a:xfrm>
                <a:prstGeom prst="rect">
                  <a:avLst/>
                </a:prstGeom>
              </p:spPr>
            </p:pic>
            <p:pic>
              <p:nvPicPr>
                <p:cNvPr id="144" name="Graphic 143" descr="Cactus with solid fill">
                  <a:extLst>
                    <a:ext uri="{FF2B5EF4-FFF2-40B4-BE49-F238E27FC236}">
                      <a16:creationId xmlns:a16="http://schemas.microsoft.com/office/drawing/2014/main" id="{7C8949A8-B67F-E71D-EB49-09B6191040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257910" y="4712767"/>
                  <a:ext cx="320763" cy="322748"/>
                </a:xfrm>
                <a:prstGeom prst="rect">
                  <a:avLst/>
                </a:prstGeom>
              </p:spPr>
            </p:pic>
            <p:pic>
              <p:nvPicPr>
                <p:cNvPr id="145" name="Graphic 144" descr="Flower without stem with solid fill">
                  <a:extLst>
                    <a:ext uri="{FF2B5EF4-FFF2-40B4-BE49-F238E27FC236}">
                      <a16:creationId xmlns:a16="http://schemas.microsoft.com/office/drawing/2014/main" id="{A858394F-A49F-CA30-AAE7-14F4B07D51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8880" y="2299360"/>
                  <a:ext cx="271772" cy="381420"/>
                </a:xfrm>
                <a:prstGeom prst="rect">
                  <a:avLst/>
                </a:prstGeom>
              </p:spPr>
            </p:pic>
            <p:pic>
              <p:nvPicPr>
                <p:cNvPr id="146" name="Graphic 145" descr="Cactus with solid fill">
                  <a:extLst>
                    <a:ext uri="{FF2B5EF4-FFF2-40B4-BE49-F238E27FC236}">
                      <a16:creationId xmlns:a16="http://schemas.microsoft.com/office/drawing/2014/main" id="{FF4F10BE-079E-A241-90A4-7F38464226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2317936" y="2320795"/>
                  <a:ext cx="357440" cy="322748"/>
                </a:xfrm>
                <a:prstGeom prst="rect">
                  <a:avLst/>
                </a:prstGeom>
              </p:spPr>
            </p:pic>
            <p:sp>
              <p:nvSpPr>
                <p:cNvPr id="147" name="Rectangle 146">
                  <a:extLst>
                    <a:ext uri="{FF2B5EF4-FFF2-40B4-BE49-F238E27FC236}">
                      <a16:creationId xmlns:a16="http://schemas.microsoft.com/office/drawing/2014/main" id="{A21BA1D4-CD17-CD98-8D08-D959AC0DBE61}"/>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2" name="Straight Arrow Connector 131">
                <a:extLst>
                  <a:ext uri="{FF2B5EF4-FFF2-40B4-BE49-F238E27FC236}">
                    <a16:creationId xmlns:a16="http://schemas.microsoft.com/office/drawing/2014/main" id="{578A313D-4035-47B6-6DC5-61BF72B140C0}"/>
                  </a:ext>
                </a:extLst>
              </p:cNvPr>
              <p:cNvCxnSpPr>
                <a:cxnSpLocks/>
              </p:cNvCxnSpPr>
              <p:nvPr/>
            </p:nvCxnSpPr>
            <p:spPr>
              <a:xfrm flipV="1">
                <a:off x="4646836" y="1823152"/>
                <a:ext cx="1883056" cy="949596"/>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71D3617A-CDE2-3F72-D4CA-6511C1E28003}"/>
                  </a:ext>
                </a:extLst>
              </p:cNvPr>
              <p:cNvSpPr txBox="1"/>
              <p:nvPr/>
            </p:nvSpPr>
            <p:spPr>
              <a:xfrm rot="20077302">
                <a:off x="6482196" y="1464531"/>
                <a:ext cx="845533" cy="419303"/>
              </a:xfrm>
              <a:prstGeom prst="rect">
                <a:avLst/>
              </a:prstGeom>
              <a:noFill/>
            </p:spPr>
            <p:txBody>
              <a:bodyPr wrap="square" rtlCol="0">
                <a:spAutoFit/>
              </a:bodyPr>
              <a:lstStyle/>
              <a:p>
                <a:r>
                  <a:rPr lang="en-US" b="1" dirty="0"/>
                  <a:t>PC2</a:t>
                </a:r>
              </a:p>
            </p:txBody>
          </p:sp>
          <p:cxnSp>
            <p:nvCxnSpPr>
              <p:cNvPr id="134" name="Straight Arrow Connector 133">
                <a:extLst>
                  <a:ext uri="{FF2B5EF4-FFF2-40B4-BE49-F238E27FC236}">
                    <a16:creationId xmlns:a16="http://schemas.microsoft.com/office/drawing/2014/main" id="{8A512A38-7584-66D0-F035-20A595CD37B6}"/>
                  </a:ext>
                </a:extLst>
              </p:cNvPr>
              <p:cNvCxnSpPr>
                <a:cxnSpLocks/>
              </p:cNvCxnSpPr>
              <p:nvPr/>
            </p:nvCxnSpPr>
            <p:spPr>
              <a:xfrm>
                <a:off x="4664698" y="2757359"/>
                <a:ext cx="1310875" cy="2653737"/>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130" name="TextBox 129">
              <a:extLst>
                <a:ext uri="{FF2B5EF4-FFF2-40B4-BE49-F238E27FC236}">
                  <a16:creationId xmlns:a16="http://schemas.microsoft.com/office/drawing/2014/main" id="{85D70904-4173-F9DD-3B02-51FA37501484}"/>
                </a:ext>
              </a:extLst>
            </p:cNvPr>
            <p:cNvSpPr txBox="1"/>
            <p:nvPr/>
          </p:nvSpPr>
          <p:spPr>
            <a:xfrm rot="3810374">
              <a:off x="5700478" y="5567055"/>
              <a:ext cx="767249" cy="410968"/>
            </a:xfrm>
            <a:prstGeom prst="rect">
              <a:avLst/>
            </a:prstGeom>
            <a:noFill/>
          </p:spPr>
          <p:txBody>
            <a:bodyPr wrap="square" rtlCol="0">
              <a:spAutoFit/>
            </a:bodyPr>
            <a:lstStyle/>
            <a:p>
              <a:r>
                <a:rPr lang="en-US" b="1" dirty="0"/>
                <a:t>PC1</a:t>
              </a:r>
            </a:p>
          </p:txBody>
        </p:sp>
      </p:grpSp>
    </p:spTree>
    <p:extLst>
      <p:ext uri="{BB962C8B-B14F-4D97-AF65-F5344CB8AC3E}">
        <p14:creationId xmlns:p14="http://schemas.microsoft.com/office/powerpoint/2010/main" val="14142073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F2E0-07E4-3D54-C491-9F85D7325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64DBC-6C1C-CCF9-40B3-EF6FB216E526}"/>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sp>
        <p:nvSpPr>
          <p:cNvPr id="27" name="Arrow: Down 26">
            <a:extLst>
              <a:ext uri="{FF2B5EF4-FFF2-40B4-BE49-F238E27FC236}">
                <a16:creationId xmlns:a16="http://schemas.microsoft.com/office/drawing/2014/main" id="{0C706CAA-2839-8B27-5C23-713BEE63AAEB}"/>
              </a:ext>
            </a:extLst>
          </p:cNvPr>
          <p:cNvSpPr/>
          <p:nvPr/>
        </p:nvSpPr>
        <p:spPr>
          <a:xfrm rot="16200000">
            <a:off x="5290225" y="3473750"/>
            <a:ext cx="657720" cy="43566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9" name="Group 148">
            <a:extLst>
              <a:ext uri="{FF2B5EF4-FFF2-40B4-BE49-F238E27FC236}">
                <a16:creationId xmlns:a16="http://schemas.microsoft.com/office/drawing/2014/main" id="{C9DECFAE-1743-BCF3-A6B3-DA1A7D4552F3}"/>
              </a:ext>
            </a:extLst>
          </p:cNvPr>
          <p:cNvGrpSpPr/>
          <p:nvPr/>
        </p:nvGrpSpPr>
        <p:grpSpPr>
          <a:xfrm>
            <a:off x="6223483" y="2317610"/>
            <a:ext cx="5271594" cy="3379262"/>
            <a:chOff x="7201784" y="2263438"/>
            <a:chExt cx="5271594" cy="3379262"/>
          </a:xfrm>
        </p:grpSpPr>
        <p:cxnSp>
          <p:nvCxnSpPr>
            <p:cNvPr id="41" name="Straight Connector 40">
              <a:extLst>
                <a:ext uri="{FF2B5EF4-FFF2-40B4-BE49-F238E27FC236}">
                  <a16:creationId xmlns:a16="http://schemas.microsoft.com/office/drawing/2014/main" id="{CA875C16-1ECB-C58E-80FC-4F174260E8C4}"/>
                </a:ext>
              </a:extLst>
            </p:cNvPr>
            <p:cNvCxnSpPr>
              <a:cxnSpLocks/>
            </p:cNvCxnSpPr>
            <p:nvPr/>
          </p:nvCxnSpPr>
          <p:spPr>
            <a:xfrm flipV="1">
              <a:off x="9505710" y="4146831"/>
              <a:ext cx="474788" cy="744487"/>
            </a:xfrm>
            <a:prstGeom prst="line">
              <a:avLst/>
            </a:prstGeom>
            <a:ln w="57150">
              <a:solidFill>
                <a:srgbClr val="0B304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1D5684DF-2F80-1D67-5AFF-B1865D952C6E}"/>
                </a:ext>
              </a:extLst>
            </p:cNvPr>
            <p:cNvGrpSpPr/>
            <p:nvPr/>
          </p:nvGrpSpPr>
          <p:grpSpPr>
            <a:xfrm>
              <a:off x="7794253" y="2443838"/>
              <a:ext cx="3382438" cy="2630725"/>
              <a:chOff x="7794253" y="2108185"/>
              <a:chExt cx="3382438" cy="2630725"/>
            </a:xfrm>
          </p:grpSpPr>
          <p:sp>
            <p:nvSpPr>
              <p:cNvPr id="5" name="Rectangle 4">
                <a:extLst>
                  <a:ext uri="{FF2B5EF4-FFF2-40B4-BE49-F238E27FC236}">
                    <a16:creationId xmlns:a16="http://schemas.microsoft.com/office/drawing/2014/main" id="{62C9DE30-5C64-6734-4144-59BD2A24606F}"/>
                  </a:ext>
                </a:extLst>
              </p:cNvPr>
              <p:cNvSpPr/>
              <p:nvPr/>
            </p:nvSpPr>
            <p:spPr>
              <a:xfrm>
                <a:off x="7794253" y="2490070"/>
                <a:ext cx="3144948" cy="2215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actus with solid fill">
                <a:extLst>
                  <a:ext uri="{FF2B5EF4-FFF2-40B4-BE49-F238E27FC236}">
                    <a16:creationId xmlns:a16="http://schemas.microsoft.com/office/drawing/2014/main" id="{52AFF645-7611-B295-BBE9-CB3F1F0A4E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7841828" y="2543817"/>
                <a:ext cx="597398" cy="447915"/>
              </a:xfrm>
              <a:prstGeom prst="rect">
                <a:avLst/>
              </a:prstGeom>
            </p:spPr>
          </p:pic>
          <p:pic>
            <p:nvPicPr>
              <p:cNvPr id="11" name="Graphic 10" descr="Flower without stem with solid fill">
                <a:extLst>
                  <a:ext uri="{FF2B5EF4-FFF2-40B4-BE49-F238E27FC236}">
                    <a16:creationId xmlns:a16="http://schemas.microsoft.com/office/drawing/2014/main" id="{B0FDC454-9E9F-E6C2-1E0B-2AE58B91AD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1828" y="2555025"/>
                <a:ext cx="489366" cy="529341"/>
              </a:xfrm>
              <a:prstGeom prst="rect">
                <a:avLst/>
              </a:prstGeom>
            </p:spPr>
          </p:pic>
          <p:pic>
            <p:nvPicPr>
              <p:cNvPr id="15" name="Graphic 14" descr="Flower without stem with solid fill">
                <a:extLst>
                  <a:ext uri="{FF2B5EF4-FFF2-40B4-BE49-F238E27FC236}">
                    <a16:creationId xmlns:a16="http://schemas.microsoft.com/office/drawing/2014/main" id="{8DA7FE10-91B7-9724-8AE8-A7BA07FE28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2905" y="4209569"/>
                <a:ext cx="489366" cy="529341"/>
              </a:xfrm>
              <a:prstGeom prst="rect">
                <a:avLst/>
              </a:prstGeom>
            </p:spPr>
          </p:pic>
          <p:pic>
            <p:nvPicPr>
              <p:cNvPr id="17" name="Graphic 16" descr="Flower without stem with solid fill">
                <a:extLst>
                  <a:ext uri="{FF2B5EF4-FFF2-40B4-BE49-F238E27FC236}">
                    <a16:creationId xmlns:a16="http://schemas.microsoft.com/office/drawing/2014/main" id="{8216BBD8-4CBA-078E-E273-519C8C55A8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6256" y="4026324"/>
                <a:ext cx="489366" cy="529341"/>
              </a:xfrm>
              <a:prstGeom prst="rect">
                <a:avLst/>
              </a:prstGeom>
            </p:spPr>
          </p:pic>
          <p:pic>
            <p:nvPicPr>
              <p:cNvPr id="21" name="Graphic 20" descr="Cactus with solid fill">
                <a:extLst>
                  <a:ext uri="{FF2B5EF4-FFF2-40B4-BE49-F238E27FC236}">
                    <a16:creationId xmlns:a16="http://schemas.microsoft.com/office/drawing/2014/main" id="{6BE48C05-5924-5B4F-A276-17E46761F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318518" y="3799960"/>
                <a:ext cx="597398" cy="447915"/>
              </a:xfrm>
              <a:prstGeom prst="rect">
                <a:avLst/>
              </a:prstGeom>
            </p:spPr>
          </p:pic>
          <p:pic>
            <p:nvPicPr>
              <p:cNvPr id="24" name="Graphic 23" descr="Cactus with solid fill">
                <a:extLst>
                  <a:ext uri="{FF2B5EF4-FFF2-40B4-BE49-F238E27FC236}">
                    <a16:creationId xmlns:a16="http://schemas.microsoft.com/office/drawing/2014/main" id="{F1D2D884-338B-0A5B-490E-5BC4915E78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072736" y="2714917"/>
                <a:ext cx="597398" cy="447915"/>
              </a:xfrm>
              <a:prstGeom prst="rect">
                <a:avLst/>
              </a:prstGeom>
            </p:spPr>
          </p:pic>
          <p:cxnSp>
            <p:nvCxnSpPr>
              <p:cNvPr id="30" name="Straight Arrow Connector 29">
                <a:extLst>
                  <a:ext uri="{FF2B5EF4-FFF2-40B4-BE49-F238E27FC236}">
                    <a16:creationId xmlns:a16="http://schemas.microsoft.com/office/drawing/2014/main" id="{E7A56481-F127-3119-3815-4AA4F6072036}"/>
                  </a:ext>
                </a:extLst>
              </p:cNvPr>
              <p:cNvCxnSpPr/>
              <p:nvPr/>
            </p:nvCxnSpPr>
            <p:spPr>
              <a:xfrm flipV="1">
                <a:off x="7794253" y="2108185"/>
                <a:ext cx="0" cy="2630725"/>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C10EE2C-32A8-F72F-77AB-D1286DC99B8B}"/>
                  </a:ext>
                </a:extLst>
              </p:cNvPr>
              <p:cNvCxnSpPr>
                <a:cxnSpLocks/>
              </p:cNvCxnSpPr>
              <p:nvPr/>
            </p:nvCxnSpPr>
            <p:spPr>
              <a:xfrm>
                <a:off x="7794253" y="4712767"/>
                <a:ext cx="3382438" cy="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AF1D6412-F9C2-7910-3216-B8D49BDF7259}"/>
                </a:ext>
              </a:extLst>
            </p:cNvPr>
            <p:cNvSpPr txBox="1"/>
            <p:nvPr/>
          </p:nvSpPr>
          <p:spPr>
            <a:xfrm>
              <a:off x="8017523" y="5273368"/>
              <a:ext cx="2737465" cy="369332"/>
            </a:xfrm>
            <a:prstGeom prst="rect">
              <a:avLst/>
            </a:prstGeom>
            <a:noFill/>
          </p:spPr>
          <p:txBody>
            <a:bodyPr wrap="square" rtlCol="0">
              <a:spAutoFit/>
            </a:bodyPr>
            <a:lstStyle/>
            <a:p>
              <a:r>
                <a:rPr lang="en-US" b="1" dirty="0"/>
                <a:t>Principal Component 1</a:t>
              </a:r>
            </a:p>
          </p:txBody>
        </p:sp>
        <p:sp>
          <p:nvSpPr>
            <p:cNvPr id="10" name="TextBox 9">
              <a:extLst>
                <a:ext uri="{FF2B5EF4-FFF2-40B4-BE49-F238E27FC236}">
                  <a16:creationId xmlns:a16="http://schemas.microsoft.com/office/drawing/2014/main" id="{5D27A508-22E4-C7C2-FCD0-4E66FCB41754}"/>
                </a:ext>
              </a:extLst>
            </p:cNvPr>
            <p:cNvSpPr txBox="1"/>
            <p:nvPr/>
          </p:nvSpPr>
          <p:spPr>
            <a:xfrm rot="16200000">
              <a:off x="6017717" y="3499616"/>
              <a:ext cx="2737465" cy="369332"/>
            </a:xfrm>
            <a:prstGeom prst="rect">
              <a:avLst/>
            </a:prstGeom>
            <a:noFill/>
          </p:spPr>
          <p:txBody>
            <a:bodyPr wrap="square" rtlCol="0">
              <a:spAutoFit/>
            </a:bodyPr>
            <a:lstStyle/>
            <a:p>
              <a:r>
                <a:rPr lang="en-US" b="1" dirty="0"/>
                <a:t>Principal Component 2</a:t>
              </a:r>
            </a:p>
          </p:txBody>
        </p:sp>
        <p:cxnSp>
          <p:nvCxnSpPr>
            <p:cNvPr id="28" name="Straight Connector 27">
              <a:extLst>
                <a:ext uri="{FF2B5EF4-FFF2-40B4-BE49-F238E27FC236}">
                  <a16:creationId xmlns:a16="http://schemas.microsoft.com/office/drawing/2014/main" id="{1101D733-D1EB-8519-A755-54D4E0446DEF}"/>
                </a:ext>
              </a:extLst>
            </p:cNvPr>
            <p:cNvCxnSpPr>
              <a:cxnSpLocks/>
            </p:cNvCxnSpPr>
            <p:nvPr/>
          </p:nvCxnSpPr>
          <p:spPr>
            <a:xfrm>
              <a:off x="9285025" y="2875033"/>
              <a:ext cx="677162" cy="1337449"/>
            </a:xfrm>
            <a:prstGeom prst="line">
              <a:avLst/>
            </a:prstGeom>
            <a:ln w="57150">
              <a:solidFill>
                <a:srgbClr val="275317"/>
              </a:solidFill>
              <a:prstDash val="soli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ADEFADF-D9C7-47EB-E5DB-5296751FA020}"/>
                </a:ext>
              </a:extLst>
            </p:cNvPr>
            <p:cNvSpPr txBox="1"/>
            <p:nvPr/>
          </p:nvSpPr>
          <p:spPr>
            <a:xfrm rot="20829331">
              <a:off x="10828456" y="3557660"/>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grpSp>
          <p:nvGrpSpPr>
            <p:cNvPr id="54" name="Group 53">
              <a:extLst>
                <a:ext uri="{FF2B5EF4-FFF2-40B4-BE49-F238E27FC236}">
                  <a16:creationId xmlns:a16="http://schemas.microsoft.com/office/drawing/2014/main" id="{E70F6B2E-FC49-5C0F-F87C-2414F9CCDBF8}"/>
                </a:ext>
              </a:extLst>
            </p:cNvPr>
            <p:cNvGrpSpPr/>
            <p:nvPr/>
          </p:nvGrpSpPr>
          <p:grpSpPr>
            <a:xfrm>
              <a:off x="9929995" y="3826602"/>
              <a:ext cx="1192255" cy="376090"/>
              <a:chOff x="9929993" y="3826602"/>
              <a:chExt cx="1263793" cy="376090"/>
            </a:xfrm>
          </p:grpSpPr>
          <p:cxnSp>
            <p:nvCxnSpPr>
              <p:cNvPr id="34" name="Straight Connector 33">
                <a:extLst>
                  <a:ext uri="{FF2B5EF4-FFF2-40B4-BE49-F238E27FC236}">
                    <a16:creationId xmlns:a16="http://schemas.microsoft.com/office/drawing/2014/main" id="{4F93ACB4-66D0-CE84-92FD-CA64035BE136}"/>
                  </a:ext>
                </a:extLst>
              </p:cNvPr>
              <p:cNvCxnSpPr>
                <a:cxnSpLocks/>
                <a:endCxn id="5" idx="3"/>
              </p:cNvCxnSpPr>
              <p:nvPr/>
            </p:nvCxnSpPr>
            <p:spPr>
              <a:xfrm flipV="1">
                <a:off x="9929993" y="3933268"/>
                <a:ext cx="1009204" cy="269424"/>
              </a:xfrm>
              <a:prstGeom prst="line">
                <a:avLst/>
              </a:prstGeom>
              <a:ln w="57150">
                <a:solidFill>
                  <a:srgbClr val="50164A"/>
                </a:solidFill>
              </a:ln>
            </p:spPr>
            <p:style>
              <a:lnRef idx="2">
                <a:schemeClr val="accent1"/>
              </a:lnRef>
              <a:fillRef idx="0">
                <a:schemeClr val="accent1"/>
              </a:fillRef>
              <a:effectRef idx="1">
                <a:schemeClr val="accent1"/>
              </a:effectRef>
              <a:fontRef idx="minor">
                <a:schemeClr val="tx1"/>
              </a:fontRef>
            </p:style>
          </p:cxnSp>
          <p:sp>
            <p:nvSpPr>
              <p:cNvPr id="48" name="Isosceles Triangle 47">
                <a:extLst>
                  <a:ext uri="{FF2B5EF4-FFF2-40B4-BE49-F238E27FC236}">
                    <a16:creationId xmlns:a16="http://schemas.microsoft.com/office/drawing/2014/main" id="{D65B3E9A-20F7-0688-576C-B2CD74014634}"/>
                  </a:ext>
                </a:extLst>
              </p:cNvPr>
              <p:cNvSpPr/>
              <p:nvPr/>
            </p:nvSpPr>
            <p:spPr>
              <a:xfrm rot="4741796">
                <a:off x="10981191" y="3766406"/>
                <a:ext cx="152400" cy="272791"/>
              </a:xfrm>
              <a:prstGeom prst="triangle">
                <a:avLst>
                  <a:gd name="adj" fmla="val 55729"/>
                </a:avLst>
              </a:prstGeom>
              <a:solidFill>
                <a:schemeClr val="accent5">
                  <a:lumMod val="5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0" name="Isosceles Triangle 49">
              <a:extLst>
                <a:ext uri="{FF2B5EF4-FFF2-40B4-BE49-F238E27FC236}">
                  <a16:creationId xmlns:a16="http://schemas.microsoft.com/office/drawing/2014/main" id="{A24CEFF0-0D6F-8FCC-6FDC-A984F8B103DE}"/>
                </a:ext>
              </a:extLst>
            </p:cNvPr>
            <p:cNvSpPr/>
            <p:nvPr/>
          </p:nvSpPr>
          <p:spPr>
            <a:xfrm rot="19834514">
              <a:off x="9157148" y="2639234"/>
              <a:ext cx="152400" cy="272791"/>
            </a:xfrm>
            <a:prstGeom prst="triangle">
              <a:avLst>
                <a:gd name="adj" fmla="val 55729"/>
              </a:avLst>
            </a:prstGeom>
            <a:solidFill>
              <a:schemeClr val="accent3">
                <a:lumMod val="50000"/>
              </a:schemeClr>
            </a:solidFill>
            <a:ln>
              <a:solidFill>
                <a:srgbClr val="0D35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6E7DB992-2159-AE9E-82A7-13F0E479E50B}"/>
                </a:ext>
              </a:extLst>
            </p:cNvPr>
            <p:cNvSpPr txBox="1"/>
            <p:nvPr/>
          </p:nvSpPr>
          <p:spPr>
            <a:xfrm rot="19622059">
              <a:off x="8869705" y="2263438"/>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61" name="Isosceles Triangle 60">
              <a:extLst>
                <a:ext uri="{FF2B5EF4-FFF2-40B4-BE49-F238E27FC236}">
                  <a16:creationId xmlns:a16="http://schemas.microsoft.com/office/drawing/2014/main" id="{5383D51E-AF28-F893-3B9D-013E71BEE612}"/>
                </a:ext>
              </a:extLst>
            </p:cNvPr>
            <p:cNvSpPr/>
            <p:nvPr/>
          </p:nvSpPr>
          <p:spPr>
            <a:xfrm rot="13472024">
              <a:off x="9369783" y="4829850"/>
              <a:ext cx="152400" cy="272791"/>
            </a:xfrm>
            <a:prstGeom prst="triangle">
              <a:avLst>
                <a:gd name="adj" fmla="val 55729"/>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F2398771-2162-9F15-32F8-37C50D389CC8}"/>
                </a:ext>
              </a:extLst>
            </p:cNvPr>
            <p:cNvSpPr txBox="1"/>
            <p:nvPr/>
          </p:nvSpPr>
          <p:spPr>
            <a:xfrm rot="18148229">
              <a:off x="8778991" y="4261155"/>
              <a:ext cx="1206758"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grpSp>
      <p:grpSp>
        <p:nvGrpSpPr>
          <p:cNvPr id="128" name="Group 127">
            <a:extLst>
              <a:ext uri="{FF2B5EF4-FFF2-40B4-BE49-F238E27FC236}">
                <a16:creationId xmlns:a16="http://schemas.microsoft.com/office/drawing/2014/main" id="{3AF0B3AB-CC11-2335-EBE1-30CFD40DB426}"/>
              </a:ext>
            </a:extLst>
          </p:cNvPr>
          <p:cNvGrpSpPr/>
          <p:nvPr/>
        </p:nvGrpSpPr>
        <p:grpSpPr>
          <a:xfrm>
            <a:off x="503964" y="2001728"/>
            <a:ext cx="4057934" cy="4132504"/>
            <a:chOff x="4187516" y="1464531"/>
            <a:chExt cx="4515398" cy="4691632"/>
          </a:xfrm>
        </p:grpSpPr>
        <p:grpSp>
          <p:nvGrpSpPr>
            <p:cNvPr id="129" name="Group 128">
              <a:extLst>
                <a:ext uri="{FF2B5EF4-FFF2-40B4-BE49-F238E27FC236}">
                  <a16:creationId xmlns:a16="http://schemas.microsoft.com/office/drawing/2014/main" id="{33CBAD05-D45C-7D0F-DDC4-88905A8D3784}"/>
                </a:ext>
              </a:extLst>
            </p:cNvPr>
            <p:cNvGrpSpPr/>
            <p:nvPr/>
          </p:nvGrpSpPr>
          <p:grpSpPr>
            <a:xfrm>
              <a:off x="4187516" y="1464531"/>
              <a:ext cx="4515398" cy="3946565"/>
              <a:chOff x="4187516" y="1464531"/>
              <a:chExt cx="4515398" cy="3946565"/>
            </a:xfrm>
          </p:grpSpPr>
          <p:grpSp>
            <p:nvGrpSpPr>
              <p:cNvPr id="131" name="Group 130">
                <a:extLst>
                  <a:ext uri="{FF2B5EF4-FFF2-40B4-BE49-F238E27FC236}">
                    <a16:creationId xmlns:a16="http://schemas.microsoft.com/office/drawing/2014/main" id="{0C273EF7-7B28-A1A9-DF18-40140229702D}"/>
                  </a:ext>
                </a:extLst>
              </p:cNvPr>
              <p:cNvGrpSpPr/>
              <p:nvPr/>
            </p:nvGrpSpPr>
            <p:grpSpPr>
              <a:xfrm>
                <a:off x="4187516" y="1929683"/>
                <a:ext cx="4515398" cy="3352002"/>
                <a:chOff x="592569" y="2108185"/>
                <a:chExt cx="4515398" cy="3352002"/>
              </a:xfrm>
            </p:grpSpPr>
            <p:cxnSp>
              <p:nvCxnSpPr>
                <p:cNvPr id="135" name="Straight Connector 134">
                  <a:extLst>
                    <a:ext uri="{FF2B5EF4-FFF2-40B4-BE49-F238E27FC236}">
                      <a16:creationId xmlns:a16="http://schemas.microsoft.com/office/drawing/2014/main" id="{D17C2521-2B2E-D49E-6CA1-D6CEA1799F87}"/>
                    </a:ext>
                  </a:extLst>
                </p:cNvPr>
                <p:cNvCxnSpPr>
                  <a:cxnSpLocks/>
                </p:cNvCxnSpPr>
                <p:nvPr/>
              </p:nvCxnSpPr>
              <p:spPr>
                <a:xfrm flipH="1">
                  <a:off x="1378258" y="3396714"/>
                  <a:ext cx="1743179" cy="1605595"/>
                </a:xfrm>
                <a:prstGeom prst="line">
                  <a:avLst/>
                </a:prstGeom>
                <a:ln w="57150">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FEA10D9E-630B-C48E-2AEF-55E38BFD8559}"/>
                    </a:ext>
                  </a:extLst>
                </p:cNvPr>
                <p:cNvCxnSpPr>
                  <a:cxnSpLocks/>
                </p:cNvCxnSpPr>
                <p:nvPr/>
              </p:nvCxnSpPr>
              <p:spPr>
                <a:xfrm>
                  <a:off x="1358802" y="2503850"/>
                  <a:ext cx="0" cy="2511853"/>
                </a:xfrm>
                <a:prstGeom prst="line">
                  <a:avLst/>
                </a:prstGeom>
                <a:ln w="5715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174D2F15-5612-91BE-CEDD-AD11373E5978}"/>
                    </a:ext>
                  </a:extLst>
                </p:cNvPr>
                <p:cNvCxnSpPr>
                  <a:cxnSpLocks/>
                </p:cNvCxnSpPr>
                <p:nvPr/>
              </p:nvCxnSpPr>
              <p:spPr>
                <a:xfrm>
                  <a:off x="1330233" y="5042036"/>
                  <a:ext cx="2441029" cy="183514"/>
                </a:xfrm>
                <a:prstGeom prst="line">
                  <a:avLst/>
                </a:prstGeom>
                <a:ln w="5715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3E5A5922-85BE-E7EE-6C12-969359FEB8F4}"/>
                    </a:ext>
                  </a:extLst>
                </p:cNvPr>
                <p:cNvSpPr txBox="1"/>
                <p:nvPr/>
              </p:nvSpPr>
              <p:spPr>
                <a:xfrm>
                  <a:off x="3463045" y="5040884"/>
                  <a:ext cx="1644922" cy="419303"/>
                </a:xfrm>
                <a:prstGeom prst="rect">
                  <a:avLst/>
                </a:prstGeom>
                <a:noFill/>
              </p:spPr>
              <p:txBody>
                <a:bodyPr wrap="square" rtlCol="0">
                  <a:spAutoFit/>
                </a:bodyPr>
                <a:lstStyle/>
                <a:p>
                  <a:pPr algn="ctr"/>
                  <a:r>
                    <a:rPr lang="en-US" b="1" dirty="0">
                      <a:solidFill>
                        <a:schemeClr val="bg2">
                          <a:lumMod val="75000"/>
                        </a:schemeClr>
                      </a:solidFill>
                    </a:rPr>
                    <a:t>bioclim1</a:t>
                  </a:r>
                </a:p>
              </p:txBody>
            </p:sp>
            <p:sp>
              <p:nvSpPr>
                <p:cNvPr id="139" name="TextBox 138">
                  <a:extLst>
                    <a:ext uri="{FF2B5EF4-FFF2-40B4-BE49-F238E27FC236}">
                      <a16:creationId xmlns:a16="http://schemas.microsoft.com/office/drawing/2014/main" id="{A77BD942-47E4-AA01-2CBD-AD955F10E237}"/>
                    </a:ext>
                  </a:extLst>
                </p:cNvPr>
                <p:cNvSpPr txBox="1"/>
                <p:nvPr/>
              </p:nvSpPr>
              <p:spPr>
                <a:xfrm>
                  <a:off x="592569" y="2108185"/>
                  <a:ext cx="1644922" cy="419303"/>
                </a:xfrm>
                <a:prstGeom prst="rect">
                  <a:avLst/>
                </a:prstGeom>
                <a:noFill/>
              </p:spPr>
              <p:txBody>
                <a:bodyPr wrap="square" rtlCol="0">
                  <a:spAutoFit/>
                </a:bodyPr>
                <a:lstStyle/>
                <a:p>
                  <a:pPr algn="ctr"/>
                  <a:r>
                    <a:rPr lang="en-US" b="1" dirty="0">
                      <a:solidFill>
                        <a:schemeClr val="bg2">
                          <a:lumMod val="75000"/>
                        </a:schemeClr>
                      </a:solidFill>
                    </a:rPr>
                    <a:t>bioclim2</a:t>
                  </a:r>
                </a:p>
              </p:txBody>
            </p:sp>
            <p:sp>
              <p:nvSpPr>
                <p:cNvPr id="140" name="TextBox 139">
                  <a:extLst>
                    <a:ext uri="{FF2B5EF4-FFF2-40B4-BE49-F238E27FC236}">
                      <a16:creationId xmlns:a16="http://schemas.microsoft.com/office/drawing/2014/main" id="{E59E35CF-65A8-69E8-5C34-86A8445B204E}"/>
                    </a:ext>
                  </a:extLst>
                </p:cNvPr>
                <p:cNvSpPr txBox="1"/>
                <p:nvPr/>
              </p:nvSpPr>
              <p:spPr>
                <a:xfrm>
                  <a:off x="2847195" y="3148151"/>
                  <a:ext cx="1644922" cy="419303"/>
                </a:xfrm>
                <a:prstGeom prst="rect">
                  <a:avLst/>
                </a:prstGeom>
                <a:noFill/>
              </p:spPr>
              <p:txBody>
                <a:bodyPr wrap="square" rtlCol="0">
                  <a:spAutoFit/>
                </a:bodyPr>
                <a:lstStyle/>
                <a:p>
                  <a:pPr algn="ctr"/>
                  <a:r>
                    <a:rPr lang="en-US" b="1" dirty="0">
                      <a:solidFill>
                        <a:schemeClr val="bg2">
                          <a:lumMod val="75000"/>
                        </a:schemeClr>
                      </a:solidFill>
                    </a:rPr>
                    <a:t>bioclim3</a:t>
                  </a:r>
                </a:p>
              </p:txBody>
            </p:sp>
            <p:pic>
              <p:nvPicPr>
                <p:cNvPr id="141" name="Graphic 140" descr="Cactus with solid fill">
                  <a:extLst>
                    <a:ext uri="{FF2B5EF4-FFF2-40B4-BE49-F238E27FC236}">
                      <a16:creationId xmlns:a16="http://schemas.microsoft.com/office/drawing/2014/main" id="{7926F720-9A48-4EFB-8202-673AA52B324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3117647" y="4084342"/>
                  <a:ext cx="294303" cy="322748"/>
                </a:xfrm>
                <a:prstGeom prst="rect">
                  <a:avLst/>
                </a:prstGeom>
              </p:spPr>
            </p:pic>
            <p:pic>
              <p:nvPicPr>
                <p:cNvPr id="142" name="Graphic 141" descr="Flower without stem with solid fill">
                  <a:extLst>
                    <a:ext uri="{FF2B5EF4-FFF2-40B4-BE49-F238E27FC236}">
                      <a16:creationId xmlns:a16="http://schemas.microsoft.com/office/drawing/2014/main" id="{7C478FAF-E11C-DF18-E88C-0138B834FC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7299" y="3268919"/>
                  <a:ext cx="367001" cy="435666"/>
                </a:xfrm>
                <a:prstGeom prst="rect">
                  <a:avLst/>
                </a:prstGeom>
              </p:spPr>
            </p:pic>
            <p:pic>
              <p:nvPicPr>
                <p:cNvPr id="143" name="Graphic 142" descr="Flower without stem with solid fill">
                  <a:extLst>
                    <a:ext uri="{FF2B5EF4-FFF2-40B4-BE49-F238E27FC236}">
                      <a16:creationId xmlns:a16="http://schemas.microsoft.com/office/drawing/2014/main" id="{2C99E7D4-4C73-838C-DFFC-09569641AD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74300" y="3921467"/>
                  <a:ext cx="374580" cy="435666"/>
                </a:xfrm>
                <a:prstGeom prst="rect">
                  <a:avLst/>
                </a:prstGeom>
              </p:spPr>
            </p:pic>
            <p:pic>
              <p:nvPicPr>
                <p:cNvPr id="144" name="Graphic 143" descr="Cactus with solid fill">
                  <a:extLst>
                    <a:ext uri="{FF2B5EF4-FFF2-40B4-BE49-F238E27FC236}">
                      <a16:creationId xmlns:a16="http://schemas.microsoft.com/office/drawing/2014/main" id="{6CA08D1D-1308-8162-C9AB-80B59BF452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2257910" y="4712767"/>
                  <a:ext cx="320763" cy="322748"/>
                </a:xfrm>
                <a:prstGeom prst="rect">
                  <a:avLst/>
                </a:prstGeom>
              </p:spPr>
            </p:pic>
            <p:pic>
              <p:nvPicPr>
                <p:cNvPr id="145" name="Graphic 144" descr="Flower without stem with solid fill">
                  <a:extLst>
                    <a:ext uri="{FF2B5EF4-FFF2-40B4-BE49-F238E27FC236}">
                      <a16:creationId xmlns:a16="http://schemas.microsoft.com/office/drawing/2014/main" id="{CED61B24-7E89-198B-2FF4-D8EEA90925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48880" y="2299360"/>
                  <a:ext cx="271772" cy="381420"/>
                </a:xfrm>
                <a:prstGeom prst="rect">
                  <a:avLst/>
                </a:prstGeom>
              </p:spPr>
            </p:pic>
            <p:pic>
              <p:nvPicPr>
                <p:cNvPr id="146" name="Graphic 145" descr="Cactus with solid fill">
                  <a:extLst>
                    <a:ext uri="{FF2B5EF4-FFF2-40B4-BE49-F238E27FC236}">
                      <a16:creationId xmlns:a16="http://schemas.microsoft.com/office/drawing/2014/main" id="{69D19709-DBCD-2E46-A96B-30BFD01595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2317936" y="2320795"/>
                  <a:ext cx="357440" cy="322748"/>
                </a:xfrm>
                <a:prstGeom prst="rect">
                  <a:avLst/>
                </a:prstGeom>
              </p:spPr>
            </p:pic>
            <p:sp>
              <p:nvSpPr>
                <p:cNvPr id="147" name="Rectangle 146">
                  <a:extLst>
                    <a:ext uri="{FF2B5EF4-FFF2-40B4-BE49-F238E27FC236}">
                      <a16:creationId xmlns:a16="http://schemas.microsoft.com/office/drawing/2014/main" id="{8A034277-270E-6139-B387-BA5106967E2A}"/>
                    </a:ext>
                  </a:extLst>
                </p:cNvPr>
                <p:cNvSpPr/>
                <p:nvPr/>
              </p:nvSpPr>
              <p:spPr>
                <a:xfrm rot="14618980">
                  <a:off x="1103265" y="2878966"/>
                  <a:ext cx="2451227" cy="1596096"/>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2" name="Straight Arrow Connector 131">
                <a:extLst>
                  <a:ext uri="{FF2B5EF4-FFF2-40B4-BE49-F238E27FC236}">
                    <a16:creationId xmlns:a16="http://schemas.microsoft.com/office/drawing/2014/main" id="{5BA8742F-5799-0684-B2AB-4F5978BE8DEB}"/>
                  </a:ext>
                </a:extLst>
              </p:cNvPr>
              <p:cNvCxnSpPr>
                <a:cxnSpLocks/>
              </p:cNvCxnSpPr>
              <p:nvPr/>
            </p:nvCxnSpPr>
            <p:spPr>
              <a:xfrm flipV="1">
                <a:off x="4646836" y="1823152"/>
                <a:ext cx="1883056" cy="949596"/>
              </a:xfrm>
              <a:prstGeom prst="straightConnector1">
                <a:avLst/>
              </a:prstGeom>
              <a:ln w="571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AD1B1EAA-50E8-06D7-5022-CBE32CFFBB1A}"/>
                  </a:ext>
                </a:extLst>
              </p:cNvPr>
              <p:cNvSpPr txBox="1"/>
              <p:nvPr/>
            </p:nvSpPr>
            <p:spPr>
              <a:xfrm rot="20077302">
                <a:off x="6482196" y="1464531"/>
                <a:ext cx="845533" cy="419303"/>
              </a:xfrm>
              <a:prstGeom prst="rect">
                <a:avLst/>
              </a:prstGeom>
              <a:noFill/>
            </p:spPr>
            <p:txBody>
              <a:bodyPr wrap="square" rtlCol="0">
                <a:spAutoFit/>
              </a:bodyPr>
              <a:lstStyle/>
              <a:p>
                <a:r>
                  <a:rPr lang="en-US" b="1" dirty="0">
                    <a:solidFill>
                      <a:schemeClr val="bg2">
                        <a:lumMod val="50000"/>
                      </a:schemeClr>
                    </a:solidFill>
                  </a:rPr>
                  <a:t>PC2</a:t>
                </a:r>
              </a:p>
            </p:txBody>
          </p:sp>
          <p:cxnSp>
            <p:nvCxnSpPr>
              <p:cNvPr id="134" name="Straight Arrow Connector 133">
                <a:extLst>
                  <a:ext uri="{FF2B5EF4-FFF2-40B4-BE49-F238E27FC236}">
                    <a16:creationId xmlns:a16="http://schemas.microsoft.com/office/drawing/2014/main" id="{68A379E8-4080-9463-C4B3-ADA4D4FAF877}"/>
                  </a:ext>
                </a:extLst>
              </p:cNvPr>
              <p:cNvCxnSpPr>
                <a:cxnSpLocks/>
              </p:cNvCxnSpPr>
              <p:nvPr/>
            </p:nvCxnSpPr>
            <p:spPr>
              <a:xfrm>
                <a:off x="4664698" y="2757359"/>
                <a:ext cx="1310875" cy="2653737"/>
              </a:xfrm>
              <a:prstGeom prst="straightConnector1">
                <a:avLst/>
              </a:prstGeom>
              <a:ln w="571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30" name="TextBox 129">
              <a:extLst>
                <a:ext uri="{FF2B5EF4-FFF2-40B4-BE49-F238E27FC236}">
                  <a16:creationId xmlns:a16="http://schemas.microsoft.com/office/drawing/2014/main" id="{6C0672A5-6879-C6A1-98F6-9D12461EB287}"/>
                </a:ext>
              </a:extLst>
            </p:cNvPr>
            <p:cNvSpPr txBox="1"/>
            <p:nvPr/>
          </p:nvSpPr>
          <p:spPr>
            <a:xfrm rot="3810374">
              <a:off x="5700478" y="5567055"/>
              <a:ext cx="767249" cy="410968"/>
            </a:xfrm>
            <a:prstGeom prst="rect">
              <a:avLst/>
            </a:prstGeom>
            <a:noFill/>
          </p:spPr>
          <p:txBody>
            <a:bodyPr wrap="square" rtlCol="0">
              <a:spAutoFit/>
            </a:bodyPr>
            <a:lstStyle/>
            <a:p>
              <a:r>
                <a:rPr lang="en-US" b="1" dirty="0">
                  <a:solidFill>
                    <a:schemeClr val="bg2">
                      <a:lumMod val="50000"/>
                    </a:schemeClr>
                  </a:solidFill>
                </a:rPr>
                <a:t>PC1</a:t>
              </a:r>
            </a:p>
          </p:txBody>
        </p:sp>
      </p:grpSp>
    </p:spTree>
    <p:extLst>
      <p:ext uri="{BB962C8B-B14F-4D97-AF65-F5344CB8AC3E}">
        <p14:creationId xmlns:p14="http://schemas.microsoft.com/office/powerpoint/2010/main" val="26508418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920FE-5D7B-866E-77E4-74F898A73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3C369-E9FF-8A41-8871-3885B7F0786A}"/>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a:t>
            </a:r>
            <a:endParaRPr lang="en-US" dirty="0"/>
          </a:p>
        </p:txBody>
      </p:sp>
      <p:grpSp>
        <p:nvGrpSpPr>
          <p:cNvPr id="149" name="Group 148">
            <a:extLst>
              <a:ext uri="{FF2B5EF4-FFF2-40B4-BE49-F238E27FC236}">
                <a16:creationId xmlns:a16="http://schemas.microsoft.com/office/drawing/2014/main" id="{0D35D8E5-028D-1913-D44D-04549F4E3D7C}"/>
              </a:ext>
            </a:extLst>
          </p:cNvPr>
          <p:cNvGrpSpPr/>
          <p:nvPr/>
        </p:nvGrpSpPr>
        <p:grpSpPr>
          <a:xfrm>
            <a:off x="3832252" y="383787"/>
            <a:ext cx="6613588" cy="5612365"/>
            <a:chOff x="7322207" y="1041801"/>
            <a:chExt cx="5863117" cy="4516096"/>
          </a:xfrm>
        </p:grpSpPr>
        <p:cxnSp>
          <p:nvCxnSpPr>
            <p:cNvPr id="41" name="Straight Connector 40">
              <a:extLst>
                <a:ext uri="{FF2B5EF4-FFF2-40B4-BE49-F238E27FC236}">
                  <a16:creationId xmlns:a16="http://schemas.microsoft.com/office/drawing/2014/main" id="{C1B852A2-7456-2913-2614-6C8BBD815674}"/>
                </a:ext>
              </a:extLst>
            </p:cNvPr>
            <p:cNvCxnSpPr>
              <a:cxnSpLocks/>
            </p:cNvCxnSpPr>
            <p:nvPr/>
          </p:nvCxnSpPr>
          <p:spPr>
            <a:xfrm flipV="1">
              <a:off x="9505710" y="4146831"/>
              <a:ext cx="474788" cy="744487"/>
            </a:xfrm>
            <a:prstGeom prst="line">
              <a:avLst/>
            </a:prstGeom>
            <a:ln w="57150">
              <a:solidFill>
                <a:srgbClr val="0B304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84C450AD-02E8-05C4-23AA-4225E4846594}"/>
                </a:ext>
              </a:extLst>
            </p:cNvPr>
            <p:cNvGrpSpPr/>
            <p:nvPr/>
          </p:nvGrpSpPr>
          <p:grpSpPr>
            <a:xfrm>
              <a:off x="7794253" y="2443838"/>
              <a:ext cx="3382438" cy="2630725"/>
              <a:chOff x="7794253" y="2108185"/>
              <a:chExt cx="3382438" cy="2630725"/>
            </a:xfrm>
          </p:grpSpPr>
          <p:sp>
            <p:nvSpPr>
              <p:cNvPr id="5" name="Rectangle 4">
                <a:extLst>
                  <a:ext uri="{FF2B5EF4-FFF2-40B4-BE49-F238E27FC236}">
                    <a16:creationId xmlns:a16="http://schemas.microsoft.com/office/drawing/2014/main" id="{FD856BEC-B238-DE49-4F48-464C1BBE9DF6}"/>
                  </a:ext>
                </a:extLst>
              </p:cNvPr>
              <p:cNvSpPr/>
              <p:nvPr/>
            </p:nvSpPr>
            <p:spPr>
              <a:xfrm>
                <a:off x="7794253" y="2490070"/>
                <a:ext cx="3144948" cy="2215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actus with solid fill">
                <a:extLst>
                  <a:ext uri="{FF2B5EF4-FFF2-40B4-BE49-F238E27FC236}">
                    <a16:creationId xmlns:a16="http://schemas.microsoft.com/office/drawing/2014/main" id="{7B698DB4-54E4-DA2D-9C97-D661703CE6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7841828" y="2543817"/>
                <a:ext cx="597398" cy="447915"/>
              </a:xfrm>
              <a:prstGeom prst="rect">
                <a:avLst/>
              </a:prstGeom>
            </p:spPr>
          </p:pic>
          <p:pic>
            <p:nvPicPr>
              <p:cNvPr id="11" name="Graphic 10" descr="Flower without stem with solid fill">
                <a:extLst>
                  <a:ext uri="{FF2B5EF4-FFF2-40B4-BE49-F238E27FC236}">
                    <a16:creationId xmlns:a16="http://schemas.microsoft.com/office/drawing/2014/main" id="{ACE9900C-848B-7A53-C35A-A4B5BE6B9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1828" y="2555025"/>
                <a:ext cx="489366" cy="529341"/>
              </a:xfrm>
              <a:prstGeom prst="rect">
                <a:avLst/>
              </a:prstGeom>
            </p:spPr>
          </p:pic>
          <p:pic>
            <p:nvPicPr>
              <p:cNvPr id="15" name="Graphic 14" descr="Flower without stem with solid fill">
                <a:extLst>
                  <a:ext uri="{FF2B5EF4-FFF2-40B4-BE49-F238E27FC236}">
                    <a16:creationId xmlns:a16="http://schemas.microsoft.com/office/drawing/2014/main" id="{C58D2C31-577A-2FB1-BD28-95C6746B47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2905" y="4209569"/>
                <a:ext cx="489366" cy="529341"/>
              </a:xfrm>
              <a:prstGeom prst="rect">
                <a:avLst/>
              </a:prstGeom>
            </p:spPr>
          </p:pic>
          <p:pic>
            <p:nvPicPr>
              <p:cNvPr id="17" name="Graphic 16" descr="Flower without stem with solid fill">
                <a:extLst>
                  <a:ext uri="{FF2B5EF4-FFF2-40B4-BE49-F238E27FC236}">
                    <a16:creationId xmlns:a16="http://schemas.microsoft.com/office/drawing/2014/main" id="{71E2D023-D88E-8E7A-B115-1A8F2E65FA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6256" y="4026324"/>
                <a:ext cx="489366" cy="529341"/>
              </a:xfrm>
              <a:prstGeom prst="rect">
                <a:avLst/>
              </a:prstGeom>
            </p:spPr>
          </p:pic>
          <p:pic>
            <p:nvPicPr>
              <p:cNvPr id="21" name="Graphic 20" descr="Cactus with solid fill">
                <a:extLst>
                  <a:ext uri="{FF2B5EF4-FFF2-40B4-BE49-F238E27FC236}">
                    <a16:creationId xmlns:a16="http://schemas.microsoft.com/office/drawing/2014/main" id="{EE2A3C77-0EFE-61B1-3734-1849A35765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318518" y="3799960"/>
                <a:ext cx="597398" cy="447915"/>
              </a:xfrm>
              <a:prstGeom prst="rect">
                <a:avLst/>
              </a:prstGeom>
            </p:spPr>
          </p:pic>
          <p:pic>
            <p:nvPicPr>
              <p:cNvPr id="24" name="Graphic 23" descr="Cactus with solid fill">
                <a:extLst>
                  <a:ext uri="{FF2B5EF4-FFF2-40B4-BE49-F238E27FC236}">
                    <a16:creationId xmlns:a16="http://schemas.microsoft.com/office/drawing/2014/main" id="{71820ED0-F830-76B9-4560-DBCEFAC749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072736" y="2714917"/>
                <a:ext cx="597398" cy="447915"/>
              </a:xfrm>
              <a:prstGeom prst="rect">
                <a:avLst/>
              </a:prstGeom>
            </p:spPr>
          </p:pic>
          <p:cxnSp>
            <p:nvCxnSpPr>
              <p:cNvPr id="30" name="Straight Arrow Connector 29">
                <a:extLst>
                  <a:ext uri="{FF2B5EF4-FFF2-40B4-BE49-F238E27FC236}">
                    <a16:creationId xmlns:a16="http://schemas.microsoft.com/office/drawing/2014/main" id="{09BAEC9F-D51A-1DFB-2964-CC0C554BE537}"/>
                  </a:ext>
                </a:extLst>
              </p:cNvPr>
              <p:cNvCxnSpPr/>
              <p:nvPr/>
            </p:nvCxnSpPr>
            <p:spPr>
              <a:xfrm flipV="1">
                <a:off x="7794253" y="2108185"/>
                <a:ext cx="0" cy="2630725"/>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C2667D0-BF80-237A-1687-0B4160A3B775}"/>
                  </a:ext>
                </a:extLst>
              </p:cNvPr>
              <p:cNvCxnSpPr>
                <a:cxnSpLocks/>
              </p:cNvCxnSpPr>
              <p:nvPr/>
            </p:nvCxnSpPr>
            <p:spPr>
              <a:xfrm>
                <a:off x="7794253" y="4712767"/>
                <a:ext cx="3382438" cy="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70A63CD0-04C9-34B6-F958-688ABFCDFFF6}"/>
                </a:ext>
              </a:extLst>
            </p:cNvPr>
            <p:cNvSpPr txBox="1"/>
            <p:nvPr/>
          </p:nvSpPr>
          <p:spPr>
            <a:xfrm>
              <a:off x="7800918" y="5310238"/>
              <a:ext cx="5384406" cy="247659"/>
            </a:xfrm>
            <a:prstGeom prst="rect">
              <a:avLst/>
            </a:prstGeom>
            <a:noFill/>
          </p:spPr>
          <p:txBody>
            <a:bodyPr wrap="square" rtlCol="0">
              <a:spAutoFit/>
            </a:bodyPr>
            <a:lstStyle/>
            <a:p>
              <a:r>
                <a:rPr lang="en-US" sz="1400" b="1" dirty="0"/>
                <a:t>Principal Component 1 (</a:t>
              </a:r>
              <a:r>
                <a:rPr lang="en-US" sz="1400" b="1" dirty="0">
                  <a:solidFill>
                    <a:srgbClr val="0070C0"/>
                  </a:solidFill>
                </a:rPr>
                <a:t>46.5% explained variation</a:t>
              </a:r>
              <a:r>
                <a:rPr lang="en-US" sz="1400" b="1" dirty="0"/>
                <a:t>)</a:t>
              </a:r>
            </a:p>
          </p:txBody>
        </p:sp>
        <p:sp>
          <p:nvSpPr>
            <p:cNvPr id="10" name="TextBox 9">
              <a:extLst>
                <a:ext uri="{FF2B5EF4-FFF2-40B4-BE49-F238E27FC236}">
                  <a16:creationId xmlns:a16="http://schemas.microsoft.com/office/drawing/2014/main" id="{58689D9B-E692-5D8C-A2F4-9F643E55084A}"/>
                </a:ext>
              </a:extLst>
            </p:cNvPr>
            <p:cNvSpPr txBox="1"/>
            <p:nvPr/>
          </p:nvSpPr>
          <p:spPr>
            <a:xfrm rot="16200000">
              <a:off x="5298615" y="3065393"/>
              <a:ext cx="4320036" cy="272852"/>
            </a:xfrm>
            <a:prstGeom prst="rect">
              <a:avLst/>
            </a:prstGeom>
            <a:noFill/>
          </p:spPr>
          <p:txBody>
            <a:bodyPr wrap="square" rtlCol="0">
              <a:spAutoFit/>
            </a:bodyPr>
            <a:lstStyle/>
            <a:p>
              <a:r>
                <a:rPr lang="en-US" sz="1400" b="1" dirty="0"/>
                <a:t>Principal Component 2 </a:t>
              </a:r>
              <a:r>
                <a:rPr lang="en-US" sz="1400" b="1" dirty="0">
                  <a:solidFill>
                    <a:srgbClr val="0070C0"/>
                  </a:solidFill>
                </a:rPr>
                <a:t>(23.4% explained variation</a:t>
              </a:r>
              <a:r>
                <a:rPr lang="en-US" sz="1400" b="1" dirty="0"/>
                <a:t>)</a:t>
              </a:r>
            </a:p>
          </p:txBody>
        </p:sp>
        <p:cxnSp>
          <p:nvCxnSpPr>
            <p:cNvPr id="28" name="Straight Connector 27">
              <a:extLst>
                <a:ext uri="{FF2B5EF4-FFF2-40B4-BE49-F238E27FC236}">
                  <a16:creationId xmlns:a16="http://schemas.microsoft.com/office/drawing/2014/main" id="{6B303CFA-49D4-3A64-5D4F-79A3909F7979}"/>
                </a:ext>
              </a:extLst>
            </p:cNvPr>
            <p:cNvCxnSpPr>
              <a:cxnSpLocks/>
            </p:cNvCxnSpPr>
            <p:nvPr/>
          </p:nvCxnSpPr>
          <p:spPr>
            <a:xfrm>
              <a:off x="9285025" y="2875033"/>
              <a:ext cx="677162" cy="1337449"/>
            </a:xfrm>
            <a:prstGeom prst="line">
              <a:avLst/>
            </a:prstGeom>
            <a:ln w="57150">
              <a:solidFill>
                <a:srgbClr val="275317"/>
              </a:solidFill>
              <a:prstDash val="soli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54ACA99-0457-A7F9-2D60-1869AE63D705}"/>
                </a:ext>
              </a:extLst>
            </p:cNvPr>
            <p:cNvSpPr txBox="1"/>
            <p:nvPr/>
          </p:nvSpPr>
          <p:spPr>
            <a:xfrm rot="20829331">
              <a:off x="10828456" y="3557660"/>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grpSp>
          <p:nvGrpSpPr>
            <p:cNvPr id="54" name="Group 53">
              <a:extLst>
                <a:ext uri="{FF2B5EF4-FFF2-40B4-BE49-F238E27FC236}">
                  <a16:creationId xmlns:a16="http://schemas.microsoft.com/office/drawing/2014/main" id="{02D9C2C8-D84E-BF59-B019-70E07232317E}"/>
                </a:ext>
              </a:extLst>
            </p:cNvPr>
            <p:cNvGrpSpPr/>
            <p:nvPr/>
          </p:nvGrpSpPr>
          <p:grpSpPr>
            <a:xfrm>
              <a:off x="9929995" y="3826602"/>
              <a:ext cx="1192255" cy="376090"/>
              <a:chOff x="9929993" y="3826602"/>
              <a:chExt cx="1263793" cy="376090"/>
            </a:xfrm>
          </p:grpSpPr>
          <p:cxnSp>
            <p:nvCxnSpPr>
              <p:cNvPr id="34" name="Straight Connector 33">
                <a:extLst>
                  <a:ext uri="{FF2B5EF4-FFF2-40B4-BE49-F238E27FC236}">
                    <a16:creationId xmlns:a16="http://schemas.microsoft.com/office/drawing/2014/main" id="{7A5A76A5-F602-8289-0E1C-285B0CDE4490}"/>
                  </a:ext>
                </a:extLst>
              </p:cNvPr>
              <p:cNvCxnSpPr>
                <a:cxnSpLocks/>
                <a:endCxn id="5" idx="3"/>
              </p:cNvCxnSpPr>
              <p:nvPr/>
            </p:nvCxnSpPr>
            <p:spPr>
              <a:xfrm flipV="1">
                <a:off x="9929993" y="3933268"/>
                <a:ext cx="1009204" cy="269424"/>
              </a:xfrm>
              <a:prstGeom prst="line">
                <a:avLst/>
              </a:prstGeom>
              <a:ln w="57150">
                <a:solidFill>
                  <a:srgbClr val="50164A"/>
                </a:solidFill>
              </a:ln>
            </p:spPr>
            <p:style>
              <a:lnRef idx="2">
                <a:schemeClr val="accent1"/>
              </a:lnRef>
              <a:fillRef idx="0">
                <a:schemeClr val="accent1"/>
              </a:fillRef>
              <a:effectRef idx="1">
                <a:schemeClr val="accent1"/>
              </a:effectRef>
              <a:fontRef idx="minor">
                <a:schemeClr val="tx1"/>
              </a:fontRef>
            </p:style>
          </p:cxnSp>
          <p:sp>
            <p:nvSpPr>
              <p:cNvPr id="48" name="Isosceles Triangle 47">
                <a:extLst>
                  <a:ext uri="{FF2B5EF4-FFF2-40B4-BE49-F238E27FC236}">
                    <a16:creationId xmlns:a16="http://schemas.microsoft.com/office/drawing/2014/main" id="{13EA6BBC-9FAB-4E94-E452-A8F061F5E8F6}"/>
                  </a:ext>
                </a:extLst>
              </p:cNvPr>
              <p:cNvSpPr/>
              <p:nvPr/>
            </p:nvSpPr>
            <p:spPr>
              <a:xfrm rot="4741796">
                <a:off x="10981191" y="3766406"/>
                <a:ext cx="152400" cy="272791"/>
              </a:xfrm>
              <a:prstGeom prst="triangle">
                <a:avLst>
                  <a:gd name="adj" fmla="val 55729"/>
                </a:avLst>
              </a:prstGeom>
              <a:solidFill>
                <a:schemeClr val="accent5">
                  <a:lumMod val="5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0" name="Isosceles Triangle 49">
              <a:extLst>
                <a:ext uri="{FF2B5EF4-FFF2-40B4-BE49-F238E27FC236}">
                  <a16:creationId xmlns:a16="http://schemas.microsoft.com/office/drawing/2014/main" id="{11BE790C-493D-1AE3-7C0E-F4EC6A5285C2}"/>
                </a:ext>
              </a:extLst>
            </p:cNvPr>
            <p:cNvSpPr/>
            <p:nvPr/>
          </p:nvSpPr>
          <p:spPr>
            <a:xfrm rot="19834514">
              <a:off x="9157148" y="2639234"/>
              <a:ext cx="152400" cy="272791"/>
            </a:xfrm>
            <a:prstGeom prst="triangle">
              <a:avLst>
                <a:gd name="adj" fmla="val 55729"/>
              </a:avLst>
            </a:prstGeom>
            <a:solidFill>
              <a:schemeClr val="accent3">
                <a:lumMod val="50000"/>
              </a:schemeClr>
            </a:solidFill>
            <a:ln>
              <a:solidFill>
                <a:srgbClr val="0D35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E0B342E-0B2E-E102-0189-44F15B1A817C}"/>
                </a:ext>
              </a:extLst>
            </p:cNvPr>
            <p:cNvSpPr txBox="1"/>
            <p:nvPr/>
          </p:nvSpPr>
          <p:spPr>
            <a:xfrm rot="19622059">
              <a:off x="8869705" y="2263438"/>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61" name="Isosceles Triangle 60">
              <a:extLst>
                <a:ext uri="{FF2B5EF4-FFF2-40B4-BE49-F238E27FC236}">
                  <a16:creationId xmlns:a16="http://schemas.microsoft.com/office/drawing/2014/main" id="{0E887F5F-FD2D-EEEB-F3CB-0681D7BE5220}"/>
                </a:ext>
              </a:extLst>
            </p:cNvPr>
            <p:cNvSpPr/>
            <p:nvPr/>
          </p:nvSpPr>
          <p:spPr>
            <a:xfrm rot="13472024">
              <a:off x="9369783" y="4829850"/>
              <a:ext cx="152400" cy="272791"/>
            </a:xfrm>
            <a:prstGeom prst="triangle">
              <a:avLst>
                <a:gd name="adj" fmla="val 55729"/>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7A752F2-0005-43BA-B639-7D88E132A5CC}"/>
                </a:ext>
              </a:extLst>
            </p:cNvPr>
            <p:cNvSpPr txBox="1"/>
            <p:nvPr/>
          </p:nvSpPr>
          <p:spPr>
            <a:xfrm rot="18148229">
              <a:off x="8778991" y="4261155"/>
              <a:ext cx="1206758"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grpSp>
      <p:sp>
        <p:nvSpPr>
          <p:cNvPr id="3" name="Oval 2">
            <a:extLst>
              <a:ext uri="{FF2B5EF4-FFF2-40B4-BE49-F238E27FC236}">
                <a16:creationId xmlns:a16="http://schemas.microsoft.com/office/drawing/2014/main" id="{BF117117-D7E2-76A4-9217-CECA6209F028}"/>
              </a:ext>
            </a:extLst>
          </p:cNvPr>
          <p:cNvSpPr/>
          <p:nvPr/>
        </p:nvSpPr>
        <p:spPr>
          <a:xfrm rot="19518635">
            <a:off x="4535515" y="2406277"/>
            <a:ext cx="1860767" cy="3438461"/>
          </a:xfrm>
          <a:prstGeom prst="ellipse">
            <a:avLst/>
          </a:prstGeom>
          <a:no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7F61708-5C1C-697D-00D8-5D703FD4BD75}"/>
              </a:ext>
            </a:extLst>
          </p:cNvPr>
          <p:cNvSpPr/>
          <p:nvPr/>
        </p:nvSpPr>
        <p:spPr>
          <a:xfrm rot="17107551">
            <a:off x="5563977" y="1292830"/>
            <a:ext cx="1688085" cy="4176275"/>
          </a:xfrm>
          <a:prstGeom prst="ellipse">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08182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D2F3-8BE4-B6CF-9ED8-D6C2EA737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5F187-616C-5404-B7EF-BF81C38E26A9}"/>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 (PCA)</a:t>
            </a:r>
            <a:endParaRPr lang="en-US" dirty="0"/>
          </a:p>
        </p:txBody>
      </p:sp>
      <p:grpSp>
        <p:nvGrpSpPr>
          <p:cNvPr id="149" name="Group 148">
            <a:extLst>
              <a:ext uri="{FF2B5EF4-FFF2-40B4-BE49-F238E27FC236}">
                <a16:creationId xmlns:a16="http://schemas.microsoft.com/office/drawing/2014/main" id="{FB77E300-2001-2EB2-F4EC-46D11ADCFE71}"/>
              </a:ext>
            </a:extLst>
          </p:cNvPr>
          <p:cNvGrpSpPr/>
          <p:nvPr/>
        </p:nvGrpSpPr>
        <p:grpSpPr>
          <a:xfrm>
            <a:off x="324338" y="622817"/>
            <a:ext cx="6613588" cy="5612365"/>
            <a:chOff x="7322207" y="1041801"/>
            <a:chExt cx="5863117" cy="4516096"/>
          </a:xfrm>
        </p:grpSpPr>
        <p:cxnSp>
          <p:nvCxnSpPr>
            <p:cNvPr id="41" name="Straight Connector 40">
              <a:extLst>
                <a:ext uri="{FF2B5EF4-FFF2-40B4-BE49-F238E27FC236}">
                  <a16:creationId xmlns:a16="http://schemas.microsoft.com/office/drawing/2014/main" id="{C891CD43-C49A-6BCB-7F26-64439457471F}"/>
                </a:ext>
              </a:extLst>
            </p:cNvPr>
            <p:cNvCxnSpPr>
              <a:cxnSpLocks/>
            </p:cNvCxnSpPr>
            <p:nvPr/>
          </p:nvCxnSpPr>
          <p:spPr>
            <a:xfrm flipV="1">
              <a:off x="9505710" y="4146831"/>
              <a:ext cx="474788" cy="744487"/>
            </a:xfrm>
            <a:prstGeom prst="line">
              <a:avLst/>
            </a:prstGeom>
            <a:ln w="57150">
              <a:solidFill>
                <a:srgbClr val="0B304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A32884D3-2CE8-9AA8-E42F-9F7F37ACED04}"/>
                </a:ext>
              </a:extLst>
            </p:cNvPr>
            <p:cNvGrpSpPr/>
            <p:nvPr/>
          </p:nvGrpSpPr>
          <p:grpSpPr>
            <a:xfrm>
              <a:off x="7794253" y="2443838"/>
              <a:ext cx="3382438" cy="2630725"/>
              <a:chOff x="7794253" y="2108185"/>
              <a:chExt cx="3382438" cy="2630725"/>
            </a:xfrm>
          </p:grpSpPr>
          <p:sp>
            <p:nvSpPr>
              <p:cNvPr id="5" name="Rectangle 4">
                <a:extLst>
                  <a:ext uri="{FF2B5EF4-FFF2-40B4-BE49-F238E27FC236}">
                    <a16:creationId xmlns:a16="http://schemas.microsoft.com/office/drawing/2014/main" id="{B9273DFB-CA8B-5246-2287-A349E98CD997}"/>
                  </a:ext>
                </a:extLst>
              </p:cNvPr>
              <p:cNvSpPr/>
              <p:nvPr/>
            </p:nvSpPr>
            <p:spPr>
              <a:xfrm>
                <a:off x="7794253" y="2490070"/>
                <a:ext cx="3144948" cy="2215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actus with solid fill">
                <a:extLst>
                  <a:ext uri="{FF2B5EF4-FFF2-40B4-BE49-F238E27FC236}">
                    <a16:creationId xmlns:a16="http://schemas.microsoft.com/office/drawing/2014/main" id="{C366E5FF-B744-03DC-85F3-3D1C9E9FC2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7841828" y="2543817"/>
                <a:ext cx="597398" cy="447915"/>
              </a:xfrm>
              <a:prstGeom prst="rect">
                <a:avLst/>
              </a:prstGeom>
            </p:spPr>
          </p:pic>
          <p:pic>
            <p:nvPicPr>
              <p:cNvPr id="11" name="Graphic 10" descr="Flower without stem with solid fill">
                <a:extLst>
                  <a:ext uri="{FF2B5EF4-FFF2-40B4-BE49-F238E27FC236}">
                    <a16:creationId xmlns:a16="http://schemas.microsoft.com/office/drawing/2014/main" id="{75E1838F-0BFB-D841-E4E1-A7A0CDD252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1828" y="2555025"/>
                <a:ext cx="489366" cy="529341"/>
              </a:xfrm>
              <a:prstGeom prst="rect">
                <a:avLst/>
              </a:prstGeom>
            </p:spPr>
          </p:pic>
          <p:pic>
            <p:nvPicPr>
              <p:cNvPr id="15" name="Graphic 14" descr="Flower without stem with solid fill">
                <a:extLst>
                  <a:ext uri="{FF2B5EF4-FFF2-40B4-BE49-F238E27FC236}">
                    <a16:creationId xmlns:a16="http://schemas.microsoft.com/office/drawing/2014/main" id="{E71CCD2B-0841-F851-3863-3D1996B792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2905" y="4209569"/>
                <a:ext cx="489366" cy="529341"/>
              </a:xfrm>
              <a:prstGeom prst="rect">
                <a:avLst/>
              </a:prstGeom>
            </p:spPr>
          </p:pic>
          <p:pic>
            <p:nvPicPr>
              <p:cNvPr id="17" name="Graphic 16" descr="Flower without stem with solid fill">
                <a:extLst>
                  <a:ext uri="{FF2B5EF4-FFF2-40B4-BE49-F238E27FC236}">
                    <a16:creationId xmlns:a16="http://schemas.microsoft.com/office/drawing/2014/main" id="{E402E7BA-3BDD-D044-9BC2-BCC21CCF64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6256" y="4026324"/>
                <a:ext cx="489366" cy="529341"/>
              </a:xfrm>
              <a:prstGeom prst="rect">
                <a:avLst/>
              </a:prstGeom>
            </p:spPr>
          </p:pic>
          <p:pic>
            <p:nvPicPr>
              <p:cNvPr id="21" name="Graphic 20" descr="Cactus with solid fill">
                <a:extLst>
                  <a:ext uri="{FF2B5EF4-FFF2-40B4-BE49-F238E27FC236}">
                    <a16:creationId xmlns:a16="http://schemas.microsoft.com/office/drawing/2014/main" id="{FB346F35-1320-EBA0-E801-A9D62FA8C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318518" y="3799960"/>
                <a:ext cx="597398" cy="447915"/>
              </a:xfrm>
              <a:prstGeom prst="rect">
                <a:avLst/>
              </a:prstGeom>
            </p:spPr>
          </p:pic>
          <p:pic>
            <p:nvPicPr>
              <p:cNvPr id="24" name="Graphic 23" descr="Cactus with solid fill">
                <a:extLst>
                  <a:ext uri="{FF2B5EF4-FFF2-40B4-BE49-F238E27FC236}">
                    <a16:creationId xmlns:a16="http://schemas.microsoft.com/office/drawing/2014/main" id="{627B8EF7-994B-6F95-8499-260A5EC6FF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10072736" y="2714917"/>
                <a:ext cx="597398" cy="447915"/>
              </a:xfrm>
              <a:prstGeom prst="rect">
                <a:avLst/>
              </a:prstGeom>
            </p:spPr>
          </p:pic>
          <p:cxnSp>
            <p:nvCxnSpPr>
              <p:cNvPr id="30" name="Straight Arrow Connector 29">
                <a:extLst>
                  <a:ext uri="{FF2B5EF4-FFF2-40B4-BE49-F238E27FC236}">
                    <a16:creationId xmlns:a16="http://schemas.microsoft.com/office/drawing/2014/main" id="{A8531248-32C2-ADEC-761C-4F3D43B0084B}"/>
                  </a:ext>
                </a:extLst>
              </p:cNvPr>
              <p:cNvCxnSpPr/>
              <p:nvPr/>
            </p:nvCxnSpPr>
            <p:spPr>
              <a:xfrm flipV="1">
                <a:off x="7794253" y="2108185"/>
                <a:ext cx="0" cy="2630725"/>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90A0B07-4866-BEE5-25A4-DCAFDE42EDE0}"/>
                  </a:ext>
                </a:extLst>
              </p:cNvPr>
              <p:cNvCxnSpPr>
                <a:cxnSpLocks/>
              </p:cNvCxnSpPr>
              <p:nvPr/>
            </p:nvCxnSpPr>
            <p:spPr>
              <a:xfrm>
                <a:off x="7794253" y="4712767"/>
                <a:ext cx="3382438" cy="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8708874D-7D1D-2952-5A08-58A4E37C547C}"/>
                </a:ext>
              </a:extLst>
            </p:cNvPr>
            <p:cNvSpPr txBox="1"/>
            <p:nvPr/>
          </p:nvSpPr>
          <p:spPr>
            <a:xfrm>
              <a:off x="7800918" y="5310238"/>
              <a:ext cx="5384406" cy="247659"/>
            </a:xfrm>
            <a:prstGeom prst="rect">
              <a:avLst/>
            </a:prstGeom>
            <a:noFill/>
          </p:spPr>
          <p:txBody>
            <a:bodyPr wrap="square" rtlCol="0">
              <a:spAutoFit/>
            </a:bodyPr>
            <a:lstStyle/>
            <a:p>
              <a:r>
                <a:rPr lang="en-US" sz="1400" b="1" dirty="0"/>
                <a:t>Principal Component 1 (46.5% explained variation)</a:t>
              </a:r>
            </a:p>
          </p:txBody>
        </p:sp>
        <p:sp>
          <p:nvSpPr>
            <p:cNvPr id="10" name="TextBox 9">
              <a:extLst>
                <a:ext uri="{FF2B5EF4-FFF2-40B4-BE49-F238E27FC236}">
                  <a16:creationId xmlns:a16="http://schemas.microsoft.com/office/drawing/2014/main" id="{B39A79FB-2790-7530-D991-FABD02992BDA}"/>
                </a:ext>
              </a:extLst>
            </p:cNvPr>
            <p:cNvSpPr txBox="1"/>
            <p:nvPr/>
          </p:nvSpPr>
          <p:spPr>
            <a:xfrm rot="16200000">
              <a:off x="5298615" y="3065393"/>
              <a:ext cx="4320036" cy="272852"/>
            </a:xfrm>
            <a:prstGeom prst="rect">
              <a:avLst/>
            </a:prstGeom>
            <a:noFill/>
          </p:spPr>
          <p:txBody>
            <a:bodyPr wrap="square" rtlCol="0">
              <a:spAutoFit/>
            </a:bodyPr>
            <a:lstStyle/>
            <a:p>
              <a:r>
                <a:rPr lang="en-US" sz="1400" b="1" dirty="0"/>
                <a:t>Principal Component 2 (23.4% explained variation)</a:t>
              </a:r>
            </a:p>
          </p:txBody>
        </p:sp>
        <p:cxnSp>
          <p:nvCxnSpPr>
            <p:cNvPr id="28" name="Straight Connector 27">
              <a:extLst>
                <a:ext uri="{FF2B5EF4-FFF2-40B4-BE49-F238E27FC236}">
                  <a16:creationId xmlns:a16="http://schemas.microsoft.com/office/drawing/2014/main" id="{D7A30367-993B-5B7F-3C91-48AED289E3C8}"/>
                </a:ext>
              </a:extLst>
            </p:cNvPr>
            <p:cNvCxnSpPr>
              <a:cxnSpLocks/>
            </p:cNvCxnSpPr>
            <p:nvPr/>
          </p:nvCxnSpPr>
          <p:spPr>
            <a:xfrm>
              <a:off x="9285025" y="2875033"/>
              <a:ext cx="677162" cy="1337449"/>
            </a:xfrm>
            <a:prstGeom prst="line">
              <a:avLst/>
            </a:prstGeom>
            <a:ln w="57150">
              <a:solidFill>
                <a:srgbClr val="275317"/>
              </a:solidFill>
              <a:prstDash val="soli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F7C4982-806F-9E6E-0EE8-7C791AB8C705}"/>
                </a:ext>
              </a:extLst>
            </p:cNvPr>
            <p:cNvSpPr txBox="1"/>
            <p:nvPr/>
          </p:nvSpPr>
          <p:spPr>
            <a:xfrm rot="20829331">
              <a:off x="10828456" y="3557660"/>
              <a:ext cx="1644922" cy="369332"/>
            </a:xfrm>
            <a:prstGeom prst="rect">
              <a:avLst/>
            </a:prstGeom>
            <a:noFill/>
          </p:spPr>
          <p:txBody>
            <a:bodyPr wrap="square" rtlCol="0">
              <a:spAutoFit/>
            </a:bodyPr>
            <a:lstStyle/>
            <a:p>
              <a:pPr algn="ctr"/>
              <a:r>
                <a:rPr lang="en-US" b="1" dirty="0">
                  <a:solidFill>
                    <a:schemeClr val="accent5">
                      <a:lumMod val="50000"/>
                    </a:schemeClr>
                  </a:solidFill>
                </a:rPr>
                <a:t>bioclim1</a:t>
              </a:r>
            </a:p>
          </p:txBody>
        </p:sp>
        <p:grpSp>
          <p:nvGrpSpPr>
            <p:cNvPr id="54" name="Group 53">
              <a:extLst>
                <a:ext uri="{FF2B5EF4-FFF2-40B4-BE49-F238E27FC236}">
                  <a16:creationId xmlns:a16="http://schemas.microsoft.com/office/drawing/2014/main" id="{43A29879-E978-7E92-88D6-7250EE15151D}"/>
                </a:ext>
              </a:extLst>
            </p:cNvPr>
            <p:cNvGrpSpPr/>
            <p:nvPr/>
          </p:nvGrpSpPr>
          <p:grpSpPr>
            <a:xfrm>
              <a:off x="9929995" y="3826602"/>
              <a:ext cx="1192255" cy="376090"/>
              <a:chOff x="9929993" y="3826602"/>
              <a:chExt cx="1263793" cy="376090"/>
            </a:xfrm>
          </p:grpSpPr>
          <p:cxnSp>
            <p:nvCxnSpPr>
              <p:cNvPr id="34" name="Straight Connector 33">
                <a:extLst>
                  <a:ext uri="{FF2B5EF4-FFF2-40B4-BE49-F238E27FC236}">
                    <a16:creationId xmlns:a16="http://schemas.microsoft.com/office/drawing/2014/main" id="{42921E4E-78C9-0A70-A38F-5C2B18717456}"/>
                  </a:ext>
                </a:extLst>
              </p:cNvPr>
              <p:cNvCxnSpPr>
                <a:cxnSpLocks/>
                <a:endCxn id="5" idx="3"/>
              </p:cNvCxnSpPr>
              <p:nvPr/>
            </p:nvCxnSpPr>
            <p:spPr>
              <a:xfrm flipV="1">
                <a:off x="9929993" y="3933268"/>
                <a:ext cx="1009204" cy="269424"/>
              </a:xfrm>
              <a:prstGeom prst="line">
                <a:avLst/>
              </a:prstGeom>
              <a:ln w="57150">
                <a:solidFill>
                  <a:srgbClr val="50164A"/>
                </a:solidFill>
              </a:ln>
            </p:spPr>
            <p:style>
              <a:lnRef idx="2">
                <a:schemeClr val="accent1"/>
              </a:lnRef>
              <a:fillRef idx="0">
                <a:schemeClr val="accent1"/>
              </a:fillRef>
              <a:effectRef idx="1">
                <a:schemeClr val="accent1"/>
              </a:effectRef>
              <a:fontRef idx="minor">
                <a:schemeClr val="tx1"/>
              </a:fontRef>
            </p:style>
          </p:cxnSp>
          <p:sp>
            <p:nvSpPr>
              <p:cNvPr id="48" name="Isosceles Triangle 47">
                <a:extLst>
                  <a:ext uri="{FF2B5EF4-FFF2-40B4-BE49-F238E27FC236}">
                    <a16:creationId xmlns:a16="http://schemas.microsoft.com/office/drawing/2014/main" id="{010A3A96-B441-8262-2EED-BA7F718A7067}"/>
                  </a:ext>
                </a:extLst>
              </p:cNvPr>
              <p:cNvSpPr/>
              <p:nvPr/>
            </p:nvSpPr>
            <p:spPr>
              <a:xfrm rot="4741796">
                <a:off x="10981191" y="3766406"/>
                <a:ext cx="152400" cy="272791"/>
              </a:xfrm>
              <a:prstGeom prst="triangle">
                <a:avLst>
                  <a:gd name="adj" fmla="val 55729"/>
                </a:avLst>
              </a:prstGeom>
              <a:solidFill>
                <a:schemeClr val="accent5">
                  <a:lumMod val="5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0" name="Isosceles Triangle 49">
              <a:extLst>
                <a:ext uri="{FF2B5EF4-FFF2-40B4-BE49-F238E27FC236}">
                  <a16:creationId xmlns:a16="http://schemas.microsoft.com/office/drawing/2014/main" id="{F9CF5B39-5B8B-A7FE-EEDC-DFB269301B06}"/>
                </a:ext>
              </a:extLst>
            </p:cNvPr>
            <p:cNvSpPr/>
            <p:nvPr/>
          </p:nvSpPr>
          <p:spPr>
            <a:xfrm rot="19834514">
              <a:off x="9157148" y="2639234"/>
              <a:ext cx="152400" cy="272791"/>
            </a:xfrm>
            <a:prstGeom prst="triangle">
              <a:avLst>
                <a:gd name="adj" fmla="val 55729"/>
              </a:avLst>
            </a:prstGeom>
            <a:solidFill>
              <a:schemeClr val="accent3">
                <a:lumMod val="50000"/>
              </a:schemeClr>
            </a:solidFill>
            <a:ln>
              <a:solidFill>
                <a:srgbClr val="0D35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7BEA871E-FC36-E3B0-5E59-CB8DD16A82C1}"/>
                </a:ext>
              </a:extLst>
            </p:cNvPr>
            <p:cNvSpPr txBox="1"/>
            <p:nvPr/>
          </p:nvSpPr>
          <p:spPr>
            <a:xfrm rot="19622059">
              <a:off x="8869705" y="2263438"/>
              <a:ext cx="1644922" cy="369332"/>
            </a:xfrm>
            <a:prstGeom prst="rect">
              <a:avLst/>
            </a:prstGeom>
            <a:noFill/>
          </p:spPr>
          <p:txBody>
            <a:bodyPr wrap="square" rtlCol="0">
              <a:spAutoFit/>
            </a:bodyPr>
            <a:lstStyle/>
            <a:p>
              <a:pPr algn="ctr"/>
              <a:r>
                <a:rPr lang="en-US" b="1" dirty="0">
                  <a:solidFill>
                    <a:schemeClr val="accent3">
                      <a:lumMod val="50000"/>
                    </a:schemeClr>
                  </a:solidFill>
                </a:rPr>
                <a:t>bioclim3</a:t>
              </a:r>
            </a:p>
          </p:txBody>
        </p:sp>
        <p:sp>
          <p:nvSpPr>
            <p:cNvPr id="61" name="Isosceles Triangle 60">
              <a:extLst>
                <a:ext uri="{FF2B5EF4-FFF2-40B4-BE49-F238E27FC236}">
                  <a16:creationId xmlns:a16="http://schemas.microsoft.com/office/drawing/2014/main" id="{9107B739-54EF-A1F6-F0AF-70C6892EA2F4}"/>
                </a:ext>
              </a:extLst>
            </p:cNvPr>
            <p:cNvSpPr/>
            <p:nvPr/>
          </p:nvSpPr>
          <p:spPr>
            <a:xfrm rot="13472024">
              <a:off x="9369783" y="4829850"/>
              <a:ext cx="152400" cy="272791"/>
            </a:xfrm>
            <a:prstGeom prst="triangle">
              <a:avLst>
                <a:gd name="adj" fmla="val 55729"/>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FBDC4271-1FCA-4D97-2991-DE7D37987FD8}"/>
                </a:ext>
              </a:extLst>
            </p:cNvPr>
            <p:cNvSpPr txBox="1"/>
            <p:nvPr/>
          </p:nvSpPr>
          <p:spPr>
            <a:xfrm rot="18148229">
              <a:off x="8778991" y="4261155"/>
              <a:ext cx="1206758" cy="369332"/>
            </a:xfrm>
            <a:prstGeom prst="rect">
              <a:avLst/>
            </a:prstGeom>
            <a:noFill/>
          </p:spPr>
          <p:txBody>
            <a:bodyPr wrap="square" rtlCol="0">
              <a:spAutoFit/>
            </a:bodyPr>
            <a:lstStyle/>
            <a:p>
              <a:pPr algn="ctr"/>
              <a:r>
                <a:rPr lang="en-US" b="1" dirty="0">
                  <a:solidFill>
                    <a:schemeClr val="tx2">
                      <a:lumMod val="90000"/>
                      <a:lumOff val="10000"/>
                    </a:schemeClr>
                  </a:solidFill>
                </a:rPr>
                <a:t>bioclim2</a:t>
              </a:r>
            </a:p>
          </p:txBody>
        </p:sp>
      </p:grpSp>
      <p:sp>
        <p:nvSpPr>
          <p:cNvPr id="3" name="Oval 2">
            <a:extLst>
              <a:ext uri="{FF2B5EF4-FFF2-40B4-BE49-F238E27FC236}">
                <a16:creationId xmlns:a16="http://schemas.microsoft.com/office/drawing/2014/main" id="{353738A7-7D9E-05D0-3AD8-64C5C39D3037}"/>
              </a:ext>
            </a:extLst>
          </p:cNvPr>
          <p:cNvSpPr/>
          <p:nvPr/>
        </p:nvSpPr>
        <p:spPr>
          <a:xfrm rot="19518635">
            <a:off x="1027601" y="2645307"/>
            <a:ext cx="1860767" cy="3438461"/>
          </a:xfrm>
          <a:prstGeom prst="ellipse">
            <a:avLst/>
          </a:prstGeom>
          <a:no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C32F589-FBEB-7D7B-3C3C-3A99FFE9CCB9}"/>
              </a:ext>
            </a:extLst>
          </p:cNvPr>
          <p:cNvSpPr/>
          <p:nvPr/>
        </p:nvSpPr>
        <p:spPr>
          <a:xfrm rot="17107551">
            <a:off x="2036952" y="1463992"/>
            <a:ext cx="1688085" cy="4176275"/>
          </a:xfrm>
          <a:prstGeom prst="ellipse">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1B48097-21EB-144C-4082-AB88E0296B39}"/>
              </a:ext>
            </a:extLst>
          </p:cNvPr>
          <p:cNvSpPr txBox="1"/>
          <p:nvPr/>
        </p:nvSpPr>
        <p:spPr>
          <a:xfrm>
            <a:off x="5885277" y="3978886"/>
            <a:ext cx="5551547" cy="1938992"/>
          </a:xfrm>
          <a:prstGeom prst="rect">
            <a:avLst/>
          </a:prstGeom>
          <a:noFill/>
        </p:spPr>
        <p:txBody>
          <a:bodyPr wrap="square" rtlCol="0">
            <a:spAutoFit/>
          </a:bodyPr>
          <a:lstStyle/>
          <a:p>
            <a:r>
              <a:rPr lang="en-US" sz="2400" b="1" u="sng" dirty="0">
                <a:solidFill>
                  <a:srgbClr val="0070C0"/>
                </a:solidFill>
              </a:rPr>
              <a:t>PCAs:</a:t>
            </a:r>
          </a:p>
          <a:p>
            <a:pPr marL="285750" indent="-285750">
              <a:buFont typeface="Arial" panose="020B0604020202020204" pitchFamily="34" charset="0"/>
              <a:buChar char="•"/>
            </a:pPr>
            <a:r>
              <a:rPr lang="en-US" sz="2400" i="1" dirty="0"/>
              <a:t>Summarize</a:t>
            </a:r>
            <a:r>
              <a:rPr lang="en-US" sz="2400" dirty="0"/>
              <a:t> many environmental variables into PCs</a:t>
            </a:r>
          </a:p>
          <a:p>
            <a:pPr marL="285750" indent="-285750">
              <a:buFont typeface="Arial" panose="020B0604020202020204" pitchFamily="34" charset="0"/>
              <a:buChar char="•"/>
            </a:pPr>
            <a:r>
              <a:rPr lang="en-US" sz="2400" i="1" dirty="0"/>
              <a:t>Reveal groupings</a:t>
            </a:r>
            <a:r>
              <a:rPr lang="en-US" sz="2400" dirty="0"/>
              <a:t> that are not obvious in the raw data</a:t>
            </a:r>
          </a:p>
        </p:txBody>
      </p:sp>
      <p:sp>
        <p:nvSpPr>
          <p:cNvPr id="13" name="TextBox 12">
            <a:extLst>
              <a:ext uri="{FF2B5EF4-FFF2-40B4-BE49-F238E27FC236}">
                <a16:creationId xmlns:a16="http://schemas.microsoft.com/office/drawing/2014/main" id="{2FF3B1DC-0AD3-5181-C5AC-5FC0C4ED7E9C}"/>
              </a:ext>
            </a:extLst>
          </p:cNvPr>
          <p:cNvSpPr txBox="1"/>
          <p:nvPr/>
        </p:nvSpPr>
        <p:spPr>
          <a:xfrm>
            <a:off x="5885277" y="1844292"/>
            <a:ext cx="6323061" cy="1569660"/>
          </a:xfrm>
          <a:prstGeom prst="rect">
            <a:avLst/>
          </a:prstGeom>
          <a:noFill/>
        </p:spPr>
        <p:txBody>
          <a:bodyPr wrap="square" rtlCol="0">
            <a:spAutoFit/>
          </a:bodyPr>
          <a:lstStyle/>
          <a:p>
            <a:r>
              <a:rPr lang="en-US" sz="2400" b="1" u="sng" dirty="0">
                <a:solidFill>
                  <a:srgbClr val="0070C0"/>
                </a:solidFill>
              </a:rPr>
              <a:t>Reading PCAs:</a:t>
            </a:r>
          </a:p>
          <a:p>
            <a:pPr marL="342900" indent="-342900">
              <a:buFont typeface="Arial" panose="020B0604020202020204" pitchFamily="34" charset="0"/>
              <a:buChar char="•"/>
            </a:pPr>
            <a:r>
              <a:rPr lang="en-US" sz="2400" i="1" dirty="0"/>
              <a:t>Points: observations</a:t>
            </a:r>
          </a:p>
          <a:p>
            <a:pPr marL="342900" indent="-342900">
              <a:buFont typeface="Arial" panose="020B0604020202020204" pitchFamily="34" charset="0"/>
              <a:buChar char="•"/>
            </a:pPr>
            <a:r>
              <a:rPr lang="en-US" sz="2400" dirty="0"/>
              <a:t>Arrows: environmental variables</a:t>
            </a:r>
          </a:p>
          <a:p>
            <a:pPr marL="342900" indent="-342900">
              <a:buFont typeface="Arial" panose="020B0604020202020204" pitchFamily="34" charset="0"/>
              <a:buChar char="•"/>
            </a:pPr>
            <a:r>
              <a:rPr lang="en-US" sz="2400" i="1" dirty="0"/>
              <a:t>Ellipse groupings: </a:t>
            </a:r>
            <a:r>
              <a:rPr lang="en-US" sz="2400" dirty="0"/>
              <a:t>taxon</a:t>
            </a:r>
            <a:endParaRPr lang="en-US" sz="2400" i="1" dirty="0"/>
          </a:p>
        </p:txBody>
      </p:sp>
    </p:spTree>
    <p:extLst>
      <p:ext uri="{BB962C8B-B14F-4D97-AF65-F5344CB8AC3E}">
        <p14:creationId xmlns:p14="http://schemas.microsoft.com/office/powerpoint/2010/main" val="24359889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E3095-5D48-0CDE-293C-CEE4BEE16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46B84-85F1-9CA5-3BF9-F2CE5A485560}"/>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Principal Component Analysis (PCA)</a:t>
            </a:r>
            <a:endParaRPr lang="en-US" dirty="0"/>
          </a:p>
        </p:txBody>
      </p:sp>
      <p:pic>
        <p:nvPicPr>
          <p:cNvPr id="14" name="Picture 13" descr="PC2&#10;&#10;AI-generated content may be incorrect.">
            <a:extLst>
              <a:ext uri="{FF2B5EF4-FFF2-40B4-BE49-F238E27FC236}">
                <a16:creationId xmlns:a16="http://schemas.microsoft.com/office/drawing/2014/main" id="{E075F2AD-44A8-6F99-33C1-97BD5D7C22B1}"/>
              </a:ext>
            </a:extLst>
          </p:cNvPr>
          <p:cNvPicPr>
            <a:picLocks noChangeAspect="1"/>
          </p:cNvPicPr>
          <p:nvPr/>
        </p:nvPicPr>
        <p:blipFill>
          <a:blip r:embed="rId3" cstate="print">
            <a:extLst>
              <a:ext uri="{28A0092B-C50C-407E-A947-70E740481C1C}">
                <a14:useLocalDpi xmlns:a14="http://schemas.microsoft.com/office/drawing/2010/main" val="0"/>
              </a:ext>
            </a:extLst>
          </a:blip>
          <a:srcRect l="17950" r="17118" b="2819"/>
          <a:stretch>
            <a:fillRect/>
          </a:stretch>
        </p:blipFill>
        <p:spPr>
          <a:xfrm>
            <a:off x="1116915" y="1429209"/>
            <a:ext cx="4258951" cy="5099354"/>
          </a:xfrm>
          <a:prstGeom prst="rect">
            <a:avLst/>
          </a:prstGeom>
          <a:solidFill>
            <a:srgbClr val="FFFFFF">
              <a:shade val="85000"/>
            </a:srgbClr>
          </a:solidFill>
          <a:ln w="2540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17">
            <a:extLst>
              <a:ext uri="{FF2B5EF4-FFF2-40B4-BE49-F238E27FC236}">
                <a16:creationId xmlns:a16="http://schemas.microsoft.com/office/drawing/2014/main" id="{8898B10C-DB33-2C5A-445C-E3955807FEA6}"/>
              </a:ext>
            </a:extLst>
          </p:cNvPr>
          <p:cNvSpPr txBox="1"/>
          <p:nvPr/>
        </p:nvSpPr>
        <p:spPr>
          <a:xfrm>
            <a:off x="5885277" y="3978886"/>
            <a:ext cx="5551547" cy="1938992"/>
          </a:xfrm>
          <a:prstGeom prst="rect">
            <a:avLst/>
          </a:prstGeom>
          <a:noFill/>
        </p:spPr>
        <p:txBody>
          <a:bodyPr wrap="square" rtlCol="0">
            <a:spAutoFit/>
          </a:bodyPr>
          <a:lstStyle/>
          <a:p>
            <a:r>
              <a:rPr lang="en-US" sz="2400" b="1" u="sng" dirty="0">
                <a:solidFill>
                  <a:srgbClr val="0070C0"/>
                </a:solidFill>
              </a:rPr>
              <a:t>PCAs:</a:t>
            </a:r>
          </a:p>
          <a:p>
            <a:pPr marL="285750" indent="-285750">
              <a:buFont typeface="Arial" panose="020B0604020202020204" pitchFamily="34" charset="0"/>
              <a:buChar char="•"/>
            </a:pPr>
            <a:r>
              <a:rPr lang="en-US" sz="2400" i="1" dirty="0"/>
              <a:t>Summarize</a:t>
            </a:r>
            <a:r>
              <a:rPr lang="en-US" sz="2400" dirty="0"/>
              <a:t> many environmental variables into PCs</a:t>
            </a:r>
          </a:p>
          <a:p>
            <a:pPr marL="285750" indent="-285750">
              <a:buFont typeface="Arial" panose="020B0604020202020204" pitchFamily="34" charset="0"/>
              <a:buChar char="•"/>
            </a:pPr>
            <a:r>
              <a:rPr lang="en-US" sz="2400" i="1" dirty="0"/>
              <a:t>Reveal groupings</a:t>
            </a:r>
            <a:r>
              <a:rPr lang="en-US" sz="2400" dirty="0"/>
              <a:t> that are not obvious in the raw data</a:t>
            </a:r>
          </a:p>
        </p:txBody>
      </p:sp>
      <p:sp>
        <p:nvSpPr>
          <p:cNvPr id="20" name="TextBox 19">
            <a:extLst>
              <a:ext uri="{FF2B5EF4-FFF2-40B4-BE49-F238E27FC236}">
                <a16:creationId xmlns:a16="http://schemas.microsoft.com/office/drawing/2014/main" id="{F88AB961-43E0-3B1A-4D3C-544065A5E9AA}"/>
              </a:ext>
            </a:extLst>
          </p:cNvPr>
          <p:cNvSpPr txBox="1"/>
          <p:nvPr/>
        </p:nvSpPr>
        <p:spPr>
          <a:xfrm>
            <a:off x="5885277" y="1844292"/>
            <a:ext cx="6323061" cy="1569660"/>
          </a:xfrm>
          <a:prstGeom prst="rect">
            <a:avLst/>
          </a:prstGeom>
          <a:noFill/>
        </p:spPr>
        <p:txBody>
          <a:bodyPr wrap="square" rtlCol="0">
            <a:spAutoFit/>
          </a:bodyPr>
          <a:lstStyle/>
          <a:p>
            <a:r>
              <a:rPr lang="en-US" sz="2400" b="1" u="sng" dirty="0">
                <a:solidFill>
                  <a:srgbClr val="0070C0"/>
                </a:solidFill>
              </a:rPr>
              <a:t>Reading PCAs:</a:t>
            </a:r>
          </a:p>
          <a:p>
            <a:pPr marL="342900" indent="-342900">
              <a:buFont typeface="Arial" panose="020B0604020202020204" pitchFamily="34" charset="0"/>
              <a:buChar char="•"/>
            </a:pPr>
            <a:r>
              <a:rPr lang="en-US" sz="2400" i="1" dirty="0"/>
              <a:t>Points: observations</a:t>
            </a:r>
          </a:p>
          <a:p>
            <a:pPr marL="342900" indent="-342900">
              <a:buFont typeface="Arial" panose="020B0604020202020204" pitchFamily="34" charset="0"/>
              <a:buChar char="•"/>
            </a:pPr>
            <a:r>
              <a:rPr lang="en-US" sz="2400" dirty="0"/>
              <a:t>Arrows: environmental variables</a:t>
            </a:r>
          </a:p>
          <a:p>
            <a:pPr marL="342900" indent="-342900">
              <a:buFont typeface="Arial" panose="020B0604020202020204" pitchFamily="34" charset="0"/>
              <a:buChar char="•"/>
            </a:pPr>
            <a:r>
              <a:rPr lang="en-US" sz="2400" i="1" dirty="0"/>
              <a:t>Ellipse groupings: </a:t>
            </a:r>
            <a:r>
              <a:rPr lang="en-US" sz="2400" dirty="0"/>
              <a:t>taxon</a:t>
            </a:r>
            <a:endParaRPr lang="en-US" sz="2400" i="1" dirty="0"/>
          </a:p>
        </p:txBody>
      </p:sp>
    </p:spTree>
    <p:extLst>
      <p:ext uri="{BB962C8B-B14F-4D97-AF65-F5344CB8AC3E}">
        <p14:creationId xmlns:p14="http://schemas.microsoft.com/office/powerpoint/2010/main" val="5012404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AC361-F2A1-49FD-BA6B-14C133370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62335-928E-A1D2-EAA8-99A7A9303F21}"/>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sp>
        <p:nvSpPr>
          <p:cNvPr id="31" name="TextBox 30">
            <a:extLst>
              <a:ext uri="{FF2B5EF4-FFF2-40B4-BE49-F238E27FC236}">
                <a16:creationId xmlns:a16="http://schemas.microsoft.com/office/drawing/2014/main" id="{51C8C51A-3522-5168-31E0-02F147A25E0D}"/>
              </a:ext>
            </a:extLst>
          </p:cNvPr>
          <p:cNvSpPr txBox="1"/>
          <p:nvPr/>
        </p:nvSpPr>
        <p:spPr>
          <a:xfrm>
            <a:off x="728168" y="1222319"/>
            <a:ext cx="7697373" cy="1200329"/>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p:txBody>
      </p:sp>
      <p:pic>
        <p:nvPicPr>
          <p:cNvPr id="35" name="Picture 34" descr="The diagram illustrates a two-dimensional bioclimatic model with principal components explaining 46.5% and 23.4% of variation.&#10;&#10;AI-generated content may be incorrect.">
            <a:extLst>
              <a:ext uri="{FF2B5EF4-FFF2-40B4-BE49-F238E27FC236}">
                <a16:creationId xmlns:a16="http://schemas.microsoft.com/office/drawing/2014/main" id="{F0ABCC93-DB91-2E3E-4A35-5F867FDA464F}"/>
              </a:ext>
            </a:extLst>
          </p:cNvPr>
          <p:cNvPicPr>
            <a:picLocks noChangeAspect="1"/>
          </p:cNvPicPr>
          <p:nvPr/>
        </p:nvPicPr>
        <p:blipFill>
          <a:blip r:embed="rId3"/>
          <a:stretch>
            <a:fillRect/>
          </a:stretch>
        </p:blipFill>
        <p:spPr>
          <a:xfrm>
            <a:off x="1430712" y="2422648"/>
            <a:ext cx="2514039" cy="2345846"/>
          </a:xfrm>
          <a:prstGeom prst="rect">
            <a:avLst/>
          </a:prstGeom>
        </p:spPr>
      </p:pic>
      <p:grpSp>
        <p:nvGrpSpPr>
          <p:cNvPr id="36" name="Group 35">
            <a:extLst>
              <a:ext uri="{FF2B5EF4-FFF2-40B4-BE49-F238E27FC236}">
                <a16:creationId xmlns:a16="http://schemas.microsoft.com/office/drawing/2014/main" id="{8879473B-CB6C-A4FD-5E02-E8B47490DF39}"/>
              </a:ext>
            </a:extLst>
          </p:cNvPr>
          <p:cNvGrpSpPr/>
          <p:nvPr/>
        </p:nvGrpSpPr>
        <p:grpSpPr>
          <a:xfrm>
            <a:off x="5410387" y="2255494"/>
            <a:ext cx="1513489" cy="780997"/>
            <a:chOff x="5410387" y="2255494"/>
            <a:chExt cx="1513489" cy="780997"/>
          </a:xfrm>
        </p:grpSpPr>
        <p:sp>
          <p:nvSpPr>
            <p:cNvPr id="21" name="TextBox 20">
              <a:extLst>
                <a:ext uri="{FF2B5EF4-FFF2-40B4-BE49-F238E27FC236}">
                  <a16:creationId xmlns:a16="http://schemas.microsoft.com/office/drawing/2014/main" id="{268B4A7E-CA92-ADFE-8377-B3A17C7D63F4}"/>
                </a:ext>
              </a:extLst>
            </p:cNvPr>
            <p:cNvSpPr txBox="1"/>
            <p:nvPr/>
          </p:nvSpPr>
          <p:spPr>
            <a:xfrm>
              <a:off x="5573082" y="2255494"/>
              <a:ext cx="1188099" cy="584775"/>
            </a:xfrm>
            <a:prstGeom prst="rect">
              <a:avLst/>
            </a:prstGeom>
            <a:noFill/>
          </p:spPr>
          <p:txBody>
            <a:bodyPr wrap="square">
              <a:spAutoFit/>
            </a:bodyPr>
            <a:lstStyle/>
            <a:p>
              <a:r>
                <a:rPr lang="en-US" sz="2800" b="1" u="sng" dirty="0"/>
                <a:t>PC1</a:t>
              </a:r>
              <a:r>
                <a:rPr lang="en-US" sz="3200" b="1" u="sng" dirty="0"/>
                <a:t>:</a:t>
              </a:r>
            </a:p>
          </p:txBody>
        </p:sp>
        <p:sp>
          <p:nvSpPr>
            <p:cNvPr id="22" name="TextBox 21">
              <a:extLst>
                <a:ext uri="{FF2B5EF4-FFF2-40B4-BE49-F238E27FC236}">
                  <a16:creationId xmlns:a16="http://schemas.microsoft.com/office/drawing/2014/main" id="{967C12B9-BED6-EC72-7236-819B5393D64E}"/>
                </a:ext>
              </a:extLst>
            </p:cNvPr>
            <p:cNvSpPr txBox="1"/>
            <p:nvPr/>
          </p:nvSpPr>
          <p:spPr>
            <a:xfrm>
              <a:off x="5410387" y="2836436"/>
              <a:ext cx="1513489" cy="200055"/>
            </a:xfrm>
            <a:prstGeom prst="rect">
              <a:avLst/>
            </a:prstGeom>
            <a:noFill/>
          </p:spPr>
          <p:txBody>
            <a:bodyPr wrap="square" rtlCol="0">
              <a:spAutoFit/>
            </a:bodyPr>
            <a:lstStyle/>
            <a:p>
              <a:pPr algn="ctr"/>
              <a:r>
                <a:rPr lang="en-US" sz="700" b="1" dirty="0"/>
                <a:t>46.5% of explained variation</a:t>
              </a:r>
            </a:p>
          </p:txBody>
        </p:sp>
      </p:grpSp>
      <p:grpSp>
        <p:nvGrpSpPr>
          <p:cNvPr id="37" name="Group 36">
            <a:extLst>
              <a:ext uri="{FF2B5EF4-FFF2-40B4-BE49-F238E27FC236}">
                <a16:creationId xmlns:a16="http://schemas.microsoft.com/office/drawing/2014/main" id="{279CE335-4ADD-999B-2584-8F6B3EB907DF}"/>
              </a:ext>
            </a:extLst>
          </p:cNvPr>
          <p:cNvGrpSpPr/>
          <p:nvPr/>
        </p:nvGrpSpPr>
        <p:grpSpPr>
          <a:xfrm>
            <a:off x="7166428" y="2255494"/>
            <a:ext cx="1513489" cy="780997"/>
            <a:chOff x="7188111" y="2255494"/>
            <a:chExt cx="1513489" cy="780997"/>
          </a:xfrm>
        </p:grpSpPr>
        <p:sp>
          <p:nvSpPr>
            <p:cNvPr id="12" name="TextBox 11">
              <a:extLst>
                <a:ext uri="{FF2B5EF4-FFF2-40B4-BE49-F238E27FC236}">
                  <a16:creationId xmlns:a16="http://schemas.microsoft.com/office/drawing/2014/main" id="{A8DB2419-8356-8055-8A36-9D96416F495F}"/>
                </a:ext>
              </a:extLst>
            </p:cNvPr>
            <p:cNvSpPr txBox="1"/>
            <p:nvPr/>
          </p:nvSpPr>
          <p:spPr>
            <a:xfrm>
              <a:off x="7350806" y="2255494"/>
              <a:ext cx="1188099" cy="584775"/>
            </a:xfrm>
            <a:prstGeom prst="rect">
              <a:avLst/>
            </a:prstGeom>
            <a:noFill/>
          </p:spPr>
          <p:txBody>
            <a:bodyPr wrap="square">
              <a:spAutoFit/>
            </a:bodyPr>
            <a:lstStyle/>
            <a:p>
              <a:r>
                <a:rPr lang="en-US" sz="2800" b="1" u="sng" dirty="0"/>
                <a:t>PC2</a:t>
              </a:r>
              <a:r>
                <a:rPr lang="en-US" sz="3200" b="1" u="sng" dirty="0"/>
                <a:t>:</a:t>
              </a:r>
            </a:p>
          </p:txBody>
        </p:sp>
        <p:sp>
          <p:nvSpPr>
            <p:cNvPr id="24" name="TextBox 23">
              <a:extLst>
                <a:ext uri="{FF2B5EF4-FFF2-40B4-BE49-F238E27FC236}">
                  <a16:creationId xmlns:a16="http://schemas.microsoft.com/office/drawing/2014/main" id="{8BCDC39F-364C-F366-A949-C235A81E8D89}"/>
                </a:ext>
              </a:extLst>
            </p:cNvPr>
            <p:cNvSpPr txBox="1"/>
            <p:nvPr/>
          </p:nvSpPr>
          <p:spPr>
            <a:xfrm>
              <a:off x="7188111" y="2836436"/>
              <a:ext cx="1513489" cy="200055"/>
            </a:xfrm>
            <a:prstGeom prst="rect">
              <a:avLst/>
            </a:prstGeom>
            <a:noFill/>
          </p:spPr>
          <p:txBody>
            <a:bodyPr wrap="square" rtlCol="0">
              <a:spAutoFit/>
            </a:bodyPr>
            <a:lstStyle/>
            <a:p>
              <a:pPr algn="ctr"/>
              <a:r>
                <a:rPr lang="en-US" sz="700" b="1" dirty="0"/>
                <a:t>23.4% of explained variation</a:t>
              </a:r>
            </a:p>
          </p:txBody>
        </p:sp>
      </p:grpSp>
      <p:grpSp>
        <p:nvGrpSpPr>
          <p:cNvPr id="5" name="Group 4">
            <a:extLst>
              <a:ext uri="{FF2B5EF4-FFF2-40B4-BE49-F238E27FC236}">
                <a16:creationId xmlns:a16="http://schemas.microsoft.com/office/drawing/2014/main" id="{77B1FE91-1AAA-1D9E-4EF8-2AD6B4E1029C}"/>
              </a:ext>
            </a:extLst>
          </p:cNvPr>
          <p:cNvGrpSpPr/>
          <p:nvPr/>
        </p:nvGrpSpPr>
        <p:grpSpPr>
          <a:xfrm>
            <a:off x="8922469" y="2270206"/>
            <a:ext cx="1513489" cy="766285"/>
            <a:chOff x="8862150" y="2270206"/>
            <a:chExt cx="1513489" cy="766285"/>
          </a:xfrm>
        </p:grpSpPr>
        <p:sp>
          <p:nvSpPr>
            <p:cNvPr id="15" name="TextBox 14">
              <a:extLst>
                <a:ext uri="{FF2B5EF4-FFF2-40B4-BE49-F238E27FC236}">
                  <a16:creationId xmlns:a16="http://schemas.microsoft.com/office/drawing/2014/main" id="{B1FBBA53-6DB4-B711-4985-85ACF85B8211}"/>
                </a:ext>
              </a:extLst>
            </p:cNvPr>
            <p:cNvSpPr txBox="1"/>
            <p:nvPr/>
          </p:nvSpPr>
          <p:spPr>
            <a:xfrm>
              <a:off x="9024845" y="2270206"/>
              <a:ext cx="1188099" cy="584775"/>
            </a:xfrm>
            <a:prstGeom prst="rect">
              <a:avLst/>
            </a:prstGeom>
            <a:noFill/>
          </p:spPr>
          <p:txBody>
            <a:bodyPr wrap="square">
              <a:spAutoFit/>
            </a:bodyPr>
            <a:lstStyle/>
            <a:p>
              <a:r>
                <a:rPr lang="en-US" sz="2800" b="1" u="sng" dirty="0"/>
                <a:t>PC3</a:t>
              </a:r>
              <a:r>
                <a:rPr lang="en-US" sz="3200" b="1" u="sng" dirty="0"/>
                <a:t>:</a:t>
              </a:r>
            </a:p>
          </p:txBody>
        </p:sp>
        <p:sp>
          <p:nvSpPr>
            <p:cNvPr id="27" name="TextBox 26">
              <a:extLst>
                <a:ext uri="{FF2B5EF4-FFF2-40B4-BE49-F238E27FC236}">
                  <a16:creationId xmlns:a16="http://schemas.microsoft.com/office/drawing/2014/main" id="{3E9CA8F7-9402-1A43-DCE8-11BE99F920E0}"/>
                </a:ext>
              </a:extLst>
            </p:cNvPr>
            <p:cNvSpPr txBox="1"/>
            <p:nvPr/>
          </p:nvSpPr>
          <p:spPr>
            <a:xfrm>
              <a:off x="8862150" y="2836436"/>
              <a:ext cx="1513489" cy="200055"/>
            </a:xfrm>
            <a:prstGeom prst="rect">
              <a:avLst/>
            </a:prstGeom>
            <a:noFill/>
          </p:spPr>
          <p:txBody>
            <a:bodyPr wrap="square" rtlCol="0">
              <a:spAutoFit/>
            </a:bodyPr>
            <a:lstStyle/>
            <a:p>
              <a:pPr algn="ctr"/>
              <a:r>
                <a:rPr lang="en-US" sz="700" b="1" dirty="0"/>
                <a:t>8.4% of explained variation</a:t>
              </a:r>
            </a:p>
          </p:txBody>
        </p:sp>
      </p:grpSp>
      <p:grpSp>
        <p:nvGrpSpPr>
          <p:cNvPr id="4" name="Group 3">
            <a:extLst>
              <a:ext uri="{FF2B5EF4-FFF2-40B4-BE49-F238E27FC236}">
                <a16:creationId xmlns:a16="http://schemas.microsoft.com/office/drawing/2014/main" id="{794D2BB1-37E4-2193-1BA8-836ADD89B2BB}"/>
              </a:ext>
            </a:extLst>
          </p:cNvPr>
          <p:cNvGrpSpPr/>
          <p:nvPr/>
        </p:nvGrpSpPr>
        <p:grpSpPr>
          <a:xfrm>
            <a:off x="10678511" y="2255494"/>
            <a:ext cx="1513489" cy="780997"/>
            <a:chOff x="10678511" y="2255494"/>
            <a:chExt cx="1513489" cy="780997"/>
          </a:xfrm>
        </p:grpSpPr>
        <p:sp>
          <p:nvSpPr>
            <p:cNvPr id="17" name="TextBox 16">
              <a:extLst>
                <a:ext uri="{FF2B5EF4-FFF2-40B4-BE49-F238E27FC236}">
                  <a16:creationId xmlns:a16="http://schemas.microsoft.com/office/drawing/2014/main" id="{8B6BF4DF-AE12-32A7-447E-BC2EA0BA18FF}"/>
                </a:ext>
              </a:extLst>
            </p:cNvPr>
            <p:cNvSpPr txBox="1"/>
            <p:nvPr/>
          </p:nvSpPr>
          <p:spPr>
            <a:xfrm>
              <a:off x="10841206" y="2255494"/>
              <a:ext cx="1188099" cy="584775"/>
            </a:xfrm>
            <a:prstGeom prst="rect">
              <a:avLst/>
            </a:prstGeom>
            <a:noFill/>
          </p:spPr>
          <p:txBody>
            <a:bodyPr wrap="square">
              <a:spAutoFit/>
            </a:bodyPr>
            <a:lstStyle/>
            <a:p>
              <a:r>
                <a:rPr lang="en-US" sz="2800" b="1" u="sng" dirty="0"/>
                <a:t>PC4</a:t>
              </a:r>
              <a:r>
                <a:rPr lang="en-US" sz="3200" b="1" u="sng" dirty="0"/>
                <a:t>:</a:t>
              </a:r>
            </a:p>
          </p:txBody>
        </p:sp>
        <p:sp>
          <p:nvSpPr>
            <p:cNvPr id="34" name="TextBox 33">
              <a:extLst>
                <a:ext uri="{FF2B5EF4-FFF2-40B4-BE49-F238E27FC236}">
                  <a16:creationId xmlns:a16="http://schemas.microsoft.com/office/drawing/2014/main" id="{DFDC8303-5F4C-3B2C-39F2-21FE8DD6A3EE}"/>
                </a:ext>
              </a:extLst>
            </p:cNvPr>
            <p:cNvSpPr txBox="1"/>
            <p:nvPr/>
          </p:nvSpPr>
          <p:spPr>
            <a:xfrm>
              <a:off x="10678511" y="2836436"/>
              <a:ext cx="1513489" cy="200055"/>
            </a:xfrm>
            <a:prstGeom prst="rect">
              <a:avLst/>
            </a:prstGeom>
            <a:noFill/>
          </p:spPr>
          <p:txBody>
            <a:bodyPr wrap="square" rtlCol="0">
              <a:spAutoFit/>
            </a:bodyPr>
            <a:lstStyle/>
            <a:p>
              <a:pPr algn="ctr"/>
              <a:r>
                <a:rPr lang="en-US" sz="700" b="1" dirty="0"/>
                <a:t>5.7% of explained variation</a:t>
              </a:r>
            </a:p>
          </p:txBody>
        </p:sp>
      </p:grpSp>
    </p:spTree>
    <p:extLst>
      <p:ext uri="{BB962C8B-B14F-4D97-AF65-F5344CB8AC3E}">
        <p14:creationId xmlns:p14="http://schemas.microsoft.com/office/powerpoint/2010/main" val="24508656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5F692-0689-BA17-9C2C-C986EBBE0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0BB0A-C273-DA29-850F-72E7803E6FF8}"/>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sp>
        <p:nvSpPr>
          <p:cNvPr id="31" name="TextBox 30">
            <a:extLst>
              <a:ext uri="{FF2B5EF4-FFF2-40B4-BE49-F238E27FC236}">
                <a16:creationId xmlns:a16="http://schemas.microsoft.com/office/drawing/2014/main" id="{34E6850D-8716-4ED4-06D6-BDCFD4B76956}"/>
              </a:ext>
            </a:extLst>
          </p:cNvPr>
          <p:cNvSpPr txBox="1"/>
          <p:nvPr/>
        </p:nvSpPr>
        <p:spPr>
          <a:xfrm>
            <a:off x="728168" y="1222319"/>
            <a:ext cx="7697373" cy="1200329"/>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p:txBody>
      </p:sp>
      <p:pic>
        <p:nvPicPr>
          <p:cNvPr id="35" name="Picture 34" descr="The diagram illustrates a two-dimensional bioclimatic model with principal components explaining 46.5% and 23.4% of variation.&#10;&#10;AI-generated content may be incorrect.">
            <a:extLst>
              <a:ext uri="{FF2B5EF4-FFF2-40B4-BE49-F238E27FC236}">
                <a16:creationId xmlns:a16="http://schemas.microsoft.com/office/drawing/2014/main" id="{423812BF-AD55-3F20-C8BD-D4C4B2D43550}"/>
              </a:ext>
            </a:extLst>
          </p:cNvPr>
          <p:cNvPicPr>
            <a:picLocks noChangeAspect="1"/>
          </p:cNvPicPr>
          <p:nvPr/>
        </p:nvPicPr>
        <p:blipFill>
          <a:blip r:embed="rId3"/>
          <a:stretch>
            <a:fillRect/>
          </a:stretch>
        </p:blipFill>
        <p:spPr>
          <a:xfrm>
            <a:off x="1430712" y="2422648"/>
            <a:ext cx="2514039" cy="2345846"/>
          </a:xfrm>
          <a:prstGeom prst="rect">
            <a:avLst/>
          </a:prstGeom>
        </p:spPr>
      </p:pic>
      <p:grpSp>
        <p:nvGrpSpPr>
          <p:cNvPr id="36" name="Group 35">
            <a:extLst>
              <a:ext uri="{FF2B5EF4-FFF2-40B4-BE49-F238E27FC236}">
                <a16:creationId xmlns:a16="http://schemas.microsoft.com/office/drawing/2014/main" id="{4834D0B4-B622-1781-61A0-A404F943C1DE}"/>
              </a:ext>
            </a:extLst>
          </p:cNvPr>
          <p:cNvGrpSpPr/>
          <p:nvPr/>
        </p:nvGrpSpPr>
        <p:grpSpPr>
          <a:xfrm>
            <a:off x="5410387" y="2255494"/>
            <a:ext cx="1513489" cy="780997"/>
            <a:chOff x="5410387" y="2255494"/>
            <a:chExt cx="1513489" cy="780997"/>
          </a:xfrm>
        </p:grpSpPr>
        <p:sp>
          <p:nvSpPr>
            <p:cNvPr id="21" name="TextBox 20">
              <a:extLst>
                <a:ext uri="{FF2B5EF4-FFF2-40B4-BE49-F238E27FC236}">
                  <a16:creationId xmlns:a16="http://schemas.microsoft.com/office/drawing/2014/main" id="{E649EBAD-3C66-5A11-0B3A-B12146E5E1DA}"/>
                </a:ext>
              </a:extLst>
            </p:cNvPr>
            <p:cNvSpPr txBox="1"/>
            <p:nvPr/>
          </p:nvSpPr>
          <p:spPr>
            <a:xfrm>
              <a:off x="5573082" y="2255494"/>
              <a:ext cx="1188099" cy="584775"/>
            </a:xfrm>
            <a:prstGeom prst="rect">
              <a:avLst/>
            </a:prstGeom>
            <a:noFill/>
          </p:spPr>
          <p:txBody>
            <a:bodyPr wrap="square">
              <a:spAutoFit/>
            </a:bodyPr>
            <a:lstStyle/>
            <a:p>
              <a:r>
                <a:rPr lang="en-US" sz="2800" b="1" u="sng" dirty="0"/>
                <a:t>PC1</a:t>
              </a:r>
              <a:r>
                <a:rPr lang="en-US" sz="3200" b="1" u="sng" dirty="0"/>
                <a:t>:</a:t>
              </a:r>
            </a:p>
          </p:txBody>
        </p:sp>
        <p:sp>
          <p:nvSpPr>
            <p:cNvPr id="22" name="TextBox 21">
              <a:extLst>
                <a:ext uri="{FF2B5EF4-FFF2-40B4-BE49-F238E27FC236}">
                  <a16:creationId xmlns:a16="http://schemas.microsoft.com/office/drawing/2014/main" id="{BF24E8F0-9D26-8355-B8A9-BD01AF02CC05}"/>
                </a:ext>
              </a:extLst>
            </p:cNvPr>
            <p:cNvSpPr txBox="1"/>
            <p:nvPr/>
          </p:nvSpPr>
          <p:spPr>
            <a:xfrm>
              <a:off x="5410387" y="2836436"/>
              <a:ext cx="1513489" cy="200055"/>
            </a:xfrm>
            <a:prstGeom prst="rect">
              <a:avLst/>
            </a:prstGeom>
            <a:noFill/>
          </p:spPr>
          <p:txBody>
            <a:bodyPr wrap="square" rtlCol="0">
              <a:spAutoFit/>
            </a:bodyPr>
            <a:lstStyle/>
            <a:p>
              <a:pPr algn="ctr"/>
              <a:r>
                <a:rPr lang="en-US" sz="700" b="1" dirty="0"/>
                <a:t>46.5% of explained variation</a:t>
              </a:r>
            </a:p>
          </p:txBody>
        </p:sp>
      </p:grpSp>
      <p:grpSp>
        <p:nvGrpSpPr>
          <p:cNvPr id="37" name="Group 36">
            <a:extLst>
              <a:ext uri="{FF2B5EF4-FFF2-40B4-BE49-F238E27FC236}">
                <a16:creationId xmlns:a16="http://schemas.microsoft.com/office/drawing/2014/main" id="{359264CD-9F95-0B21-42F4-17117708660C}"/>
              </a:ext>
            </a:extLst>
          </p:cNvPr>
          <p:cNvGrpSpPr/>
          <p:nvPr/>
        </p:nvGrpSpPr>
        <p:grpSpPr>
          <a:xfrm>
            <a:off x="7166428" y="2255494"/>
            <a:ext cx="1513489" cy="780997"/>
            <a:chOff x="7188111" y="2255494"/>
            <a:chExt cx="1513489" cy="780997"/>
          </a:xfrm>
        </p:grpSpPr>
        <p:sp>
          <p:nvSpPr>
            <p:cNvPr id="12" name="TextBox 11">
              <a:extLst>
                <a:ext uri="{FF2B5EF4-FFF2-40B4-BE49-F238E27FC236}">
                  <a16:creationId xmlns:a16="http://schemas.microsoft.com/office/drawing/2014/main" id="{24761579-49E9-4984-CFCE-82BD77A08874}"/>
                </a:ext>
              </a:extLst>
            </p:cNvPr>
            <p:cNvSpPr txBox="1"/>
            <p:nvPr/>
          </p:nvSpPr>
          <p:spPr>
            <a:xfrm>
              <a:off x="7350806" y="2255494"/>
              <a:ext cx="1188099" cy="584775"/>
            </a:xfrm>
            <a:prstGeom prst="rect">
              <a:avLst/>
            </a:prstGeom>
            <a:noFill/>
          </p:spPr>
          <p:txBody>
            <a:bodyPr wrap="square">
              <a:spAutoFit/>
            </a:bodyPr>
            <a:lstStyle/>
            <a:p>
              <a:r>
                <a:rPr lang="en-US" sz="2800" b="1" u="sng" dirty="0"/>
                <a:t>PC2</a:t>
              </a:r>
              <a:r>
                <a:rPr lang="en-US" sz="3200" b="1" u="sng" dirty="0"/>
                <a:t>:</a:t>
              </a:r>
            </a:p>
          </p:txBody>
        </p:sp>
        <p:sp>
          <p:nvSpPr>
            <p:cNvPr id="24" name="TextBox 23">
              <a:extLst>
                <a:ext uri="{FF2B5EF4-FFF2-40B4-BE49-F238E27FC236}">
                  <a16:creationId xmlns:a16="http://schemas.microsoft.com/office/drawing/2014/main" id="{1EE8C0B5-254D-3F58-9E7E-AA2EF76D3192}"/>
                </a:ext>
              </a:extLst>
            </p:cNvPr>
            <p:cNvSpPr txBox="1"/>
            <p:nvPr/>
          </p:nvSpPr>
          <p:spPr>
            <a:xfrm>
              <a:off x="7188111" y="2836436"/>
              <a:ext cx="1513489" cy="200055"/>
            </a:xfrm>
            <a:prstGeom prst="rect">
              <a:avLst/>
            </a:prstGeom>
            <a:noFill/>
          </p:spPr>
          <p:txBody>
            <a:bodyPr wrap="square" rtlCol="0">
              <a:spAutoFit/>
            </a:bodyPr>
            <a:lstStyle/>
            <a:p>
              <a:pPr algn="ctr"/>
              <a:r>
                <a:rPr lang="en-US" sz="700" b="1" dirty="0"/>
                <a:t>23.4% of explained variation</a:t>
              </a:r>
            </a:p>
          </p:txBody>
        </p:sp>
      </p:grpSp>
      <p:grpSp>
        <p:nvGrpSpPr>
          <p:cNvPr id="5" name="Group 4">
            <a:extLst>
              <a:ext uri="{FF2B5EF4-FFF2-40B4-BE49-F238E27FC236}">
                <a16:creationId xmlns:a16="http://schemas.microsoft.com/office/drawing/2014/main" id="{318A8AB4-97C1-4DEE-ACCB-A0E4DF83C743}"/>
              </a:ext>
            </a:extLst>
          </p:cNvPr>
          <p:cNvGrpSpPr/>
          <p:nvPr/>
        </p:nvGrpSpPr>
        <p:grpSpPr>
          <a:xfrm>
            <a:off x="8922469" y="2270206"/>
            <a:ext cx="1513489" cy="766285"/>
            <a:chOff x="8862150" y="2270206"/>
            <a:chExt cx="1513489" cy="766285"/>
          </a:xfrm>
        </p:grpSpPr>
        <p:sp>
          <p:nvSpPr>
            <p:cNvPr id="15" name="TextBox 14">
              <a:extLst>
                <a:ext uri="{FF2B5EF4-FFF2-40B4-BE49-F238E27FC236}">
                  <a16:creationId xmlns:a16="http://schemas.microsoft.com/office/drawing/2014/main" id="{A8ECADFB-D4AD-A351-BC3E-3154B8623EC8}"/>
                </a:ext>
              </a:extLst>
            </p:cNvPr>
            <p:cNvSpPr txBox="1"/>
            <p:nvPr/>
          </p:nvSpPr>
          <p:spPr>
            <a:xfrm>
              <a:off x="9024845" y="2270206"/>
              <a:ext cx="1188099" cy="584775"/>
            </a:xfrm>
            <a:prstGeom prst="rect">
              <a:avLst/>
            </a:prstGeom>
            <a:noFill/>
          </p:spPr>
          <p:txBody>
            <a:bodyPr wrap="square">
              <a:spAutoFit/>
            </a:bodyPr>
            <a:lstStyle/>
            <a:p>
              <a:r>
                <a:rPr lang="en-US" sz="2800" b="1" u="sng" dirty="0">
                  <a:solidFill>
                    <a:schemeClr val="bg2">
                      <a:lumMod val="75000"/>
                    </a:schemeClr>
                  </a:solidFill>
                </a:rPr>
                <a:t>PC3</a:t>
              </a:r>
              <a:r>
                <a:rPr lang="en-US" sz="3200" b="1" u="sng" dirty="0">
                  <a:solidFill>
                    <a:schemeClr val="bg2">
                      <a:lumMod val="75000"/>
                    </a:schemeClr>
                  </a:solidFill>
                </a:rPr>
                <a:t>:</a:t>
              </a:r>
            </a:p>
          </p:txBody>
        </p:sp>
        <p:sp>
          <p:nvSpPr>
            <p:cNvPr id="27" name="TextBox 26">
              <a:extLst>
                <a:ext uri="{FF2B5EF4-FFF2-40B4-BE49-F238E27FC236}">
                  <a16:creationId xmlns:a16="http://schemas.microsoft.com/office/drawing/2014/main" id="{C809FEB0-C568-45C9-FF0A-5258B62AD54C}"/>
                </a:ext>
              </a:extLst>
            </p:cNvPr>
            <p:cNvSpPr txBox="1"/>
            <p:nvPr/>
          </p:nvSpPr>
          <p:spPr>
            <a:xfrm>
              <a:off x="8862150" y="2836436"/>
              <a:ext cx="1513489" cy="200055"/>
            </a:xfrm>
            <a:prstGeom prst="rect">
              <a:avLst/>
            </a:prstGeom>
            <a:noFill/>
          </p:spPr>
          <p:txBody>
            <a:bodyPr wrap="square" rtlCol="0">
              <a:spAutoFit/>
            </a:bodyPr>
            <a:lstStyle/>
            <a:p>
              <a:pPr algn="ctr"/>
              <a:r>
                <a:rPr lang="en-US" sz="700" b="1" dirty="0">
                  <a:solidFill>
                    <a:schemeClr val="bg2">
                      <a:lumMod val="75000"/>
                    </a:schemeClr>
                  </a:solidFill>
                </a:rPr>
                <a:t>8.4% of explained variation</a:t>
              </a:r>
            </a:p>
          </p:txBody>
        </p:sp>
      </p:grpSp>
      <p:grpSp>
        <p:nvGrpSpPr>
          <p:cNvPr id="4" name="Group 3">
            <a:extLst>
              <a:ext uri="{FF2B5EF4-FFF2-40B4-BE49-F238E27FC236}">
                <a16:creationId xmlns:a16="http://schemas.microsoft.com/office/drawing/2014/main" id="{81067055-D40F-4FFC-8CB3-782D2471C97D}"/>
              </a:ext>
            </a:extLst>
          </p:cNvPr>
          <p:cNvGrpSpPr/>
          <p:nvPr/>
        </p:nvGrpSpPr>
        <p:grpSpPr>
          <a:xfrm>
            <a:off x="10678511" y="2255494"/>
            <a:ext cx="1513489" cy="780997"/>
            <a:chOff x="10678511" y="2255494"/>
            <a:chExt cx="1513489" cy="780997"/>
          </a:xfrm>
        </p:grpSpPr>
        <p:sp>
          <p:nvSpPr>
            <p:cNvPr id="17" name="TextBox 16">
              <a:extLst>
                <a:ext uri="{FF2B5EF4-FFF2-40B4-BE49-F238E27FC236}">
                  <a16:creationId xmlns:a16="http://schemas.microsoft.com/office/drawing/2014/main" id="{61F0FED8-5B68-30E5-135E-CFB7DF78F6B7}"/>
                </a:ext>
              </a:extLst>
            </p:cNvPr>
            <p:cNvSpPr txBox="1"/>
            <p:nvPr/>
          </p:nvSpPr>
          <p:spPr>
            <a:xfrm>
              <a:off x="10841206" y="2255494"/>
              <a:ext cx="1188099" cy="584775"/>
            </a:xfrm>
            <a:prstGeom prst="rect">
              <a:avLst/>
            </a:prstGeom>
            <a:noFill/>
          </p:spPr>
          <p:txBody>
            <a:bodyPr wrap="square">
              <a:spAutoFit/>
            </a:bodyPr>
            <a:lstStyle/>
            <a:p>
              <a:r>
                <a:rPr lang="en-US" sz="2800" b="1" u="sng" dirty="0">
                  <a:solidFill>
                    <a:schemeClr val="bg2">
                      <a:lumMod val="75000"/>
                    </a:schemeClr>
                  </a:solidFill>
                </a:rPr>
                <a:t>PC4</a:t>
              </a:r>
              <a:r>
                <a:rPr lang="en-US" sz="3200" b="1" u="sng" dirty="0">
                  <a:solidFill>
                    <a:schemeClr val="bg2">
                      <a:lumMod val="75000"/>
                    </a:schemeClr>
                  </a:solidFill>
                </a:rPr>
                <a:t>:</a:t>
              </a:r>
            </a:p>
          </p:txBody>
        </p:sp>
        <p:sp>
          <p:nvSpPr>
            <p:cNvPr id="34" name="TextBox 33">
              <a:extLst>
                <a:ext uri="{FF2B5EF4-FFF2-40B4-BE49-F238E27FC236}">
                  <a16:creationId xmlns:a16="http://schemas.microsoft.com/office/drawing/2014/main" id="{B1D019DD-5B26-EFAB-1BA3-9843E8AA75EF}"/>
                </a:ext>
              </a:extLst>
            </p:cNvPr>
            <p:cNvSpPr txBox="1"/>
            <p:nvPr/>
          </p:nvSpPr>
          <p:spPr>
            <a:xfrm>
              <a:off x="10678511" y="2836436"/>
              <a:ext cx="1513489" cy="200055"/>
            </a:xfrm>
            <a:prstGeom prst="rect">
              <a:avLst/>
            </a:prstGeom>
            <a:noFill/>
          </p:spPr>
          <p:txBody>
            <a:bodyPr wrap="square" rtlCol="0">
              <a:spAutoFit/>
            </a:bodyPr>
            <a:lstStyle/>
            <a:p>
              <a:pPr algn="ctr"/>
              <a:r>
                <a:rPr lang="en-US" sz="700" b="1" dirty="0">
                  <a:solidFill>
                    <a:schemeClr val="bg2">
                      <a:lumMod val="75000"/>
                    </a:schemeClr>
                  </a:solidFill>
                </a:rPr>
                <a:t>5.7% of explained variation</a:t>
              </a:r>
            </a:p>
          </p:txBody>
        </p:sp>
      </p:grpSp>
    </p:spTree>
    <p:extLst>
      <p:ext uri="{BB962C8B-B14F-4D97-AF65-F5344CB8AC3E}">
        <p14:creationId xmlns:p14="http://schemas.microsoft.com/office/powerpoint/2010/main" val="12272880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A1EF0-5DB4-0444-6404-F5F2C1A4D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6CF8D-0E1B-140B-0907-FEC9BC0B6EE0}"/>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sp>
        <p:nvSpPr>
          <p:cNvPr id="31" name="TextBox 30">
            <a:extLst>
              <a:ext uri="{FF2B5EF4-FFF2-40B4-BE49-F238E27FC236}">
                <a16:creationId xmlns:a16="http://schemas.microsoft.com/office/drawing/2014/main" id="{CC5583D9-9987-ED3F-3D5B-3408FF413D94}"/>
              </a:ext>
            </a:extLst>
          </p:cNvPr>
          <p:cNvSpPr txBox="1"/>
          <p:nvPr/>
        </p:nvSpPr>
        <p:spPr>
          <a:xfrm>
            <a:off x="728168" y="1222319"/>
            <a:ext cx="7697373" cy="1200329"/>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p:txBody>
      </p:sp>
      <p:pic>
        <p:nvPicPr>
          <p:cNvPr id="35" name="Picture 34" descr="The diagram illustrates a two-dimensional bioclimatic model with principal components explaining 46.5% and 23.4% of variation.&#10;&#10;AI-generated content may be incorrect.">
            <a:extLst>
              <a:ext uri="{FF2B5EF4-FFF2-40B4-BE49-F238E27FC236}">
                <a16:creationId xmlns:a16="http://schemas.microsoft.com/office/drawing/2014/main" id="{F185155F-7FD6-DAFF-B626-8ADD96D6DDCA}"/>
              </a:ext>
            </a:extLst>
          </p:cNvPr>
          <p:cNvPicPr>
            <a:picLocks noChangeAspect="1"/>
          </p:cNvPicPr>
          <p:nvPr/>
        </p:nvPicPr>
        <p:blipFill>
          <a:blip r:embed="rId3"/>
          <a:stretch>
            <a:fillRect/>
          </a:stretch>
        </p:blipFill>
        <p:spPr>
          <a:xfrm>
            <a:off x="1430712" y="2422648"/>
            <a:ext cx="2514039" cy="2345846"/>
          </a:xfrm>
          <a:prstGeom prst="rect">
            <a:avLst/>
          </a:prstGeom>
        </p:spPr>
      </p:pic>
      <p:grpSp>
        <p:nvGrpSpPr>
          <p:cNvPr id="36" name="Group 35">
            <a:extLst>
              <a:ext uri="{FF2B5EF4-FFF2-40B4-BE49-F238E27FC236}">
                <a16:creationId xmlns:a16="http://schemas.microsoft.com/office/drawing/2014/main" id="{CF799214-CB4E-51CC-7129-6DFA4D91B889}"/>
              </a:ext>
            </a:extLst>
          </p:cNvPr>
          <p:cNvGrpSpPr/>
          <p:nvPr/>
        </p:nvGrpSpPr>
        <p:grpSpPr>
          <a:xfrm>
            <a:off x="5017527" y="2633528"/>
            <a:ext cx="1513489" cy="780997"/>
            <a:chOff x="5410387" y="2255494"/>
            <a:chExt cx="1513489" cy="780997"/>
          </a:xfrm>
        </p:grpSpPr>
        <p:sp>
          <p:nvSpPr>
            <p:cNvPr id="21" name="TextBox 20">
              <a:extLst>
                <a:ext uri="{FF2B5EF4-FFF2-40B4-BE49-F238E27FC236}">
                  <a16:creationId xmlns:a16="http://schemas.microsoft.com/office/drawing/2014/main" id="{4CFE4779-7278-2178-7C28-DD58D3CE6757}"/>
                </a:ext>
              </a:extLst>
            </p:cNvPr>
            <p:cNvSpPr txBox="1"/>
            <p:nvPr/>
          </p:nvSpPr>
          <p:spPr>
            <a:xfrm>
              <a:off x="5573082" y="2255494"/>
              <a:ext cx="1188099" cy="584775"/>
            </a:xfrm>
            <a:prstGeom prst="rect">
              <a:avLst/>
            </a:prstGeom>
            <a:noFill/>
          </p:spPr>
          <p:txBody>
            <a:bodyPr wrap="square">
              <a:spAutoFit/>
            </a:bodyPr>
            <a:lstStyle/>
            <a:p>
              <a:r>
                <a:rPr lang="en-US" sz="2800" b="1" u="sng" dirty="0"/>
                <a:t>PC1</a:t>
              </a:r>
              <a:r>
                <a:rPr lang="en-US" sz="3200" b="1" u="sng" dirty="0"/>
                <a:t>:</a:t>
              </a:r>
            </a:p>
          </p:txBody>
        </p:sp>
        <p:sp>
          <p:nvSpPr>
            <p:cNvPr id="22" name="TextBox 21">
              <a:extLst>
                <a:ext uri="{FF2B5EF4-FFF2-40B4-BE49-F238E27FC236}">
                  <a16:creationId xmlns:a16="http://schemas.microsoft.com/office/drawing/2014/main" id="{FD0AAC5C-1316-72FA-D14B-66D476335796}"/>
                </a:ext>
              </a:extLst>
            </p:cNvPr>
            <p:cNvSpPr txBox="1"/>
            <p:nvPr/>
          </p:nvSpPr>
          <p:spPr>
            <a:xfrm>
              <a:off x="5410387" y="2836436"/>
              <a:ext cx="1513489" cy="200055"/>
            </a:xfrm>
            <a:prstGeom prst="rect">
              <a:avLst/>
            </a:prstGeom>
            <a:noFill/>
          </p:spPr>
          <p:txBody>
            <a:bodyPr wrap="square" rtlCol="0">
              <a:spAutoFit/>
            </a:bodyPr>
            <a:lstStyle/>
            <a:p>
              <a:pPr algn="ctr"/>
              <a:r>
                <a:rPr lang="en-US" sz="700" b="1" dirty="0"/>
                <a:t>46.5% of explained variation</a:t>
              </a:r>
            </a:p>
          </p:txBody>
        </p:sp>
      </p:grpSp>
      <p:grpSp>
        <p:nvGrpSpPr>
          <p:cNvPr id="37" name="Group 36">
            <a:extLst>
              <a:ext uri="{FF2B5EF4-FFF2-40B4-BE49-F238E27FC236}">
                <a16:creationId xmlns:a16="http://schemas.microsoft.com/office/drawing/2014/main" id="{0E0E3FF2-E4C3-D735-9221-51C9B60AE7D6}"/>
              </a:ext>
            </a:extLst>
          </p:cNvPr>
          <p:cNvGrpSpPr/>
          <p:nvPr/>
        </p:nvGrpSpPr>
        <p:grpSpPr>
          <a:xfrm>
            <a:off x="8743062" y="2633528"/>
            <a:ext cx="1513489" cy="780997"/>
            <a:chOff x="7188111" y="2255494"/>
            <a:chExt cx="1513489" cy="780997"/>
          </a:xfrm>
        </p:grpSpPr>
        <p:sp>
          <p:nvSpPr>
            <p:cNvPr id="12" name="TextBox 11">
              <a:extLst>
                <a:ext uri="{FF2B5EF4-FFF2-40B4-BE49-F238E27FC236}">
                  <a16:creationId xmlns:a16="http://schemas.microsoft.com/office/drawing/2014/main" id="{F95991E8-587D-2C56-BC7B-22DA23285E98}"/>
                </a:ext>
              </a:extLst>
            </p:cNvPr>
            <p:cNvSpPr txBox="1"/>
            <p:nvPr/>
          </p:nvSpPr>
          <p:spPr>
            <a:xfrm>
              <a:off x="7350806" y="2255494"/>
              <a:ext cx="1188099" cy="584775"/>
            </a:xfrm>
            <a:prstGeom prst="rect">
              <a:avLst/>
            </a:prstGeom>
            <a:noFill/>
          </p:spPr>
          <p:txBody>
            <a:bodyPr wrap="square">
              <a:spAutoFit/>
            </a:bodyPr>
            <a:lstStyle/>
            <a:p>
              <a:r>
                <a:rPr lang="en-US" sz="2800" b="1" u="sng" dirty="0"/>
                <a:t>PC2</a:t>
              </a:r>
              <a:r>
                <a:rPr lang="en-US" sz="3200" b="1" u="sng" dirty="0"/>
                <a:t>:</a:t>
              </a:r>
            </a:p>
          </p:txBody>
        </p:sp>
        <p:sp>
          <p:nvSpPr>
            <p:cNvPr id="24" name="TextBox 23">
              <a:extLst>
                <a:ext uri="{FF2B5EF4-FFF2-40B4-BE49-F238E27FC236}">
                  <a16:creationId xmlns:a16="http://schemas.microsoft.com/office/drawing/2014/main" id="{85CEBD68-19B3-4605-5849-66DB640E207B}"/>
                </a:ext>
              </a:extLst>
            </p:cNvPr>
            <p:cNvSpPr txBox="1"/>
            <p:nvPr/>
          </p:nvSpPr>
          <p:spPr>
            <a:xfrm>
              <a:off x="7188111" y="2836436"/>
              <a:ext cx="1513489" cy="200055"/>
            </a:xfrm>
            <a:prstGeom prst="rect">
              <a:avLst/>
            </a:prstGeom>
            <a:noFill/>
          </p:spPr>
          <p:txBody>
            <a:bodyPr wrap="square" rtlCol="0">
              <a:spAutoFit/>
            </a:bodyPr>
            <a:lstStyle/>
            <a:p>
              <a:pPr algn="ctr"/>
              <a:r>
                <a:rPr lang="en-US" sz="700" b="1" dirty="0"/>
                <a:t>23.4% of explained variation</a:t>
              </a:r>
            </a:p>
          </p:txBody>
        </p:sp>
      </p:grpSp>
      <p:sp>
        <p:nvSpPr>
          <p:cNvPr id="6" name="TextBox 5">
            <a:extLst>
              <a:ext uri="{FF2B5EF4-FFF2-40B4-BE49-F238E27FC236}">
                <a16:creationId xmlns:a16="http://schemas.microsoft.com/office/drawing/2014/main" id="{AE1073F1-F35C-347C-8D4C-E2BB1ACED611}"/>
              </a:ext>
            </a:extLst>
          </p:cNvPr>
          <p:cNvSpPr txBox="1"/>
          <p:nvPr/>
        </p:nvSpPr>
        <p:spPr>
          <a:xfrm>
            <a:off x="5063936" y="3414525"/>
            <a:ext cx="3200400" cy="738664"/>
          </a:xfrm>
          <a:prstGeom prst="rect">
            <a:avLst/>
          </a:prstGeom>
          <a:noFill/>
        </p:spPr>
        <p:txBody>
          <a:bodyPr wrap="square">
            <a:spAutoFit/>
          </a:bodyPr>
          <a:lstStyle/>
          <a:p>
            <a:r>
              <a:rPr lang="en-US" sz="1050" b="1" i="1" dirty="0">
                <a:solidFill>
                  <a:srgbClr val="0070C0"/>
                </a:solidFill>
              </a:rPr>
              <a:t>Variable	Loading	Relative Loading</a:t>
            </a:r>
          </a:p>
          <a:p>
            <a:r>
              <a:rPr lang="en-US" sz="1050" i="1" dirty="0"/>
              <a:t>Bioclim2</a:t>
            </a:r>
            <a:r>
              <a:rPr lang="en-US" sz="1050" dirty="0"/>
              <a:t>	-1.45636	72.0%</a:t>
            </a:r>
          </a:p>
          <a:p>
            <a:r>
              <a:rPr lang="en-US" sz="1050" i="1" dirty="0"/>
              <a:t>Bioclim1	0.45256	22.4%</a:t>
            </a:r>
          </a:p>
          <a:p>
            <a:r>
              <a:rPr lang="en-US" sz="1050" i="1" dirty="0"/>
              <a:t>Bioclim3	0.11324	5.6%</a:t>
            </a:r>
            <a:endParaRPr lang="en-US" sz="1050" i="1" u="sng" dirty="0"/>
          </a:p>
        </p:txBody>
      </p:sp>
      <p:sp>
        <p:nvSpPr>
          <p:cNvPr id="8" name="TextBox 7">
            <a:extLst>
              <a:ext uri="{FF2B5EF4-FFF2-40B4-BE49-F238E27FC236}">
                <a16:creationId xmlns:a16="http://schemas.microsoft.com/office/drawing/2014/main" id="{336224C2-B8C1-12DC-D0E8-42A535C03AB8}"/>
              </a:ext>
            </a:extLst>
          </p:cNvPr>
          <p:cNvSpPr txBox="1"/>
          <p:nvPr/>
        </p:nvSpPr>
        <p:spPr>
          <a:xfrm>
            <a:off x="8769170" y="3414525"/>
            <a:ext cx="3105106" cy="577081"/>
          </a:xfrm>
          <a:prstGeom prst="rect">
            <a:avLst/>
          </a:prstGeom>
          <a:noFill/>
        </p:spPr>
        <p:txBody>
          <a:bodyPr wrap="square">
            <a:spAutoFit/>
          </a:bodyPr>
          <a:lstStyle/>
          <a:p>
            <a:r>
              <a:rPr lang="en-US" sz="1050" b="1" i="1" dirty="0">
                <a:solidFill>
                  <a:srgbClr val="0070C0"/>
                </a:solidFill>
              </a:rPr>
              <a:t>Variable	Loading	Relative Loading</a:t>
            </a:r>
          </a:p>
          <a:p>
            <a:r>
              <a:rPr lang="en-US" sz="1050" i="1" dirty="0"/>
              <a:t>Bioclim3</a:t>
            </a:r>
            <a:r>
              <a:rPr lang="en-US" sz="1050" dirty="0"/>
              <a:t>	2.65567	53.1%</a:t>
            </a:r>
          </a:p>
          <a:p>
            <a:r>
              <a:rPr lang="en-US" sz="1050" i="1" dirty="0"/>
              <a:t>Bioclim1	2.34566	46.9%</a:t>
            </a:r>
            <a:endParaRPr lang="en-US" sz="1050" i="1" u="sng" dirty="0"/>
          </a:p>
        </p:txBody>
      </p:sp>
      <p:sp>
        <p:nvSpPr>
          <p:cNvPr id="9" name="Oval 8">
            <a:extLst>
              <a:ext uri="{FF2B5EF4-FFF2-40B4-BE49-F238E27FC236}">
                <a16:creationId xmlns:a16="http://schemas.microsoft.com/office/drawing/2014/main" id="{9585EE02-9292-7762-0F22-A2F033DAF2FB}"/>
              </a:ext>
            </a:extLst>
          </p:cNvPr>
          <p:cNvSpPr/>
          <p:nvPr/>
        </p:nvSpPr>
        <p:spPr>
          <a:xfrm>
            <a:off x="4899546" y="3610747"/>
            <a:ext cx="2932504" cy="380859"/>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AC99F28-FB46-24FE-80D0-852F651CD6F1}"/>
              </a:ext>
            </a:extLst>
          </p:cNvPr>
          <p:cNvSpPr/>
          <p:nvPr/>
        </p:nvSpPr>
        <p:spPr>
          <a:xfrm>
            <a:off x="8627604" y="3593427"/>
            <a:ext cx="2932504" cy="380859"/>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81C33136-3D21-8472-8D2C-F74C33E4064B}"/>
              </a:ext>
            </a:extLst>
          </p:cNvPr>
          <p:cNvSpPr/>
          <p:nvPr/>
        </p:nvSpPr>
        <p:spPr>
          <a:xfrm>
            <a:off x="8036507" y="4349411"/>
            <a:ext cx="455657" cy="495858"/>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4429913-7B01-EF81-60E6-8F13E4820D50}"/>
              </a:ext>
            </a:extLst>
          </p:cNvPr>
          <p:cNvSpPr txBox="1"/>
          <p:nvPr/>
        </p:nvSpPr>
        <p:spPr>
          <a:xfrm>
            <a:off x="7731925" y="4971956"/>
            <a:ext cx="6096000" cy="369332"/>
          </a:xfrm>
          <a:prstGeom prst="rect">
            <a:avLst/>
          </a:prstGeom>
          <a:noFill/>
        </p:spPr>
        <p:txBody>
          <a:bodyPr wrap="square">
            <a:spAutoFit/>
          </a:bodyPr>
          <a:lstStyle/>
          <a:p>
            <a:r>
              <a:rPr lang="en-US" i="1" dirty="0" err="1"/>
              <a:t>Bioclim</a:t>
            </a:r>
            <a:r>
              <a:rPr lang="en-US" i="1" dirty="0"/>
              <a:t> 2</a:t>
            </a:r>
          </a:p>
        </p:txBody>
      </p:sp>
      <p:sp>
        <p:nvSpPr>
          <p:cNvPr id="20" name="TextBox 19">
            <a:extLst>
              <a:ext uri="{FF2B5EF4-FFF2-40B4-BE49-F238E27FC236}">
                <a16:creationId xmlns:a16="http://schemas.microsoft.com/office/drawing/2014/main" id="{B6FB3130-7ED1-7479-7CFF-DF1BFF6B4D8F}"/>
              </a:ext>
            </a:extLst>
          </p:cNvPr>
          <p:cNvSpPr txBox="1"/>
          <p:nvPr/>
        </p:nvSpPr>
        <p:spPr>
          <a:xfrm>
            <a:off x="7731925" y="5283309"/>
            <a:ext cx="6096000" cy="369332"/>
          </a:xfrm>
          <a:prstGeom prst="rect">
            <a:avLst/>
          </a:prstGeom>
          <a:noFill/>
        </p:spPr>
        <p:txBody>
          <a:bodyPr wrap="square">
            <a:spAutoFit/>
          </a:bodyPr>
          <a:lstStyle/>
          <a:p>
            <a:r>
              <a:rPr lang="en-US" i="1" dirty="0" err="1"/>
              <a:t>Bioclim</a:t>
            </a:r>
            <a:r>
              <a:rPr lang="en-US" i="1" dirty="0"/>
              <a:t> 1</a:t>
            </a:r>
          </a:p>
        </p:txBody>
      </p:sp>
      <p:sp>
        <p:nvSpPr>
          <p:cNvPr id="25" name="TextBox 24">
            <a:extLst>
              <a:ext uri="{FF2B5EF4-FFF2-40B4-BE49-F238E27FC236}">
                <a16:creationId xmlns:a16="http://schemas.microsoft.com/office/drawing/2014/main" id="{D73455BA-354B-EA3C-945C-6C07B5F39969}"/>
              </a:ext>
            </a:extLst>
          </p:cNvPr>
          <p:cNvSpPr txBox="1"/>
          <p:nvPr/>
        </p:nvSpPr>
        <p:spPr>
          <a:xfrm>
            <a:off x="7731925" y="5611725"/>
            <a:ext cx="6096000" cy="369332"/>
          </a:xfrm>
          <a:prstGeom prst="rect">
            <a:avLst/>
          </a:prstGeom>
          <a:noFill/>
        </p:spPr>
        <p:txBody>
          <a:bodyPr wrap="square">
            <a:spAutoFit/>
          </a:bodyPr>
          <a:lstStyle/>
          <a:p>
            <a:r>
              <a:rPr lang="en-US" i="1" dirty="0" err="1"/>
              <a:t>Bioclim</a:t>
            </a:r>
            <a:r>
              <a:rPr lang="en-US" i="1" dirty="0"/>
              <a:t> 3</a:t>
            </a:r>
          </a:p>
        </p:txBody>
      </p:sp>
    </p:spTree>
    <p:extLst>
      <p:ext uri="{BB962C8B-B14F-4D97-AF65-F5344CB8AC3E}">
        <p14:creationId xmlns:p14="http://schemas.microsoft.com/office/powerpoint/2010/main" val="4318094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6ADD0-5F99-974B-2967-7A01ABAE3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C4570-185A-B34B-3F7F-698DAFABE765}"/>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sp>
        <p:nvSpPr>
          <p:cNvPr id="31" name="TextBox 30">
            <a:extLst>
              <a:ext uri="{FF2B5EF4-FFF2-40B4-BE49-F238E27FC236}">
                <a16:creationId xmlns:a16="http://schemas.microsoft.com/office/drawing/2014/main" id="{FC51401C-FB58-10F2-F263-F52C079F845F}"/>
              </a:ext>
            </a:extLst>
          </p:cNvPr>
          <p:cNvSpPr txBox="1"/>
          <p:nvPr/>
        </p:nvSpPr>
        <p:spPr>
          <a:xfrm>
            <a:off x="728168" y="1222319"/>
            <a:ext cx="7697373" cy="2308324"/>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a:p>
            <a:pPr marL="800100" lvl="1" indent="-342900">
              <a:buFont typeface="Arial" panose="020B0604020202020204" pitchFamily="34" charset="0"/>
              <a:buChar char="•"/>
            </a:pPr>
            <a:r>
              <a:rPr lang="en-US" sz="2400" dirty="0"/>
              <a:t>For each of these </a:t>
            </a:r>
            <a:r>
              <a:rPr lang="en-US" sz="2400" b="1" dirty="0"/>
              <a:t>top loading variables</a:t>
            </a:r>
            <a:r>
              <a:rPr lang="en-US" sz="2400" dirty="0"/>
              <a:t>, perform an ANOVA test to see if taxa are significantly different</a:t>
            </a:r>
          </a:p>
        </p:txBody>
      </p:sp>
      <p:grpSp>
        <p:nvGrpSpPr>
          <p:cNvPr id="35" name="Group 34">
            <a:extLst>
              <a:ext uri="{FF2B5EF4-FFF2-40B4-BE49-F238E27FC236}">
                <a16:creationId xmlns:a16="http://schemas.microsoft.com/office/drawing/2014/main" id="{CD7426EF-B299-AA97-F457-CD6DDC0B0925}"/>
              </a:ext>
            </a:extLst>
          </p:cNvPr>
          <p:cNvGrpSpPr/>
          <p:nvPr/>
        </p:nvGrpSpPr>
        <p:grpSpPr>
          <a:xfrm>
            <a:off x="2626757" y="4050363"/>
            <a:ext cx="1275833" cy="1157382"/>
            <a:chOff x="2626757" y="4050363"/>
            <a:chExt cx="1275833" cy="1157382"/>
          </a:xfrm>
        </p:grpSpPr>
        <p:pic>
          <p:nvPicPr>
            <p:cNvPr id="20" name="Graphic 19" descr="Normal Distribution outline">
              <a:extLst>
                <a:ext uri="{FF2B5EF4-FFF2-40B4-BE49-F238E27FC236}">
                  <a16:creationId xmlns:a16="http://schemas.microsoft.com/office/drawing/2014/main" id="{C203D1E4-65C7-16DF-7487-7CB1811B67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6757" y="4050363"/>
              <a:ext cx="1275833" cy="1157382"/>
            </a:xfrm>
            <a:prstGeom prst="rect">
              <a:avLst/>
            </a:prstGeom>
          </p:spPr>
        </p:pic>
        <p:sp>
          <p:nvSpPr>
            <p:cNvPr id="34" name="Rectangle 33">
              <a:extLst>
                <a:ext uri="{FF2B5EF4-FFF2-40B4-BE49-F238E27FC236}">
                  <a16:creationId xmlns:a16="http://schemas.microsoft.com/office/drawing/2014/main" id="{76D04A0E-8870-4E7A-B82A-7F9B53D4D02F}"/>
                </a:ext>
              </a:extLst>
            </p:cNvPr>
            <p:cNvSpPr/>
            <p:nvPr/>
          </p:nvSpPr>
          <p:spPr>
            <a:xfrm>
              <a:off x="2916976" y="4144932"/>
              <a:ext cx="922328" cy="8171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21D39D9D-2143-57A6-ABFD-718371186E6E}"/>
              </a:ext>
            </a:extLst>
          </p:cNvPr>
          <p:cNvGrpSpPr/>
          <p:nvPr/>
        </p:nvGrpSpPr>
        <p:grpSpPr>
          <a:xfrm>
            <a:off x="2733158" y="4153782"/>
            <a:ext cx="1062950" cy="914390"/>
            <a:chOff x="4576854" y="4342376"/>
            <a:chExt cx="1062950" cy="914390"/>
          </a:xfrm>
        </p:grpSpPr>
        <p:pic>
          <p:nvPicPr>
            <p:cNvPr id="32" name="Graphic 31" descr="Normal Distribution outline">
              <a:extLst>
                <a:ext uri="{FF2B5EF4-FFF2-40B4-BE49-F238E27FC236}">
                  <a16:creationId xmlns:a16="http://schemas.microsoft.com/office/drawing/2014/main" id="{3C9CD9F9-6D1F-449E-3C04-8C2754F0B2A8}"/>
                </a:ext>
              </a:extLst>
            </p:cNvPr>
            <p:cNvPicPr>
              <a:picLocks noChangeAspect="1"/>
            </p:cNvPicPr>
            <p:nvPr/>
          </p:nvPicPr>
          <p:blipFill>
            <a:blip>
              <a:extLst>
                <a:ext uri="{96DAC541-7B7A-43D3-8B79-37D633B846F1}">
                  <asvg:svgBlip xmlns:asvg="http://schemas.microsoft.com/office/drawing/2016/SVG/main" r:embed="rId4"/>
                </a:ext>
              </a:extLst>
            </a:blip>
            <a:srcRect l="20713" b="20995"/>
            <a:stretch>
              <a:fillRect/>
            </a:stretch>
          </p:blipFill>
          <p:spPr>
            <a:xfrm>
              <a:off x="4576854" y="4342376"/>
              <a:ext cx="1062950" cy="914390"/>
            </a:xfrm>
            <a:prstGeom prst="rect">
              <a:avLst/>
            </a:prstGeom>
          </p:spPr>
        </p:pic>
        <p:sp>
          <p:nvSpPr>
            <p:cNvPr id="33" name="Oval 32">
              <a:extLst>
                <a:ext uri="{FF2B5EF4-FFF2-40B4-BE49-F238E27FC236}">
                  <a16:creationId xmlns:a16="http://schemas.microsoft.com/office/drawing/2014/main" id="{25CB5F0D-7BCD-9ED1-6A22-B5ACB9D064D3}"/>
                </a:ext>
              </a:extLst>
            </p:cNvPr>
            <p:cNvSpPr/>
            <p:nvPr/>
          </p:nvSpPr>
          <p:spPr>
            <a:xfrm>
              <a:off x="4932390" y="4720960"/>
              <a:ext cx="168886" cy="43912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121">
            <a:extLst>
              <a:ext uri="{FF2B5EF4-FFF2-40B4-BE49-F238E27FC236}">
                <a16:creationId xmlns:a16="http://schemas.microsoft.com/office/drawing/2014/main" id="{B4686C2E-5DA6-2D0C-7D4D-E86ECF6D721F}"/>
              </a:ext>
            </a:extLst>
          </p:cNvPr>
          <p:cNvGrpSpPr/>
          <p:nvPr/>
        </p:nvGrpSpPr>
        <p:grpSpPr>
          <a:xfrm>
            <a:off x="2343233" y="3681031"/>
            <a:ext cx="1676391" cy="2558320"/>
            <a:chOff x="2343233" y="3681031"/>
            <a:chExt cx="1676391" cy="2558320"/>
          </a:xfrm>
        </p:grpSpPr>
        <p:sp>
          <p:nvSpPr>
            <p:cNvPr id="5" name="TextBox 4">
              <a:extLst>
                <a:ext uri="{FF2B5EF4-FFF2-40B4-BE49-F238E27FC236}">
                  <a16:creationId xmlns:a16="http://schemas.microsoft.com/office/drawing/2014/main" id="{32D3230D-9CD2-7119-2C35-E03BA4609FD5}"/>
                </a:ext>
              </a:extLst>
            </p:cNvPr>
            <p:cNvSpPr txBox="1"/>
            <p:nvPr/>
          </p:nvSpPr>
          <p:spPr>
            <a:xfrm>
              <a:off x="2603860" y="3681031"/>
              <a:ext cx="1155137" cy="369332"/>
            </a:xfrm>
            <a:prstGeom prst="rect">
              <a:avLst/>
            </a:prstGeom>
            <a:noFill/>
          </p:spPr>
          <p:txBody>
            <a:bodyPr wrap="square">
              <a:spAutoFit/>
            </a:bodyPr>
            <a:lstStyle/>
            <a:p>
              <a:r>
                <a:rPr lang="en-US" b="1" i="1" dirty="0">
                  <a:solidFill>
                    <a:schemeClr val="tx2">
                      <a:lumMod val="90000"/>
                      <a:lumOff val="10000"/>
                    </a:schemeClr>
                  </a:solidFill>
                </a:rPr>
                <a:t>Bioclim2</a:t>
              </a:r>
            </a:p>
          </p:txBody>
        </p:sp>
        <p:grpSp>
          <p:nvGrpSpPr>
            <p:cNvPr id="119" name="Group 118">
              <a:extLst>
                <a:ext uri="{FF2B5EF4-FFF2-40B4-BE49-F238E27FC236}">
                  <a16:creationId xmlns:a16="http://schemas.microsoft.com/office/drawing/2014/main" id="{56639BCD-A517-4CE3-92A1-FB0DA53FE04F}"/>
                </a:ext>
              </a:extLst>
            </p:cNvPr>
            <p:cNvGrpSpPr/>
            <p:nvPr/>
          </p:nvGrpSpPr>
          <p:grpSpPr>
            <a:xfrm>
              <a:off x="2343233" y="4144932"/>
              <a:ext cx="1676391" cy="2094419"/>
              <a:chOff x="2343233" y="4144932"/>
              <a:chExt cx="1676391" cy="2094419"/>
            </a:xfrm>
          </p:grpSpPr>
          <p:pic>
            <p:nvPicPr>
              <p:cNvPr id="23" name="Graphic 22" descr="Cactus with solid fill">
                <a:extLst>
                  <a:ext uri="{FF2B5EF4-FFF2-40B4-BE49-F238E27FC236}">
                    <a16:creationId xmlns:a16="http://schemas.microsoft.com/office/drawing/2014/main" id="{D9DDB0D9-F53C-E84B-B40D-2A82B04483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2343233" y="4144932"/>
                <a:ext cx="465622" cy="322748"/>
              </a:xfrm>
              <a:prstGeom prst="rect">
                <a:avLst/>
              </a:prstGeom>
            </p:spPr>
          </p:pic>
          <p:pic>
            <p:nvPicPr>
              <p:cNvPr id="7" name="Graphic 6" descr="Flower without stem with solid fill">
                <a:extLst>
                  <a:ext uri="{FF2B5EF4-FFF2-40B4-BE49-F238E27FC236}">
                    <a16:creationId xmlns:a16="http://schemas.microsoft.com/office/drawing/2014/main" id="{21B36962-6501-42CF-D91E-95D865F139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58210" y="5207745"/>
                <a:ext cx="435666" cy="435666"/>
              </a:xfrm>
              <a:prstGeom prst="rect">
                <a:avLst/>
              </a:prstGeom>
            </p:spPr>
          </p:pic>
          <p:grpSp>
            <p:nvGrpSpPr>
              <p:cNvPr id="36" name="Group 35">
                <a:extLst>
                  <a:ext uri="{FF2B5EF4-FFF2-40B4-BE49-F238E27FC236}">
                    <a16:creationId xmlns:a16="http://schemas.microsoft.com/office/drawing/2014/main" id="{81D5A803-D43E-645A-CC41-698503021747}"/>
                  </a:ext>
                </a:extLst>
              </p:cNvPr>
              <p:cNvGrpSpPr/>
              <p:nvPr/>
            </p:nvGrpSpPr>
            <p:grpSpPr>
              <a:xfrm>
                <a:off x="3053025" y="6158924"/>
                <a:ext cx="581834" cy="80427"/>
                <a:chOff x="3130013" y="6158658"/>
                <a:chExt cx="581834" cy="80427"/>
              </a:xfrm>
            </p:grpSpPr>
            <p:sp>
              <p:nvSpPr>
                <p:cNvPr id="15" name="Rectangle 14">
                  <a:extLst>
                    <a:ext uri="{FF2B5EF4-FFF2-40B4-BE49-F238E27FC236}">
                      <a16:creationId xmlns:a16="http://schemas.microsoft.com/office/drawing/2014/main" id="{C24336D7-43D6-3715-5436-0DEAA06C5FC4}"/>
                    </a:ext>
                  </a:extLst>
                </p:cNvPr>
                <p:cNvSpPr/>
                <p:nvPr/>
              </p:nvSpPr>
              <p:spPr>
                <a:xfrm rot="35076">
                  <a:off x="3659334" y="6158658"/>
                  <a:ext cx="52513" cy="80427"/>
                </a:xfrm>
                <a:prstGeom prst="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6B8901DD-8B3D-0A62-6876-B4441C677762}"/>
                    </a:ext>
                  </a:extLst>
                </p:cNvPr>
                <p:cNvSpPr/>
                <p:nvPr/>
              </p:nvSpPr>
              <p:spPr>
                <a:xfrm rot="35076">
                  <a:off x="3130013" y="6158658"/>
                  <a:ext cx="52513" cy="80427"/>
                </a:xfrm>
                <a:prstGeom prst="rect">
                  <a:avLst/>
                </a:prstGeom>
                <a:solidFill>
                  <a:schemeClr val="tx2">
                    <a:lumMod val="75000"/>
                    <a:lumOff val="2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Graphic 27" descr="Cactus with solid fill">
                <a:extLst>
                  <a:ext uri="{FF2B5EF4-FFF2-40B4-BE49-F238E27FC236}">
                    <a16:creationId xmlns:a16="http://schemas.microsoft.com/office/drawing/2014/main" id="{E4645E75-BA97-4E13-9B54-1A412C5CD1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2970397" y="4774599"/>
                <a:ext cx="294236" cy="203951"/>
              </a:xfrm>
              <a:prstGeom prst="rect">
                <a:avLst/>
              </a:prstGeom>
            </p:spPr>
          </p:pic>
          <p:pic>
            <p:nvPicPr>
              <p:cNvPr id="38" name="Graphic 37" descr="Cactus with solid fill">
                <a:extLst>
                  <a:ext uri="{FF2B5EF4-FFF2-40B4-BE49-F238E27FC236}">
                    <a16:creationId xmlns:a16="http://schemas.microsoft.com/office/drawing/2014/main" id="{C5408062-5458-4164-E0F0-6A37DFC272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3021947" y="4658782"/>
                <a:ext cx="294236" cy="203951"/>
              </a:xfrm>
              <a:prstGeom prst="rect">
                <a:avLst/>
              </a:prstGeom>
            </p:spPr>
          </p:pic>
          <p:pic>
            <p:nvPicPr>
              <p:cNvPr id="40" name="Graphic 39" descr="Cactus with solid fill">
                <a:extLst>
                  <a:ext uri="{FF2B5EF4-FFF2-40B4-BE49-F238E27FC236}">
                    <a16:creationId xmlns:a16="http://schemas.microsoft.com/office/drawing/2014/main" id="{98EB5FFE-7840-802E-1AEE-37AB3E1B52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3341032" y="4772065"/>
                <a:ext cx="294236" cy="203951"/>
              </a:xfrm>
              <a:prstGeom prst="rect">
                <a:avLst/>
              </a:prstGeom>
            </p:spPr>
          </p:pic>
          <p:grpSp>
            <p:nvGrpSpPr>
              <p:cNvPr id="53" name="Group 52">
                <a:extLst>
                  <a:ext uri="{FF2B5EF4-FFF2-40B4-BE49-F238E27FC236}">
                    <a16:creationId xmlns:a16="http://schemas.microsoft.com/office/drawing/2014/main" id="{77423836-64DE-B2EA-5727-0EB81E7D9F94}"/>
                  </a:ext>
                </a:extLst>
              </p:cNvPr>
              <p:cNvGrpSpPr/>
              <p:nvPr/>
            </p:nvGrpSpPr>
            <p:grpSpPr>
              <a:xfrm>
                <a:off x="2626757" y="5081969"/>
                <a:ext cx="1275833" cy="1157382"/>
                <a:chOff x="2626757" y="5081969"/>
                <a:chExt cx="1275833" cy="1157382"/>
              </a:xfrm>
            </p:grpSpPr>
            <p:grpSp>
              <p:nvGrpSpPr>
                <p:cNvPr id="18" name="Group 17">
                  <a:extLst>
                    <a:ext uri="{FF2B5EF4-FFF2-40B4-BE49-F238E27FC236}">
                      <a16:creationId xmlns:a16="http://schemas.microsoft.com/office/drawing/2014/main" id="{8A99B8BB-C57B-4CF4-1080-E2C56CF4BE5C}"/>
                    </a:ext>
                  </a:extLst>
                </p:cNvPr>
                <p:cNvGrpSpPr/>
                <p:nvPr/>
              </p:nvGrpSpPr>
              <p:grpSpPr>
                <a:xfrm>
                  <a:off x="2626757" y="5081969"/>
                  <a:ext cx="1275833" cy="1157382"/>
                  <a:chOff x="8026214" y="3784088"/>
                  <a:chExt cx="973436" cy="973436"/>
                </a:xfrm>
              </p:grpSpPr>
              <p:pic>
                <p:nvPicPr>
                  <p:cNvPr id="16" name="Graphic 15" descr="Normal Distribution outline">
                    <a:extLst>
                      <a:ext uri="{FF2B5EF4-FFF2-40B4-BE49-F238E27FC236}">
                        <a16:creationId xmlns:a16="http://schemas.microsoft.com/office/drawing/2014/main" id="{FC4B94D4-47FC-B09D-B6EA-D741A1DD7A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6214" y="3784088"/>
                    <a:ext cx="973436" cy="973436"/>
                  </a:xfrm>
                  <a:prstGeom prst="rect">
                    <a:avLst/>
                  </a:prstGeom>
                </p:spPr>
              </p:pic>
              <p:sp>
                <p:nvSpPr>
                  <p:cNvPr id="17" name="Oval 16">
                    <a:extLst>
                      <a:ext uri="{FF2B5EF4-FFF2-40B4-BE49-F238E27FC236}">
                        <a16:creationId xmlns:a16="http://schemas.microsoft.com/office/drawing/2014/main" id="{37769E35-E944-27DA-385D-1F201497DFD7}"/>
                      </a:ext>
                    </a:extLst>
                  </p:cNvPr>
                  <p:cNvSpPr/>
                  <p:nvPr/>
                </p:nvSpPr>
                <p:spPr>
                  <a:xfrm>
                    <a:off x="8514986" y="4095804"/>
                    <a:ext cx="87363" cy="36933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2" name="Rectangle: Rounded Corners 51">
                  <a:extLst>
                    <a:ext uri="{FF2B5EF4-FFF2-40B4-BE49-F238E27FC236}">
                      <a16:creationId xmlns:a16="http://schemas.microsoft.com/office/drawing/2014/main" id="{97D40F78-617F-D177-DDCD-41DD63428779}"/>
                    </a:ext>
                  </a:extLst>
                </p:cNvPr>
                <p:cNvSpPr/>
                <p:nvPr/>
              </p:nvSpPr>
              <p:spPr>
                <a:xfrm>
                  <a:off x="2916976" y="5290792"/>
                  <a:ext cx="922328" cy="71936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7B072D16-4BEA-FB99-FCD7-E68E08735DEA}"/>
                  </a:ext>
                </a:extLst>
              </p:cNvPr>
              <p:cNvGrpSpPr/>
              <p:nvPr/>
            </p:nvGrpSpPr>
            <p:grpSpPr>
              <a:xfrm>
                <a:off x="2956674" y="5147782"/>
                <a:ext cx="1062950" cy="914390"/>
                <a:chOff x="4576854" y="4342376"/>
                <a:chExt cx="1062950" cy="914390"/>
              </a:xfrm>
            </p:grpSpPr>
            <p:pic>
              <p:nvPicPr>
                <p:cNvPr id="47" name="Graphic 46" descr="Normal Distribution outline">
                  <a:extLst>
                    <a:ext uri="{FF2B5EF4-FFF2-40B4-BE49-F238E27FC236}">
                      <a16:creationId xmlns:a16="http://schemas.microsoft.com/office/drawing/2014/main" id="{D8F52A97-7F16-8312-F747-804DD6064CF7}"/>
                    </a:ext>
                  </a:extLst>
                </p:cNvPr>
                <p:cNvPicPr>
                  <a:picLocks noChangeAspect="1"/>
                </p:cNvPicPr>
                <p:nvPr/>
              </p:nvPicPr>
              <p:blipFill>
                <a:blip>
                  <a:extLst>
                    <a:ext uri="{96DAC541-7B7A-43D3-8B79-37D633B846F1}">
                      <asvg:svgBlip xmlns:asvg="http://schemas.microsoft.com/office/drawing/2016/SVG/main" r:embed="rId7"/>
                    </a:ext>
                  </a:extLst>
                </a:blip>
                <a:srcRect l="20713" b="20995"/>
                <a:stretch>
                  <a:fillRect/>
                </a:stretch>
              </p:blipFill>
              <p:spPr>
                <a:xfrm>
                  <a:off x="4576854" y="4342376"/>
                  <a:ext cx="1062950" cy="914390"/>
                </a:xfrm>
                <a:prstGeom prst="rect">
                  <a:avLst/>
                </a:prstGeom>
              </p:spPr>
            </p:pic>
            <p:sp>
              <p:nvSpPr>
                <p:cNvPr id="48" name="Oval 47">
                  <a:extLst>
                    <a:ext uri="{FF2B5EF4-FFF2-40B4-BE49-F238E27FC236}">
                      <a16:creationId xmlns:a16="http://schemas.microsoft.com/office/drawing/2014/main" id="{01B24CFA-3D63-2B23-3F63-9116A07AF6A1}"/>
                    </a:ext>
                  </a:extLst>
                </p:cNvPr>
                <p:cNvSpPr/>
                <p:nvPr/>
              </p:nvSpPr>
              <p:spPr>
                <a:xfrm>
                  <a:off x="4932390" y="4720960"/>
                  <a:ext cx="168886" cy="43912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8" name="Graphic 57" descr="Flower without stem with solid fill">
                <a:extLst>
                  <a:ext uri="{FF2B5EF4-FFF2-40B4-BE49-F238E27FC236}">
                    <a16:creationId xmlns:a16="http://schemas.microsoft.com/office/drawing/2014/main" id="{4B530075-97F6-42C7-D699-E9313DE813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57689" y="5813052"/>
                <a:ext cx="224420" cy="224420"/>
              </a:xfrm>
              <a:prstGeom prst="rect">
                <a:avLst/>
              </a:prstGeom>
            </p:spPr>
          </p:pic>
          <p:pic>
            <p:nvPicPr>
              <p:cNvPr id="60" name="Graphic 59" descr="Flower without stem with solid fill">
                <a:extLst>
                  <a:ext uri="{FF2B5EF4-FFF2-40B4-BE49-F238E27FC236}">
                    <a16:creationId xmlns:a16="http://schemas.microsoft.com/office/drawing/2014/main" id="{0150C6FD-1641-2C84-A51C-CFC11A42E59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80450" y="5681089"/>
                <a:ext cx="224420" cy="224420"/>
              </a:xfrm>
              <a:prstGeom prst="rect">
                <a:avLst/>
              </a:prstGeom>
            </p:spPr>
          </p:pic>
          <p:pic>
            <p:nvPicPr>
              <p:cNvPr id="62" name="Graphic 61" descr="Flower without stem with solid fill">
                <a:extLst>
                  <a:ext uri="{FF2B5EF4-FFF2-40B4-BE49-F238E27FC236}">
                    <a16:creationId xmlns:a16="http://schemas.microsoft.com/office/drawing/2014/main" id="{118E421A-193D-7DBE-D02D-EA33FBDAF72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47667" y="5790086"/>
                <a:ext cx="224420" cy="224420"/>
              </a:xfrm>
              <a:prstGeom prst="rect">
                <a:avLst/>
              </a:prstGeom>
            </p:spPr>
          </p:pic>
        </p:grpSp>
      </p:grpSp>
      <p:grpSp>
        <p:nvGrpSpPr>
          <p:cNvPr id="123" name="Group 122">
            <a:extLst>
              <a:ext uri="{FF2B5EF4-FFF2-40B4-BE49-F238E27FC236}">
                <a16:creationId xmlns:a16="http://schemas.microsoft.com/office/drawing/2014/main" id="{A9568175-58E0-0BFA-6297-0CD3557AB588}"/>
              </a:ext>
            </a:extLst>
          </p:cNvPr>
          <p:cNvGrpSpPr/>
          <p:nvPr/>
        </p:nvGrpSpPr>
        <p:grpSpPr>
          <a:xfrm>
            <a:off x="5055195" y="3681031"/>
            <a:ext cx="1572280" cy="2553970"/>
            <a:chOff x="4892279" y="3681031"/>
            <a:chExt cx="1572280" cy="2553970"/>
          </a:xfrm>
        </p:grpSpPr>
        <p:sp>
          <p:nvSpPr>
            <p:cNvPr id="9" name="TextBox 8">
              <a:extLst>
                <a:ext uri="{FF2B5EF4-FFF2-40B4-BE49-F238E27FC236}">
                  <a16:creationId xmlns:a16="http://schemas.microsoft.com/office/drawing/2014/main" id="{18AC4F86-7392-CA3E-0BDA-B5878CFD97D9}"/>
                </a:ext>
              </a:extLst>
            </p:cNvPr>
            <p:cNvSpPr txBox="1"/>
            <p:nvPr/>
          </p:nvSpPr>
          <p:spPr>
            <a:xfrm>
              <a:off x="5100851" y="3681031"/>
              <a:ext cx="1155137" cy="369332"/>
            </a:xfrm>
            <a:prstGeom prst="rect">
              <a:avLst/>
            </a:prstGeom>
            <a:noFill/>
          </p:spPr>
          <p:txBody>
            <a:bodyPr wrap="square">
              <a:spAutoFit/>
            </a:bodyPr>
            <a:lstStyle/>
            <a:p>
              <a:r>
                <a:rPr lang="en-US" b="1" i="1" dirty="0">
                  <a:solidFill>
                    <a:schemeClr val="accent5">
                      <a:lumMod val="50000"/>
                    </a:schemeClr>
                  </a:solidFill>
                </a:rPr>
                <a:t>Bioclim1</a:t>
              </a:r>
            </a:p>
          </p:txBody>
        </p:sp>
        <p:grpSp>
          <p:nvGrpSpPr>
            <p:cNvPr id="120" name="Group 119">
              <a:extLst>
                <a:ext uri="{FF2B5EF4-FFF2-40B4-BE49-F238E27FC236}">
                  <a16:creationId xmlns:a16="http://schemas.microsoft.com/office/drawing/2014/main" id="{08E997D6-71DF-17D1-6A98-B0F7635200E7}"/>
                </a:ext>
              </a:extLst>
            </p:cNvPr>
            <p:cNvGrpSpPr/>
            <p:nvPr/>
          </p:nvGrpSpPr>
          <p:grpSpPr>
            <a:xfrm>
              <a:off x="4892279" y="3996128"/>
              <a:ext cx="1572280" cy="2238873"/>
              <a:chOff x="4892279" y="3996128"/>
              <a:chExt cx="1572280" cy="2238873"/>
            </a:xfrm>
          </p:grpSpPr>
          <p:pic>
            <p:nvPicPr>
              <p:cNvPr id="69" name="Graphic 68" descr="Cactus with solid fill">
                <a:extLst>
                  <a:ext uri="{FF2B5EF4-FFF2-40B4-BE49-F238E27FC236}">
                    <a16:creationId xmlns:a16="http://schemas.microsoft.com/office/drawing/2014/main" id="{39619506-BEE0-B75F-02D9-511D087417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4892279" y="4090697"/>
                <a:ext cx="465622" cy="322748"/>
              </a:xfrm>
              <a:prstGeom prst="rect">
                <a:avLst/>
              </a:prstGeom>
            </p:spPr>
          </p:pic>
          <p:grpSp>
            <p:nvGrpSpPr>
              <p:cNvPr id="70" name="Group 69">
                <a:extLst>
                  <a:ext uri="{FF2B5EF4-FFF2-40B4-BE49-F238E27FC236}">
                    <a16:creationId xmlns:a16="http://schemas.microsoft.com/office/drawing/2014/main" id="{A6F588C4-E599-5F8A-F1CA-3536608BDF5A}"/>
                  </a:ext>
                </a:extLst>
              </p:cNvPr>
              <p:cNvGrpSpPr/>
              <p:nvPr/>
            </p:nvGrpSpPr>
            <p:grpSpPr>
              <a:xfrm>
                <a:off x="5188726" y="3996128"/>
                <a:ext cx="1275833" cy="1157382"/>
                <a:chOff x="2626757" y="4050363"/>
                <a:chExt cx="1275833" cy="1157382"/>
              </a:xfrm>
            </p:grpSpPr>
            <p:pic>
              <p:nvPicPr>
                <p:cNvPr id="71" name="Graphic 70" descr="Normal Distribution outline">
                  <a:extLst>
                    <a:ext uri="{FF2B5EF4-FFF2-40B4-BE49-F238E27FC236}">
                      <a16:creationId xmlns:a16="http://schemas.microsoft.com/office/drawing/2014/main" id="{824757DD-794A-A74A-B144-3D7B1425D3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6757" y="4050363"/>
                  <a:ext cx="1275833" cy="1157382"/>
                </a:xfrm>
                <a:prstGeom prst="rect">
                  <a:avLst/>
                </a:prstGeom>
              </p:spPr>
            </p:pic>
            <p:sp>
              <p:nvSpPr>
                <p:cNvPr id="72" name="Rectangle 71">
                  <a:extLst>
                    <a:ext uri="{FF2B5EF4-FFF2-40B4-BE49-F238E27FC236}">
                      <a16:creationId xmlns:a16="http://schemas.microsoft.com/office/drawing/2014/main" id="{790E2544-BE7C-D7DE-87E1-AF00673A2C74}"/>
                    </a:ext>
                  </a:extLst>
                </p:cNvPr>
                <p:cNvSpPr/>
                <p:nvPr/>
              </p:nvSpPr>
              <p:spPr>
                <a:xfrm>
                  <a:off x="2916976" y="4144932"/>
                  <a:ext cx="922328" cy="8171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4015D74C-73FF-366A-2078-6569D504F005}"/>
                  </a:ext>
                </a:extLst>
              </p:cNvPr>
              <p:cNvGrpSpPr/>
              <p:nvPr/>
            </p:nvGrpSpPr>
            <p:grpSpPr>
              <a:xfrm>
                <a:off x="5371525" y="4066324"/>
                <a:ext cx="1062950" cy="914390"/>
                <a:chOff x="4576854" y="4342376"/>
                <a:chExt cx="1062950" cy="914390"/>
              </a:xfrm>
            </p:grpSpPr>
            <p:pic>
              <p:nvPicPr>
                <p:cNvPr id="74" name="Graphic 73" descr="Normal Distribution outline">
                  <a:extLst>
                    <a:ext uri="{FF2B5EF4-FFF2-40B4-BE49-F238E27FC236}">
                      <a16:creationId xmlns:a16="http://schemas.microsoft.com/office/drawing/2014/main" id="{20B231B2-6A43-75FB-05CA-54B369A5424F}"/>
                    </a:ext>
                  </a:extLst>
                </p:cNvPr>
                <p:cNvPicPr>
                  <a:picLocks noChangeAspect="1"/>
                </p:cNvPicPr>
                <p:nvPr/>
              </p:nvPicPr>
              <p:blipFill>
                <a:blip>
                  <a:extLst>
                    <a:ext uri="{96DAC541-7B7A-43D3-8B79-37D633B846F1}">
                      <asvg:svgBlip xmlns:asvg="http://schemas.microsoft.com/office/drawing/2016/SVG/main" r:embed="rId10"/>
                    </a:ext>
                  </a:extLst>
                </a:blip>
                <a:srcRect l="20713" b="20995"/>
                <a:stretch>
                  <a:fillRect/>
                </a:stretch>
              </p:blipFill>
              <p:spPr>
                <a:xfrm>
                  <a:off x="4576854" y="4342376"/>
                  <a:ext cx="1062950" cy="914390"/>
                </a:xfrm>
                <a:prstGeom prst="rect">
                  <a:avLst/>
                </a:prstGeom>
              </p:spPr>
            </p:pic>
            <p:sp>
              <p:nvSpPr>
                <p:cNvPr id="75" name="Oval 74">
                  <a:extLst>
                    <a:ext uri="{FF2B5EF4-FFF2-40B4-BE49-F238E27FC236}">
                      <a16:creationId xmlns:a16="http://schemas.microsoft.com/office/drawing/2014/main" id="{5E0D8522-E0BA-9181-A071-96139D4AF0A8}"/>
                    </a:ext>
                  </a:extLst>
                </p:cNvPr>
                <p:cNvSpPr/>
                <p:nvPr/>
              </p:nvSpPr>
              <p:spPr>
                <a:xfrm>
                  <a:off x="4932390" y="4720960"/>
                  <a:ext cx="168886" cy="43912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6" name="Graphic 75" descr="Cactus with solid fill">
                <a:extLst>
                  <a:ext uri="{FF2B5EF4-FFF2-40B4-BE49-F238E27FC236}">
                    <a16:creationId xmlns:a16="http://schemas.microsoft.com/office/drawing/2014/main" id="{7CAC0193-8A3D-6F02-A1E4-104A0B1DCBD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5431436" y="4760757"/>
                <a:ext cx="294236" cy="203951"/>
              </a:xfrm>
              <a:prstGeom prst="rect">
                <a:avLst/>
              </a:prstGeom>
            </p:spPr>
          </p:pic>
          <p:pic>
            <p:nvPicPr>
              <p:cNvPr id="77" name="Graphic 76" descr="Cactus with solid fill">
                <a:extLst>
                  <a:ext uri="{FF2B5EF4-FFF2-40B4-BE49-F238E27FC236}">
                    <a16:creationId xmlns:a16="http://schemas.microsoft.com/office/drawing/2014/main" id="{36001F02-A7A6-EF25-39BE-4E346576A2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5626064" y="4620399"/>
                <a:ext cx="294236" cy="203951"/>
              </a:xfrm>
              <a:prstGeom prst="rect">
                <a:avLst/>
              </a:prstGeom>
            </p:spPr>
          </p:pic>
          <p:pic>
            <p:nvPicPr>
              <p:cNvPr id="78" name="Graphic 77" descr="Cactus with solid fill">
                <a:extLst>
                  <a:ext uri="{FF2B5EF4-FFF2-40B4-BE49-F238E27FC236}">
                    <a16:creationId xmlns:a16="http://schemas.microsoft.com/office/drawing/2014/main" id="{0D6F779F-9081-4457-D269-D65FF5A187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5903001" y="4717830"/>
                <a:ext cx="294236" cy="203951"/>
              </a:xfrm>
              <a:prstGeom prst="rect">
                <a:avLst/>
              </a:prstGeom>
            </p:spPr>
          </p:pic>
          <p:pic>
            <p:nvPicPr>
              <p:cNvPr id="79" name="Graphic 78" descr="Flower without stem with solid fill">
                <a:extLst>
                  <a:ext uri="{FF2B5EF4-FFF2-40B4-BE49-F238E27FC236}">
                    <a16:creationId xmlns:a16="http://schemas.microsoft.com/office/drawing/2014/main" id="{4A8991CF-7F07-B526-0C2B-84D0B63922E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07256" y="5203395"/>
                <a:ext cx="435666" cy="435666"/>
              </a:xfrm>
              <a:prstGeom prst="rect">
                <a:avLst/>
              </a:prstGeom>
            </p:spPr>
          </p:pic>
          <p:grpSp>
            <p:nvGrpSpPr>
              <p:cNvPr id="80" name="Group 79">
                <a:extLst>
                  <a:ext uri="{FF2B5EF4-FFF2-40B4-BE49-F238E27FC236}">
                    <a16:creationId xmlns:a16="http://schemas.microsoft.com/office/drawing/2014/main" id="{2598B25E-1EA7-0083-4BAC-7CDD4E493D60}"/>
                  </a:ext>
                </a:extLst>
              </p:cNvPr>
              <p:cNvGrpSpPr/>
              <p:nvPr/>
            </p:nvGrpSpPr>
            <p:grpSpPr>
              <a:xfrm>
                <a:off x="5589148" y="6154574"/>
                <a:ext cx="581834" cy="80427"/>
                <a:chOff x="3130013" y="6158658"/>
                <a:chExt cx="581834" cy="80427"/>
              </a:xfrm>
            </p:grpSpPr>
            <p:sp>
              <p:nvSpPr>
                <p:cNvPr id="81" name="Rectangle 80">
                  <a:extLst>
                    <a:ext uri="{FF2B5EF4-FFF2-40B4-BE49-F238E27FC236}">
                      <a16:creationId xmlns:a16="http://schemas.microsoft.com/office/drawing/2014/main" id="{B8877A65-61F7-8CBA-0EFD-FB54FC1A6583}"/>
                    </a:ext>
                  </a:extLst>
                </p:cNvPr>
                <p:cNvSpPr/>
                <p:nvPr/>
              </p:nvSpPr>
              <p:spPr>
                <a:xfrm rot="35076">
                  <a:off x="3659334" y="6158658"/>
                  <a:ext cx="52513" cy="80427"/>
                </a:xfrm>
                <a:prstGeom prst="rect">
                  <a:avLst/>
                </a:prstGeom>
                <a:solidFill>
                  <a:schemeClr val="accent5">
                    <a:lumMod val="20000"/>
                    <a:lumOff val="8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a:extLst>
                    <a:ext uri="{FF2B5EF4-FFF2-40B4-BE49-F238E27FC236}">
                      <a16:creationId xmlns:a16="http://schemas.microsoft.com/office/drawing/2014/main" id="{FA1B48EC-63C3-92EB-3D64-599866046CBA}"/>
                    </a:ext>
                  </a:extLst>
                </p:cNvPr>
                <p:cNvSpPr/>
                <p:nvPr/>
              </p:nvSpPr>
              <p:spPr>
                <a:xfrm rot="35076">
                  <a:off x="3130013" y="6158658"/>
                  <a:ext cx="52513" cy="80427"/>
                </a:xfrm>
                <a:prstGeom prst="rect">
                  <a:avLst/>
                </a:prstGeom>
                <a:solidFill>
                  <a:schemeClr val="accent5">
                    <a:lumMod val="75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3" name="Group 82">
                <a:extLst>
                  <a:ext uri="{FF2B5EF4-FFF2-40B4-BE49-F238E27FC236}">
                    <a16:creationId xmlns:a16="http://schemas.microsoft.com/office/drawing/2014/main" id="{64C0344C-308B-013E-F570-03678B5F4C9D}"/>
                  </a:ext>
                </a:extLst>
              </p:cNvPr>
              <p:cNvGrpSpPr/>
              <p:nvPr/>
            </p:nvGrpSpPr>
            <p:grpSpPr>
              <a:xfrm>
                <a:off x="5162880" y="5077619"/>
                <a:ext cx="1275833" cy="1157382"/>
                <a:chOff x="2626757" y="5081969"/>
                <a:chExt cx="1275833" cy="1157382"/>
              </a:xfrm>
            </p:grpSpPr>
            <p:grpSp>
              <p:nvGrpSpPr>
                <p:cNvPr id="84" name="Group 83">
                  <a:extLst>
                    <a:ext uri="{FF2B5EF4-FFF2-40B4-BE49-F238E27FC236}">
                      <a16:creationId xmlns:a16="http://schemas.microsoft.com/office/drawing/2014/main" id="{6E9FFED9-EC22-E624-EF1A-8899E7C86C75}"/>
                    </a:ext>
                  </a:extLst>
                </p:cNvPr>
                <p:cNvGrpSpPr/>
                <p:nvPr/>
              </p:nvGrpSpPr>
              <p:grpSpPr>
                <a:xfrm>
                  <a:off x="2626757" y="5081969"/>
                  <a:ext cx="1275833" cy="1157382"/>
                  <a:chOff x="8026214" y="3784088"/>
                  <a:chExt cx="973436" cy="973436"/>
                </a:xfrm>
              </p:grpSpPr>
              <p:pic>
                <p:nvPicPr>
                  <p:cNvPr id="86" name="Graphic 85" descr="Normal Distribution outline">
                    <a:extLst>
                      <a:ext uri="{FF2B5EF4-FFF2-40B4-BE49-F238E27FC236}">
                        <a16:creationId xmlns:a16="http://schemas.microsoft.com/office/drawing/2014/main" id="{D6AE389B-C74F-9429-010D-6B262C5AB8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6214" y="3784088"/>
                    <a:ext cx="973436" cy="973436"/>
                  </a:xfrm>
                  <a:prstGeom prst="rect">
                    <a:avLst/>
                  </a:prstGeom>
                </p:spPr>
              </p:pic>
              <p:sp>
                <p:nvSpPr>
                  <p:cNvPr id="87" name="Oval 86">
                    <a:extLst>
                      <a:ext uri="{FF2B5EF4-FFF2-40B4-BE49-F238E27FC236}">
                        <a16:creationId xmlns:a16="http://schemas.microsoft.com/office/drawing/2014/main" id="{C56CE606-DD49-CFB8-3CD0-EA74202D928F}"/>
                      </a:ext>
                    </a:extLst>
                  </p:cNvPr>
                  <p:cNvSpPr/>
                  <p:nvPr/>
                </p:nvSpPr>
                <p:spPr>
                  <a:xfrm>
                    <a:off x="8514986" y="4095804"/>
                    <a:ext cx="87363" cy="36933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5" name="Rectangle: Rounded Corners 84">
                  <a:extLst>
                    <a:ext uri="{FF2B5EF4-FFF2-40B4-BE49-F238E27FC236}">
                      <a16:creationId xmlns:a16="http://schemas.microsoft.com/office/drawing/2014/main" id="{1B6E11F6-C055-1EEE-20DE-9D398872F54D}"/>
                    </a:ext>
                  </a:extLst>
                </p:cNvPr>
                <p:cNvSpPr/>
                <p:nvPr/>
              </p:nvSpPr>
              <p:spPr>
                <a:xfrm>
                  <a:off x="2916976" y="5290792"/>
                  <a:ext cx="922328" cy="71936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5ACE7BE8-2359-F9C2-5EAB-E451FCAB7A82}"/>
                  </a:ext>
                </a:extLst>
              </p:cNvPr>
              <p:cNvGrpSpPr/>
              <p:nvPr/>
            </p:nvGrpSpPr>
            <p:grpSpPr>
              <a:xfrm>
                <a:off x="5290153" y="5156205"/>
                <a:ext cx="1062950" cy="914390"/>
                <a:chOff x="4576854" y="4342376"/>
                <a:chExt cx="1062950" cy="914390"/>
              </a:xfrm>
            </p:grpSpPr>
            <p:pic>
              <p:nvPicPr>
                <p:cNvPr id="89" name="Graphic 88" descr="Normal Distribution outline">
                  <a:extLst>
                    <a:ext uri="{FF2B5EF4-FFF2-40B4-BE49-F238E27FC236}">
                      <a16:creationId xmlns:a16="http://schemas.microsoft.com/office/drawing/2014/main" id="{F069C9B8-D480-20A4-302C-F464E467C28B}"/>
                    </a:ext>
                  </a:extLst>
                </p:cNvPr>
                <p:cNvPicPr>
                  <a:picLocks noChangeAspect="1"/>
                </p:cNvPicPr>
                <p:nvPr/>
              </p:nvPicPr>
              <p:blipFill>
                <a:blip>
                  <a:extLst>
                    <a:ext uri="{96DAC541-7B7A-43D3-8B79-37D633B846F1}">
                      <asvg:svgBlip xmlns:asvg="http://schemas.microsoft.com/office/drawing/2016/SVG/main" r:embed="rId11"/>
                    </a:ext>
                  </a:extLst>
                </a:blip>
                <a:srcRect l="20713" b="20995"/>
                <a:stretch>
                  <a:fillRect/>
                </a:stretch>
              </p:blipFill>
              <p:spPr>
                <a:xfrm>
                  <a:off x="4576854" y="4342376"/>
                  <a:ext cx="1062950" cy="914390"/>
                </a:xfrm>
                <a:prstGeom prst="rect">
                  <a:avLst/>
                </a:prstGeom>
              </p:spPr>
            </p:pic>
            <p:sp>
              <p:nvSpPr>
                <p:cNvPr id="90" name="Oval 89">
                  <a:extLst>
                    <a:ext uri="{FF2B5EF4-FFF2-40B4-BE49-F238E27FC236}">
                      <a16:creationId xmlns:a16="http://schemas.microsoft.com/office/drawing/2014/main" id="{1F57163E-5060-B771-FDC3-F588F8D37462}"/>
                    </a:ext>
                  </a:extLst>
                </p:cNvPr>
                <p:cNvSpPr/>
                <p:nvPr/>
              </p:nvSpPr>
              <p:spPr>
                <a:xfrm>
                  <a:off x="4932390" y="4720960"/>
                  <a:ext cx="168886" cy="43912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1" name="Graphic 90" descr="Flower without stem with solid fill">
                <a:extLst>
                  <a:ext uri="{FF2B5EF4-FFF2-40B4-BE49-F238E27FC236}">
                    <a16:creationId xmlns:a16="http://schemas.microsoft.com/office/drawing/2014/main" id="{907E2DB4-33EE-1472-5366-F823F2C24A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28867" y="5790473"/>
                <a:ext cx="224420" cy="224420"/>
              </a:xfrm>
              <a:prstGeom prst="rect">
                <a:avLst/>
              </a:prstGeom>
            </p:spPr>
          </p:pic>
          <p:pic>
            <p:nvPicPr>
              <p:cNvPr id="92" name="Graphic 91" descr="Flower without stem with solid fill">
                <a:extLst>
                  <a:ext uri="{FF2B5EF4-FFF2-40B4-BE49-F238E27FC236}">
                    <a16:creationId xmlns:a16="http://schemas.microsoft.com/office/drawing/2014/main" id="{4B3805CF-0BFF-FF27-F354-C880DF5D1C9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08995" y="5658505"/>
                <a:ext cx="224420" cy="224420"/>
              </a:xfrm>
              <a:prstGeom prst="rect">
                <a:avLst/>
              </a:prstGeom>
            </p:spPr>
          </p:pic>
          <p:pic>
            <p:nvPicPr>
              <p:cNvPr id="93" name="Graphic 92" descr="Flower without stem with solid fill">
                <a:extLst>
                  <a:ext uri="{FF2B5EF4-FFF2-40B4-BE49-F238E27FC236}">
                    <a16:creationId xmlns:a16="http://schemas.microsoft.com/office/drawing/2014/main" id="{00181A46-2BD3-6031-7273-4F122B3B27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90790" y="5793299"/>
                <a:ext cx="224420" cy="224420"/>
              </a:xfrm>
              <a:prstGeom prst="rect">
                <a:avLst/>
              </a:prstGeom>
            </p:spPr>
          </p:pic>
        </p:grpSp>
      </p:grpSp>
      <p:grpSp>
        <p:nvGrpSpPr>
          <p:cNvPr id="124" name="Group 123">
            <a:extLst>
              <a:ext uri="{FF2B5EF4-FFF2-40B4-BE49-F238E27FC236}">
                <a16:creationId xmlns:a16="http://schemas.microsoft.com/office/drawing/2014/main" id="{C0AE6FBE-8D2B-98F0-0DF4-CA2C9C40C4B8}"/>
              </a:ext>
            </a:extLst>
          </p:cNvPr>
          <p:cNvGrpSpPr/>
          <p:nvPr/>
        </p:nvGrpSpPr>
        <p:grpSpPr>
          <a:xfrm>
            <a:off x="7663046" y="3681031"/>
            <a:ext cx="1572280" cy="2594610"/>
            <a:chOff x="7663046" y="3681031"/>
            <a:chExt cx="1572280" cy="2594610"/>
          </a:xfrm>
        </p:grpSpPr>
        <p:sp>
          <p:nvSpPr>
            <p:cNvPr id="12" name="TextBox 11">
              <a:extLst>
                <a:ext uri="{FF2B5EF4-FFF2-40B4-BE49-F238E27FC236}">
                  <a16:creationId xmlns:a16="http://schemas.microsoft.com/office/drawing/2014/main" id="{ED58A9F8-D25F-0D25-A9CA-EE1B3565B09D}"/>
                </a:ext>
              </a:extLst>
            </p:cNvPr>
            <p:cNvSpPr txBox="1"/>
            <p:nvPr/>
          </p:nvSpPr>
          <p:spPr>
            <a:xfrm>
              <a:off x="7871618" y="3681031"/>
              <a:ext cx="1155137" cy="369332"/>
            </a:xfrm>
            <a:prstGeom prst="rect">
              <a:avLst/>
            </a:prstGeom>
            <a:noFill/>
          </p:spPr>
          <p:txBody>
            <a:bodyPr wrap="square">
              <a:spAutoFit/>
            </a:bodyPr>
            <a:lstStyle/>
            <a:p>
              <a:r>
                <a:rPr lang="en-US" b="1" i="1" dirty="0">
                  <a:solidFill>
                    <a:schemeClr val="accent6">
                      <a:lumMod val="50000"/>
                    </a:schemeClr>
                  </a:solidFill>
                </a:rPr>
                <a:t>Bioclim3</a:t>
              </a:r>
            </a:p>
          </p:txBody>
        </p:sp>
        <p:grpSp>
          <p:nvGrpSpPr>
            <p:cNvPr id="121" name="Group 120">
              <a:extLst>
                <a:ext uri="{FF2B5EF4-FFF2-40B4-BE49-F238E27FC236}">
                  <a16:creationId xmlns:a16="http://schemas.microsoft.com/office/drawing/2014/main" id="{0C9A016E-CF25-96EA-C974-8B7F74021D89}"/>
                </a:ext>
              </a:extLst>
            </p:cNvPr>
            <p:cNvGrpSpPr/>
            <p:nvPr/>
          </p:nvGrpSpPr>
          <p:grpSpPr>
            <a:xfrm>
              <a:off x="7663046" y="4036768"/>
              <a:ext cx="1572280" cy="2238873"/>
              <a:chOff x="7510422" y="3990400"/>
              <a:chExt cx="1572280" cy="2238873"/>
            </a:xfrm>
          </p:grpSpPr>
          <p:pic>
            <p:nvPicPr>
              <p:cNvPr id="94" name="Graphic 93" descr="Cactus with solid fill">
                <a:extLst>
                  <a:ext uri="{FF2B5EF4-FFF2-40B4-BE49-F238E27FC236}">
                    <a16:creationId xmlns:a16="http://schemas.microsoft.com/office/drawing/2014/main" id="{DEF31377-F4E1-F4AD-BD5D-9EEEC808E1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7510422" y="4084969"/>
                <a:ext cx="465622" cy="322748"/>
              </a:xfrm>
              <a:prstGeom prst="rect">
                <a:avLst/>
              </a:prstGeom>
            </p:spPr>
          </p:pic>
          <p:grpSp>
            <p:nvGrpSpPr>
              <p:cNvPr id="95" name="Group 94">
                <a:extLst>
                  <a:ext uri="{FF2B5EF4-FFF2-40B4-BE49-F238E27FC236}">
                    <a16:creationId xmlns:a16="http://schemas.microsoft.com/office/drawing/2014/main" id="{78B01F12-2BA6-8938-A786-06E8B7EEF89C}"/>
                  </a:ext>
                </a:extLst>
              </p:cNvPr>
              <p:cNvGrpSpPr/>
              <p:nvPr/>
            </p:nvGrpSpPr>
            <p:grpSpPr>
              <a:xfrm>
                <a:off x="7806869" y="3990400"/>
                <a:ext cx="1275833" cy="1157382"/>
                <a:chOff x="2626757" y="4050363"/>
                <a:chExt cx="1275833" cy="1157382"/>
              </a:xfrm>
            </p:grpSpPr>
            <p:pic>
              <p:nvPicPr>
                <p:cNvPr id="96" name="Graphic 95" descr="Normal Distribution outline">
                  <a:extLst>
                    <a:ext uri="{FF2B5EF4-FFF2-40B4-BE49-F238E27FC236}">
                      <a16:creationId xmlns:a16="http://schemas.microsoft.com/office/drawing/2014/main" id="{179F6544-DF1B-9E46-4B4B-DCC4C142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6757" y="4050363"/>
                  <a:ext cx="1275833" cy="1157382"/>
                </a:xfrm>
                <a:prstGeom prst="rect">
                  <a:avLst/>
                </a:prstGeom>
              </p:spPr>
            </p:pic>
            <p:sp>
              <p:nvSpPr>
                <p:cNvPr id="97" name="Rectangle 96">
                  <a:extLst>
                    <a:ext uri="{FF2B5EF4-FFF2-40B4-BE49-F238E27FC236}">
                      <a16:creationId xmlns:a16="http://schemas.microsoft.com/office/drawing/2014/main" id="{77E991E7-ADA8-6266-8145-78D48A28AD47}"/>
                    </a:ext>
                  </a:extLst>
                </p:cNvPr>
                <p:cNvSpPr/>
                <p:nvPr/>
              </p:nvSpPr>
              <p:spPr>
                <a:xfrm>
                  <a:off x="2916976" y="4144932"/>
                  <a:ext cx="922328" cy="8171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8" name="Group 97">
                <a:extLst>
                  <a:ext uri="{FF2B5EF4-FFF2-40B4-BE49-F238E27FC236}">
                    <a16:creationId xmlns:a16="http://schemas.microsoft.com/office/drawing/2014/main" id="{5B6C8904-1306-8FA2-32A3-77286374F1B5}"/>
                  </a:ext>
                </a:extLst>
              </p:cNvPr>
              <p:cNvGrpSpPr/>
              <p:nvPr/>
            </p:nvGrpSpPr>
            <p:grpSpPr>
              <a:xfrm>
                <a:off x="7989668" y="4060596"/>
                <a:ext cx="1062950" cy="914390"/>
                <a:chOff x="4576854" y="4342376"/>
                <a:chExt cx="1062950" cy="914390"/>
              </a:xfrm>
            </p:grpSpPr>
            <p:pic>
              <p:nvPicPr>
                <p:cNvPr id="99" name="Graphic 98" descr="Normal Distribution outline">
                  <a:extLst>
                    <a:ext uri="{FF2B5EF4-FFF2-40B4-BE49-F238E27FC236}">
                      <a16:creationId xmlns:a16="http://schemas.microsoft.com/office/drawing/2014/main" id="{F692C58F-8B9A-5AAD-F874-10BC27ED4DDD}"/>
                    </a:ext>
                  </a:extLst>
                </p:cNvPr>
                <p:cNvPicPr>
                  <a:picLocks noChangeAspect="1"/>
                </p:cNvPicPr>
                <p:nvPr/>
              </p:nvPicPr>
              <p:blipFill>
                <a:blip>
                  <a:extLst>
                    <a:ext uri="{96DAC541-7B7A-43D3-8B79-37D633B846F1}">
                      <asvg:svgBlip xmlns:asvg="http://schemas.microsoft.com/office/drawing/2016/SVG/main" r:embed="rId10"/>
                    </a:ext>
                  </a:extLst>
                </a:blip>
                <a:srcRect l="20713" b="20995"/>
                <a:stretch>
                  <a:fillRect/>
                </a:stretch>
              </p:blipFill>
              <p:spPr>
                <a:xfrm>
                  <a:off x="4576854" y="4342376"/>
                  <a:ext cx="1062950" cy="914390"/>
                </a:xfrm>
                <a:prstGeom prst="rect">
                  <a:avLst/>
                </a:prstGeom>
              </p:spPr>
            </p:pic>
            <p:sp>
              <p:nvSpPr>
                <p:cNvPr id="100" name="Oval 99">
                  <a:extLst>
                    <a:ext uri="{FF2B5EF4-FFF2-40B4-BE49-F238E27FC236}">
                      <a16:creationId xmlns:a16="http://schemas.microsoft.com/office/drawing/2014/main" id="{7AA67772-9894-57A4-6983-28E0A37C8B8B}"/>
                    </a:ext>
                  </a:extLst>
                </p:cNvPr>
                <p:cNvSpPr/>
                <p:nvPr/>
              </p:nvSpPr>
              <p:spPr>
                <a:xfrm>
                  <a:off x="4932390" y="4720960"/>
                  <a:ext cx="168886" cy="43912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1" name="Graphic 100" descr="Cactus with solid fill">
                <a:extLst>
                  <a:ext uri="{FF2B5EF4-FFF2-40B4-BE49-F238E27FC236}">
                    <a16:creationId xmlns:a16="http://schemas.microsoft.com/office/drawing/2014/main" id="{71E23009-A37F-1338-67A9-B28B5E885E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8049579" y="4755029"/>
                <a:ext cx="294236" cy="203951"/>
              </a:xfrm>
              <a:prstGeom prst="rect">
                <a:avLst/>
              </a:prstGeom>
            </p:spPr>
          </p:pic>
          <p:pic>
            <p:nvPicPr>
              <p:cNvPr id="102" name="Graphic 101" descr="Cactus with solid fill">
                <a:extLst>
                  <a:ext uri="{FF2B5EF4-FFF2-40B4-BE49-F238E27FC236}">
                    <a16:creationId xmlns:a16="http://schemas.microsoft.com/office/drawing/2014/main" id="{7AE12D2C-01F6-218A-0807-5D8C8049A0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8289411" y="4689864"/>
                <a:ext cx="294236" cy="203951"/>
              </a:xfrm>
              <a:prstGeom prst="rect">
                <a:avLst/>
              </a:prstGeom>
            </p:spPr>
          </p:pic>
          <p:pic>
            <p:nvPicPr>
              <p:cNvPr id="103" name="Graphic 102" descr="Cactus with solid fill">
                <a:extLst>
                  <a:ext uri="{FF2B5EF4-FFF2-40B4-BE49-F238E27FC236}">
                    <a16:creationId xmlns:a16="http://schemas.microsoft.com/office/drawing/2014/main" id="{81585A63-490E-3119-F9C2-606FE3B1E2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V="1">
                <a:off x="8561236" y="4755029"/>
                <a:ext cx="294236" cy="203951"/>
              </a:xfrm>
              <a:prstGeom prst="rect">
                <a:avLst/>
              </a:prstGeom>
            </p:spPr>
          </p:pic>
          <p:pic>
            <p:nvPicPr>
              <p:cNvPr id="104" name="Graphic 103" descr="Flower without stem with solid fill">
                <a:extLst>
                  <a:ext uri="{FF2B5EF4-FFF2-40B4-BE49-F238E27FC236}">
                    <a16:creationId xmlns:a16="http://schemas.microsoft.com/office/drawing/2014/main" id="{20B56D3F-3D6D-08A8-76F7-C3A672568D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25399" y="5197667"/>
                <a:ext cx="435666" cy="435666"/>
              </a:xfrm>
              <a:prstGeom prst="rect">
                <a:avLst/>
              </a:prstGeom>
            </p:spPr>
          </p:pic>
          <p:grpSp>
            <p:nvGrpSpPr>
              <p:cNvPr id="105" name="Group 104">
                <a:extLst>
                  <a:ext uri="{FF2B5EF4-FFF2-40B4-BE49-F238E27FC236}">
                    <a16:creationId xmlns:a16="http://schemas.microsoft.com/office/drawing/2014/main" id="{1064F37B-E88E-E501-AFBB-043625F8CF05}"/>
                  </a:ext>
                </a:extLst>
              </p:cNvPr>
              <p:cNvGrpSpPr/>
              <p:nvPr/>
            </p:nvGrpSpPr>
            <p:grpSpPr>
              <a:xfrm>
                <a:off x="8207291" y="6148846"/>
                <a:ext cx="581834" cy="80427"/>
                <a:chOff x="3130013" y="6158658"/>
                <a:chExt cx="581834" cy="80427"/>
              </a:xfrm>
            </p:grpSpPr>
            <p:sp>
              <p:nvSpPr>
                <p:cNvPr id="106" name="Rectangle 105">
                  <a:extLst>
                    <a:ext uri="{FF2B5EF4-FFF2-40B4-BE49-F238E27FC236}">
                      <a16:creationId xmlns:a16="http://schemas.microsoft.com/office/drawing/2014/main" id="{5C8119D0-194C-E0CC-4803-88249644C34D}"/>
                    </a:ext>
                  </a:extLst>
                </p:cNvPr>
                <p:cNvSpPr/>
                <p:nvPr/>
              </p:nvSpPr>
              <p:spPr>
                <a:xfrm rot="35076">
                  <a:off x="3659334" y="6158658"/>
                  <a:ext cx="52513" cy="80427"/>
                </a:xfrm>
                <a:prstGeom prst="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50000"/>
                      </a:schemeClr>
                    </a:solidFill>
                  </a:endParaRPr>
                </a:p>
              </p:txBody>
            </p:sp>
            <p:sp>
              <p:nvSpPr>
                <p:cNvPr id="107" name="Rectangle 106">
                  <a:extLst>
                    <a:ext uri="{FF2B5EF4-FFF2-40B4-BE49-F238E27FC236}">
                      <a16:creationId xmlns:a16="http://schemas.microsoft.com/office/drawing/2014/main" id="{4F7B520C-E5B4-5154-F294-DDF00F26D84E}"/>
                    </a:ext>
                  </a:extLst>
                </p:cNvPr>
                <p:cNvSpPr/>
                <p:nvPr/>
              </p:nvSpPr>
              <p:spPr>
                <a:xfrm rot="35076">
                  <a:off x="3130013" y="6158658"/>
                  <a:ext cx="52513" cy="80427"/>
                </a:xfrm>
                <a:prstGeom prst="rect">
                  <a:avLst/>
                </a:prstGeom>
                <a:solidFill>
                  <a:schemeClr val="accent6">
                    <a:lumMod val="75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8" name="Group 107">
                <a:extLst>
                  <a:ext uri="{FF2B5EF4-FFF2-40B4-BE49-F238E27FC236}">
                    <a16:creationId xmlns:a16="http://schemas.microsoft.com/office/drawing/2014/main" id="{C487BB5E-6E9C-F285-8F1E-C3762487D5B8}"/>
                  </a:ext>
                </a:extLst>
              </p:cNvPr>
              <p:cNvGrpSpPr/>
              <p:nvPr/>
            </p:nvGrpSpPr>
            <p:grpSpPr>
              <a:xfrm>
                <a:off x="7781023" y="5071891"/>
                <a:ext cx="1275833" cy="1157382"/>
                <a:chOff x="2626757" y="5081969"/>
                <a:chExt cx="1275833" cy="1157382"/>
              </a:xfrm>
            </p:grpSpPr>
            <p:grpSp>
              <p:nvGrpSpPr>
                <p:cNvPr id="109" name="Group 108">
                  <a:extLst>
                    <a:ext uri="{FF2B5EF4-FFF2-40B4-BE49-F238E27FC236}">
                      <a16:creationId xmlns:a16="http://schemas.microsoft.com/office/drawing/2014/main" id="{CC375108-B8B3-7752-C2D0-1D4F53DA1542}"/>
                    </a:ext>
                  </a:extLst>
                </p:cNvPr>
                <p:cNvGrpSpPr/>
                <p:nvPr/>
              </p:nvGrpSpPr>
              <p:grpSpPr>
                <a:xfrm>
                  <a:off x="2626757" y="5081969"/>
                  <a:ext cx="1275833" cy="1157382"/>
                  <a:chOff x="8026214" y="3784088"/>
                  <a:chExt cx="973436" cy="973436"/>
                </a:xfrm>
              </p:grpSpPr>
              <p:pic>
                <p:nvPicPr>
                  <p:cNvPr id="111" name="Graphic 110" descr="Normal Distribution outline">
                    <a:extLst>
                      <a:ext uri="{FF2B5EF4-FFF2-40B4-BE49-F238E27FC236}">
                        <a16:creationId xmlns:a16="http://schemas.microsoft.com/office/drawing/2014/main" id="{5DFFC23E-2200-626A-07AC-48207CFCCC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26214" y="3784088"/>
                    <a:ext cx="973436" cy="973436"/>
                  </a:xfrm>
                  <a:prstGeom prst="rect">
                    <a:avLst/>
                  </a:prstGeom>
                </p:spPr>
              </p:pic>
              <p:sp>
                <p:nvSpPr>
                  <p:cNvPr id="112" name="Oval 111">
                    <a:extLst>
                      <a:ext uri="{FF2B5EF4-FFF2-40B4-BE49-F238E27FC236}">
                        <a16:creationId xmlns:a16="http://schemas.microsoft.com/office/drawing/2014/main" id="{4EADF1DB-FFE2-FC62-0526-24121A683E7B}"/>
                      </a:ext>
                    </a:extLst>
                  </p:cNvPr>
                  <p:cNvSpPr/>
                  <p:nvPr/>
                </p:nvSpPr>
                <p:spPr>
                  <a:xfrm>
                    <a:off x="8514986" y="4095804"/>
                    <a:ext cx="87363" cy="36933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0" name="Rectangle: Rounded Corners 109">
                  <a:extLst>
                    <a:ext uri="{FF2B5EF4-FFF2-40B4-BE49-F238E27FC236}">
                      <a16:creationId xmlns:a16="http://schemas.microsoft.com/office/drawing/2014/main" id="{75820CDF-D6B0-2B2F-1908-1D37449052B5}"/>
                    </a:ext>
                  </a:extLst>
                </p:cNvPr>
                <p:cNvSpPr/>
                <p:nvPr/>
              </p:nvSpPr>
              <p:spPr>
                <a:xfrm>
                  <a:off x="2916976" y="5290792"/>
                  <a:ext cx="922328" cy="71936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Group 112">
                <a:extLst>
                  <a:ext uri="{FF2B5EF4-FFF2-40B4-BE49-F238E27FC236}">
                    <a16:creationId xmlns:a16="http://schemas.microsoft.com/office/drawing/2014/main" id="{F9D9F7FD-E72A-ABDC-2B4B-1D8A145FBB9D}"/>
                  </a:ext>
                </a:extLst>
              </p:cNvPr>
              <p:cNvGrpSpPr/>
              <p:nvPr/>
            </p:nvGrpSpPr>
            <p:grpSpPr>
              <a:xfrm>
                <a:off x="7859850" y="5164483"/>
                <a:ext cx="1062950" cy="914390"/>
                <a:chOff x="4576854" y="4342376"/>
                <a:chExt cx="1062950" cy="914390"/>
              </a:xfrm>
            </p:grpSpPr>
            <p:pic>
              <p:nvPicPr>
                <p:cNvPr id="114" name="Graphic 113" descr="Normal Distribution outline">
                  <a:extLst>
                    <a:ext uri="{FF2B5EF4-FFF2-40B4-BE49-F238E27FC236}">
                      <a16:creationId xmlns:a16="http://schemas.microsoft.com/office/drawing/2014/main" id="{4172667E-6C94-B95E-B8EA-D0C281776DDC}"/>
                    </a:ext>
                  </a:extLst>
                </p:cNvPr>
                <p:cNvPicPr>
                  <a:picLocks noChangeAspect="1"/>
                </p:cNvPicPr>
                <p:nvPr/>
              </p:nvPicPr>
              <p:blipFill>
                <a:blip>
                  <a:extLst>
                    <a:ext uri="{96DAC541-7B7A-43D3-8B79-37D633B846F1}">
                      <asvg:svgBlip xmlns:asvg="http://schemas.microsoft.com/office/drawing/2016/SVG/main" r:embed="rId11"/>
                    </a:ext>
                  </a:extLst>
                </a:blip>
                <a:srcRect l="20713" b="20995"/>
                <a:stretch>
                  <a:fillRect/>
                </a:stretch>
              </p:blipFill>
              <p:spPr>
                <a:xfrm>
                  <a:off x="4576854" y="4342376"/>
                  <a:ext cx="1062950" cy="914390"/>
                </a:xfrm>
                <a:prstGeom prst="rect">
                  <a:avLst/>
                </a:prstGeom>
              </p:spPr>
            </p:pic>
            <p:sp>
              <p:nvSpPr>
                <p:cNvPr id="115" name="Oval 114">
                  <a:extLst>
                    <a:ext uri="{FF2B5EF4-FFF2-40B4-BE49-F238E27FC236}">
                      <a16:creationId xmlns:a16="http://schemas.microsoft.com/office/drawing/2014/main" id="{9F3F22A6-D716-CDD2-A0AA-B284FF116AD4}"/>
                    </a:ext>
                  </a:extLst>
                </p:cNvPr>
                <p:cNvSpPr/>
                <p:nvPr/>
              </p:nvSpPr>
              <p:spPr>
                <a:xfrm>
                  <a:off x="4932390" y="4720960"/>
                  <a:ext cx="168886" cy="43912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6" name="Graphic 115" descr="Flower without stem with solid fill">
                <a:extLst>
                  <a:ext uri="{FF2B5EF4-FFF2-40B4-BE49-F238E27FC236}">
                    <a16:creationId xmlns:a16="http://schemas.microsoft.com/office/drawing/2014/main" id="{73C3A0F6-54AE-FBFA-1829-E5292A1A8E2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47010" y="5784745"/>
                <a:ext cx="224420" cy="224420"/>
              </a:xfrm>
              <a:prstGeom prst="rect">
                <a:avLst/>
              </a:prstGeom>
            </p:spPr>
          </p:pic>
          <p:pic>
            <p:nvPicPr>
              <p:cNvPr id="117" name="Graphic 116" descr="Flower without stem with solid fill">
                <a:extLst>
                  <a:ext uri="{FF2B5EF4-FFF2-40B4-BE49-F238E27FC236}">
                    <a16:creationId xmlns:a16="http://schemas.microsoft.com/office/drawing/2014/main" id="{24DAFC96-CF41-E1FB-3474-3E83941E89E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42855" y="5635681"/>
                <a:ext cx="224420" cy="224420"/>
              </a:xfrm>
              <a:prstGeom prst="rect">
                <a:avLst/>
              </a:prstGeom>
            </p:spPr>
          </p:pic>
          <p:pic>
            <p:nvPicPr>
              <p:cNvPr id="118" name="Graphic 117" descr="Flower without stem with solid fill">
                <a:extLst>
                  <a:ext uri="{FF2B5EF4-FFF2-40B4-BE49-F238E27FC236}">
                    <a16:creationId xmlns:a16="http://schemas.microsoft.com/office/drawing/2014/main" id="{078CE949-D941-5765-A819-B07BA449B2A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509711" y="5811281"/>
                <a:ext cx="224420" cy="224420"/>
              </a:xfrm>
              <a:prstGeom prst="rect">
                <a:avLst/>
              </a:prstGeom>
            </p:spPr>
          </p:pic>
        </p:grpSp>
      </p:grpSp>
    </p:spTree>
    <p:extLst>
      <p:ext uri="{BB962C8B-B14F-4D97-AF65-F5344CB8AC3E}">
        <p14:creationId xmlns:p14="http://schemas.microsoft.com/office/powerpoint/2010/main" val="14136477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013F2-9FDA-C8F2-8208-08390FF7A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68747-E6BA-0AB4-B16A-5E09D5307620}"/>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sp>
        <p:nvSpPr>
          <p:cNvPr id="31" name="TextBox 30">
            <a:extLst>
              <a:ext uri="{FF2B5EF4-FFF2-40B4-BE49-F238E27FC236}">
                <a16:creationId xmlns:a16="http://schemas.microsoft.com/office/drawing/2014/main" id="{5512C945-7A26-D3C6-44EF-0EC3AD2DF6FF}"/>
              </a:ext>
            </a:extLst>
          </p:cNvPr>
          <p:cNvSpPr txBox="1"/>
          <p:nvPr/>
        </p:nvSpPr>
        <p:spPr>
          <a:xfrm>
            <a:off x="728168" y="1222319"/>
            <a:ext cx="7697373" cy="2308324"/>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a:p>
            <a:pPr marL="800100" lvl="1" indent="-342900">
              <a:buFont typeface="Arial" panose="020B0604020202020204" pitchFamily="34" charset="0"/>
              <a:buChar char="•"/>
            </a:pPr>
            <a:r>
              <a:rPr lang="en-US" sz="2400" dirty="0"/>
              <a:t>For each of these </a:t>
            </a:r>
            <a:r>
              <a:rPr lang="en-US" sz="2400" b="1" dirty="0"/>
              <a:t>top loading variables</a:t>
            </a:r>
            <a:r>
              <a:rPr lang="en-US" sz="2400" dirty="0"/>
              <a:t>, perform an ANOVA test to see if taxa are significantly different</a:t>
            </a:r>
          </a:p>
        </p:txBody>
      </p:sp>
      <p:sp>
        <p:nvSpPr>
          <p:cNvPr id="33" name="TextBox 32">
            <a:extLst>
              <a:ext uri="{FF2B5EF4-FFF2-40B4-BE49-F238E27FC236}">
                <a16:creationId xmlns:a16="http://schemas.microsoft.com/office/drawing/2014/main" id="{FFF1222A-FFC9-8F74-8FD5-047182E59F99}"/>
              </a:ext>
            </a:extLst>
          </p:cNvPr>
          <p:cNvSpPr txBox="1"/>
          <p:nvPr/>
        </p:nvSpPr>
        <p:spPr>
          <a:xfrm>
            <a:off x="813491" y="3700461"/>
            <a:ext cx="9290040" cy="830997"/>
          </a:xfrm>
          <a:prstGeom prst="rect">
            <a:avLst/>
          </a:prstGeom>
          <a:noFill/>
        </p:spPr>
        <p:txBody>
          <a:bodyPr wrap="square" rtlCol="0">
            <a:spAutoFit/>
          </a:bodyPr>
          <a:lstStyle/>
          <a:p>
            <a:r>
              <a:rPr lang="en-US" sz="2400" b="1" dirty="0">
                <a:solidFill>
                  <a:srgbClr val="0070C0"/>
                </a:solidFill>
              </a:rPr>
              <a:t>Tukey HSD test:</a:t>
            </a:r>
          </a:p>
          <a:p>
            <a:pPr marL="342900" indent="-342900">
              <a:buFont typeface="Arial" panose="020B0604020202020204" pitchFamily="34" charset="0"/>
              <a:buChar char="•"/>
            </a:pPr>
            <a:r>
              <a:rPr lang="en-US" sz="2400" dirty="0"/>
              <a:t>Determines </a:t>
            </a:r>
            <a:r>
              <a:rPr lang="en-US" sz="2400" b="1" dirty="0"/>
              <a:t>which taxa </a:t>
            </a:r>
            <a:r>
              <a:rPr lang="en-US" sz="2400" dirty="0"/>
              <a:t>are significantly similar/different</a:t>
            </a:r>
          </a:p>
        </p:txBody>
      </p:sp>
      <p:pic>
        <p:nvPicPr>
          <p:cNvPr id="5" name="Picture 4" descr="A collage of graphs&#10;&#10;AI-generated content may be incorrect.">
            <a:extLst>
              <a:ext uri="{FF2B5EF4-FFF2-40B4-BE49-F238E27FC236}">
                <a16:creationId xmlns:a16="http://schemas.microsoft.com/office/drawing/2014/main" id="{5998A309-2CF5-DC00-3825-1D58A5632044}"/>
              </a:ext>
            </a:extLst>
          </p:cNvPr>
          <p:cNvPicPr>
            <a:picLocks noChangeAspect="1"/>
          </p:cNvPicPr>
          <p:nvPr/>
        </p:nvPicPr>
        <p:blipFill>
          <a:blip r:embed="rId3">
            <a:extLst>
              <a:ext uri="{28A0092B-C50C-407E-A947-70E740481C1C}">
                <a14:useLocalDpi xmlns:a14="http://schemas.microsoft.com/office/drawing/2010/main" val="0"/>
              </a:ext>
            </a:extLst>
          </a:blip>
          <a:srcRect t="-1" b="49557"/>
          <a:stretch>
            <a:fillRect/>
          </a:stretch>
        </p:blipFill>
        <p:spPr>
          <a:xfrm>
            <a:off x="813491" y="4716763"/>
            <a:ext cx="5052725" cy="1837837"/>
          </a:xfrm>
          <a:prstGeom prst="rect">
            <a:avLst/>
          </a:prstGeom>
        </p:spPr>
      </p:pic>
      <p:pic>
        <p:nvPicPr>
          <p:cNvPr id="9" name="Picture 8" descr="A collage of graphs&#10;&#10;AI-generated content may be incorrect.">
            <a:extLst>
              <a:ext uri="{FF2B5EF4-FFF2-40B4-BE49-F238E27FC236}">
                <a16:creationId xmlns:a16="http://schemas.microsoft.com/office/drawing/2014/main" id="{033DFDB9-36AC-20F3-B024-AD41487A5C22}"/>
              </a:ext>
            </a:extLst>
          </p:cNvPr>
          <p:cNvPicPr>
            <a:picLocks noChangeAspect="1"/>
          </p:cNvPicPr>
          <p:nvPr/>
        </p:nvPicPr>
        <p:blipFill>
          <a:blip r:embed="rId3">
            <a:extLst>
              <a:ext uri="{28A0092B-C50C-407E-A947-70E740481C1C}">
                <a14:useLocalDpi xmlns:a14="http://schemas.microsoft.com/office/drawing/2010/main" val="0"/>
              </a:ext>
            </a:extLst>
          </a:blip>
          <a:srcRect t="50536"/>
          <a:stretch>
            <a:fillRect/>
          </a:stretch>
        </p:blipFill>
        <p:spPr>
          <a:xfrm>
            <a:off x="6096000" y="4716762"/>
            <a:ext cx="5152824" cy="1837838"/>
          </a:xfrm>
          <a:prstGeom prst="rect">
            <a:avLst/>
          </a:prstGeom>
        </p:spPr>
      </p:pic>
    </p:spTree>
    <p:extLst>
      <p:ext uri="{BB962C8B-B14F-4D97-AF65-F5344CB8AC3E}">
        <p14:creationId xmlns:p14="http://schemas.microsoft.com/office/powerpoint/2010/main" val="13779189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1B2B5-E181-1C0F-3D7A-1C2C61642CE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115AC26-BF7D-B158-DFB9-F0E9F89DA6C0}"/>
              </a:ext>
            </a:extLst>
          </p:cNvPr>
          <p:cNvGrpSpPr/>
          <p:nvPr/>
        </p:nvGrpSpPr>
        <p:grpSpPr>
          <a:xfrm>
            <a:off x="6125030" y="2511470"/>
            <a:ext cx="5785552" cy="4085720"/>
            <a:chOff x="5970703" y="2591504"/>
            <a:chExt cx="5785552" cy="4085720"/>
          </a:xfrm>
        </p:grpSpPr>
        <p:pic>
          <p:nvPicPr>
            <p:cNvPr id="6" name="Picture 5" descr="A graph showing the growth of the stock market&#10;&#10;AI-generated content may be incorrect.">
              <a:extLst>
                <a:ext uri="{FF2B5EF4-FFF2-40B4-BE49-F238E27FC236}">
                  <a16:creationId xmlns:a16="http://schemas.microsoft.com/office/drawing/2014/main" id="{C93F3630-0C5A-5A73-9027-5C0AAFBD4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03" y="2707351"/>
              <a:ext cx="5785552" cy="3969873"/>
            </a:xfrm>
            <a:prstGeom prst="rect">
              <a:avLst/>
            </a:prstGeom>
          </p:spPr>
        </p:pic>
        <p:sp>
          <p:nvSpPr>
            <p:cNvPr id="14" name="Rectangle 13">
              <a:extLst>
                <a:ext uri="{FF2B5EF4-FFF2-40B4-BE49-F238E27FC236}">
                  <a16:creationId xmlns:a16="http://schemas.microsoft.com/office/drawing/2014/main" id="{141B7844-E532-AE4F-68E0-79FFB321612F}"/>
                </a:ext>
              </a:extLst>
            </p:cNvPr>
            <p:cNvSpPr/>
            <p:nvPr/>
          </p:nvSpPr>
          <p:spPr>
            <a:xfrm>
              <a:off x="6096000" y="2591504"/>
              <a:ext cx="1490133" cy="2420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6A89B81B-8EA9-EE87-EBB8-281B5FD422DB}"/>
              </a:ext>
            </a:extLst>
          </p:cNvPr>
          <p:cNvSpPr/>
          <p:nvPr/>
        </p:nvSpPr>
        <p:spPr>
          <a:xfrm>
            <a:off x="7645400" y="2493972"/>
            <a:ext cx="2311400" cy="6792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solidFill>
                  <a:schemeClr val="tx1"/>
                </a:solidFill>
              </a:rPr>
              <a:t>Galax urceolata</a:t>
            </a:r>
          </a:p>
        </p:txBody>
      </p:sp>
      <p:sp>
        <p:nvSpPr>
          <p:cNvPr id="2" name="Title 1">
            <a:extLst>
              <a:ext uri="{FF2B5EF4-FFF2-40B4-BE49-F238E27FC236}">
                <a16:creationId xmlns:a16="http://schemas.microsoft.com/office/drawing/2014/main" id="{CA300F69-AD7C-522E-3010-31814EBA9C24}"/>
              </a:ext>
            </a:extLst>
          </p:cNvPr>
          <p:cNvSpPr>
            <a:spLocks noGrp="1"/>
          </p:cNvSpPr>
          <p:nvPr>
            <p:ph type="title"/>
          </p:nvPr>
        </p:nvSpPr>
        <p:spPr>
          <a:xfrm>
            <a:off x="838200" y="365125"/>
            <a:ext cx="10515600" cy="1325563"/>
          </a:xfrm>
        </p:spPr>
        <p:txBody>
          <a:bodyPr/>
          <a:lstStyle/>
          <a:p>
            <a:pPr algn="ctr"/>
            <a:r>
              <a:rPr lang="en-US" b="1" dirty="0">
                <a:solidFill>
                  <a:srgbClr val="0070C0"/>
                </a:solidFill>
                <a:latin typeface="Calibri"/>
              </a:rPr>
              <a:t>Caution!</a:t>
            </a:r>
            <a:endParaRPr lang="en-US" dirty="0"/>
          </a:p>
        </p:txBody>
      </p:sp>
      <p:sp>
        <p:nvSpPr>
          <p:cNvPr id="4" name="Text Placeholder 2">
            <a:extLst>
              <a:ext uri="{FF2B5EF4-FFF2-40B4-BE49-F238E27FC236}">
                <a16:creationId xmlns:a16="http://schemas.microsoft.com/office/drawing/2014/main" id="{CFB71710-07C6-FDF5-CD9A-A64A11DE4B31}"/>
              </a:ext>
            </a:extLst>
          </p:cNvPr>
          <p:cNvSpPr>
            <a:spLocks noGrp="1"/>
          </p:cNvSpPr>
          <p:nvPr>
            <p:ph type="body" idx="1"/>
          </p:nvPr>
        </p:nvSpPr>
        <p:spPr>
          <a:xfrm>
            <a:off x="788972" y="1508025"/>
            <a:ext cx="10614057" cy="646332"/>
          </a:xfrm>
        </p:spPr>
        <p:txBody>
          <a:bodyPr anchor="t" anchorCtr="0">
            <a:normAutofit/>
          </a:bodyPr>
          <a:lstStyle/>
          <a:p>
            <a:pPr marL="0" indent="0" algn="ctr">
              <a:spcBef>
                <a:spcPts val="0"/>
              </a:spcBef>
              <a:buNone/>
            </a:pPr>
            <a:r>
              <a:rPr lang="en-US" b="1" dirty="0">
                <a:ea typeface="Calibri Light" panose="020F0302020204030204" pitchFamily="34" charset="0"/>
                <a:cs typeface="Calibri Light" panose="020F0302020204030204" pitchFamily="34" charset="0"/>
              </a:rPr>
              <a:t>Do not just rely on environmental variables</a:t>
            </a:r>
          </a:p>
        </p:txBody>
      </p:sp>
      <p:sp>
        <p:nvSpPr>
          <p:cNvPr id="5" name="TextBox 4">
            <a:extLst>
              <a:ext uri="{FF2B5EF4-FFF2-40B4-BE49-F238E27FC236}">
                <a16:creationId xmlns:a16="http://schemas.microsoft.com/office/drawing/2014/main" id="{EADDFAF6-0CD6-F32A-DCB2-B73FD55B4E82}"/>
              </a:ext>
            </a:extLst>
          </p:cNvPr>
          <p:cNvSpPr txBox="1"/>
          <p:nvPr/>
        </p:nvSpPr>
        <p:spPr>
          <a:xfrm>
            <a:off x="5816376" y="2243682"/>
            <a:ext cx="6094206" cy="400110"/>
          </a:xfrm>
          <a:prstGeom prst="rect">
            <a:avLst/>
          </a:prstGeom>
          <a:noFill/>
        </p:spPr>
        <p:txBody>
          <a:bodyPr wrap="square">
            <a:spAutoFit/>
          </a:bodyPr>
          <a:lstStyle/>
          <a:p>
            <a:pPr algn="ctr">
              <a:spcBef>
                <a:spcPts val="0"/>
              </a:spcBef>
            </a:pPr>
            <a:r>
              <a:rPr lang="en-US" sz="2000" b="1" i="1" dirty="0">
                <a:solidFill>
                  <a:srgbClr val="0070C0"/>
                </a:solidFill>
                <a:ea typeface="Calibri Light" panose="020F0302020204030204" pitchFamily="34" charset="0"/>
                <a:cs typeface="Calibri Light" panose="020F0302020204030204" pitchFamily="34" charset="0"/>
              </a:rPr>
              <a:t>Minimum and Maximum Latitude Over Time</a:t>
            </a:r>
          </a:p>
        </p:txBody>
      </p:sp>
      <p:sp>
        <p:nvSpPr>
          <p:cNvPr id="11" name="Text Placeholder 2">
            <a:extLst>
              <a:ext uri="{FF2B5EF4-FFF2-40B4-BE49-F238E27FC236}">
                <a16:creationId xmlns:a16="http://schemas.microsoft.com/office/drawing/2014/main" id="{136F14C5-9CC6-FA2A-DD49-8F4C6773E8DD}"/>
              </a:ext>
            </a:extLst>
          </p:cNvPr>
          <p:cNvSpPr txBox="1">
            <a:spLocks/>
          </p:cNvSpPr>
          <p:nvPr/>
        </p:nvSpPr>
        <p:spPr>
          <a:xfrm>
            <a:off x="927456" y="3078096"/>
            <a:ext cx="4764162" cy="2922797"/>
          </a:xfrm>
          <a:prstGeom prst="rect">
            <a:avLst/>
          </a:prstGeom>
        </p:spPr>
        <p:txBody>
          <a:bodyPr vert="horz"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dirty="0">
                <a:ea typeface="Calibri Light" panose="020F0302020204030204" pitchFamily="34" charset="0"/>
                <a:cs typeface="Calibri Light" panose="020F0302020204030204" pitchFamily="34" charset="0"/>
              </a:rPr>
              <a:t>Uses dates of occurrence records to identify trends in distribution over time</a:t>
            </a:r>
            <a:endParaRPr lang="en-US" i="1" dirty="0">
              <a:ea typeface="Calibri Light" panose="020F0302020204030204" pitchFamily="34" charset="0"/>
              <a:cs typeface="Calibri Light" panose="020F0302020204030204" pitchFamily="34" charset="0"/>
            </a:endParaRPr>
          </a:p>
          <a:p>
            <a:pPr>
              <a:spcBef>
                <a:spcPts val="0"/>
              </a:spcBef>
            </a:pPr>
            <a:r>
              <a:rPr lang="en-US" dirty="0">
                <a:ea typeface="Calibri Light" panose="020F0302020204030204" pitchFamily="34" charset="0"/>
                <a:cs typeface="Calibri Light" panose="020F0302020204030204" pitchFamily="34" charset="0"/>
              </a:rPr>
              <a:t>Consider potential impacts of increases in volume of occurrence records over time</a:t>
            </a:r>
          </a:p>
        </p:txBody>
      </p:sp>
      <p:pic>
        <p:nvPicPr>
          <p:cNvPr id="13" name="Graphic 12" descr="Warning outline">
            <a:extLst>
              <a:ext uri="{FF2B5EF4-FFF2-40B4-BE49-F238E27FC236}">
                <a16:creationId xmlns:a16="http://schemas.microsoft.com/office/drawing/2014/main" id="{3B514DB4-0292-F249-8A38-7C4A5FD5CF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32472" y="2304151"/>
            <a:ext cx="646332" cy="646332"/>
          </a:xfrm>
          <a:prstGeom prst="rect">
            <a:avLst/>
          </a:prstGeom>
        </p:spPr>
      </p:pic>
      <p:sp>
        <p:nvSpPr>
          <p:cNvPr id="18" name="Rectangle 17">
            <a:extLst>
              <a:ext uri="{FF2B5EF4-FFF2-40B4-BE49-F238E27FC236}">
                <a16:creationId xmlns:a16="http://schemas.microsoft.com/office/drawing/2014/main" id="{140B253A-842D-EC3A-1223-292AAF63951A}"/>
              </a:ext>
            </a:extLst>
          </p:cNvPr>
          <p:cNvSpPr/>
          <p:nvPr/>
        </p:nvSpPr>
        <p:spPr>
          <a:xfrm>
            <a:off x="8457933" y="6498566"/>
            <a:ext cx="846667" cy="2144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A7A7A7"/>
                </a:solidFill>
              </a:rPr>
              <a:t>Year</a:t>
            </a:r>
          </a:p>
        </p:txBody>
      </p:sp>
      <p:sp>
        <p:nvSpPr>
          <p:cNvPr id="20" name="Rectangle 19">
            <a:extLst>
              <a:ext uri="{FF2B5EF4-FFF2-40B4-BE49-F238E27FC236}">
                <a16:creationId xmlns:a16="http://schemas.microsoft.com/office/drawing/2014/main" id="{56C31CA6-30D2-69D8-0F19-00CBE4C5DC14}"/>
              </a:ext>
            </a:extLst>
          </p:cNvPr>
          <p:cNvSpPr/>
          <p:nvPr/>
        </p:nvSpPr>
        <p:spPr>
          <a:xfrm rot="16200000">
            <a:off x="5432522" y="4407396"/>
            <a:ext cx="1326957" cy="2641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A7A7A7"/>
                </a:solidFill>
              </a:rPr>
              <a:t>Latitude</a:t>
            </a:r>
          </a:p>
        </p:txBody>
      </p:sp>
    </p:spTree>
    <p:extLst>
      <p:ext uri="{BB962C8B-B14F-4D97-AF65-F5344CB8AC3E}">
        <p14:creationId xmlns:p14="http://schemas.microsoft.com/office/powerpoint/2010/main" val="7106907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C3A7-53DB-A8FF-8C18-353E5D81CAA0}"/>
            </a:ext>
          </a:extLst>
        </p:cNvPr>
        <p:cNvGrpSpPr/>
        <p:nvPr/>
      </p:nvGrpSpPr>
      <p:grpSpPr>
        <a:xfrm>
          <a:off x="0" y="0"/>
          <a:ext cx="0" cy="0"/>
          <a:chOff x="0" y="0"/>
          <a:chExt cx="0" cy="0"/>
        </a:xfrm>
      </p:grpSpPr>
      <p:sp>
        <p:nvSpPr>
          <p:cNvPr id="8" name="Text Placeholder 2">
            <a:extLst>
              <a:ext uri="{FF2B5EF4-FFF2-40B4-BE49-F238E27FC236}">
                <a16:creationId xmlns:a16="http://schemas.microsoft.com/office/drawing/2014/main" id="{B631182F-DAC9-CC1A-CBA6-A005C40CD028}"/>
              </a:ext>
            </a:extLst>
          </p:cNvPr>
          <p:cNvSpPr txBox="1">
            <a:spLocks/>
          </p:cNvSpPr>
          <p:nvPr/>
        </p:nvSpPr>
        <p:spPr>
          <a:xfrm>
            <a:off x="668602" y="1690688"/>
            <a:ext cx="13723214" cy="2884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rmAutofit/>
          </a:bodyPr>
          <a:lstStyle>
            <a:lvl1pPr marL="592696"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1pPr>
            <a:lvl2pPr marL="1185393"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2pPr>
            <a:lvl3pPr marL="1778089"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3pPr>
            <a:lvl4pPr marL="2370785"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4pPr>
            <a:lvl5pPr marL="2963482"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5pPr>
            <a:lvl6pPr marL="3556178"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6pPr>
            <a:lvl7pPr marL="4148874"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7pPr>
            <a:lvl8pPr marL="4741570"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8pPr>
            <a:lvl9pPr marL="5334267"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9pPr>
          </a:lstStyle>
          <a:p>
            <a:pPr marL="0" indent="0" hangingPunct="1">
              <a:spcBef>
                <a:spcPts val="0"/>
              </a:spcBef>
              <a:buNone/>
            </a:pPr>
            <a:r>
              <a:rPr lang="en-US" sz="3600" dirty="0"/>
              <a:t>Data Exploration can reveal:</a:t>
            </a:r>
          </a:p>
          <a:p>
            <a:pPr marL="592697" lvl="1" indent="0" hangingPunct="1">
              <a:spcBef>
                <a:spcPts val="0"/>
              </a:spcBef>
              <a:buNone/>
            </a:pPr>
            <a:r>
              <a:rPr lang="en-US" sz="3600" dirty="0"/>
              <a:t>	Potential issues, biases, and discrepancies in raw data</a:t>
            </a:r>
          </a:p>
          <a:p>
            <a:pPr marL="592697" lvl="1" indent="0" hangingPunct="1">
              <a:spcBef>
                <a:spcPts val="0"/>
              </a:spcBef>
              <a:buNone/>
            </a:pPr>
            <a:r>
              <a:rPr lang="en-US" sz="3600" dirty="0"/>
              <a:t>	Trends that are worth exploring further</a:t>
            </a:r>
          </a:p>
          <a:p>
            <a:pPr marL="592697" lvl="1" indent="0" hangingPunct="1">
              <a:spcBef>
                <a:spcPts val="0"/>
              </a:spcBef>
              <a:buNone/>
            </a:pPr>
            <a:r>
              <a:rPr lang="en-US" sz="3600" dirty="0"/>
              <a:t>	Population/species differences</a:t>
            </a:r>
          </a:p>
          <a:p>
            <a:pPr lvl="1" hangingPunct="1">
              <a:spcBef>
                <a:spcPts val="0"/>
              </a:spcBef>
            </a:pPr>
            <a:endParaRPr lang="en-US" sz="3600" dirty="0"/>
          </a:p>
        </p:txBody>
      </p:sp>
      <p:sp>
        <p:nvSpPr>
          <p:cNvPr id="2" name="Title 1">
            <a:extLst>
              <a:ext uri="{FF2B5EF4-FFF2-40B4-BE49-F238E27FC236}">
                <a16:creationId xmlns:a16="http://schemas.microsoft.com/office/drawing/2014/main" id="{3E59E876-DF61-BE0D-A0EE-916448AD5B75}"/>
              </a:ext>
            </a:extLst>
          </p:cNvPr>
          <p:cNvSpPr>
            <a:spLocks noGrp="1"/>
          </p:cNvSpPr>
          <p:nvPr>
            <p:ph type="title"/>
          </p:nvPr>
        </p:nvSpPr>
        <p:spPr/>
        <p:txBody>
          <a:bodyPr/>
          <a:lstStyle/>
          <a:p>
            <a:pPr algn="ctr"/>
            <a:r>
              <a:rPr lang="en-US" b="1" dirty="0">
                <a:solidFill>
                  <a:srgbClr val="0070C0"/>
                </a:solidFill>
                <a:latin typeface="Calibri"/>
              </a:rPr>
              <a:t>Importance</a:t>
            </a:r>
            <a:endParaRPr lang="en-US" dirty="0"/>
          </a:p>
        </p:txBody>
      </p:sp>
      <p:sp>
        <p:nvSpPr>
          <p:cNvPr id="10" name="Text Placeholder 2">
            <a:extLst>
              <a:ext uri="{FF2B5EF4-FFF2-40B4-BE49-F238E27FC236}">
                <a16:creationId xmlns:a16="http://schemas.microsoft.com/office/drawing/2014/main" id="{7BC2F07E-52E0-9726-355B-3107A9DA9CF6}"/>
              </a:ext>
            </a:extLst>
          </p:cNvPr>
          <p:cNvSpPr txBox="1">
            <a:spLocks/>
          </p:cNvSpPr>
          <p:nvPr/>
        </p:nvSpPr>
        <p:spPr>
          <a:xfrm>
            <a:off x="668602" y="3893155"/>
            <a:ext cx="10984380" cy="23930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rmAutofit fontScale="92500" lnSpcReduction="10000"/>
          </a:bodyPr>
          <a:lstStyle>
            <a:lvl1pPr marL="592696"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1pPr>
            <a:lvl2pPr marL="1185393"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2pPr>
            <a:lvl3pPr marL="1778089"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3pPr>
            <a:lvl4pPr marL="2370785"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4pPr>
            <a:lvl5pPr marL="2963482"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Calibri" panose="020F0502020204030204" pitchFamily="34" charset="0"/>
                <a:ea typeface="+mn-ea"/>
                <a:cs typeface="Calibri" panose="020F0502020204030204" pitchFamily="34" charset="0"/>
                <a:sym typeface="Helvetica Light"/>
              </a:defRPr>
            </a:lvl5pPr>
            <a:lvl6pPr marL="3556178"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6pPr>
            <a:lvl7pPr marL="4148874"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7pPr>
            <a:lvl8pPr marL="4741570"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8pPr>
            <a:lvl9pPr marL="5334267" marR="0" indent="-592696" algn="l" defTabSz="778972" rtl="0" latinLnBrk="0">
              <a:lnSpc>
                <a:spcPct val="100000"/>
              </a:lnSpc>
              <a:spcBef>
                <a:spcPts val="5600"/>
              </a:spcBef>
              <a:spcAft>
                <a:spcPts val="0"/>
              </a:spcAft>
              <a:buClrTx/>
              <a:buSzPct val="75000"/>
              <a:buFontTx/>
              <a:buChar char="•"/>
              <a:tabLst/>
              <a:defRPr sz="4800" b="0" i="0" u="none" strike="noStrike" cap="none" spc="0" baseline="0">
                <a:solidFill>
                  <a:srgbClr val="000000"/>
                </a:solidFill>
                <a:uFillTx/>
                <a:latin typeface="+mn-lt"/>
                <a:ea typeface="+mn-ea"/>
                <a:cs typeface="+mn-cs"/>
                <a:sym typeface="Helvetica Light"/>
              </a:defRPr>
            </a:lvl9pPr>
          </a:lstStyle>
          <a:p>
            <a:pPr marL="0" indent="0" hangingPunct="1">
              <a:spcBef>
                <a:spcPts val="0"/>
              </a:spcBef>
              <a:buNone/>
            </a:pPr>
            <a:endParaRPr lang="en-US" sz="4400" dirty="0">
              <a:solidFill>
                <a:srgbClr val="0070C0"/>
              </a:solidFill>
            </a:endParaRPr>
          </a:p>
          <a:p>
            <a:pPr marL="0" indent="0" algn="ctr" hangingPunct="1">
              <a:spcBef>
                <a:spcPts val="0"/>
              </a:spcBef>
              <a:buNone/>
            </a:pPr>
            <a:r>
              <a:rPr lang="en-US" sz="4400" b="1" dirty="0">
                <a:solidFill>
                  <a:srgbClr val="0070C0"/>
                </a:solidFill>
              </a:rPr>
              <a:t>Data exploration allows us to examine the reliability of data before putting it into the ENM models</a:t>
            </a:r>
          </a:p>
          <a:p>
            <a:pPr lvl="1" hangingPunct="1">
              <a:spcBef>
                <a:spcPts val="0"/>
              </a:spcBef>
            </a:pPr>
            <a:endParaRPr lang="en-US" sz="4400" dirty="0">
              <a:solidFill>
                <a:srgbClr val="0070C0"/>
              </a:solidFill>
            </a:endParaRPr>
          </a:p>
        </p:txBody>
      </p:sp>
      <p:pic>
        <p:nvPicPr>
          <p:cNvPr id="4" name="Graphic 3" descr="Exclamation mark with solid fill">
            <a:extLst>
              <a:ext uri="{FF2B5EF4-FFF2-40B4-BE49-F238E27FC236}">
                <a16:creationId xmlns:a16="http://schemas.microsoft.com/office/drawing/2014/main" id="{4A8FD940-0E5D-883A-304F-BA9D708705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9800" y="2375384"/>
            <a:ext cx="411578" cy="411578"/>
          </a:xfrm>
          <a:prstGeom prst="rect">
            <a:avLst/>
          </a:prstGeom>
        </p:spPr>
      </p:pic>
      <p:pic>
        <p:nvPicPr>
          <p:cNvPr id="6" name="Graphic 5" descr="Scatterplot with solid fill">
            <a:extLst>
              <a:ext uri="{FF2B5EF4-FFF2-40B4-BE49-F238E27FC236}">
                <a16:creationId xmlns:a16="http://schemas.microsoft.com/office/drawing/2014/main" id="{F58EA9C5-A0FE-3A77-8CDA-1E05E31FAA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800" y="2926984"/>
            <a:ext cx="411578" cy="411578"/>
          </a:xfrm>
          <a:prstGeom prst="rect">
            <a:avLst/>
          </a:prstGeom>
        </p:spPr>
      </p:pic>
      <p:grpSp>
        <p:nvGrpSpPr>
          <p:cNvPr id="15" name="Group 14">
            <a:extLst>
              <a:ext uri="{FF2B5EF4-FFF2-40B4-BE49-F238E27FC236}">
                <a16:creationId xmlns:a16="http://schemas.microsoft.com/office/drawing/2014/main" id="{ADC8C28F-4577-FF96-416F-0ACC948D7AE4}"/>
              </a:ext>
            </a:extLst>
          </p:cNvPr>
          <p:cNvGrpSpPr/>
          <p:nvPr/>
        </p:nvGrpSpPr>
        <p:grpSpPr>
          <a:xfrm>
            <a:off x="865210" y="3458947"/>
            <a:ext cx="560758" cy="411578"/>
            <a:chOff x="8897038" y="265907"/>
            <a:chExt cx="846402" cy="768626"/>
          </a:xfrm>
        </p:grpSpPr>
        <p:pic>
          <p:nvPicPr>
            <p:cNvPr id="9" name="Graphic 8" descr="Cactus outline">
              <a:extLst>
                <a:ext uri="{FF2B5EF4-FFF2-40B4-BE49-F238E27FC236}">
                  <a16:creationId xmlns:a16="http://schemas.microsoft.com/office/drawing/2014/main" id="{D340FA71-322B-5D23-9A53-08FB203166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7038" y="526533"/>
              <a:ext cx="508000" cy="508000"/>
            </a:xfrm>
            <a:prstGeom prst="rect">
              <a:avLst/>
            </a:prstGeom>
          </p:spPr>
        </p:pic>
        <p:pic>
          <p:nvPicPr>
            <p:cNvPr id="12" name="Graphic 11" descr="Cactus outline">
              <a:extLst>
                <a:ext uri="{FF2B5EF4-FFF2-40B4-BE49-F238E27FC236}">
                  <a16:creationId xmlns:a16="http://schemas.microsoft.com/office/drawing/2014/main" id="{BC3E98BF-079F-968A-885D-5F3D8EE0D4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35440" y="484272"/>
              <a:ext cx="508000" cy="508000"/>
            </a:xfrm>
            <a:prstGeom prst="rect">
              <a:avLst/>
            </a:prstGeom>
          </p:spPr>
        </p:pic>
        <p:pic>
          <p:nvPicPr>
            <p:cNvPr id="14" name="Graphic 13" descr="Cactus outline">
              <a:extLst>
                <a:ext uri="{FF2B5EF4-FFF2-40B4-BE49-F238E27FC236}">
                  <a16:creationId xmlns:a16="http://schemas.microsoft.com/office/drawing/2014/main" id="{76159B8A-7C99-8148-402A-6548C702CE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6239" y="265907"/>
              <a:ext cx="508000" cy="508000"/>
            </a:xfrm>
            <a:prstGeom prst="rect">
              <a:avLst/>
            </a:prstGeom>
          </p:spPr>
        </p:pic>
      </p:grpSp>
    </p:spTree>
    <p:extLst>
      <p:ext uri="{BB962C8B-B14F-4D97-AF65-F5344CB8AC3E}">
        <p14:creationId xmlns:p14="http://schemas.microsoft.com/office/powerpoint/2010/main" val="30860648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CAC302B-3D2A-593B-3D56-D4B2F45D6B55}"/>
              </a:ext>
            </a:extLst>
          </p:cNvPr>
          <p:cNvSpPr>
            <a:spLocks noGrp="1"/>
          </p:cNvSpPr>
          <p:nvPr>
            <p:ph type="title"/>
          </p:nvPr>
        </p:nvSpPr>
        <p:spPr>
          <a:xfrm>
            <a:off x="1192160" y="2443281"/>
            <a:ext cx="10515600" cy="1325562"/>
          </a:xfrm>
        </p:spPr>
        <p:txBody>
          <a:bodyPr/>
          <a:lstStyle/>
          <a:p>
            <a:pPr algn="ctr"/>
            <a:r>
              <a:rPr lang="en-US" b="1" dirty="0">
                <a:solidFill>
                  <a:srgbClr val="0070C0"/>
                </a:solidFill>
              </a:rPr>
              <a:t>Coding Practical</a:t>
            </a:r>
          </a:p>
        </p:txBody>
      </p:sp>
      <p:grpSp>
        <p:nvGrpSpPr>
          <p:cNvPr id="11" name="Group 10">
            <a:extLst>
              <a:ext uri="{FF2B5EF4-FFF2-40B4-BE49-F238E27FC236}">
                <a16:creationId xmlns:a16="http://schemas.microsoft.com/office/drawing/2014/main" id="{25305ADE-1D3E-F857-B25C-7DF88EA17C60}"/>
              </a:ext>
            </a:extLst>
          </p:cNvPr>
          <p:cNvGrpSpPr/>
          <p:nvPr/>
        </p:nvGrpSpPr>
        <p:grpSpPr>
          <a:xfrm>
            <a:off x="3117877" y="2294271"/>
            <a:ext cx="961456" cy="1325562"/>
            <a:chOff x="1889606" y="5270103"/>
            <a:chExt cx="914400" cy="914400"/>
          </a:xfrm>
        </p:grpSpPr>
        <p:pic>
          <p:nvPicPr>
            <p:cNvPr id="12" name="Graphic 11" descr="Laptop outline">
              <a:extLst>
                <a:ext uri="{FF2B5EF4-FFF2-40B4-BE49-F238E27FC236}">
                  <a16:creationId xmlns:a16="http://schemas.microsoft.com/office/drawing/2014/main" id="{ACA035D8-F707-6427-ABF1-6DC09A75C5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89606" y="5270103"/>
              <a:ext cx="914400" cy="914400"/>
            </a:xfrm>
            <a:prstGeom prst="rect">
              <a:avLst/>
            </a:prstGeom>
          </p:spPr>
        </p:pic>
        <p:pic>
          <p:nvPicPr>
            <p:cNvPr id="13" name="Picture 12" descr="The diagram appears to be a scatter plot or cluster diagram showing various biological samples or groups, such as different species of plants or algae, with annotations for their relative abundance or presence.&#10;&#10;AI-generated content may be incorrect.">
              <a:extLst>
                <a:ext uri="{FF2B5EF4-FFF2-40B4-BE49-F238E27FC236}">
                  <a16:creationId xmlns:a16="http://schemas.microsoft.com/office/drawing/2014/main" id="{C73488D9-B9D5-D2E5-1C08-DF8B26F693D9}"/>
                </a:ext>
              </a:extLst>
            </p:cNvPr>
            <p:cNvPicPr>
              <a:picLocks noChangeAspect="1"/>
            </p:cNvPicPr>
            <p:nvPr/>
          </p:nvPicPr>
          <p:blipFill>
            <a:blip r:embed="rId3"/>
            <a:stretch>
              <a:fillRect/>
            </a:stretch>
          </p:blipFill>
          <p:spPr>
            <a:xfrm>
              <a:off x="2336468" y="5544555"/>
              <a:ext cx="260183" cy="285538"/>
            </a:xfrm>
            <a:prstGeom prst="rect">
              <a:avLst/>
            </a:prstGeom>
          </p:spPr>
        </p:pic>
        <p:pic>
          <p:nvPicPr>
            <p:cNvPr id="14" name="Picture 13" descr="The image depicts a statistical R script for creating a PCA (Principal Component Analysis) biplot, including color palettes, top contributing variables for principal components, and a request for ANOVA (Analysis of Variance) and Tukey HSD (Honestly Significant Difference) analysis for selected variables.&#10;&#10;AI-generated content may be incorrect.">
              <a:extLst>
                <a:ext uri="{FF2B5EF4-FFF2-40B4-BE49-F238E27FC236}">
                  <a16:creationId xmlns:a16="http://schemas.microsoft.com/office/drawing/2014/main" id="{5D8B25AE-BCC3-B8B9-AEE8-C192BA0D5404}"/>
                </a:ext>
              </a:extLst>
            </p:cNvPr>
            <p:cNvPicPr>
              <a:picLocks noChangeAspect="1"/>
            </p:cNvPicPr>
            <p:nvPr/>
          </p:nvPicPr>
          <p:blipFill>
            <a:blip r:embed="rId4"/>
            <a:srcRect r="48157"/>
            <a:stretch>
              <a:fillRect/>
            </a:stretch>
          </p:blipFill>
          <p:spPr>
            <a:xfrm>
              <a:off x="2090820" y="5544555"/>
              <a:ext cx="245648" cy="285538"/>
            </a:xfrm>
            <a:prstGeom prst="rect">
              <a:avLst/>
            </a:prstGeom>
          </p:spPr>
        </p:pic>
      </p:grpSp>
      <p:sp>
        <p:nvSpPr>
          <p:cNvPr id="15" name="Title 1">
            <a:extLst>
              <a:ext uri="{FF2B5EF4-FFF2-40B4-BE49-F238E27FC236}">
                <a16:creationId xmlns:a16="http://schemas.microsoft.com/office/drawing/2014/main" id="{B21FDE5E-67D5-6536-1348-0A2A822716B0}"/>
              </a:ext>
            </a:extLst>
          </p:cNvPr>
          <p:cNvSpPr txBox="1">
            <a:spLocks/>
          </p:cNvSpPr>
          <p:nvPr/>
        </p:nvSpPr>
        <p:spPr>
          <a:xfrm>
            <a:off x="838200" y="3529116"/>
            <a:ext cx="10515600" cy="1325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03_Data_Exploration.R</a:t>
            </a:r>
          </a:p>
        </p:txBody>
      </p:sp>
    </p:spTree>
    <p:extLst>
      <p:ext uri="{BB962C8B-B14F-4D97-AF65-F5344CB8AC3E}">
        <p14:creationId xmlns:p14="http://schemas.microsoft.com/office/powerpoint/2010/main" val="2899378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6DD55E-B77D-021D-F1EA-414D30F22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7B858-3F15-A503-D071-5B345ABE2CFF}"/>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sp>
        <p:nvSpPr>
          <p:cNvPr id="4" name="TextBox 3">
            <a:extLst>
              <a:ext uri="{FF2B5EF4-FFF2-40B4-BE49-F238E27FC236}">
                <a16:creationId xmlns:a16="http://schemas.microsoft.com/office/drawing/2014/main" id="{4F443E7C-4938-2775-8FDC-9A086170E462}"/>
              </a:ext>
            </a:extLst>
          </p:cNvPr>
          <p:cNvSpPr txBox="1"/>
          <p:nvPr/>
        </p:nvSpPr>
        <p:spPr>
          <a:xfrm>
            <a:off x="813491" y="1639778"/>
            <a:ext cx="11040459"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PCs</a:t>
            </a:r>
          </a:p>
          <a:p>
            <a:pPr marL="342900" indent="-342900">
              <a:buFont typeface="Arial" panose="020B0604020202020204" pitchFamily="34" charset="0"/>
              <a:buChar char="•"/>
            </a:pPr>
            <a:r>
              <a:rPr lang="en-US" sz="2400" dirty="0"/>
              <a:t>ANOVA  test if taxa are significantly different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Add </a:t>
            </a:r>
            <a:r>
              <a:rPr lang="en-US" sz="2400" b="1" dirty="0"/>
              <a:t>Tukey HSD test</a:t>
            </a:r>
            <a:r>
              <a:rPr lang="en-US" sz="2400" b="1" i="1" dirty="0"/>
              <a:t> </a:t>
            </a:r>
            <a:r>
              <a:rPr lang="en-US" sz="2400" dirty="0"/>
              <a:t>to determine </a:t>
            </a:r>
            <a:r>
              <a:rPr lang="en-US" sz="2400" i="1" dirty="0"/>
              <a:t>which </a:t>
            </a:r>
            <a:r>
              <a:rPr lang="en-US" sz="2400" dirty="0"/>
              <a:t>taxon are significantly similar/different</a:t>
            </a:r>
          </a:p>
        </p:txBody>
      </p:sp>
      <p:pic>
        <p:nvPicPr>
          <p:cNvPr id="7" name="Picture 6" descr="A collage of graphs&#10;&#10;AI-generated content may be incorrect.">
            <a:extLst>
              <a:ext uri="{FF2B5EF4-FFF2-40B4-BE49-F238E27FC236}">
                <a16:creationId xmlns:a16="http://schemas.microsoft.com/office/drawing/2014/main" id="{82AD0A72-E30A-2797-98E2-23DB96F589F3}"/>
              </a:ext>
            </a:extLst>
          </p:cNvPr>
          <p:cNvPicPr>
            <a:picLocks noChangeAspect="1"/>
          </p:cNvPicPr>
          <p:nvPr/>
        </p:nvPicPr>
        <p:blipFill>
          <a:blip r:embed="rId3">
            <a:extLst>
              <a:ext uri="{28A0092B-C50C-407E-A947-70E740481C1C}">
                <a14:useLocalDpi xmlns:a14="http://schemas.microsoft.com/office/drawing/2010/main" val="0"/>
              </a:ext>
            </a:extLst>
          </a:blip>
          <a:srcRect t="-1" b="49557"/>
          <a:stretch>
            <a:fillRect/>
          </a:stretch>
        </p:blipFill>
        <p:spPr>
          <a:xfrm>
            <a:off x="637109" y="4160837"/>
            <a:ext cx="5052725" cy="1837837"/>
          </a:xfrm>
          <a:prstGeom prst="rect">
            <a:avLst/>
          </a:prstGeom>
        </p:spPr>
      </p:pic>
      <p:pic>
        <p:nvPicPr>
          <p:cNvPr id="9" name="Picture 8" descr="A collage of graphs&#10;&#10;AI-generated content may be incorrect.">
            <a:extLst>
              <a:ext uri="{FF2B5EF4-FFF2-40B4-BE49-F238E27FC236}">
                <a16:creationId xmlns:a16="http://schemas.microsoft.com/office/drawing/2014/main" id="{CAB45D7E-A542-B9F8-44E5-BF43E655CA4C}"/>
              </a:ext>
            </a:extLst>
          </p:cNvPr>
          <p:cNvPicPr>
            <a:picLocks noChangeAspect="1"/>
          </p:cNvPicPr>
          <p:nvPr/>
        </p:nvPicPr>
        <p:blipFill>
          <a:blip r:embed="rId3">
            <a:extLst>
              <a:ext uri="{28A0092B-C50C-407E-A947-70E740481C1C}">
                <a14:useLocalDpi xmlns:a14="http://schemas.microsoft.com/office/drawing/2010/main" val="0"/>
              </a:ext>
            </a:extLst>
          </a:blip>
          <a:srcRect t="50536"/>
          <a:stretch>
            <a:fillRect/>
          </a:stretch>
        </p:blipFill>
        <p:spPr>
          <a:xfrm>
            <a:off x="6096000" y="4160836"/>
            <a:ext cx="5152824" cy="1837838"/>
          </a:xfrm>
          <a:prstGeom prst="rect">
            <a:avLst/>
          </a:prstGeom>
        </p:spPr>
      </p:pic>
    </p:spTree>
    <p:extLst>
      <p:ext uri="{BB962C8B-B14F-4D97-AF65-F5344CB8AC3E}">
        <p14:creationId xmlns:p14="http://schemas.microsoft.com/office/powerpoint/2010/main" val="29204123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B77C16-31DC-5F75-C754-7D7FE2E81F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06C9F6-084A-0E14-CE60-95A6C5922A1C}"/>
              </a:ext>
            </a:extLst>
          </p:cNvPr>
          <p:cNvSpPr txBox="1"/>
          <p:nvPr/>
        </p:nvSpPr>
        <p:spPr>
          <a:xfrm>
            <a:off x="1184029" y="3658440"/>
            <a:ext cx="6142909" cy="1323439"/>
          </a:xfrm>
          <a:prstGeom prst="rect">
            <a:avLst/>
          </a:prstGeom>
          <a:noFill/>
        </p:spPr>
        <p:txBody>
          <a:bodyPr wrap="square" rtlCol="0">
            <a:spAutoFit/>
          </a:bodyPr>
          <a:lstStyle/>
          <a:p>
            <a:r>
              <a:rPr lang="en-US" sz="2000" b="1" i="1" dirty="0">
                <a:solidFill>
                  <a:srgbClr val="0070C0"/>
                </a:solidFill>
              </a:rPr>
              <a:t>Assumptions:</a:t>
            </a:r>
          </a:p>
          <a:p>
            <a:pPr marL="800100" lvl="1" indent="-342900">
              <a:buFont typeface="Arial" panose="020B0604020202020204" pitchFamily="34" charset="0"/>
              <a:buChar char="•"/>
            </a:pPr>
            <a:r>
              <a:rPr lang="en-US" sz="2000" i="1" dirty="0"/>
              <a:t>Data is </a:t>
            </a:r>
            <a:r>
              <a:rPr lang="en-US" sz="2000" b="1" i="1" dirty="0"/>
              <a:t>normally distributed</a:t>
            </a:r>
          </a:p>
          <a:p>
            <a:pPr marL="800100" lvl="1" indent="-342900">
              <a:buFont typeface="Arial" panose="020B0604020202020204" pitchFamily="34" charset="0"/>
              <a:buChar char="•"/>
            </a:pPr>
            <a:r>
              <a:rPr lang="en-US" sz="2000" b="1" i="1" dirty="0"/>
              <a:t>Variance</a:t>
            </a:r>
            <a:r>
              <a:rPr lang="en-US" sz="2000" i="1" dirty="0"/>
              <a:t> in each group is approximately </a:t>
            </a:r>
            <a:r>
              <a:rPr lang="en-US" sz="2000" b="1" i="1" dirty="0"/>
              <a:t>equal</a:t>
            </a:r>
          </a:p>
          <a:p>
            <a:pPr marL="800100" lvl="1" indent="-342900">
              <a:buFont typeface="Arial" panose="020B0604020202020204" pitchFamily="34" charset="0"/>
              <a:buChar char="•"/>
            </a:pPr>
            <a:r>
              <a:rPr lang="en-US" sz="2000" i="1" dirty="0"/>
              <a:t>All observations are </a:t>
            </a:r>
            <a:r>
              <a:rPr lang="en-US" sz="2000" b="1" i="1" dirty="0"/>
              <a:t>independent </a:t>
            </a:r>
          </a:p>
        </p:txBody>
      </p:sp>
      <p:sp>
        <p:nvSpPr>
          <p:cNvPr id="2" name="Title 1">
            <a:extLst>
              <a:ext uri="{FF2B5EF4-FFF2-40B4-BE49-F238E27FC236}">
                <a16:creationId xmlns:a16="http://schemas.microsoft.com/office/drawing/2014/main" id="{29FB78C9-EF35-17D7-CA66-75326B4905AF}"/>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grpSp>
        <p:nvGrpSpPr>
          <p:cNvPr id="6" name="Group 5">
            <a:extLst>
              <a:ext uri="{FF2B5EF4-FFF2-40B4-BE49-F238E27FC236}">
                <a16:creationId xmlns:a16="http://schemas.microsoft.com/office/drawing/2014/main" id="{DD84617B-5840-6EB3-34B7-FDB8CB8C4B90}"/>
              </a:ext>
            </a:extLst>
          </p:cNvPr>
          <p:cNvGrpSpPr/>
          <p:nvPr/>
        </p:nvGrpSpPr>
        <p:grpSpPr>
          <a:xfrm>
            <a:off x="1270201" y="4032680"/>
            <a:ext cx="464161" cy="842846"/>
            <a:chOff x="1997972" y="3903730"/>
            <a:chExt cx="425617" cy="1118288"/>
          </a:xfrm>
        </p:grpSpPr>
        <p:grpSp>
          <p:nvGrpSpPr>
            <p:cNvPr id="25" name="Group 24">
              <a:extLst>
                <a:ext uri="{FF2B5EF4-FFF2-40B4-BE49-F238E27FC236}">
                  <a16:creationId xmlns:a16="http://schemas.microsoft.com/office/drawing/2014/main" id="{F7A26E24-5F35-8250-816C-BFD4C4848499}"/>
                </a:ext>
              </a:extLst>
            </p:cNvPr>
            <p:cNvGrpSpPr/>
            <p:nvPr/>
          </p:nvGrpSpPr>
          <p:grpSpPr>
            <a:xfrm>
              <a:off x="1997972" y="4197773"/>
              <a:ext cx="425617" cy="457200"/>
              <a:chOff x="822018" y="2154681"/>
              <a:chExt cx="425617" cy="457200"/>
            </a:xfrm>
          </p:grpSpPr>
          <p:pic>
            <p:nvPicPr>
              <p:cNvPr id="13" name="Graphic 12" descr="Normal Distribution outline">
                <a:extLst>
                  <a:ext uri="{FF2B5EF4-FFF2-40B4-BE49-F238E27FC236}">
                    <a16:creationId xmlns:a16="http://schemas.microsoft.com/office/drawing/2014/main" id="{923F3DE0-6F5D-8EB7-8C38-42EC833656EC}"/>
                  </a:ext>
                </a:extLst>
              </p:cNvPr>
              <p:cNvPicPr>
                <a:picLocks noChangeAspect="1"/>
              </p:cNvPicPr>
              <p:nvPr/>
            </p:nvPicPr>
            <p:blipFill>
              <a:blip>
                <a:extLst>
                  <a:ext uri="{96DAC541-7B7A-43D3-8B79-37D633B846F1}">
                    <asvg:svgBlip xmlns:asvg="http://schemas.microsoft.com/office/drawing/2016/SVG/main" r:embed="rId3"/>
                  </a:ext>
                </a:extLst>
              </a:blip>
              <a:srcRect l="20748" b="18421"/>
              <a:stretch>
                <a:fillRect/>
              </a:stretch>
            </p:blipFill>
            <p:spPr>
              <a:xfrm>
                <a:off x="967299" y="2154681"/>
                <a:ext cx="280336" cy="372980"/>
              </a:xfrm>
              <a:prstGeom prst="rect">
                <a:avLst/>
              </a:prstGeom>
            </p:spPr>
          </p:pic>
          <p:pic>
            <p:nvPicPr>
              <p:cNvPr id="11" name="Graphic 10" descr="Normal Distribution outline">
                <a:extLst>
                  <a:ext uri="{FF2B5EF4-FFF2-40B4-BE49-F238E27FC236}">
                    <a16:creationId xmlns:a16="http://schemas.microsoft.com/office/drawing/2014/main" id="{6233E344-6E12-CF4D-27B8-4FC2180001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018" y="2154681"/>
                <a:ext cx="353729" cy="457200"/>
              </a:xfrm>
              <a:prstGeom prst="rect">
                <a:avLst/>
              </a:prstGeom>
            </p:spPr>
          </p:pic>
        </p:grpSp>
        <p:pic>
          <p:nvPicPr>
            <p:cNvPr id="29" name="Graphic 28" descr="Dice outline">
              <a:extLst>
                <a:ext uri="{FF2B5EF4-FFF2-40B4-BE49-F238E27FC236}">
                  <a16:creationId xmlns:a16="http://schemas.microsoft.com/office/drawing/2014/main" id="{0685F7B0-E898-BE32-DDDB-2743869E6F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50609" y="4649038"/>
              <a:ext cx="372980" cy="372980"/>
            </a:xfrm>
            <a:prstGeom prst="rect">
              <a:avLst/>
            </a:prstGeom>
          </p:spPr>
        </p:pic>
        <p:pic>
          <p:nvPicPr>
            <p:cNvPr id="8" name="Graphic 7" descr="Normal Distribution outline">
              <a:extLst>
                <a:ext uri="{FF2B5EF4-FFF2-40B4-BE49-F238E27FC236}">
                  <a16:creationId xmlns:a16="http://schemas.microsoft.com/office/drawing/2014/main" id="{D8AD9E8D-6521-8F0F-AFE0-1E0BC39E62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97972" y="3903730"/>
              <a:ext cx="343384" cy="343384"/>
            </a:xfrm>
            <a:prstGeom prst="rect">
              <a:avLst/>
            </a:prstGeom>
          </p:spPr>
        </p:pic>
      </p:grpSp>
      <p:sp>
        <p:nvSpPr>
          <p:cNvPr id="31" name="TextBox 30">
            <a:extLst>
              <a:ext uri="{FF2B5EF4-FFF2-40B4-BE49-F238E27FC236}">
                <a16:creationId xmlns:a16="http://schemas.microsoft.com/office/drawing/2014/main" id="{B3FF72B1-B3DE-0BFD-FEC7-B32F511ED26B}"/>
              </a:ext>
            </a:extLst>
          </p:cNvPr>
          <p:cNvSpPr txBox="1"/>
          <p:nvPr/>
        </p:nvSpPr>
        <p:spPr>
          <a:xfrm>
            <a:off x="728168" y="1222319"/>
            <a:ext cx="7697373" cy="2308324"/>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a:p>
            <a:pPr marL="800100" lvl="1" indent="-342900">
              <a:buFont typeface="Arial" panose="020B0604020202020204" pitchFamily="34" charset="0"/>
              <a:buChar char="•"/>
            </a:pPr>
            <a:r>
              <a:rPr lang="en-US" sz="2400" dirty="0"/>
              <a:t>For each of these </a:t>
            </a:r>
            <a:r>
              <a:rPr lang="en-US" sz="2400" b="1" dirty="0"/>
              <a:t>top loading variables</a:t>
            </a:r>
            <a:r>
              <a:rPr lang="en-US" sz="2400" dirty="0"/>
              <a:t>, perform an ANOVA test to see if taxa are significantly different</a:t>
            </a:r>
          </a:p>
        </p:txBody>
      </p:sp>
    </p:spTree>
    <p:extLst>
      <p:ext uri="{BB962C8B-B14F-4D97-AF65-F5344CB8AC3E}">
        <p14:creationId xmlns:p14="http://schemas.microsoft.com/office/powerpoint/2010/main" val="26538312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3CF142-9845-A4BF-8EA1-32B1BD89FE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531143-6B45-59C7-84E4-ACE4DDBD91BD}"/>
              </a:ext>
            </a:extLst>
          </p:cNvPr>
          <p:cNvSpPr txBox="1"/>
          <p:nvPr/>
        </p:nvSpPr>
        <p:spPr>
          <a:xfrm>
            <a:off x="1883305" y="3434085"/>
            <a:ext cx="7697373" cy="1323439"/>
          </a:xfrm>
          <a:prstGeom prst="rect">
            <a:avLst/>
          </a:prstGeom>
          <a:noFill/>
        </p:spPr>
        <p:txBody>
          <a:bodyPr wrap="square" rtlCol="0">
            <a:spAutoFit/>
          </a:bodyPr>
          <a:lstStyle/>
          <a:p>
            <a:r>
              <a:rPr lang="en-US" sz="2000" b="1" i="1" dirty="0">
                <a:solidFill>
                  <a:srgbClr val="0070C0"/>
                </a:solidFill>
              </a:rPr>
              <a:t>Assumptions:</a:t>
            </a:r>
          </a:p>
          <a:p>
            <a:pPr marL="800100" lvl="1" indent="-342900">
              <a:buFont typeface="Arial" panose="020B0604020202020204" pitchFamily="34" charset="0"/>
              <a:buChar char="•"/>
            </a:pPr>
            <a:r>
              <a:rPr lang="en-US" sz="2000" i="1" dirty="0"/>
              <a:t>Data is </a:t>
            </a:r>
            <a:r>
              <a:rPr lang="en-US" sz="2000" b="1" i="1" dirty="0"/>
              <a:t>normally distributed</a:t>
            </a:r>
          </a:p>
          <a:p>
            <a:pPr marL="800100" lvl="1" indent="-342900">
              <a:buFont typeface="Arial" panose="020B0604020202020204" pitchFamily="34" charset="0"/>
              <a:buChar char="•"/>
            </a:pPr>
            <a:r>
              <a:rPr lang="en-US" sz="2000" b="1" i="1" dirty="0"/>
              <a:t>Variance</a:t>
            </a:r>
            <a:r>
              <a:rPr lang="en-US" sz="2000" i="1" dirty="0"/>
              <a:t> in each group is approximately </a:t>
            </a:r>
            <a:r>
              <a:rPr lang="en-US" sz="2000" b="1" i="1" dirty="0"/>
              <a:t>equal</a:t>
            </a:r>
          </a:p>
          <a:p>
            <a:pPr marL="800100" lvl="1" indent="-342900">
              <a:buFont typeface="Arial" panose="020B0604020202020204" pitchFamily="34" charset="0"/>
              <a:buChar char="•"/>
            </a:pPr>
            <a:r>
              <a:rPr lang="en-US" sz="2000" i="1" dirty="0"/>
              <a:t>All observations are </a:t>
            </a:r>
            <a:r>
              <a:rPr lang="en-US" sz="2000" b="1" i="1" dirty="0"/>
              <a:t>independent </a:t>
            </a:r>
          </a:p>
        </p:txBody>
      </p:sp>
      <p:sp>
        <p:nvSpPr>
          <p:cNvPr id="2" name="Title 1">
            <a:extLst>
              <a:ext uri="{FF2B5EF4-FFF2-40B4-BE49-F238E27FC236}">
                <a16:creationId xmlns:a16="http://schemas.microsoft.com/office/drawing/2014/main" id="{F3CB7D6C-A6FF-BD2C-CF2D-172211F73EA9}"/>
              </a:ext>
            </a:extLst>
          </p:cNvPr>
          <p:cNvSpPr>
            <a:spLocks noGrp="1"/>
          </p:cNvSpPr>
          <p:nvPr>
            <p:ph type="title"/>
          </p:nvPr>
        </p:nvSpPr>
        <p:spPr>
          <a:xfrm>
            <a:off x="813491" y="383788"/>
            <a:ext cx="10515600" cy="1325563"/>
          </a:xfrm>
        </p:spPr>
        <p:txBody>
          <a:bodyPr/>
          <a:lstStyle/>
          <a:p>
            <a:pPr algn="ctr"/>
            <a:r>
              <a:rPr lang="en-US" b="1" dirty="0">
                <a:solidFill>
                  <a:srgbClr val="0070C0"/>
                </a:solidFill>
                <a:latin typeface="Calibri"/>
              </a:rPr>
              <a:t>ANOVA</a:t>
            </a:r>
            <a:endParaRPr lang="en-US" dirty="0"/>
          </a:p>
        </p:txBody>
      </p:sp>
      <p:grpSp>
        <p:nvGrpSpPr>
          <p:cNvPr id="6" name="Group 5">
            <a:extLst>
              <a:ext uri="{FF2B5EF4-FFF2-40B4-BE49-F238E27FC236}">
                <a16:creationId xmlns:a16="http://schemas.microsoft.com/office/drawing/2014/main" id="{17176305-6189-E8E1-9001-D6AA4713F21E}"/>
              </a:ext>
            </a:extLst>
          </p:cNvPr>
          <p:cNvGrpSpPr/>
          <p:nvPr/>
        </p:nvGrpSpPr>
        <p:grpSpPr>
          <a:xfrm>
            <a:off x="1969477" y="3808325"/>
            <a:ext cx="464161" cy="842846"/>
            <a:chOff x="1997972" y="3903730"/>
            <a:chExt cx="425617" cy="1118288"/>
          </a:xfrm>
        </p:grpSpPr>
        <p:grpSp>
          <p:nvGrpSpPr>
            <p:cNvPr id="25" name="Group 24">
              <a:extLst>
                <a:ext uri="{FF2B5EF4-FFF2-40B4-BE49-F238E27FC236}">
                  <a16:creationId xmlns:a16="http://schemas.microsoft.com/office/drawing/2014/main" id="{BCEDE032-6D66-A23C-788E-60187CA6A104}"/>
                </a:ext>
              </a:extLst>
            </p:cNvPr>
            <p:cNvGrpSpPr/>
            <p:nvPr/>
          </p:nvGrpSpPr>
          <p:grpSpPr>
            <a:xfrm>
              <a:off x="1997972" y="4197773"/>
              <a:ext cx="425617" cy="457200"/>
              <a:chOff x="822018" y="2154681"/>
              <a:chExt cx="425617" cy="457200"/>
            </a:xfrm>
          </p:grpSpPr>
          <p:pic>
            <p:nvPicPr>
              <p:cNvPr id="13" name="Graphic 12" descr="Normal Distribution outline">
                <a:extLst>
                  <a:ext uri="{FF2B5EF4-FFF2-40B4-BE49-F238E27FC236}">
                    <a16:creationId xmlns:a16="http://schemas.microsoft.com/office/drawing/2014/main" id="{B4FEA134-747B-D9FC-2119-349DECA0DBE4}"/>
                  </a:ext>
                </a:extLst>
              </p:cNvPr>
              <p:cNvPicPr>
                <a:picLocks noChangeAspect="1"/>
              </p:cNvPicPr>
              <p:nvPr/>
            </p:nvPicPr>
            <p:blipFill>
              <a:blip>
                <a:extLst>
                  <a:ext uri="{96DAC541-7B7A-43D3-8B79-37D633B846F1}">
                    <asvg:svgBlip xmlns:asvg="http://schemas.microsoft.com/office/drawing/2016/SVG/main" r:embed="rId3"/>
                  </a:ext>
                </a:extLst>
              </a:blip>
              <a:srcRect l="20748" b="18421"/>
              <a:stretch>
                <a:fillRect/>
              </a:stretch>
            </p:blipFill>
            <p:spPr>
              <a:xfrm>
                <a:off x="967299" y="2154681"/>
                <a:ext cx="280336" cy="372980"/>
              </a:xfrm>
              <a:prstGeom prst="rect">
                <a:avLst/>
              </a:prstGeom>
            </p:spPr>
          </p:pic>
          <p:pic>
            <p:nvPicPr>
              <p:cNvPr id="11" name="Graphic 10" descr="Normal Distribution outline">
                <a:extLst>
                  <a:ext uri="{FF2B5EF4-FFF2-40B4-BE49-F238E27FC236}">
                    <a16:creationId xmlns:a16="http://schemas.microsoft.com/office/drawing/2014/main" id="{838C1DC6-47CF-1ADD-E11F-8D73E949F0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018" y="2154681"/>
                <a:ext cx="353729" cy="457200"/>
              </a:xfrm>
              <a:prstGeom prst="rect">
                <a:avLst/>
              </a:prstGeom>
            </p:spPr>
          </p:pic>
        </p:grpSp>
        <p:pic>
          <p:nvPicPr>
            <p:cNvPr id="29" name="Graphic 28" descr="Dice outline">
              <a:extLst>
                <a:ext uri="{FF2B5EF4-FFF2-40B4-BE49-F238E27FC236}">
                  <a16:creationId xmlns:a16="http://schemas.microsoft.com/office/drawing/2014/main" id="{606855A5-74D5-A003-E9CC-52B5C36DDB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50609" y="4649038"/>
              <a:ext cx="372980" cy="372980"/>
            </a:xfrm>
            <a:prstGeom prst="rect">
              <a:avLst/>
            </a:prstGeom>
          </p:spPr>
        </p:pic>
        <p:pic>
          <p:nvPicPr>
            <p:cNvPr id="8" name="Graphic 7" descr="Normal Distribution outline">
              <a:extLst>
                <a:ext uri="{FF2B5EF4-FFF2-40B4-BE49-F238E27FC236}">
                  <a16:creationId xmlns:a16="http://schemas.microsoft.com/office/drawing/2014/main" id="{CC1565E2-73C6-B8A2-968A-C0258CAEE1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97972" y="3903730"/>
              <a:ext cx="343384" cy="343384"/>
            </a:xfrm>
            <a:prstGeom prst="rect">
              <a:avLst/>
            </a:prstGeom>
          </p:spPr>
        </p:pic>
      </p:grpSp>
      <p:sp>
        <p:nvSpPr>
          <p:cNvPr id="31" name="TextBox 30">
            <a:extLst>
              <a:ext uri="{FF2B5EF4-FFF2-40B4-BE49-F238E27FC236}">
                <a16:creationId xmlns:a16="http://schemas.microsoft.com/office/drawing/2014/main" id="{3C0ABD28-5FE1-D274-0F44-7A72FAF4F87F}"/>
              </a:ext>
            </a:extLst>
          </p:cNvPr>
          <p:cNvSpPr txBox="1"/>
          <p:nvPr/>
        </p:nvSpPr>
        <p:spPr>
          <a:xfrm>
            <a:off x="728168" y="1222319"/>
            <a:ext cx="7697373" cy="2308324"/>
          </a:xfrm>
          <a:prstGeom prst="rect">
            <a:avLst/>
          </a:prstGeom>
          <a:noFill/>
        </p:spPr>
        <p:txBody>
          <a:bodyPr wrap="square" rtlCol="0">
            <a:spAutoFit/>
          </a:bodyPr>
          <a:lstStyle/>
          <a:p>
            <a:r>
              <a:rPr lang="en-US" sz="2400" b="1" dirty="0">
                <a:solidFill>
                  <a:srgbClr val="0070C0"/>
                </a:solidFill>
              </a:rPr>
              <a:t>ANOVA Test:</a:t>
            </a:r>
          </a:p>
          <a:p>
            <a:pPr marL="800100" lvl="1" indent="-342900">
              <a:buFont typeface="Arial" panose="020B0604020202020204" pitchFamily="34" charset="0"/>
              <a:buChar char="•"/>
            </a:pPr>
            <a:r>
              <a:rPr lang="en-US" sz="2400" dirty="0"/>
              <a:t>Select the </a:t>
            </a:r>
            <a:r>
              <a:rPr lang="en-US" sz="2400" b="1" dirty="0"/>
              <a:t>top two loading variables </a:t>
            </a:r>
            <a:r>
              <a:rPr lang="en-US" sz="2400" dirty="0"/>
              <a:t>for the </a:t>
            </a:r>
            <a:r>
              <a:rPr lang="en-US" sz="2400" b="1" dirty="0"/>
              <a:t>top two principal components</a:t>
            </a:r>
            <a:endParaRPr lang="en-US" sz="2400" dirty="0"/>
          </a:p>
          <a:p>
            <a:pPr marL="800100" lvl="1" indent="-342900">
              <a:buFont typeface="Arial" panose="020B0604020202020204" pitchFamily="34" charset="0"/>
              <a:buChar char="•"/>
            </a:pPr>
            <a:r>
              <a:rPr lang="en-US" sz="2400" dirty="0"/>
              <a:t>For each of these </a:t>
            </a:r>
            <a:r>
              <a:rPr lang="en-US" sz="2400" b="1" dirty="0"/>
              <a:t>top loading variables</a:t>
            </a:r>
            <a:r>
              <a:rPr lang="en-US" sz="2400" dirty="0"/>
              <a:t>, perform an ANOVA test to see if taxa are significantly different</a:t>
            </a:r>
          </a:p>
        </p:txBody>
      </p:sp>
      <p:sp>
        <p:nvSpPr>
          <p:cNvPr id="33" name="TextBox 32">
            <a:extLst>
              <a:ext uri="{FF2B5EF4-FFF2-40B4-BE49-F238E27FC236}">
                <a16:creationId xmlns:a16="http://schemas.microsoft.com/office/drawing/2014/main" id="{3C8E7450-FB03-F25C-AB67-FFD962FDC14E}"/>
              </a:ext>
            </a:extLst>
          </p:cNvPr>
          <p:cNvSpPr txBox="1"/>
          <p:nvPr/>
        </p:nvSpPr>
        <p:spPr>
          <a:xfrm>
            <a:off x="728168" y="5453061"/>
            <a:ext cx="9290040" cy="830997"/>
          </a:xfrm>
          <a:prstGeom prst="rect">
            <a:avLst/>
          </a:prstGeom>
          <a:noFill/>
        </p:spPr>
        <p:txBody>
          <a:bodyPr wrap="square" rtlCol="0">
            <a:spAutoFit/>
          </a:bodyPr>
          <a:lstStyle/>
          <a:p>
            <a:r>
              <a:rPr lang="en-US" sz="2400" b="1" dirty="0">
                <a:solidFill>
                  <a:srgbClr val="0070C0"/>
                </a:solidFill>
              </a:rPr>
              <a:t>Tukey HSD test:</a:t>
            </a:r>
          </a:p>
          <a:p>
            <a:pPr marL="342900" indent="-342900">
              <a:buFont typeface="Arial" panose="020B0604020202020204" pitchFamily="34" charset="0"/>
              <a:buChar char="•"/>
            </a:pPr>
            <a:r>
              <a:rPr lang="en-US" sz="2400" dirty="0"/>
              <a:t>Determines </a:t>
            </a:r>
            <a:r>
              <a:rPr lang="en-US" sz="2400" b="1" dirty="0"/>
              <a:t>which taxa </a:t>
            </a:r>
            <a:r>
              <a:rPr lang="en-US" sz="2400" dirty="0"/>
              <a:t>are significantly similar/different</a:t>
            </a:r>
          </a:p>
        </p:txBody>
      </p:sp>
      <p:pic>
        <p:nvPicPr>
          <p:cNvPr id="35" name="Picture 34" descr="The diagram illustrates a two-dimensional bioclimatic model with principal components explaining 46.5% and 23.4% of variation.&#10;&#10;AI-generated content may be incorrect.">
            <a:extLst>
              <a:ext uri="{FF2B5EF4-FFF2-40B4-BE49-F238E27FC236}">
                <a16:creationId xmlns:a16="http://schemas.microsoft.com/office/drawing/2014/main" id="{D5DACF4D-5B1A-4DB7-8947-9AE60F514EBC}"/>
              </a:ext>
            </a:extLst>
          </p:cNvPr>
          <p:cNvPicPr>
            <a:picLocks noChangeAspect="1"/>
          </p:cNvPicPr>
          <p:nvPr/>
        </p:nvPicPr>
        <p:blipFill>
          <a:blip r:embed="rId6"/>
          <a:stretch>
            <a:fillRect/>
          </a:stretch>
        </p:blipFill>
        <p:spPr>
          <a:xfrm>
            <a:off x="9198088" y="260100"/>
            <a:ext cx="2514039" cy="2345846"/>
          </a:xfrm>
          <a:prstGeom prst="rect">
            <a:avLst/>
          </a:prstGeom>
        </p:spPr>
      </p:pic>
    </p:spTree>
    <p:extLst>
      <p:ext uri="{BB962C8B-B14F-4D97-AF65-F5344CB8AC3E}">
        <p14:creationId xmlns:p14="http://schemas.microsoft.com/office/powerpoint/2010/main" val="1191790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F99BA7A-0341-44AE-934D-A044B33FEBFC}">
  <we:reference id="4b785c87-866c-4bad-85d8-5d1ae467ac9a" version="3.26.0.0" store="EXCatalog" storeType="EXCatalog"/>
  <we:alternateReferences>
    <we:reference id="WA104381909" version="3.26.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fe7f66d-08ed-4abc-8fa8-24f296d59dc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DC763C09BCEF488977042800DF75AC" ma:contentTypeVersion="11" ma:contentTypeDescription="Create a new document." ma:contentTypeScope="" ma:versionID="5e2ed793cbad5cb11486be1f49ff055d">
  <xsd:schema xmlns:xsd="http://www.w3.org/2001/XMLSchema" xmlns:xs="http://www.w3.org/2001/XMLSchema" xmlns:p="http://schemas.microsoft.com/office/2006/metadata/properties" xmlns:ns3="2fe7f66d-08ed-4abc-8fa8-24f296d59dc4" targetNamespace="http://schemas.microsoft.com/office/2006/metadata/properties" ma:root="true" ma:fieldsID="920555b6a08a2ef2102e02c86f5b9b49" ns3:_="">
    <xsd:import namespace="2fe7f66d-08ed-4abc-8fa8-24f296d59dc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BillingMetadata"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e7f66d-08ed-4abc-8fa8-24f296d59dc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323DF5-3C8F-4C10-9B5A-EC2158D11C3D}">
  <ds:schemaRefs>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purl.org/dc/elements/1.1/"/>
    <ds:schemaRef ds:uri="2fe7f66d-08ed-4abc-8fa8-24f296d59dc4"/>
    <ds:schemaRef ds:uri="http://www.w3.org/XML/1998/namespace"/>
    <ds:schemaRef ds:uri="http://purl.org/dc/dcmitype/"/>
  </ds:schemaRefs>
</ds:datastoreItem>
</file>

<file path=customXml/itemProps2.xml><?xml version="1.0" encoding="utf-8"?>
<ds:datastoreItem xmlns:ds="http://schemas.openxmlformats.org/officeDocument/2006/customXml" ds:itemID="{515DE6CE-D4AC-47BD-ABCE-7A09F336BFD4}">
  <ds:schemaRefs>
    <ds:schemaRef ds:uri="http://schemas.microsoft.com/sharepoint/v3/contenttype/forms"/>
  </ds:schemaRefs>
</ds:datastoreItem>
</file>

<file path=customXml/itemProps3.xml><?xml version="1.0" encoding="utf-8"?>
<ds:datastoreItem xmlns:ds="http://schemas.openxmlformats.org/officeDocument/2006/customXml" ds:itemID="{A012672E-9387-460D-8DED-5837E9806C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e7f66d-08ed-4abc-8fa8-24f296d59d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10540</TotalTime>
  <Words>2349</Words>
  <Application>Microsoft Office PowerPoint</Application>
  <PresentationFormat>Widescreen</PresentationFormat>
  <Paragraphs>506</Paragraphs>
  <Slides>48</Slides>
  <Notes>33</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Aptos Display</vt:lpstr>
      <vt:lpstr>Arial</vt:lpstr>
      <vt:lpstr>Calibri</vt:lpstr>
      <vt:lpstr>Calibri Light</vt:lpstr>
      <vt:lpstr>Wingdings</vt:lpstr>
      <vt:lpstr>Office Theme</vt:lpstr>
      <vt:lpstr>PowerPoint Presentation</vt:lpstr>
      <vt:lpstr>Agenda</vt:lpstr>
      <vt:lpstr>PowerPoint Presentation</vt:lpstr>
      <vt:lpstr>PowerPoint Presentation</vt:lpstr>
      <vt:lpstr>PowerPoint Presentation</vt:lpstr>
      <vt:lpstr>Climatic Variables/Abiotic Data Layers</vt:lpstr>
      <vt:lpstr>Climatic/Abiotic Data Layer Sources</vt:lpstr>
      <vt:lpstr>Data Layer Sources: WorldClim(2)</vt:lpstr>
      <vt:lpstr>Data Layer Sources: WorldClim(2)</vt:lpstr>
      <vt:lpstr>Data Layer Sources: PRISM</vt:lpstr>
      <vt:lpstr>Data Layer Sources</vt:lpstr>
      <vt:lpstr>Data Layer Sources: SoilGrids</vt:lpstr>
      <vt:lpstr>Data Layer Sources: SoilGrids</vt:lpstr>
      <vt:lpstr>Data Layer Sources: Web Soil Survey</vt:lpstr>
      <vt:lpstr>Data Layer Sources: Web Soil Survey</vt:lpstr>
      <vt:lpstr>Data Layer Sources: EPA</vt:lpstr>
      <vt:lpstr>Data Layer Sources: EPA</vt:lpstr>
      <vt:lpstr>PowerPoint Presentation</vt:lpstr>
      <vt:lpstr>PowerPoint Presentation</vt:lpstr>
      <vt:lpstr>Extracting Climatic Variables at Occurrences</vt:lpstr>
      <vt:lpstr>Extracting Climatic Variables at Occurrences</vt:lpstr>
      <vt:lpstr>Extracting Climatic Variables at Occurrences</vt:lpstr>
      <vt:lpstr>Extracting Climatic Variables at Occurrences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vt:lpstr>
      <vt:lpstr>Principal Component Analysis (PCA)</vt:lpstr>
      <vt:lpstr>Principal Component Analysis (PCA)</vt:lpstr>
      <vt:lpstr>ANOVA</vt:lpstr>
      <vt:lpstr>ANOVA</vt:lpstr>
      <vt:lpstr>ANOVA</vt:lpstr>
      <vt:lpstr>ANOVA</vt:lpstr>
      <vt:lpstr>ANOVA</vt:lpstr>
      <vt:lpstr>Caution!</vt:lpstr>
      <vt:lpstr>Importance</vt:lpstr>
      <vt:lpstr>Coding Practical</vt:lpstr>
      <vt:lpstr>ANOVA</vt:lpstr>
      <vt:lpstr>ANOVA</vt:lpstr>
      <vt:lpstr>ANOVA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Strickland, Sarah E.</dc:creator>
  <cp:lastModifiedBy>Strickland, Sarah E.</cp:lastModifiedBy>
  <cp:revision>2</cp:revision>
  <dcterms:created xsi:type="dcterms:W3CDTF">2026-07-20T18:51:36Z</dcterms:created>
  <dcterms:modified xsi:type="dcterms:W3CDTF">2026-08-02T19:47:17Z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0x010100D1DC763C09BCEF488977042800DF75AC</vt:lpwstr>
  </property>
</Properties>
</file>
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1349" r:id="rId3"/>
    <p:sldId id="263" r:id="rId4"/>
    <p:sldId id="267" r:id="rId5"/>
    <p:sldId id="268" r:id="rId6"/>
    <p:sldId id="289" r:id="rId7"/>
    <p:sldId id="290" r:id="rId8"/>
    <p:sldId id="293" r:id="rId9"/>
    <p:sldId id="310" r:id="rId10"/>
    <p:sldId id="316" r:id="rId11"/>
    <p:sldId id="317" r:id="rId12"/>
    <p:sldId id="295" r:id="rId13"/>
    <p:sldId id="296" r:id="rId14"/>
    <p:sldId id="1346" r:id="rId15"/>
    <p:sldId id="298" r:id="rId16"/>
    <p:sldId id="311" r:id="rId17"/>
    <p:sldId id="300" r:id="rId18"/>
    <p:sldId id="312" r:id="rId19"/>
    <p:sldId id="309" r:id="rId20"/>
    <p:sldId id="302" r:id="rId21"/>
    <p:sldId id="303" r:id="rId22"/>
    <p:sldId id="304" r:id="rId23"/>
    <p:sldId id="315" r:id="rId24"/>
    <p:sldId id="305" r:id="rId25"/>
    <p:sldId id="306" r:id="rId26"/>
    <p:sldId id="318" r:id="rId27"/>
    <p:sldId id="319" r:id="rId28"/>
    <p:sldId id="320" r:id="rId29"/>
    <p:sldId id="321" r:id="rId30"/>
    <p:sldId id="1347" r:id="rId31"/>
    <p:sldId id="134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8BBBE-997A-41EE-BDF2-4A98754C589A}" v="10" dt="2023-07-13T17:16:23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8" autoAdjust="0"/>
    <p:restoredTop sz="96053"/>
  </p:normalViewPr>
  <p:slideViewPr>
    <p:cSldViewPr snapToGrid="0" snapToObjects="1">
      <p:cViewPr>
        <p:scale>
          <a:sx n="75" d="100"/>
          <a:sy n="75" d="100"/>
        </p:scale>
        <p:origin x="49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enzie Mabry" userId="wC5zpGcBeF/dXo9LvTWr0ugVTIDpBrI511JU3C9s4SI=" providerId="None" clId="Web-{94B8BBBE-997A-41EE-BDF2-4A98754C589A}"/>
    <pc:docChg chg="modSld">
      <pc:chgData name="Makenzie Mabry" userId="wC5zpGcBeF/dXo9LvTWr0ugVTIDpBrI511JU3C9s4SI=" providerId="None" clId="Web-{94B8BBBE-997A-41EE-BDF2-4A98754C589A}" dt="2023-07-13T17:16:23.165" v="3" actId="1076"/>
      <pc:docMkLst>
        <pc:docMk/>
      </pc:docMkLst>
      <pc:sldChg chg="modSp">
        <pc:chgData name="Makenzie Mabry" userId="wC5zpGcBeF/dXo9LvTWr0ugVTIDpBrI511JU3C9s4SI=" providerId="None" clId="Web-{94B8BBBE-997A-41EE-BDF2-4A98754C589A}" dt="2023-07-13T17:16:23.165" v="3" actId="1076"/>
        <pc:sldMkLst>
          <pc:docMk/>
          <pc:sldMk cId="3459584486" sldId="1341"/>
        </pc:sldMkLst>
        <pc:spChg chg="mod">
          <ac:chgData name="Makenzie Mabry" userId="wC5zpGcBeF/dXo9LvTWr0ugVTIDpBrI511JU3C9s4SI=" providerId="None" clId="Web-{94B8BBBE-997A-41EE-BDF2-4A98754C589A}" dt="2023-07-13T17:16:23.165" v="3" actId="1076"/>
          <ac:spMkLst>
            <pc:docMk/>
            <pc:sldMk cId="3459584486" sldId="134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A0780-5A59-C944-AAF4-A8FA3778D75F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C8A3C-2D48-684E-AB48-8DC239CA6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25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Filtering is a procedure to reduce the clustering of species records 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shows  hotspots related to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7D9C-9475-9040-80BE-90BCBEF5A5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23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Filtering is a procedure to reduce the clustering of species records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7D9C-9475-9040-80BE-90BCBEF5A5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96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Filtering is a procedure to reduce the clustering of species records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7D9C-9475-9040-80BE-90BCBEF5A5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86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7D9C-9475-9040-80BE-90BCBEF5A5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7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7D9C-9475-9040-80BE-90BCBEF5A5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43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7D9C-9475-9040-80BE-90BCBEF5A52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1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C25B-866B-5FB3-0607-BF24F8E14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9CDFF-0777-7305-8B50-91E2D84B4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D8293-0F40-05BC-8F23-15B5D5CB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BCC7-BEA5-8532-73E9-DAE04247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55B75-E49C-D659-5B36-C2E65CCA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8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B5A5-D0B1-5558-1591-F6D33298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6F43F-DE9B-386A-255F-74E107FEB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152FF-D0C7-ADBE-970F-5DD8389D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43371-05EA-B00A-9BFB-6C101F2F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715C6-CD4C-4A70-64B5-38BF408C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4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A5634-814A-A986-CD50-2A5893CB0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25DE1-B287-1CA5-63CD-3DF5D5C9C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A9A1F-A584-7636-F5EC-40163C89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BD575-8131-766C-6998-E8FD7C15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09EDD-F155-999E-7729-FA3BAF499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76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CF8E-999E-1543-4F06-042884AC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35737-7373-DBBF-D47D-4740BFF5A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339C9-2545-5BB9-64C0-1A5DB0A7A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4098D-9110-8A41-8EBF-374CC023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99068-DF57-178D-F298-C6AF7D66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375D7-76EC-B577-9027-60E40C0F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3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D9C2-43C2-E653-1A7D-8B666CE89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5BD30-1BA2-BC01-A63B-2A3109E03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8E1FB-2F9E-C13E-6C54-2DBB83EAE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8051B8-2D81-A753-8A2A-7F7A72F23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A56F9-6FB1-BB3A-14C8-BB1208BB8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C43C2-20E0-2E66-21C6-F337F8B9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D1366-4E5E-C5C3-08FE-3621E60E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78D13-97A4-9A26-721E-D966C743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4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3510-B2F1-3C60-9C5B-301D72F3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19E45-9CC7-311B-9EFE-F1A68F66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ADF2F-212D-3A8D-39A3-66924DED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B453-B4AC-961E-32F7-E4F97A97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1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5B59B-C703-BC60-7042-9E3FCB8E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570C4-01AC-ED42-20F4-264AD68D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AADFE-F8C3-A525-5C2A-849DA7AD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4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D369-9C11-2128-269C-1A659F9E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05E8-F256-B450-629B-F3D10CAB9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C66BF-C351-460A-30E5-6F622FDE0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11FCA-A7A8-C60F-317A-7D14466A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A5A50-E645-D5E0-98ED-5C81A7CA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DEBB5-C6E0-3E1A-85D7-63543FCC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85A5-E6B4-4893-C534-76C429C8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A1C51-0D81-00E2-D6B0-91808FA13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B6576-87FC-30B0-513A-2F612956B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9E09A-7676-0A96-A871-0F96E6D4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AC04A-1448-C124-6896-0CF89878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8DAD9-31C4-2390-2B3D-701F63F7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FAED-825B-406B-DDD0-E1D537B6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FD633-E25D-868E-8E55-2912B3054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833B0-51B3-E243-005B-96F259A1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D8BE3-96A0-3C18-F1AE-7BCBCE19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A0582-DB47-5170-AC38-72FDAC40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4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3A3EF8-4E05-2D53-ECF6-E0F7CF898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2D236-47C0-31D3-8916-F50949B34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CCA0C-46FB-2300-BFBB-F756064B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70DC8-5780-E81E-AE45-D33678E3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1BE21-83C8-98C4-B9E6-DA03DA79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79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250497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3B2BE-3090-9F15-415B-5437C845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E4AD7-1CDB-8EBF-19EE-13E1CAB50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7A89D-3EF2-F9AA-0DFC-BDB1F74CA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8CC72-739A-8443-9D6D-BEFD5A2F16E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13F7-77F8-AEFD-1DED-AEBE1DEB0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362E6-46A2-A987-EEA7-DD3BE784D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BA0A5-3EEC-3B42-9E32-94F7AA7D3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7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98E0-F873-8D40-9DA4-2754F739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4154"/>
            <a:ext cx="9144000" cy="2387600"/>
          </a:xfrm>
        </p:spPr>
        <p:txBody>
          <a:bodyPr anchor="ctr"/>
          <a:lstStyle/>
          <a:p>
            <a:r>
              <a:rPr lang="en-US" dirty="0">
                <a:solidFill>
                  <a:schemeClr val="accent1"/>
                </a:solidFill>
              </a:rPr>
              <a:t>02- Data Cleaning</a:t>
            </a:r>
          </a:p>
        </p:txBody>
      </p:sp>
      <p:pic>
        <p:nvPicPr>
          <p:cNvPr id="4" name="Picture 3" descr="band.jpg">
            <a:extLst>
              <a:ext uri="{FF2B5EF4-FFF2-40B4-BE49-F238E27FC236}">
                <a16:creationId xmlns:a16="http://schemas.microsoft.com/office/drawing/2014/main" id="{3EA100DD-379A-B64E-9971-E2146A3A47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9" b="18633"/>
          <a:stretch/>
        </p:blipFill>
        <p:spPr>
          <a:xfrm>
            <a:off x="-108230" y="-378237"/>
            <a:ext cx="12367364" cy="2335735"/>
          </a:xfrm>
          <a:prstGeom prst="rect">
            <a:avLst/>
          </a:prstGeom>
        </p:spPr>
      </p:pic>
      <p:pic>
        <p:nvPicPr>
          <p:cNvPr id="5" name="Picture 6" descr="https://www.idigbio.org/wiki/_media/idigbio_logo_rgb.png">
            <a:extLst>
              <a:ext uri="{FF2B5EF4-FFF2-40B4-BE49-F238E27FC236}">
                <a16:creationId xmlns:a16="http://schemas.microsoft.com/office/drawing/2014/main" id="{20E4888B-F44F-424A-A5C9-B8766FCD7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986" y="5687065"/>
            <a:ext cx="3299215" cy="10194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5FCA91-03DC-2741-849D-68E2121BC3B0}"/>
              </a:ext>
            </a:extLst>
          </p:cNvPr>
          <p:cNvSpPr txBox="1"/>
          <p:nvPr/>
        </p:nvSpPr>
        <p:spPr>
          <a:xfrm>
            <a:off x="4434712" y="3884840"/>
            <a:ext cx="33225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3000" dirty="0">
              <a:solidFill>
                <a:srgbClr val="0070C0"/>
              </a:solidFill>
            </a:endParaRPr>
          </a:p>
          <a:p>
            <a:pPr algn="ctr"/>
            <a:r>
              <a:rPr lang="en-US" sz="3000" dirty="0">
                <a:solidFill>
                  <a:srgbClr val="0070C0"/>
                </a:solidFill>
              </a:rPr>
              <a:t>Cameron McMullen</a:t>
            </a:r>
          </a:p>
          <a:p>
            <a:pPr algn="ctr"/>
            <a:r>
              <a:rPr lang="en-US" sz="3000" dirty="0">
                <a:solidFill>
                  <a:srgbClr val="0070C0"/>
                </a:solidFill>
              </a:rPr>
              <a:t>University of Florida</a:t>
            </a:r>
          </a:p>
        </p:txBody>
      </p:sp>
    </p:spTree>
    <p:extLst>
      <p:ext uri="{BB962C8B-B14F-4D97-AF65-F5344CB8AC3E}">
        <p14:creationId xmlns:p14="http://schemas.microsoft.com/office/powerpoint/2010/main" val="105020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E78D-EFEF-1DCB-2D41-C1C1D1A6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Hi everyone - Cameron McMullen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4EB78-D4A8-A485-DE65-B0C999A84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dirty="0"/>
              <a:t>Graduated from the University of Florida in April 2026</a:t>
            </a:r>
          </a:p>
          <a:p>
            <a:pPr marL="285750" indent="-285750"/>
            <a:r>
              <a:rPr lang="en-US" dirty="0"/>
              <a:t>Majored in Botany</a:t>
            </a:r>
          </a:p>
          <a:p>
            <a:pPr marL="742950" lvl="1" indent="-285750"/>
            <a:r>
              <a:rPr lang="en-US" sz="2800" dirty="0"/>
              <a:t>Specialization in Botanical Research</a:t>
            </a:r>
          </a:p>
          <a:p>
            <a:pPr marL="742950" lvl="1" indent="-285750"/>
            <a:r>
              <a:rPr lang="en-US" sz="2800" dirty="0"/>
              <a:t>Minor in Environmental Science</a:t>
            </a:r>
          </a:p>
          <a:p>
            <a:pPr marL="285750" indent="-285750"/>
            <a:r>
              <a:rPr lang="en-US" dirty="0"/>
              <a:t>Worked on ecological niche models (ENMs) of FL Hardwood Forests</a:t>
            </a:r>
          </a:p>
          <a:p>
            <a:pPr marL="285750" indent="-285750"/>
            <a:r>
              <a:rPr lang="en-US" dirty="0"/>
              <a:t>Thesis on changes in plant composition of campus natural area undergoing restoration efforts over time across floristic surveys</a:t>
            </a:r>
          </a:p>
          <a:p>
            <a:pPr marL="285750" indent="-28575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6882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Occurrence data cleaning"/>
          <p:cNvSpPr txBox="1">
            <a:spLocks noGrp="1"/>
          </p:cNvSpPr>
          <p:nvPr>
            <p:ph type="title"/>
          </p:nvPr>
        </p:nvSpPr>
        <p:spPr>
          <a:xfrm>
            <a:off x="838200" y="190557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537463">
              <a:defRPr sz="7360"/>
            </a:lvl1pPr>
          </a:lstStyle>
          <a:p>
            <a:r>
              <a:rPr lang="en-US" sz="6000" dirty="0">
                <a:solidFill>
                  <a:schemeClr val="accent1"/>
                </a:solidFill>
              </a:rPr>
              <a:t>Data C</a:t>
            </a:r>
            <a:r>
              <a:rPr sz="6000" dirty="0">
                <a:solidFill>
                  <a:schemeClr val="accent1"/>
                </a:solidFill>
              </a:rPr>
              <a:t>leaning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32169F-2560-2EE5-237A-4C616E9E3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40971"/>
            <a:ext cx="10515600" cy="4935992"/>
          </a:xfrm>
        </p:spPr>
        <p:txBody>
          <a:bodyPr>
            <a:noAutofit/>
          </a:bodyPr>
          <a:lstStyle/>
          <a:p>
            <a:pPr marL="9525" indent="0">
              <a:buSzPct val="100000"/>
              <a:buNone/>
              <a:defRPr sz="3200"/>
            </a:pPr>
            <a:r>
              <a:rPr lang="en-US" sz="2200" dirty="0"/>
              <a:t>0.   Exploring the Dataset</a:t>
            </a:r>
          </a:p>
          <a:p>
            <a:pPr marL="446469" indent="-446469">
              <a:buSzPct val="100000"/>
              <a:buAutoNum type="arabicPeriod"/>
              <a:defRPr sz="3200"/>
            </a:pPr>
            <a:r>
              <a:rPr lang="en-US" sz="2200" dirty="0"/>
              <a:t>Taxonomic Harmonization</a:t>
            </a:r>
          </a:p>
          <a:p>
            <a:pPr marL="446469" indent="-446469">
              <a:buSzPct val="100000"/>
              <a:buFontTx/>
              <a:buAutoNum type="arabicPeriod"/>
              <a:defRPr sz="3200"/>
            </a:pPr>
            <a:r>
              <a:rPr lang="en-US" sz="2200" dirty="0"/>
              <a:t>Clean Localities</a:t>
            </a:r>
          </a:p>
          <a:p>
            <a:pPr marL="719310" lvl="1" indent="-272841">
              <a:buSzPct val="100000"/>
              <a:buAutoNum type="arabicPeriod"/>
              <a:defRPr sz="3200"/>
            </a:pPr>
            <a:r>
              <a:rPr lang="en-US" sz="2200" dirty="0"/>
              <a:t>Precision</a:t>
            </a:r>
          </a:p>
          <a:p>
            <a:pPr marL="719310" lvl="1" indent="-272841">
              <a:buSzPct val="100000"/>
              <a:buAutoNum type="arabicPeriod"/>
              <a:defRPr sz="3200"/>
            </a:pPr>
            <a:r>
              <a:rPr lang="en-US" sz="2200" dirty="0"/>
              <a:t>Remove Impossible Points</a:t>
            </a:r>
          </a:p>
          <a:p>
            <a:pPr marL="816045" lvl="2" indent="-190989">
              <a:buSzPct val="75000"/>
              <a:defRPr sz="3200"/>
            </a:pPr>
            <a:r>
              <a:rPr lang="en-US" sz="2200" dirty="0"/>
              <a:t>Most common coordinate: (0.00, 0.00)</a:t>
            </a:r>
          </a:p>
          <a:p>
            <a:pPr marL="816045" lvl="2" indent="-190989">
              <a:buSzPct val="75000"/>
              <a:defRPr sz="3200"/>
            </a:pPr>
            <a:r>
              <a:rPr lang="en-US" sz="2200" dirty="0"/>
              <a:t>Cultivated zones, botanical gardens, museums, etc.</a:t>
            </a:r>
          </a:p>
          <a:p>
            <a:pPr marL="262110" indent="-272841">
              <a:buSzPct val="100000"/>
              <a:buAutoNum type="arabicPeriod"/>
              <a:defRPr sz="3200"/>
            </a:pPr>
            <a:r>
              <a:rPr lang="en-US" sz="2200" dirty="0"/>
              <a:t>Flag and Filter Cultivated Records</a:t>
            </a:r>
          </a:p>
          <a:p>
            <a:pPr marL="262110" indent="-272841">
              <a:buSzPct val="100000"/>
              <a:buAutoNum type="arabicPeriod"/>
              <a:defRPr sz="3200"/>
            </a:pPr>
            <a:r>
              <a:rPr lang="en-US" sz="2200" dirty="0"/>
              <a:t>Duplicate Removal</a:t>
            </a:r>
          </a:p>
          <a:p>
            <a:pPr marL="262110" indent="-272841">
              <a:buSzPct val="100000"/>
              <a:buAutoNum type="arabicPeriod"/>
              <a:defRPr sz="3200"/>
            </a:pPr>
            <a:r>
              <a:rPr lang="en-US" sz="2200" dirty="0"/>
              <a:t>Spatial Deduplication </a:t>
            </a:r>
          </a:p>
          <a:p>
            <a:pPr marL="262110" indent="-272841">
              <a:buSzPct val="100000"/>
              <a:buAutoNum type="arabicPeriod"/>
              <a:defRPr sz="3200"/>
            </a:pPr>
            <a:r>
              <a:rPr lang="en-US" sz="2200" dirty="0"/>
              <a:t>Spatial Thinning</a:t>
            </a:r>
          </a:p>
          <a:p>
            <a:pPr marL="262110" indent="-272841">
              <a:buSzPct val="100000"/>
              <a:buAutoNum type="arabicPeriod"/>
              <a:defRPr sz="3200"/>
            </a:pPr>
            <a:r>
              <a:rPr lang="en-US" sz="2200" dirty="0"/>
              <a:t>Visualize</a:t>
            </a:r>
          </a:p>
          <a:p>
            <a:pPr marL="262110" indent="-272841">
              <a:buSzPct val="100000"/>
              <a:buAutoNum type="arabicPeriod"/>
              <a:defRPr sz="3200"/>
            </a:pPr>
            <a:r>
              <a:rPr lang="en-US" sz="2200" dirty="0"/>
              <a:t>Save Cleaned.csv</a:t>
            </a:r>
          </a:p>
          <a:p>
            <a:pPr>
              <a:buSzPct val="100000"/>
              <a:defRPr sz="3200"/>
            </a:pPr>
            <a:r>
              <a:rPr lang="en-US" sz="2200" dirty="0"/>
              <a:t>- REPEAT -</a:t>
            </a:r>
          </a:p>
        </p:txBody>
      </p:sp>
      <p:sp>
        <p:nvSpPr>
          <p:cNvPr id="173" name="Occurence_Data_Cleaning.R"/>
          <p:cNvSpPr txBox="1"/>
          <p:nvPr/>
        </p:nvSpPr>
        <p:spPr>
          <a:xfrm>
            <a:off x="5114225" y="192062"/>
            <a:ext cx="1963551" cy="349135"/>
          </a:xfrm>
          <a:prstGeom prst="rect">
            <a:avLst/>
          </a:prstGeom>
          <a:solidFill>
            <a:srgbClr val="DCDEE0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lang="en-US" dirty="0"/>
              <a:t>02_Data_Cleaning.R</a:t>
            </a:r>
            <a:endParaRPr sz="1266" dirty="0"/>
          </a:p>
        </p:txBody>
      </p:sp>
      <p:sp>
        <p:nvSpPr>
          <p:cNvPr id="174" name="Exploring the dataset in R - dplyr…"/>
          <p:cNvSpPr txBox="1"/>
          <p:nvPr/>
        </p:nvSpPr>
        <p:spPr>
          <a:xfrm>
            <a:off x="980326" y="5715838"/>
            <a:ext cx="8099459" cy="564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spAutoFit/>
          </a:bodyPr>
          <a:lstStyle/>
          <a:p>
            <a:pPr marL="460375" indent="-450850">
              <a:buSzPct val="100000"/>
              <a:defRPr sz="32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27974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ccurrence data cleaning">
            <a:extLst>
              <a:ext uri="{FF2B5EF4-FFF2-40B4-BE49-F238E27FC236}">
                <a16:creationId xmlns:a16="http://schemas.microsoft.com/office/drawing/2014/main" id="{7FC6F0ED-DC14-AA48-9E8C-3F0DAEC1B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537463">
              <a:defRPr sz="7360"/>
            </a:lvl1pPr>
          </a:lstStyle>
          <a:p>
            <a:r>
              <a:rPr lang="en-US" sz="6000" dirty="0">
                <a:solidFill>
                  <a:schemeClr val="accent1"/>
                </a:solidFill>
              </a:rPr>
              <a:t>Load Packages</a:t>
            </a:r>
            <a:endParaRPr sz="60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D6372-DE97-AA44-B1D7-E86269BFEE2A}"/>
              </a:ext>
            </a:extLst>
          </p:cNvPr>
          <p:cNvSpPr txBox="1"/>
          <p:nvPr/>
        </p:nvSpPr>
        <p:spPr>
          <a:xfrm>
            <a:off x="838200" y="4495858"/>
            <a:ext cx="105236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 err="1"/>
              <a:t>gatoRs</a:t>
            </a:r>
            <a:r>
              <a:rPr lang="en-US" sz="2800" dirty="0"/>
              <a:t> is a custom package for processing biodiversity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Geospatial packages include </a:t>
            </a:r>
            <a:r>
              <a:rPr lang="en-US" sz="2800" b="1" dirty="0"/>
              <a:t>fields </a:t>
            </a:r>
            <a:r>
              <a:rPr lang="en-US" sz="2800" dirty="0"/>
              <a:t>and </a:t>
            </a:r>
            <a:r>
              <a:rPr lang="en-US" sz="2800" b="1" dirty="0"/>
              <a:t>sf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ggplot2, </a:t>
            </a:r>
            <a:r>
              <a:rPr lang="en-US" sz="2800" b="1" dirty="0" err="1"/>
              <a:t>ggspatial</a:t>
            </a:r>
            <a:r>
              <a:rPr lang="en-US" sz="2800" b="1" dirty="0"/>
              <a:t>, </a:t>
            </a:r>
            <a:r>
              <a:rPr lang="en-US" sz="2800" dirty="0"/>
              <a:t>and </a:t>
            </a:r>
            <a:r>
              <a:rPr lang="en-US" sz="2800" b="1" dirty="0"/>
              <a:t>leaflet</a:t>
            </a:r>
            <a:r>
              <a:rPr lang="en-US" sz="2800" dirty="0"/>
              <a:t> are for visualization (maps)</a:t>
            </a:r>
            <a:endParaRPr lang="en-US" sz="2800" b="1" dirty="0"/>
          </a:p>
        </p:txBody>
      </p:sp>
      <p:pic>
        <p:nvPicPr>
          <p:cNvPr id="5" name="Picture 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500C03C-76E8-7BDE-FAC1-10B20EC6C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92" y="1524271"/>
            <a:ext cx="9672616" cy="297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6296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9B74EF-5AA3-224B-A6A9-5386AF95F256}"/>
              </a:ext>
            </a:extLst>
          </p:cNvPr>
          <p:cNvSpPr txBox="1"/>
          <p:nvPr/>
        </p:nvSpPr>
        <p:spPr>
          <a:xfrm>
            <a:off x="838200" y="3852719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read.csv </a:t>
            </a:r>
            <a:r>
              <a:rPr lang="en-US" sz="2800" dirty="0"/>
              <a:t>is a base function of R, it reads csv files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nrow</a:t>
            </a:r>
            <a:r>
              <a:rPr lang="en-US" sz="2800" dirty="0"/>
              <a:t> prints the </a:t>
            </a:r>
            <a:r>
              <a:rPr lang="en-US" sz="2800" b="1" u="sng" dirty="0"/>
              <a:t>n</a:t>
            </a:r>
            <a:r>
              <a:rPr lang="en-US" sz="2800" dirty="0"/>
              <a:t>umber of </a:t>
            </a:r>
            <a:r>
              <a:rPr lang="en-US" sz="2800" b="1" u="sng" dirty="0"/>
              <a:t>row</a:t>
            </a:r>
            <a:r>
              <a:rPr lang="en-US" sz="2800" dirty="0"/>
              <a:t>s in the raw data</a:t>
            </a:r>
          </a:p>
          <a:p>
            <a:endParaRPr lang="en-US" sz="28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C44F11-E055-2208-80FB-61EB7B72CF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91"/>
          <a:stretch>
            <a:fillRect/>
          </a:stretch>
        </p:blipFill>
        <p:spPr>
          <a:xfrm>
            <a:off x="917575" y="2079206"/>
            <a:ext cx="10356850" cy="138499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235AE9-ADAB-60E6-1FF7-EFDAF4B8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A. Load Data File</a:t>
            </a:r>
          </a:p>
        </p:txBody>
      </p:sp>
    </p:spTree>
    <p:extLst>
      <p:ext uri="{BB962C8B-B14F-4D97-AF65-F5344CB8AC3E}">
        <p14:creationId xmlns:p14="http://schemas.microsoft.com/office/powerpoint/2010/main" val="138839657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1C9510-0876-BA48-A6AC-E012A6FB92DF}"/>
              </a:ext>
            </a:extLst>
          </p:cNvPr>
          <p:cNvSpPr txBox="1">
            <a:spLocks/>
          </p:cNvSpPr>
          <p:nvPr/>
        </p:nvSpPr>
        <p:spPr>
          <a:xfrm>
            <a:off x="838200" y="4979778"/>
            <a:ext cx="10515600" cy="2669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unique</a:t>
            </a:r>
            <a:r>
              <a:rPr lang="en-US" dirty="0"/>
              <a:t> prints unique values in the column </a:t>
            </a:r>
            <a:r>
              <a:rPr lang="en-US" b="1" i="1" dirty="0"/>
              <a:t>scientific</a:t>
            </a:r>
            <a:r>
              <a:rPr lang="en-US" dirty="0"/>
              <a:t> </a:t>
            </a:r>
            <a:r>
              <a:rPr lang="en-US" b="1" i="1" dirty="0"/>
              <a:t>name</a:t>
            </a:r>
            <a:r>
              <a:rPr lang="en-US" dirty="0"/>
              <a:t> from the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b="1" i="1" dirty="0" err="1"/>
              <a:t>rawdf</a:t>
            </a:r>
            <a:endParaRPr lang="en-US" dirty="0"/>
          </a:p>
          <a:p>
            <a:r>
              <a:rPr lang="en-US" b="1" dirty="0"/>
              <a:t>c</a:t>
            </a:r>
            <a:r>
              <a:rPr lang="en-US" dirty="0"/>
              <a:t> creates a list stored in the object</a:t>
            </a:r>
            <a:r>
              <a:rPr lang="en-US" b="1" i="1" dirty="0"/>
              <a:t> search </a:t>
            </a:r>
            <a:r>
              <a:rPr lang="en-US" dirty="0"/>
              <a:t>that contains </a:t>
            </a:r>
            <a:r>
              <a:rPr lang="en-US" b="1" i="1" dirty="0"/>
              <a:t>“Shortia galacifolia”</a:t>
            </a:r>
            <a:r>
              <a:rPr lang="en-US" dirty="0"/>
              <a:t> and </a:t>
            </a:r>
            <a:r>
              <a:rPr lang="en-US" b="1" i="1" dirty="0"/>
              <a:t>“</a:t>
            </a:r>
            <a:r>
              <a:rPr lang="en-US" b="1" i="1" dirty="0" err="1"/>
              <a:t>Sherwoodia</a:t>
            </a:r>
            <a:r>
              <a:rPr lang="en-US" b="1" i="1" dirty="0"/>
              <a:t> galacifolia”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402BDD5-9F78-76C3-44ED-4F386E3EFB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014"/>
          <a:stretch/>
        </p:blipFill>
        <p:spPr>
          <a:xfrm>
            <a:off x="2849807" y="1388643"/>
            <a:ext cx="6492386" cy="3591135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E2E7F1AC-0C6D-1137-715C-F8B157C7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B. Taxonomic Harmonization</a:t>
            </a:r>
          </a:p>
        </p:txBody>
      </p:sp>
    </p:spTree>
    <p:extLst>
      <p:ext uri="{BB962C8B-B14F-4D97-AF65-F5344CB8AC3E}">
        <p14:creationId xmlns:p14="http://schemas.microsoft.com/office/powerpoint/2010/main" val="19035196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416E6F8-2A25-9846-84C1-E1944F328AC0}"/>
              </a:ext>
            </a:extLst>
          </p:cNvPr>
          <p:cNvSpPr txBox="1">
            <a:spLocks/>
          </p:cNvSpPr>
          <p:nvPr/>
        </p:nvSpPr>
        <p:spPr>
          <a:xfrm>
            <a:off x="838200" y="3801939"/>
            <a:ext cx="10515600" cy="2669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Harmonize taxonomy to have only accepted name using </a:t>
            </a:r>
            <a:r>
              <a:rPr lang="en-US" b="1" dirty="0" err="1"/>
              <a:t>taxa_clean</a:t>
            </a:r>
            <a:endParaRPr lang="en-US" b="1" dirty="0"/>
          </a:p>
          <a:p>
            <a:r>
              <a:rPr lang="en-US" dirty="0"/>
              <a:t>This function has three filter options: exact, fuzzy, or interactive</a:t>
            </a:r>
          </a:p>
          <a:p>
            <a:endParaRPr lang="en-US" b="1" i="1" dirty="0"/>
          </a:p>
          <a:p>
            <a:r>
              <a:rPr lang="en-US" b="1" i="1" dirty="0"/>
              <a:t>Some synonyms, varieties, and authorships may be different species</a:t>
            </a:r>
          </a:p>
          <a:p>
            <a:r>
              <a:rPr lang="en-US" b="1" i="1" dirty="0"/>
              <a:t>Sorting through the taxonomy can take a long time!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7FA1455-81CF-512E-5D7B-F6B2AACB6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087"/>
          <a:stretch/>
        </p:blipFill>
        <p:spPr>
          <a:xfrm>
            <a:off x="2279650" y="1843088"/>
            <a:ext cx="7632700" cy="1744158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CB5F8A00-2439-9238-A741-C2B2842C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B. Taxonomic Harmonization</a:t>
            </a:r>
          </a:p>
        </p:txBody>
      </p:sp>
    </p:spTree>
    <p:extLst>
      <p:ext uri="{BB962C8B-B14F-4D97-AF65-F5344CB8AC3E}">
        <p14:creationId xmlns:p14="http://schemas.microsoft.com/office/powerpoint/2010/main" val="81367609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483B73-D625-F830-54A6-E8D30D5E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C. Locality Cleaning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203CBC-63C5-214C-9DB1-32A5FB19C8AC}"/>
              </a:ext>
            </a:extLst>
          </p:cNvPr>
          <p:cNvSpPr txBox="1">
            <a:spLocks/>
          </p:cNvSpPr>
          <p:nvPr/>
        </p:nvSpPr>
        <p:spPr>
          <a:xfrm>
            <a:off x="807202" y="4759074"/>
            <a:ext cx="10546600" cy="2669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basic_locality_clean</a:t>
            </a:r>
            <a:r>
              <a:rPr lang="en-US" b="1" dirty="0"/>
              <a:t>() </a:t>
            </a:r>
            <a:r>
              <a:rPr lang="en-US" dirty="0"/>
              <a:t>is from the package </a:t>
            </a:r>
            <a:r>
              <a:rPr lang="en-US" b="1" dirty="0" err="1"/>
              <a:t>gatoRs</a:t>
            </a:r>
            <a:endParaRPr lang="en-US" b="1" dirty="0"/>
          </a:p>
          <a:p>
            <a:r>
              <a:rPr lang="en-US" b="1" dirty="0" err="1"/>
              <a:t>remove.zero</a:t>
            </a:r>
            <a:r>
              <a:rPr lang="en-US" dirty="0"/>
              <a:t> = removing (0,0)</a:t>
            </a:r>
          </a:p>
          <a:p>
            <a:r>
              <a:rPr lang="en-US" b="1" dirty="0"/>
              <a:t>precision</a:t>
            </a:r>
            <a:r>
              <a:rPr lang="en-US" dirty="0"/>
              <a:t> = changing resolution to match climate layers (0.01 degrees)</a:t>
            </a:r>
          </a:p>
          <a:p>
            <a:r>
              <a:rPr lang="en-US" b="1" dirty="0" err="1"/>
              <a:t>remove.skewed</a:t>
            </a:r>
            <a:r>
              <a:rPr lang="en-US" dirty="0"/>
              <a:t> = removes any records with skewed coordinates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430D84-359F-16D5-4FA0-8FC2C07E5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01" y="1563423"/>
            <a:ext cx="10577598" cy="29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4597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FE3-BEA9-BEBC-016D-1CEB4913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C. Locality Cleaning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8B30DB-C302-2D47-B0D2-F590855D7355}"/>
              </a:ext>
            </a:extLst>
          </p:cNvPr>
          <p:cNvSpPr txBox="1">
            <a:spLocks/>
          </p:cNvSpPr>
          <p:nvPr/>
        </p:nvSpPr>
        <p:spPr>
          <a:xfrm>
            <a:off x="821925" y="3377853"/>
            <a:ext cx="5391845" cy="26968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Only retains records in the column </a:t>
            </a:r>
            <a:r>
              <a:rPr lang="en-US" dirty="0" err="1"/>
              <a:t>lat</a:t>
            </a:r>
            <a:r>
              <a:rPr lang="en-US" dirty="0"/>
              <a:t>/long that are </a:t>
            </a:r>
            <a:r>
              <a:rPr lang="en-US" b="1" u="sng" dirty="0"/>
              <a:t>not</a:t>
            </a:r>
            <a:r>
              <a:rPr lang="en-US" dirty="0"/>
              <a:t> (!=) equal to 0.00</a:t>
            </a:r>
          </a:p>
          <a:p>
            <a:r>
              <a:rPr lang="en-US" dirty="0"/>
              <a:t>“There’s no place like 0,0”</a:t>
            </a:r>
          </a:p>
          <a:p>
            <a:pPr marL="457200" lvl="1" indent="0">
              <a:buNone/>
            </a:pPr>
            <a:r>
              <a:rPr lang="en-US" dirty="0"/>
              <a:t>(in the middle of the ocean)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7FF3A-75BB-3D42-8939-B71F7CE72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118" y="3480148"/>
            <a:ext cx="4840497" cy="3004246"/>
          </a:xfrm>
          <a:prstGeom prst="rect">
            <a:avLst/>
          </a:prstGeom>
        </p:spPr>
      </p:pic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F5CE9C6-EC7F-DFC7-289A-16A19C9CD1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487"/>
          <a:stretch/>
        </p:blipFill>
        <p:spPr>
          <a:xfrm>
            <a:off x="821925" y="1441972"/>
            <a:ext cx="10783690" cy="19358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2B691E-928C-922A-9504-FC17871057B2}"/>
              </a:ext>
            </a:extLst>
          </p:cNvPr>
          <p:cNvSpPr/>
          <p:nvPr/>
        </p:nvSpPr>
        <p:spPr>
          <a:xfrm>
            <a:off x="3945699" y="2298496"/>
            <a:ext cx="7067811" cy="8179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6447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F5CE9C6-EC7F-DFC7-289A-16A19C9CD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487"/>
          <a:stretch/>
        </p:blipFill>
        <p:spPr>
          <a:xfrm>
            <a:off x="838200" y="1555478"/>
            <a:ext cx="10783690" cy="19358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2B691E-928C-922A-9504-FC17871057B2}"/>
              </a:ext>
            </a:extLst>
          </p:cNvPr>
          <p:cNvSpPr/>
          <p:nvPr/>
        </p:nvSpPr>
        <p:spPr>
          <a:xfrm>
            <a:off x="3977973" y="2895115"/>
            <a:ext cx="7067811" cy="404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855340D5-386D-F558-F130-9A25B11F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380"/>
          <a:stretch/>
        </p:blipFill>
        <p:spPr>
          <a:xfrm>
            <a:off x="2239061" y="3429000"/>
            <a:ext cx="7713878" cy="2434976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6B5F2-88D0-55F6-3F61-9A116551698F}"/>
              </a:ext>
            </a:extLst>
          </p:cNvPr>
          <p:cNvSpPr txBox="1"/>
          <p:nvPr/>
        </p:nvSpPr>
        <p:spPr>
          <a:xfrm>
            <a:off x="828869" y="6103672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i="1" u="sng" dirty="0"/>
              <a:t>Our</a:t>
            </a:r>
            <a:r>
              <a:rPr lang="en-US" sz="2800" dirty="0"/>
              <a:t> climate layers are 30 arc-sec resolution or about 1000 meters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41C9C-D756-7E51-BDCD-7C7563680AF0}"/>
              </a:ext>
            </a:extLst>
          </p:cNvPr>
          <p:cNvSpPr/>
          <p:nvPr/>
        </p:nvSpPr>
        <p:spPr>
          <a:xfrm>
            <a:off x="2229730" y="4646488"/>
            <a:ext cx="7713878" cy="2239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FB2A01-0682-F28E-8B68-8B4A9C05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C. Locality Cleaning</a:t>
            </a:r>
          </a:p>
        </p:txBody>
      </p:sp>
    </p:spTree>
    <p:extLst>
      <p:ext uri="{BB962C8B-B14F-4D97-AF65-F5344CB8AC3E}">
        <p14:creationId xmlns:p14="http://schemas.microsoft.com/office/powerpoint/2010/main" val="118283856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022C-5B7E-2622-0B3E-9CAC23FF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C. Locality Cleaning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D47D4-B7EA-14D8-8D7F-BACDCB895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F5CE9C6-EC7F-DFC7-289A-16A19C9CD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487"/>
          <a:stretch/>
        </p:blipFill>
        <p:spPr>
          <a:xfrm>
            <a:off x="704154" y="1488009"/>
            <a:ext cx="10783690" cy="1935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6B5F2-88D0-55F6-3F61-9A116551698F}"/>
              </a:ext>
            </a:extLst>
          </p:cNvPr>
          <p:cNvSpPr txBox="1"/>
          <p:nvPr/>
        </p:nvSpPr>
        <p:spPr>
          <a:xfrm>
            <a:off x="828869" y="3491359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skewed records can be identified with the function based on the ‘</a:t>
            </a:r>
            <a:r>
              <a:rPr lang="en-US" sz="2800" b="1" dirty="0" err="1"/>
              <a:t>InformationWitheld</a:t>
            </a:r>
            <a:r>
              <a:rPr lang="en-US" sz="2800" dirty="0"/>
              <a:t>’ column</a:t>
            </a:r>
          </a:p>
        </p:txBody>
      </p:sp>
      <p:pic>
        <p:nvPicPr>
          <p:cNvPr id="5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3ED3AA4F-233E-F009-F518-E98CE517C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90" y="4702213"/>
            <a:ext cx="11790819" cy="179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496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CDF361-67C4-D555-B652-0F764EC2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D. Flag and Filter Cultivated Records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A41DAF-091E-5D83-FC59-2CD01A99C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err="1"/>
              <a:t>process_flagged</a:t>
            </a:r>
            <a:r>
              <a:rPr lang="en-US" dirty="0"/>
              <a:t> removes points in a radius around biodiversity institutions (including museums)</a:t>
            </a:r>
          </a:p>
          <a:p>
            <a:pPr lvl="1"/>
            <a:r>
              <a:rPr lang="en-US" dirty="0"/>
              <a:t>Places that records were not occurring naturally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BFD2-58AB-E243-B8FE-608EFC03396F}"/>
              </a:ext>
            </a:extLst>
          </p:cNvPr>
          <p:cNvSpPr txBox="1"/>
          <p:nvPr/>
        </p:nvSpPr>
        <p:spPr>
          <a:xfrm>
            <a:off x="838200" y="6571768"/>
            <a:ext cx="11987408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Zizka et al. 2019.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CoordinateCleaner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Standardized cleaning of occurrence records from biological collection databases. Methods in Ecology and Evolution.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44A1B44-DF86-F558-1F34-7685687F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300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5303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5E727E-47C2-E64A-6343-F6737637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E. Duplicate Removal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A2FB4-67E7-3548-BD5C-7F432637EDFB}"/>
              </a:ext>
            </a:extLst>
          </p:cNvPr>
          <p:cNvSpPr txBox="1"/>
          <p:nvPr/>
        </p:nvSpPr>
        <p:spPr>
          <a:xfrm>
            <a:off x="819537" y="4622104"/>
            <a:ext cx="105156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parsedate</a:t>
            </a:r>
            <a:r>
              <a:rPr lang="en-US" sz="2800" dirty="0"/>
              <a:t> is a beautiful package that parses dates – but it only parses dates after 1970!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remove.unparable</a:t>
            </a:r>
            <a:r>
              <a:rPr lang="en-US" sz="2800" b="1" dirty="0"/>
              <a:t> = FALSE </a:t>
            </a:r>
            <a:r>
              <a:rPr lang="en-US" sz="2800" dirty="0"/>
              <a:t>to confirm unique records manually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Remove duplicates from overlap between databases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C245F08-B829-1916-73CE-3D2FF7FF5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66" y="1806512"/>
            <a:ext cx="9840667" cy="262096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2BD2E6-47B0-38D3-46D9-CFCD1323EB52}"/>
              </a:ext>
            </a:extLst>
          </p:cNvPr>
          <p:cNvSpPr/>
          <p:nvPr/>
        </p:nvSpPr>
        <p:spPr>
          <a:xfrm>
            <a:off x="1175666" y="2277259"/>
            <a:ext cx="5692585" cy="2239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81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1818DF-B0CA-335F-90BC-A20BAF147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F/G. Spatial Deduplication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and Thinning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689B8-5773-8A43-A0CF-BFF50CCADE63}"/>
              </a:ext>
            </a:extLst>
          </p:cNvPr>
          <p:cNvSpPr txBox="1"/>
          <p:nvPr/>
        </p:nvSpPr>
        <p:spPr>
          <a:xfrm>
            <a:off x="838199" y="1825625"/>
            <a:ext cx="70079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Collection efforts can lead to clustering of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Infrastructure (roads, herbaria,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Taxon bias (more common/charismatic)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Temporal bias (periods of high/low effort)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See an under/overrepresentation of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Filtering is a procedure to reduce the clustering of species records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Collection efforts can lead to clustering of points in overrepresented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B824F-A54E-1643-BE9E-3512F182429F}"/>
              </a:ext>
            </a:extLst>
          </p:cNvPr>
          <p:cNvSpPr txBox="1"/>
          <p:nvPr/>
        </p:nvSpPr>
        <p:spPr>
          <a:xfrm>
            <a:off x="468631" y="6311900"/>
            <a:ext cx="7846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Daru et al. 2017. Widespread sampling biases in herbaria revealed from large-scale digitization. New Phytologist.</a:t>
            </a:r>
          </a:p>
        </p:txBody>
      </p:sp>
      <p:pic>
        <p:nvPicPr>
          <p:cNvPr id="10" name="Picture 9" descr="Map&#10;&#10;Description automatically generated">
            <a:extLst>
              <a:ext uri="{FF2B5EF4-FFF2-40B4-BE49-F238E27FC236}">
                <a16:creationId xmlns:a16="http://schemas.microsoft.com/office/drawing/2014/main" id="{40AEA16E-390C-7847-BD59-071B1E2227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995"/>
          <a:stretch/>
        </p:blipFill>
        <p:spPr>
          <a:xfrm>
            <a:off x="8330902" y="1145128"/>
            <a:ext cx="3657600" cy="5628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5C1719-3BE8-774C-9A20-C32F1F04A1F1}"/>
              </a:ext>
            </a:extLst>
          </p:cNvPr>
          <p:cNvSpPr txBox="1"/>
          <p:nvPr/>
        </p:nvSpPr>
        <p:spPr>
          <a:xfrm>
            <a:off x="8325139" y="314131"/>
            <a:ext cx="366650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Sampling bias for </a:t>
            </a:r>
          </a:p>
          <a:p>
            <a:pPr algn="ctr"/>
            <a:r>
              <a:rPr lang="en-US" sz="2400" dirty="0"/>
              <a:t>857,245 records</a:t>
            </a:r>
          </a:p>
        </p:txBody>
      </p:sp>
    </p:spTree>
    <p:extLst>
      <p:ext uri="{BB962C8B-B14F-4D97-AF65-F5344CB8AC3E}">
        <p14:creationId xmlns:p14="http://schemas.microsoft.com/office/powerpoint/2010/main" val="28555472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DAF75B-AEED-EF50-4BDE-E8F90E96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F/G. Spatial Deduplication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and Thinning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689B8-5773-8A43-A0CF-BFF50CCADE63}"/>
              </a:ext>
            </a:extLst>
          </p:cNvPr>
          <p:cNvSpPr txBox="1"/>
          <p:nvPr/>
        </p:nvSpPr>
        <p:spPr>
          <a:xfrm>
            <a:off x="838199" y="1808988"/>
            <a:ext cx="661633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After filtering, there may still be spatial autocorrelation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Records occurring in close proximity have higher environmental similarity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This can be accounted for by data partitioning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B824F-A54E-1643-BE9E-3512F182429F}"/>
              </a:ext>
            </a:extLst>
          </p:cNvPr>
          <p:cNvSpPr txBox="1"/>
          <p:nvPr/>
        </p:nvSpPr>
        <p:spPr>
          <a:xfrm>
            <a:off x="838200" y="6560562"/>
            <a:ext cx="1051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Sillero</a:t>
            </a:r>
            <a:r>
              <a:rPr lang="en-US" sz="1400" dirty="0"/>
              <a:t> N. and A. M. Barbosa. 2020. Common mistakes in ecological niche models. International Journal of Geographical Information Science.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E3402D-32CD-B943-A435-23FA26B96495}"/>
              </a:ext>
            </a:extLst>
          </p:cNvPr>
          <p:cNvGrpSpPr/>
          <p:nvPr/>
        </p:nvGrpSpPr>
        <p:grpSpPr>
          <a:xfrm>
            <a:off x="8155980" y="1838512"/>
            <a:ext cx="3197820" cy="2167336"/>
            <a:chOff x="7245416" y="2198710"/>
            <a:chExt cx="3197820" cy="216733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9CBA6B-7A49-EA46-A8D4-5B255FF235E6}"/>
                </a:ext>
              </a:extLst>
            </p:cNvPr>
            <p:cNvSpPr txBox="1"/>
            <p:nvPr/>
          </p:nvSpPr>
          <p:spPr>
            <a:xfrm>
              <a:off x="8542490" y="3996714"/>
              <a:ext cx="15372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Env. Similarity 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22A621B-2863-0049-BD0B-89DC926D8147}"/>
                </a:ext>
              </a:extLst>
            </p:cNvPr>
            <p:cNvGrpSpPr/>
            <p:nvPr/>
          </p:nvGrpSpPr>
          <p:grpSpPr>
            <a:xfrm>
              <a:off x="8245642" y="2198710"/>
              <a:ext cx="2197594" cy="1780674"/>
              <a:chOff x="4732421" y="3834063"/>
              <a:chExt cx="2197594" cy="1780674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E716F75-552E-7E42-A625-4A134016B117}"/>
                  </a:ext>
                </a:extLst>
              </p:cNvPr>
              <p:cNvCxnSpPr/>
              <p:nvPr/>
            </p:nvCxnSpPr>
            <p:spPr>
              <a:xfrm>
                <a:off x="4732421" y="3834063"/>
                <a:ext cx="0" cy="178067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64CCBA7-1079-0D41-A06B-827C2BE56C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32421" y="5594773"/>
                <a:ext cx="219759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639EA6-A1DD-3E42-A2E2-BA4476DE6F67}"/>
                </a:ext>
              </a:extLst>
            </p:cNvPr>
            <p:cNvSpPr txBox="1"/>
            <p:nvPr/>
          </p:nvSpPr>
          <p:spPr>
            <a:xfrm>
              <a:off x="7245416" y="2903122"/>
              <a:ext cx="987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Distance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D053951-BF90-5F46-9EBE-D07D673B129F}"/>
                </a:ext>
              </a:extLst>
            </p:cNvPr>
            <p:cNvSpPr/>
            <p:nvPr/>
          </p:nvSpPr>
          <p:spPr>
            <a:xfrm>
              <a:off x="8354641" y="2393329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B9C329-1C9A-B047-B38B-FC1E4E6E9F55}"/>
                </a:ext>
              </a:extLst>
            </p:cNvPr>
            <p:cNvSpPr/>
            <p:nvPr/>
          </p:nvSpPr>
          <p:spPr>
            <a:xfrm>
              <a:off x="8600799" y="2336404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94EDC8B-8F70-6540-AC9F-774B2C6D144E}"/>
                </a:ext>
              </a:extLst>
            </p:cNvPr>
            <p:cNvSpPr/>
            <p:nvPr/>
          </p:nvSpPr>
          <p:spPr>
            <a:xfrm>
              <a:off x="8576582" y="2567285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391EA4-95E1-8349-8E2C-B2B7074AB35F}"/>
                </a:ext>
              </a:extLst>
            </p:cNvPr>
            <p:cNvSpPr/>
            <p:nvPr/>
          </p:nvSpPr>
          <p:spPr>
            <a:xfrm>
              <a:off x="8556983" y="2855246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CD323EF-0566-2848-B099-3F3D1E596236}"/>
                </a:ext>
              </a:extLst>
            </p:cNvPr>
            <p:cNvSpPr/>
            <p:nvPr/>
          </p:nvSpPr>
          <p:spPr>
            <a:xfrm>
              <a:off x="8808210" y="2691538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0CD7896-B524-7546-BE6A-82587BAE7467}"/>
                </a:ext>
              </a:extLst>
            </p:cNvPr>
            <p:cNvSpPr/>
            <p:nvPr/>
          </p:nvSpPr>
          <p:spPr>
            <a:xfrm>
              <a:off x="9043797" y="2584206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42A523D-13DB-2142-A104-45F12E2E6CAF}"/>
                </a:ext>
              </a:extLst>
            </p:cNvPr>
            <p:cNvSpPr/>
            <p:nvPr/>
          </p:nvSpPr>
          <p:spPr>
            <a:xfrm>
              <a:off x="9768330" y="3443195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3C5874-DF0B-3744-8FE1-03CD7739DC78}"/>
                </a:ext>
              </a:extLst>
            </p:cNvPr>
            <p:cNvSpPr/>
            <p:nvPr/>
          </p:nvSpPr>
          <p:spPr>
            <a:xfrm>
              <a:off x="9920730" y="3595595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E261EDE-9332-D64F-B03F-8DA2E75FBE72}"/>
                </a:ext>
              </a:extLst>
            </p:cNvPr>
            <p:cNvSpPr/>
            <p:nvPr/>
          </p:nvSpPr>
          <p:spPr>
            <a:xfrm>
              <a:off x="10073130" y="3747995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C5B2FF4-E8D3-6648-B12F-ED2E497174CA}"/>
                </a:ext>
              </a:extLst>
            </p:cNvPr>
            <p:cNvSpPr/>
            <p:nvPr/>
          </p:nvSpPr>
          <p:spPr>
            <a:xfrm>
              <a:off x="9006330" y="2681195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FF17803-78B7-AB42-B78B-4F4DC79B95EC}"/>
                </a:ext>
              </a:extLst>
            </p:cNvPr>
            <p:cNvSpPr/>
            <p:nvPr/>
          </p:nvSpPr>
          <p:spPr>
            <a:xfrm>
              <a:off x="9158730" y="2833595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0DFD121-B997-6B4B-BD8E-0D9AC5A8F69E}"/>
                </a:ext>
              </a:extLst>
            </p:cNvPr>
            <p:cNvSpPr/>
            <p:nvPr/>
          </p:nvSpPr>
          <p:spPr>
            <a:xfrm>
              <a:off x="8904220" y="2825647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8EA03A5-A41A-614D-A493-F805D8AD510F}"/>
                </a:ext>
              </a:extLst>
            </p:cNvPr>
            <p:cNvSpPr/>
            <p:nvPr/>
          </p:nvSpPr>
          <p:spPr>
            <a:xfrm>
              <a:off x="8918190" y="2989804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D8C2419-E4CD-5747-9908-E3CC0A05D7E2}"/>
                </a:ext>
              </a:extLst>
            </p:cNvPr>
            <p:cNvSpPr/>
            <p:nvPr/>
          </p:nvSpPr>
          <p:spPr>
            <a:xfrm>
              <a:off x="9357789" y="3123856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E96D7AE-AEEC-314D-AE7D-97CF1582496F}"/>
                </a:ext>
              </a:extLst>
            </p:cNvPr>
            <p:cNvSpPr/>
            <p:nvPr/>
          </p:nvSpPr>
          <p:spPr>
            <a:xfrm>
              <a:off x="9467251" y="3293330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9FE5A09-0737-304C-928E-9DC8B2A26611}"/>
                </a:ext>
              </a:extLst>
            </p:cNvPr>
            <p:cNvSpPr/>
            <p:nvPr/>
          </p:nvSpPr>
          <p:spPr>
            <a:xfrm>
              <a:off x="9328995" y="2905049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61DFD46-8FB6-A64B-8064-FCE041E76AE7}"/>
                </a:ext>
              </a:extLst>
            </p:cNvPr>
            <p:cNvSpPr/>
            <p:nvPr/>
          </p:nvSpPr>
          <p:spPr>
            <a:xfrm>
              <a:off x="9139990" y="3112803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4B715AA-E01C-E449-90B5-3DC120B292EF}"/>
                </a:ext>
              </a:extLst>
            </p:cNvPr>
            <p:cNvSpPr/>
            <p:nvPr/>
          </p:nvSpPr>
          <p:spPr>
            <a:xfrm>
              <a:off x="9626328" y="3217808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4179138-256F-724C-84AA-439F826E9FF9}"/>
                </a:ext>
              </a:extLst>
            </p:cNvPr>
            <p:cNvSpPr/>
            <p:nvPr/>
          </p:nvSpPr>
          <p:spPr>
            <a:xfrm>
              <a:off x="9756727" y="3656555"/>
              <a:ext cx="91440" cy="9144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DFDBBFC-4B42-6F45-8FA5-0EAE67E7365B}"/>
                </a:ext>
              </a:extLst>
            </p:cNvPr>
            <p:cNvCxnSpPr>
              <a:cxnSpLocks/>
            </p:cNvCxnSpPr>
            <p:nvPr/>
          </p:nvCxnSpPr>
          <p:spPr>
            <a:xfrm>
              <a:off x="8446081" y="2317624"/>
              <a:ext cx="1804824" cy="154032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079611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697BC0-B7CD-760C-D088-9A47E2CA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F. Spatial Deduplication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B5AC42-5FC1-32C7-B583-99815177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100" dirty="0"/>
          </a:p>
          <a:p>
            <a:r>
              <a:rPr lang="en-US" dirty="0"/>
              <a:t>After retaining one point per pixel, our example has 21 observations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E10FE-BCB0-BA4A-95DA-94E4D4AAE663}"/>
              </a:ext>
            </a:extLst>
          </p:cNvPr>
          <p:cNvSpPr txBox="1"/>
          <p:nvPr/>
        </p:nvSpPr>
        <p:spPr>
          <a:xfrm>
            <a:off x="4033381" y="73778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4B78888-1E5F-9967-C0C6-94484046C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15"/>
          <a:stretch>
            <a:fillRect/>
          </a:stretch>
        </p:blipFill>
        <p:spPr>
          <a:xfrm>
            <a:off x="1191044" y="1825625"/>
            <a:ext cx="9809912" cy="42208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1788E0C-3D77-A62E-906C-CDFE2F79BE1D}"/>
              </a:ext>
            </a:extLst>
          </p:cNvPr>
          <p:cNvSpPr/>
          <p:nvPr/>
        </p:nvSpPr>
        <p:spPr>
          <a:xfrm>
            <a:off x="1191044" y="2769138"/>
            <a:ext cx="7715564" cy="24483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8654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90A97A-580E-E67B-9695-8822DB82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G. Spatial Thinning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F2AF4-83E5-494C-B2D0-6131DA1982C0}"/>
              </a:ext>
            </a:extLst>
          </p:cNvPr>
          <p:cNvSpPr txBox="1"/>
          <p:nvPr/>
        </p:nvSpPr>
        <p:spPr>
          <a:xfrm>
            <a:off x="0" y="50512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rdist.earth</a:t>
            </a:r>
            <a:r>
              <a:rPr lang="en-US" sz="2800" b="1" dirty="0"/>
              <a:t> </a:t>
            </a:r>
            <a:r>
              <a:rPr lang="en-US" sz="2800" dirty="0"/>
              <a:t>can be used to look at nearest neighbor distance in kilometers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do.call</a:t>
            </a:r>
            <a:r>
              <a:rPr lang="en-US" sz="2800" b="1" dirty="0"/>
              <a:t> </a:t>
            </a:r>
            <a:r>
              <a:rPr lang="en-US" sz="2800" dirty="0"/>
              <a:t>applies to a list, </a:t>
            </a:r>
            <a:r>
              <a:rPr lang="en-US" sz="2800" b="1" dirty="0" err="1"/>
              <a:t>rbind</a:t>
            </a:r>
            <a:r>
              <a:rPr lang="en-US" sz="2800" dirty="0"/>
              <a:t> binds rows, and the </a:t>
            </a:r>
            <a:r>
              <a:rPr lang="en-US" sz="2800" b="1" dirty="0"/>
              <a:t>sort</a:t>
            </a:r>
            <a:r>
              <a:rPr lang="en-US" sz="2800" dirty="0"/>
              <a:t> is set up to select the lowest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want to look at the </a:t>
            </a:r>
            <a:r>
              <a:rPr lang="en-US" sz="2800" b="1" dirty="0"/>
              <a:t>min </a:t>
            </a:r>
            <a:r>
              <a:rPr lang="en-US" sz="2800" dirty="0"/>
              <a:t>distance between points remaining </a:t>
            </a:r>
            <a:r>
              <a:rPr lang="en-US" sz="2800" b="1" u="sng" dirty="0">
                <a:highlight>
                  <a:srgbClr val="FFFF00"/>
                </a:highlight>
              </a:rPr>
              <a:t>BY SPECIES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D40D4C3-A544-8858-19C4-6EBE73BBE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330" y="1391772"/>
            <a:ext cx="7973339" cy="36972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56030BF-1984-DCBE-A764-4252B30A04EB}"/>
              </a:ext>
            </a:extLst>
          </p:cNvPr>
          <p:cNvSpPr/>
          <p:nvPr/>
        </p:nvSpPr>
        <p:spPr>
          <a:xfrm>
            <a:off x="2109330" y="4534520"/>
            <a:ext cx="7713878" cy="22393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600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9034E0-116A-24A2-1259-C7C8B6ED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G. Spatial Thinning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7871B-CEE6-1042-A56C-20C3FA223E77}"/>
              </a:ext>
            </a:extLst>
          </p:cNvPr>
          <p:cNvSpPr txBox="1"/>
          <p:nvPr/>
        </p:nvSpPr>
        <p:spPr>
          <a:xfrm>
            <a:off x="0" y="6550223"/>
            <a:ext cx="11983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Aiello-</a:t>
            </a:r>
            <a:r>
              <a:rPr lang="en-US" sz="1400" dirty="0" err="1"/>
              <a:t>Lammens</a:t>
            </a:r>
            <a:r>
              <a:rPr lang="en-US" sz="1400" dirty="0"/>
              <a:t> et al. 2015. </a:t>
            </a:r>
            <a:r>
              <a:rPr lang="en-US" sz="1400" dirty="0" err="1"/>
              <a:t>spThin</a:t>
            </a:r>
            <a:r>
              <a:rPr lang="en-US" sz="1400" dirty="0"/>
              <a:t>: an R package for spatial thinning of species occurrence records for use in ecological niche models. </a:t>
            </a:r>
            <a:r>
              <a:rPr lang="en-US" sz="1400" dirty="0" err="1"/>
              <a:t>Ecography</a:t>
            </a:r>
            <a:r>
              <a:rPr lang="en-US" sz="1400" dirty="0"/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6DA54-F02C-538E-26B7-99A6DB071E9B}"/>
              </a:ext>
            </a:extLst>
          </p:cNvPr>
          <p:cNvSpPr txBox="1"/>
          <p:nvPr/>
        </p:nvSpPr>
        <p:spPr>
          <a:xfrm>
            <a:off x="838201" y="1825625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</a:t>
            </a:r>
            <a:r>
              <a:rPr lang="en-US" sz="2800" b="1" dirty="0"/>
              <a:t> </a:t>
            </a:r>
            <a:r>
              <a:rPr lang="en-US" sz="2800" b="1" dirty="0" err="1"/>
              <a:t>spThin</a:t>
            </a:r>
            <a:r>
              <a:rPr lang="en-US" sz="2800" dirty="0"/>
              <a:t> function </a:t>
            </a:r>
            <a:r>
              <a:rPr lang="en-US" sz="2800" b="1" i="1" dirty="0"/>
              <a:t>thin </a:t>
            </a:r>
            <a:r>
              <a:rPr lang="en-US" sz="2800" dirty="0"/>
              <a:t>for when minimum nearest neighbor distance is smaller than required to collect unique species genets</a:t>
            </a:r>
            <a:endParaRPr lang="en-US" sz="28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Set </a:t>
            </a:r>
            <a:r>
              <a:rPr lang="en-US" sz="2800" b="1" dirty="0" err="1"/>
              <a:t>thin.par</a:t>
            </a:r>
            <a:r>
              <a:rPr lang="en-US" sz="2800" dirty="0"/>
              <a:t> = minimum nearest neighbor distance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Next, the function calculates pairwise distance between all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1) For each record, IDs the # of occurrence records within the minimum nearest neighbor distance </a:t>
            </a:r>
            <a:r>
              <a:rPr lang="en-US" sz="2800" dirty="0" err="1"/>
              <a:t>thin.par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2) One record of those which share the greatest # from (1) is removed at random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3) Repeat 1 – 2 till no record has a nearest neighbor closer than the minimum nearest neighbor distance </a:t>
            </a:r>
            <a:r>
              <a:rPr lang="en-US" sz="2800" dirty="0" err="1"/>
              <a:t>thin.par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397022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984C-D5C9-C32D-448F-0C54C484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G. Spatial Thinning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4EDF0-C087-4862-F9BE-B083B791F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Only need to thin records if the minimum nearest neighbor distance is smaller than required to collect unique species genets according to the literature for that species – not necessary for workshop examples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4A8D6B9-D86E-CB2A-5FC7-63018390E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95" y="1825625"/>
            <a:ext cx="10813210" cy="276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3312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67B8A7-0426-5FFB-D21E-B2AB71CF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H. Static Map of Cleaned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C1E6D-4C7F-BA4D-9E10-51F9CC30F95F}"/>
              </a:ext>
            </a:extLst>
          </p:cNvPr>
          <p:cNvSpPr txBox="1"/>
          <p:nvPr/>
        </p:nvSpPr>
        <p:spPr>
          <a:xfrm>
            <a:off x="838200" y="4793337"/>
            <a:ext cx="1051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Make points spatial using </a:t>
            </a:r>
            <a:r>
              <a:rPr lang="en-US" sz="2800" b="1" dirty="0" err="1"/>
              <a:t>st_as_sf</a:t>
            </a:r>
            <a:endParaRPr lang="en-US" sz="2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 err="1"/>
              <a:t>crs</a:t>
            </a:r>
            <a:r>
              <a:rPr lang="en-US" sz="2800" dirty="0"/>
              <a:t> = 4326 is WGS84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Using the function </a:t>
            </a:r>
            <a:r>
              <a:rPr lang="en-US" sz="2800" b="1" dirty="0"/>
              <a:t>borders</a:t>
            </a:r>
            <a:r>
              <a:rPr lang="en-US" sz="2800" dirty="0"/>
              <a:t> from the package </a:t>
            </a:r>
            <a:r>
              <a:rPr lang="en-US" sz="2800" b="1" dirty="0"/>
              <a:t>ggplot2</a:t>
            </a:r>
            <a:r>
              <a:rPr lang="en-US" sz="2800" dirty="0"/>
              <a:t>, we download USA country and states basemaps to plot points onto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FB27ACD-6422-A8FD-87D1-6D531C85E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69" y="1369119"/>
            <a:ext cx="6467061" cy="328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640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232E-D85F-5201-54A6-92CA94B3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H. Static Map of Cleaned Points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C9616F-EA62-0D0C-B6A3-F17B9E7C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Good for publications and visually confirming data was cleaned properly</a:t>
            </a:r>
          </a:p>
        </p:txBody>
      </p:sp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DEAF1ED-D1F6-2B78-843C-8DCBDF2F1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44845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88A252-41D9-5442-94F5-47DA7EB7E5E5}"/>
              </a:ext>
            </a:extLst>
          </p:cNvPr>
          <p:cNvSpPr txBox="1"/>
          <p:nvPr/>
        </p:nvSpPr>
        <p:spPr>
          <a:xfrm>
            <a:off x="7087614" y="2184358"/>
            <a:ext cx="2675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 Add </a:t>
            </a:r>
            <a:r>
              <a:rPr lang="en-US" sz="2800" dirty="0" err="1"/>
              <a:t>basemaps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92845-AB54-7643-A09B-09A8A7B93501}"/>
              </a:ext>
            </a:extLst>
          </p:cNvPr>
          <p:cNvSpPr txBox="1"/>
          <p:nvPr/>
        </p:nvSpPr>
        <p:spPr>
          <a:xfrm>
            <a:off x="7087614" y="2783276"/>
            <a:ext cx="2116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 Add points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BCE329-B1B8-9A48-9BCD-DE736F8FB7FC}"/>
              </a:ext>
            </a:extLst>
          </p:cNvPr>
          <p:cNvSpPr txBox="1"/>
          <p:nvPr/>
        </p:nvSpPr>
        <p:spPr>
          <a:xfrm>
            <a:off x="7087614" y="3563637"/>
            <a:ext cx="1721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 Zoom 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0D706-6680-3848-A1EC-C5E975E80F88}"/>
              </a:ext>
            </a:extLst>
          </p:cNvPr>
          <p:cNvSpPr txBox="1"/>
          <p:nvPr/>
        </p:nvSpPr>
        <p:spPr>
          <a:xfrm>
            <a:off x="7087614" y="4341642"/>
            <a:ext cx="2496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4. Fix axis labels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9AE88-57DC-6F49-9AE3-41F67BBFBB30}"/>
              </a:ext>
            </a:extLst>
          </p:cNvPr>
          <p:cNvSpPr txBox="1"/>
          <p:nvPr/>
        </p:nvSpPr>
        <p:spPr>
          <a:xfrm>
            <a:off x="7087614" y="4964883"/>
            <a:ext cx="444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5. Add scale and North arrow</a:t>
            </a:r>
          </a:p>
        </p:txBody>
      </p:sp>
    </p:spTree>
    <p:extLst>
      <p:ext uri="{BB962C8B-B14F-4D97-AF65-F5344CB8AC3E}">
        <p14:creationId xmlns:p14="http://schemas.microsoft.com/office/powerpoint/2010/main" val="406040862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BB8C2B-AD5D-98B5-801E-E28E6FE07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361" y="1354409"/>
            <a:ext cx="7411278" cy="5293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2A270C-DAC1-3721-8B71-53AA6EF5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H. Static Map of Cleaned Points</a:t>
            </a:r>
          </a:p>
        </p:txBody>
      </p:sp>
    </p:spTree>
    <p:extLst>
      <p:ext uri="{BB962C8B-B14F-4D97-AF65-F5344CB8AC3E}">
        <p14:creationId xmlns:p14="http://schemas.microsoft.com/office/powerpoint/2010/main" val="54668694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with blue pins&#10;&#10;AI-generated content may be incorrect.">
            <a:extLst>
              <a:ext uri="{FF2B5EF4-FFF2-40B4-BE49-F238E27FC236}">
                <a16:creationId xmlns:a16="http://schemas.microsoft.com/office/drawing/2014/main" id="{46843A46-F9AF-BA99-5152-025D9BE8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844" y="1322732"/>
            <a:ext cx="8724311" cy="5535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CB4398-8D09-8F42-5338-3810CCC1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I. Interactive Map with Leaflet</a:t>
            </a:r>
          </a:p>
        </p:txBody>
      </p:sp>
    </p:spTree>
    <p:extLst>
      <p:ext uri="{BB962C8B-B14F-4D97-AF65-F5344CB8AC3E}">
        <p14:creationId xmlns:p14="http://schemas.microsoft.com/office/powerpoint/2010/main" val="231999575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85C5C-4AD7-8E62-5EAC-300F8CF1D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that data is cleaned, save as a new csv file to use for next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41E7B-D453-0BD3-74AF-4B46D7B8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112561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E64D0C7-426F-5D47-5789-B0D30923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J. Saved Cleaned.csv</a:t>
            </a:r>
          </a:p>
        </p:txBody>
      </p:sp>
    </p:spTree>
    <p:extLst>
      <p:ext uri="{BB962C8B-B14F-4D97-AF65-F5344CB8AC3E}">
        <p14:creationId xmlns:p14="http://schemas.microsoft.com/office/powerpoint/2010/main" val="12039300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258C67-DB03-695D-AED0-63F70F28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K. Repeat for All Taxa</a:t>
            </a:r>
          </a:p>
        </p:txBody>
      </p:sp>
      <p:pic>
        <p:nvPicPr>
          <p:cNvPr id="8" name="Picture 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F946DB5-C9C6-1D27-7372-AC385C28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772400" cy="3891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7D3CA0-AAA6-EF43-80AB-E92B1D80A5D6}"/>
              </a:ext>
            </a:extLst>
          </p:cNvPr>
          <p:cNvSpPr txBox="1"/>
          <p:nvPr/>
        </p:nvSpPr>
        <p:spPr>
          <a:xfrm>
            <a:off x="7390614" y="2033449"/>
            <a:ext cx="4801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Create list of files with paths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49CF4-373C-59D1-41EA-7537AD831485}"/>
              </a:ext>
            </a:extLst>
          </p:cNvPr>
          <p:cNvSpPr txBox="1"/>
          <p:nvPr/>
        </p:nvSpPr>
        <p:spPr>
          <a:xfrm>
            <a:off x="7390614" y="3042205"/>
            <a:ext cx="4801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Create list of synonyms </a:t>
            </a:r>
          </a:p>
        </p:txBody>
      </p:sp>
    </p:spTree>
    <p:extLst>
      <p:ext uri="{BB962C8B-B14F-4D97-AF65-F5344CB8AC3E}">
        <p14:creationId xmlns:p14="http://schemas.microsoft.com/office/powerpoint/2010/main" val="245647455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xploring the dataset in R - dplyr…">
            <a:extLst>
              <a:ext uri="{FF2B5EF4-FFF2-40B4-BE49-F238E27FC236}">
                <a16:creationId xmlns:a16="http://schemas.microsoft.com/office/drawing/2014/main" id="{260B29CE-F901-8A1F-9E91-580D095ADB80}"/>
              </a:ext>
            </a:extLst>
          </p:cNvPr>
          <p:cNvSpPr txBox="1"/>
          <p:nvPr/>
        </p:nvSpPr>
        <p:spPr>
          <a:xfrm>
            <a:off x="6096001" y="1184331"/>
            <a:ext cx="6096000" cy="567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b">
            <a:spAutoFit/>
          </a:bodyPr>
          <a:lstStyle/>
          <a:p>
            <a:pPr marL="460375" indent="-450850">
              <a:buSzPct val="100000"/>
              <a:defRPr sz="3200"/>
            </a:pPr>
            <a:r>
              <a:rPr lang="en-US" sz="2800" dirty="0"/>
              <a:t>0.  Read in downloaded data</a:t>
            </a:r>
          </a:p>
          <a:p>
            <a:pPr marL="446469" indent="-446469">
              <a:buSzPct val="100000"/>
              <a:buAutoNum type="arabicPeriod"/>
              <a:defRPr sz="3200"/>
            </a:pPr>
            <a:r>
              <a:rPr lang="en-US" sz="2800" dirty="0"/>
              <a:t>Resolve taxon names</a:t>
            </a:r>
          </a:p>
          <a:p>
            <a:pPr marL="446469" indent="-446469">
              <a:buSzPct val="100000"/>
              <a:buFontTx/>
              <a:buAutoNum type="arabicPeriod"/>
              <a:defRPr sz="3200"/>
            </a:pPr>
            <a:r>
              <a:rPr lang="en-US" sz="2800" dirty="0"/>
              <a:t>Clean localities</a:t>
            </a:r>
          </a:p>
          <a:p>
            <a:pPr marL="719310" lvl="1" indent="-272841">
              <a:buSzPct val="100000"/>
              <a:buAutoNum type="arabicPeriod"/>
              <a:defRPr sz="3200"/>
            </a:pPr>
            <a:r>
              <a:rPr lang="en-US" sz="2800" dirty="0"/>
              <a:t>Precision</a:t>
            </a:r>
          </a:p>
          <a:p>
            <a:pPr marL="719310" lvl="1" indent="-272841">
              <a:buSzPct val="100000"/>
              <a:buAutoNum type="arabicPeriod"/>
              <a:defRPr sz="3200"/>
            </a:pPr>
            <a:r>
              <a:rPr lang="en-US" sz="2800" dirty="0"/>
              <a:t>Remove impossible points</a:t>
            </a:r>
          </a:p>
          <a:p>
            <a:pPr marL="816045" lvl="2" indent="-190989">
              <a:buSzPct val="75000"/>
              <a:buChar char="•"/>
              <a:defRPr sz="3200"/>
            </a:pPr>
            <a:r>
              <a:rPr lang="en-US" sz="2800" dirty="0"/>
              <a:t>Most common coordinate: (0.00, 0.00)</a:t>
            </a:r>
          </a:p>
          <a:p>
            <a:pPr marL="816045" lvl="2" indent="-190989">
              <a:buSzPct val="75000"/>
              <a:buChar char="•"/>
              <a:defRPr sz="3200"/>
            </a:pPr>
            <a:r>
              <a:rPr lang="en-US" sz="2800" dirty="0"/>
              <a:t>Cultivated zones, botanical gardens, museums, etc.</a:t>
            </a:r>
          </a:p>
          <a:p>
            <a:pPr marL="446469" indent="-446469">
              <a:buSzPct val="100000"/>
              <a:buFontTx/>
              <a:buAutoNum type="arabicPeriod"/>
              <a:defRPr sz="3200"/>
            </a:pPr>
            <a:r>
              <a:rPr lang="en-US" sz="2800" dirty="0"/>
              <a:t>Remove duplicates</a:t>
            </a:r>
          </a:p>
          <a:p>
            <a:pPr marL="446469" indent="-446469">
              <a:buSzPct val="100000"/>
              <a:buFontTx/>
              <a:buAutoNum type="arabicPeriod"/>
              <a:defRPr sz="3200"/>
            </a:pPr>
            <a:r>
              <a:rPr lang="en-US" sz="2800" dirty="0"/>
              <a:t>Spatial correction</a:t>
            </a:r>
          </a:p>
          <a:p>
            <a:pPr marL="446469" indent="-446469">
              <a:buSzPct val="100000"/>
              <a:buFontTx/>
              <a:buAutoNum type="arabicPeriod"/>
              <a:defRPr sz="3200"/>
            </a:pPr>
            <a:r>
              <a:rPr lang="en-US" sz="2800" dirty="0"/>
              <a:t>Visualize</a:t>
            </a:r>
          </a:p>
          <a:p>
            <a:pPr marL="446469" indent="-446469">
              <a:buSzPct val="100000"/>
              <a:buFontTx/>
              <a:buAutoNum type="arabicPeriod"/>
              <a:defRPr sz="3200"/>
            </a:pPr>
            <a:r>
              <a:rPr lang="en-US" sz="2800" dirty="0"/>
              <a:t>Save cleaned.csv</a:t>
            </a:r>
          </a:p>
        </p:txBody>
      </p:sp>
      <p:pic>
        <p:nvPicPr>
          <p:cNvPr id="3" name="Picture 2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C67B4346-CFBD-AB22-B88C-19186163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31" y="1709710"/>
            <a:ext cx="5721749" cy="4912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F1BC4E-E48C-03CE-0B00-F6325DC70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K. Repeat for All Taxa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211C4-740F-8EDA-3EFE-EE25A60C0F7C}"/>
              </a:ext>
            </a:extLst>
          </p:cNvPr>
          <p:cNvSpPr txBox="1"/>
          <p:nvPr/>
        </p:nvSpPr>
        <p:spPr>
          <a:xfrm>
            <a:off x="13373100" y="39814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44627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40E1-01A3-E64F-8267-857B1FB6F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63370D-BA79-1F2E-B3BC-38777D70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L. Make Maxent Ready</a:t>
            </a:r>
          </a:p>
        </p:txBody>
      </p:sp>
      <p:pic>
        <p:nvPicPr>
          <p:cNvPr id="4" name="Picture 3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8D22AFB7-76A3-C2B2-244A-2020D8346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208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9819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AB7E-1684-FE2A-7BED-C9E2FB17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M. Map All Records</a:t>
            </a: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4EB6753-598E-F853-F2FB-F8FA48E8D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99" y="1393822"/>
            <a:ext cx="7272403" cy="521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0802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F4DE19-01D2-2AAC-576F-177806F9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8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C924A0-5D6C-A941-B7A1-084EE81F865E}"/>
              </a:ext>
            </a:extLst>
          </p:cNvPr>
          <p:cNvSpPr txBox="1"/>
          <p:nvPr/>
        </p:nvSpPr>
        <p:spPr>
          <a:xfrm>
            <a:off x="838201" y="1825625"/>
            <a:ext cx="10515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Your points should represent the environmental variability true to your species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Too few points may not classify your species’ suitable conditions properly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It is not clear the minimum number of points needed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Might be dependent on the extent of the study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3, 4, or 5 have been suggested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5 per environmental variable has also been suggested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More environmental variables may not significantly change the minimum sample size needed (see study below)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F89D9B-39D9-11CB-5937-FCA8C0884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Minimum Occurrence Records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14CBE-9342-F64A-AD77-4F81180F4041}"/>
              </a:ext>
            </a:extLst>
          </p:cNvPr>
          <p:cNvSpPr txBox="1"/>
          <p:nvPr/>
        </p:nvSpPr>
        <p:spPr>
          <a:xfrm>
            <a:off x="838201" y="6556727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Proosdij</a:t>
            </a:r>
            <a:r>
              <a:rPr lang="en-US" sz="1400" dirty="0"/>
              <a:t> et al. 2016. Minimum required number of specimen records to develop accurate species distribution models. </a:t>
            </a:r>
            <a:r>
              <a:rPr lang="en-US" sz="1400" dirty="0" err="1"/>
              <a:t>Ecography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046460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2B37-E9A4-703A-8436-85139B6D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N. Georeferencing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10043B-5937-570C-654C-F124E5D63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16"/>
          <a:stretch>
            <a:fillRect/>
          </a:stretch>
        </p:blipFill>
        <p:spPr>
          <a:xfrm>
            <a:off x="2723183" y="1425011"/>
            <a:ext cx="6745633" cy="541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869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9416</TotalTime>
  <Words>1222</Words>
  <Application>Microsoft Office PowerPoint</Application>
  <PresentationFormat>Widescreen</PresentationFormat>
  <Paragraphs>191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02- Data Cleaning</vt:lpstr>
      <vt:lpstr>Hi everyone - Cameron McMullen</vt:lpstr>
      <vt:lpstr>Data Cleaning</vt:lpstr>
      <vt:lpstr>Load Packages</vt:lpstr>
      <vt:lpstr>A. Load Data File</vt:lpstr>
      <vt:lpstr>B. Taxonomic Harmonization</vt:lpstr>
      <vt:lpstr>B. Taxonomic Harmonization</vt:lpstr>
      <vt:lpstr>C. Locality Cleaning</vt:lpstr>
      <vt:lpstr>C. Locality Cleaning</vt:lpstr>
      <vt:lpstr>C. Locality Cleaning</vt:lpstr>
      <vt:lpstr>C. Locality Cleaning</vt:lpstr>
      <vt:lpstr>D. Flag and Filter Cultivated Records</vt:lpstr>
      <vt:lpstr>E. Duplicate Removal</vt:lpstr>
      <vt:lpstr>F/G. Spatial Deduplication and Thinning</vt:lpstr>
      <vt:lpstr>F/G. Spatial Deduplication and Thinning</vt:lpstr>
      <vt:lpstr>F. Spatial Deduplication</vt:lpstr>
      <vt:lpstr>G. Spatial Thinning</vt:lpstr>
      <vt:lpstr>G. Spatial Thinning</vt:lpstr>
      <vt:lpstr>G. Spatial Thinning</vt:lpstr>
      <vt:lpstr>H. Static Map of Cleaned Points</vt:lpstr>
      <vt:lpstr>H. Static Map of Cleaned Points</vt:lpstr>
      <vt:lpstr>H. Static Map of Cleaned Points</vt:lpstr>
      <vt:lpstr>I. Interactive Map with Leaflet</vt:lpstr>
      <vt:lpstr>J. Saved Cleaned.csv</vt:lpstr>
      <vt:lpstr>K. Repeat for All Taxa</vt:lpstr>
      <vt:lpstr>K. Repeat for All Taxa</vt:lpstr>
      <vt:lpstr>L. Make Maxent Ready</vt:lpstr>
      <vt:lpstr>M. Map All Records</vt:lpstr>
      <vt:lpstr>PowerPoint Presentation</vt:lpstr>
      <vt:lpstr>Minimum Occurrence Records</vt:lpstr>
      <vt:lpstr>N. Georeferencing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Soltis,Pamela S</dc:creator>
  <cp:lastModifiedBy>McMullen, Cameron J.</cp:lastModifiedBy>
  <cp:revision>74</cp:revision>
  <dcterms:created xsi:type="dcterms:W3CDTF">2022-06-13T02:58:03Z</dcterms:created>
  <dcterms:modified xsi:type="dcterms:W3CDTF">2026-08-01T12:55:49Z</dcterms:modified>
</cp:coreProperties>
</file>
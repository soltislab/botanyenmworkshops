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83" r:id="rId2"/>
    <p:sldId id="1177" r:id="rId3"/>
    <p:sldId id="1178" r:id="rId4"/>
    <p:sldId id="311" r:id="rId5"/>
    <p:sldId id="350" r:id="rId6"/>
    <p:sldId id="286" r:id="rId7"/>
    <p:sldId id="1182" r:id="rId8"/>
    <p:sldId id="289" r:id="rId9"/>
    <p:sldId id="284" r:id="rId10"/>
    <p:sldId id="315" r:id="rId11"/>
    <p:sldId id="290" r:id="rId12"/>
    <p:sldId id="325" r:id="rId13"/>
    <p:sldId id="335" r:id="rId14"/>
    <p:sldId id="326" r:id="rId15"/>
    <p:sldId id="414" r:id="rId16"/>
    <p:sldId id="394" r:id="rId17"/>
    <p:sldId id="1106" r:id="rId18"/>
    <p:sldId id="541" r:id="rId19"/>
    <p:sldId id="1094" r:id="rId20"/>
    <p:sldId id="1175" r:id="rId21"/>
    <p:sldId id="1047" r:id="rId22"/>
    <p:sldId id="1181" r:id="rId23"/>
    <p:sldId id="1140" r:id="rId24"/>
    <p:sldId id="1136" r:id="rId25"/>
    <p:sldId id="540" r:id="rId26"/>
    <p:sldId id="1179" r:id="rId27"/>
    <p:sldId id="280" r:id="rId28"/>
    <p:sldId id="300" r:id="rId29"/>
    <p:sldId id="1176" r:id="rId30"/>
    <p:sldId id="1151" r:id="rId31"/>
    <p:sldId id="118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6A23B8-8414-DA49-9F3B-B15500911D7E}" v="2" dt="2026-07-14T17:29:04.1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72"/>
    <p:restoredTop sz="89726" autoAdjust="0"/>
  </p:normalViewPr>
  <p:slideViewPr>
    <p:cSldViewPr snapToGrid="0" snapToObjects="1">
      <p:cViewPr varScale="1">
        <p:scale>
          <a:sx n="113" d="100"/>
          <a:sy n="113" d="100"/>
        </p:scale>
        <p:origin x="10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ltis,Douglas Edward" userId="1a5e1625-271a-4d9a-8165-a53cb42d88eb" providerId="ADAL" clId="{C63A1A17-F837-532C-AEAE-E811F5114273}"/>
    <pc:docChg chg="undo custSel addSld delSld modSld">
      <pc:chgData name="Soltis,Douglas Edward" userId="1a5e1625-271a-4d9a-8165-a53cb42d88eb" providerId="ADAL" clId="{C63A1A17-F837-532C-AEAE-E811F5114273}" dt="2026-07-14T17:29:04.186" v="5"/>
      <pc:docMkLst>
        <pc:docMk/>
      </pc:docMkLst>
      <pc:sldChg chg="add del">
        <pc:chgData name="Soltis,Douglas Edward" userId="1a5e1625-271a-4d9a-8165-a53cb42d88eb" providerId="ADAL" clId="{C63A1A17-F837-532C-AEAE-E811F5114273}" dt="2026-07-14T17:27:57.496" v="3" actId="2696"/>
        <pc:sldMkLst>
          <pc:docMk/>
          <pc:sldMk cId="3221954160" sldId="1140"/>
        </pc:sldMkLst>
      </pc:sldChg>
      <pc:sldChg chg="del">
        <pc:chgData name="Soltis,Douglas Edward" userId="1a5e1625-271a-4d9a-8165-a53cb42d88eb" providerId="ADAL" clId="{C63A1A17-F837-532C-AEAE-E811F5114273}" dt="2026-07-14T17:27:25.482" v="0" actId="2696"/>
        <pc:sldMkLst>
          <pc:docMk/>
          <pc:sldMk cId="199446080" sldId="1151"/>
        </pc:sldMkLst>
      </pc:sldChg>
      <pc:sldChg chg="add">
        <pc:chgData name="Soltis,Douglas Edward" userId="1a5e1625-271a-4d9a-8165-a53cb42d88eb" providerId="ADAL" clId="{C63A1A17-F837-532C-AEAE-E811F5114273}" dt="2026-07-14T17:27:32.280" v="1"/>
        <pc:sldMkLst>
          <pc:docMk/>
          <pc:sldMk cId="4263272835" sldId="1151"/>
        </pc:sldMkLst>
      </pc:sldChg>
      <pc:sldChg chg="add">
        <pc:chgData name="Soltis,Douglas Edward" userId="1a5e1625-271a-4d9a-8165-a53cb42d88eb" providerId="ADAL" clId="{C63A1A17-F837-532C-AEAE-E811F5114273}" dt="2026-07-14T17:29:04.186" v="5"/>
        <pc:sldMkLst>
          <pc:docMk/>
          <pc:sldMk cId="1439148955" sldId="1181"/>
        </pc:sldMkLst>
      </pc:sldChg>
      <pc:sldChg chg="del">
        <pc:chgData name="Soltis,Douglas Edward" userId="1a5e1625-271a-4d9a-8165-a53cb42d88eb" providerId="ADAL" clId="{C63A1A17-F837-532C-AEAE-E811F5114273}" dt="2026-07-14T17:29:00.071" v="4" actId="2696"/>
        <pc:sldMkLst>
          <pc:docMk/>
          <pc:sldMk cId="1920754842" sldId="11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55F8BD-DEE4-F241-A603-4B105F8B2A2C}" type="datetimeFigureOut">
              <a:rPr lang="en-US" smtClean="0"/>
              <a:t>7/15/26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B53E5-64FB-5A4E-BD78-8E4AA19AB6CD}" type="slidenum">
              <a:rPr lang="en-US" smtClean="0"/>
              <a:t>‹#›</a:t>
            </a:fld>
            <a:endParaRPr lang="en-US"/>
          </a:p>
        </p:txBody>
      </p:sp>
    </p:spTree>
    <p:extLst>
      <p:ext uri="{BB962C8B-B14F-4D97-AF65-F5344CB8AC3E}">
        <p14:creationId xmlns:p14="http://schemas.microsoft.com/office/powerpoint/2010/main" val="1344236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A73D2E8-E5E6-8F4C-92B2-A264A0CA8926}" type="slidenum">
              <a:rPr lang="en-US" smtClean="0"/>
              <a:t>1</a:t>
            </a:fld>
            <a:endParaRPr lang="en-US"/>
          </a:p>
        </p:txBody>
      </p:sp>
    </p:spTree>
    <p:extLst>
      <p:ext uri="{BB962C8B-B14F-4D97-AF65-F5344CB8AC3E}">
        <p14:creationId xmlns:p14="http://schemas.microsoft.com/office/powerpoint/2010/main" val="3647762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want to do today is highlight some of the exciting workflows our team is developing –so that you can see some of the possibilities that you may want to implement yourselves…using our platform deliverables and what ultimately should be easy to use workflows.. As originally conceived the goal of our first NSF-funded </a:t>
            </a:r>
            <a:r>
              <a:rPr lang="en-US" dirty="0" err="1"/>
              <a:t>Biotaphy</a:t>
            </a:r>
            <a:r>
              <a:rPr lang="en-US" dirty="0"/>
              <a:t> project was to connect specimens, trees, tools.. In </a:t>
            </a:r>
            <a:r>
              <a:rPr lang="en-US" dirty="0" err="1"/>
              <a:t>Biotaphy</a:t>
            </a:r>
            <a:r>
              <a:rPr lang="en-US" dirty="0"/>
              <a:t> 2—our current funding—we want to make workflows more accessible to the community</a:t>
            </a:r>
          </a:p>
        </p:txBody>
      </p:sp>
      <p:sp>
        <p:nvSpPr>
          <p:cNvPr id="4" name="Slide Number Placeholder 3"/>
          <p:cNvSpPr>
            <a:spLocks noGrp="1"/>
          </p:cNvSpPr>
          <p:nvPr>
            <p:ph type="sldNum" sz="quarter" idx="10"/>
          </p:nvPr>
        </p:nvSpPr>
        <p:spPr/>
        <p:txBody>
          <a:bodyPr/>
          <a:lstStyle/>
          <a:p>
            <a:fld id="{4CE0C6AE-A4F7-8340-8046-4514AF2A3FC8}" type="slidenum">
              <a:rPr lang="en-US" smtClean="0"/>
              <a:t>2</a:t>
            </a:fld>
            <a:endParaRPr lang="en-US"/>
          </a:p>
        </p:txBody>
      </p:sp>
    </p:spTree>
    <p:extLst>
      <p:ext uri="{BB962C8B-B14F-4D97-AF65-F5344CB8AC3E}">
        <p14:creationId xmlns:p14="http://schemas.microsoft.com/office/powerpoint/2010/main" val="2708070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CBC0D-F3B5-11B8-E2EE-C46A5F6CCF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E79282-481C-E8A7-CD5D-EFB5564542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3B6260-DC5B-9D2F-1FA7-51DA26D900F5}"/>
              </a:ext>
            </a:extLst>
          </p:cNvPr>
          <p:cNvSpPr>
            <a:spLocks noGrp="1"/>
          </p:cNvSpPr>
          <p:nvPr>
            <p:ph type="body" idx="1"/>
          </p:nvPr>
        </p:nvSpPr>
        <p:spPr/>
        <p:txBody>
          <a:bodyPr/>
          <a:lstStyle/>
          <a:p>
            <a:r>
              <a:rPr lang="en-US" dirty="0"/>
              <a:t>What we want to do today is highlight some of the exciting workflows our team is developing –so that you can see some of the possibilities that you may want to implement yourselves…using our platform deliverables and what ultimately should be easy to use workflows.. As originally conceived the goal of our first NSF-funded </a:t>
            </a:r>
            <a:r>
              <a:rPr lang="en-US" dirty="0" err="1"/>
              <a:t>Biotaphy</a:t>
            </a:r>
            <a:r>
              <a:rPr lang="en-US" dirty="0"/>
              <a:t> project was to connect specimens, trees, tools.. In </a:t>
            </a:r>
            <a:r>
              <a:rPr lang="en-US" dirty="0" err="1"/>
              <a:t>Biotaphy</a:t>
            </a:r>
            <a:r>
              <a:rPr lang="en-US" dirty="0"/>
              <a:t> 2—our current funding—we want to make workflows more accessible to the community</a:t>
            </a:r>
          </a:p>
        </p:txBody>
      </p:sp>
      <p:sp>
        <p:nvSpPr>
          <p:cNvPr id="4" name="Slide Number Placeholder 3">
            <a:extLst>
              <a:ext uri="{FF2B5EF4-FFF2-40B4-BE49-F238E27FC236}">
                <a16:creationId xmlns:a16="http://schemas.microsoft.com/office/drawing/2014/main" id="{DF0FF2A7-6496-BD18-DB78-952BC9934815}"/>
              </a:ext>
            </a:extLst>
          </p:cNvPr>
          <p:cNvSpPr>
            <a:spLocks noGrp="1"/>
          </p:cNvSpPr>
          <p:nvPr>
            <p:ph type="sldNum" sz="quarter" idx="10"/>
          </p:nvPr>
        </p:nvSpPr>
        <p:spPr/>
        <p:txBody>
          <a:bodyPr/>
          <a:lstStyle/>
          <a:p>
            <a:fld id="{4CE0C6AE-A4F7-8340-8046-4514AF2A3FC8}" type="slidenum">
              <a:rPr lang="en-US" smtClean="0"/>
              <a:t>3</a:t>
            </a:fld>
            <a:endParaRPr lang="en-US"/>
          </a:p>
        </p:txBody>
      </p:sp>
    </p:spTree>
    <p:extLst>
      <p:ext uri="{BB962C8B-B14F-4D97-AF65-F5344CB8AC3E}">
        <p14:creationId xmlns:p14="http://schemas.microsoft.com/office/powerpoint/2010/main" val="77547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6DB53E5-64FB-5A4E-BD78-8E4AA19AB6CD}" type="slidenum">
              <a:rPr lang="en-US" smtClean="0"/>
              <a:t>4</a:t>
            </a:fld>
            <a:endParaRPr lang="en-US"/>
          </a:p>
        </p:txBody>
      </p:sp>
    </p:spTree>
    <p:extLst>
      <p:ext uri="{BB962C8B-B14F-4D97-AF65-F5344CB8AC3E}">
        <p14:creationId xmlns:p14="http://schemas.microsoft.com/office/powerpoint/2010/main" val="155124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628650" lvl="1" indent="-171450">
              <a:buFont typeface="Arial"/>
              <a:buChar char="•"/>
            </a:pPr>
            <a:r>
              <a:rPr lang="en-US" sz="1600" kern="1200" dirty="0" err="1">
                <a:solidFill>
                  <a:schemeClr val="tx1"/>
                </a:solidFill>
                <a:effectLst/>
                <a:latin typeface="+mn-lt"/>
                <a:ea typeface="+mn-ea"/>
                <a:cs typeface="+mn-cs"/>
              </a:rPr>
              <a:t>Lifemapper</a:t>
            </a:r>
            <a:r>
              <a:rPr lang="en-US" sz="1600" kern="1200" dirty="0">
                <a:solidFill>
                  <a:schemeClr val="tx1"/>
                </a:solidFill>
                <a:effectLst/>
                <a:latin typeface="+mn-lt"/>
                <a:ea typeface="+mn-ea"/>
                <a:cs typeface="+mn-cs"/>
              </a:rPr>
              <a:t> calculates predicted </a:t>
            </a:r>
            <a:r>
              <a:rPr lang="en-US" sz="1600" dirty="0"/>
              <a:t>habitat </a:t>
            </a:r>
            <a:r>
              <a:rPr lang="en-US" sz="1600" kern="1200" dirty="0">
                <a:solidFill>
                  <a:schemeClr val="tx1"/>
                </a:solidFill>
                <a:effectLst/>
                <a:latin typeface="+mn-lt"/>
                <a:ea typeface="+mn-ea"/>
                <a:cs typeface="+mn-cs"/>
              </a:rPr>
              <a:t>models using occurrence and environmental data---niche models on </a:t>
            </a:r>
            <a:r>
              <a:rPr lang="en-US" sz="1600" kern="1200">
                <a:solidFill>
                  <a:schemeClr val="tx1"/>
                </a:solidFill>
                <a:effectLst/>
                <a:latin typeface="+mn-lt"/>
                <a:ea typeface="+mn-ea"/>
                <a:cs typeface="+mn-cs"/>
              </a:rPr>
              <a:t>the fly</a:t>
            </a:r>
            <a:endParaRPr lang="en-US" sz="1600" b="1"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08BCF649-5B55-544D-AA2E-68C53F24AC55}" type="slidenum">
              <a:rPr lang="en-US" smtClean="0"/>
              <a:t>5</a:t>
            </a:fld>
            <a:endParaRPr lang="en-US"/>
          </a:p>
        </p:txBody>
      </p:sp>
    </p:spTree>
    <p:extLst>
      <p:ext uri="{BB962C8B-B14F-4D97-AF65-F5344CB8AC3E}">
        <p14:creationId xmlns:p14="http://schemas.microsoft.com/office/powerpoint/2010/main" val="2189455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24831-BD9D-250C-0B7F-EC0FB7C22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BD2C42-9772-CE63-748A-D021672A42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4AA371-D720-FEE8-F0FA-01D3CF14FE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C3474F-FF86-5C6E-09E4-E4DBA2D9A064}"/>
              </a:ext>
            </a:extLst>
          </p:cNvPr>
          <p:cNvSpPr>
            <a:spLocks noGrp="1"/>
          </p:cNvSpPr>
          <p:nvPr>
            <p:ph type="sldNum" sz="quarter" idx="5"/>
          </p:nvPr>
        </p:nvSpPr>
        <p:spPr/>
        <p:txBody>
          <a:bodyPr/>
          <a:lstStyle/>
          <a:p>
            <a:fld id="{F82E9A87-B38E-A344-94AC-89D2D6AED2E6}" type="slidenum">
              <a:rPr lang="en-US" smtClean="0"/>
              <a:t>8</a:t>
            </a:fld>
            <a:endParaRPr lang="en-US"/>
          </a:p>
        </p:txBody>
      </p:sp>
    </p:spTree>
    <p:extLst>
      <p:ext uri="{BB962C8B-B14F-4D97-AF65-F5344CB8AC3E}">
        <p14:creationId xmlns:p14="http://schemas.microsoft.com/office/powerpoint/2010/main" val="644563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One workflow that has been of great interest is to reconstruct ancestral niche. You have a Clade of interest- we need taxon names (OT) and occurrence data (</a:t>
            </a:r>
            <a:r>
              <a:rPr lang="en-US" sz="1200" b="0" i="0" u="none" strike="noStrike" kern="1200" dirty="0" err="1">
                <a:solidFill>
                  <a:schemeClr val="tx1"/>
                </a:solidFill>
                <a:effectLst/>
                <a:latin typeface="+mn-lt"/>
                <a:ea typeface="+mn-ea"/>
                <a:cs typeface="+mn-cs"/>
              </a:rPr>
              <a:t>iDigBio</a:t>
            </a:r>
            <a:r>
              <a:rPr lang="en-US" sz="1200" b="0" i="0" u="none" strike="noStrike" kern="1200" dirty="0">
                <a:solidFill>
                  <a:schemeClr val="tx1"/>
                </a:solidFill>
                <a:effectLst/>
                <a:latin typeface="+mn-lt"/>
                <a:ea typeface="+mn-ea"/>
                <a:cs typeface="+mn-cs"/>
              </a:rPr>
              <a:t>)— we can use those data to build niche models for all the tip species  We also need a tree (build one or download one) and we can now examine niche shifts across the tree and look at phylogenetic constraints on niche evolution </a:t>
            </a:r>
          </a:p>
          <a:p>
            <a:br>
              <a:rPr lang="en-US" dirty="0"/>
            </a:br>
            <a:endParaRPr lang="en-US" dirty="0"/>
          </a:p>
        </p:txBody>
      </p:sp>
      <p:sp>
        <p:nvSpPr>
          <p:cNvPr id="4" name="Slide Number Placeholder 3"/>
          <p:cNvSpPr>
            <a:spLocks noGrp="1"/>
          </p:cNvSpPr>
          <p:nvPr>
            <p:ph type="sldNum" sz="quarter" idx="5"/>
          </p:nvPr>
        </p:nvSpPr>
        <p:spPr/>
        <p:txBody>
          <a:bodyPr/>
          <a:lstStyle/>
          <a:p>
            <a:fld id="{D6DB53E5-64FB-5A4E-BD78-8E4AA19AB6CD}" type="slidenum">
              <a:rPr lang="en-US" smtClean="0"/>
              <a:t>11</a:t>
            </a:fld>
            <a:endParaRPr lang="en-US"/>
          </a:p>
        </p:txBody>
      </p:sp>
    </p:spTree>
    <p:extLst>
      <p:ext uri="{BB962C8B-B14F-4D97-AF65-F5344CB8AC3E}">
        <p14:creationId xmlns:p14="http://schemas.microsoft.com/office/powerpoint/2010/main" val="2618784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008166B-525F-F84C-BD3C-4FD7009CD9B2}" type="slidenum">
              <a:rPr lang="en-US" smtClean="0"/>
              <a:t>12</a:t>
            </a:fld>
            <a:endParaRPr lang="en-US"/>
          </a:p>
        </p:txBody>
      </p:sp>
    </p:spTree>
    <p:extLst>
      <p:ext uri="{BB962C8B-B14F-4D97-AF65-F5344CB8AC3E}">
        <p14:creationId xmlns:p14="http://schemas.microsoft.com/office/powerpoint/2010/main" val="2664030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Reconstructed the ancestral niche for the clades</a:t>
            </a:r>
            <a:r>
              <a:rPr lang="en-US" baseline="0" dirty="0"/>
              <a:t> of </a:t>
            </a:r>
            <a:r>
              <a:rPr lang="en-US" dirty="0" err="1"/>
              <a:t>heuchera</a:t>
            </a:r>
            <a:r>
              <a:rPr lang="en-US" dirty="0"/>
              <a:t> and </a:t>
            </a:r>
            <a:r>
              <a:rPr lang="en-US" dirty="0" err="1"/>
              <a:t>Mitella</a:t>
            </a:r>
            <a:r>
              <a:rPr lang="en-US" dirty="0"/>
              <a:t>—35 layers-custom</a:t>
            </a:r>
            <a:r>
              <a:rPr lang="en-US" baseline="0" dirty="0"/>
              <a:t> scripts, </a:t>
            </a:r>
            <a:r>
              <a:rPr lang="en-US" baseline="0" dirty="0" err="1"/>
              <a:t>Bayestraits</a:t>
            </a:r>
            <a:r>
              <a:rPr lang="en-US" baseline="0" dirty="0"/>
              <a:t>….</a:t>
            </a:r>
            <a:r>
              <a:rPr lang="en-US" dirty="0" err="1"/>
              <a:t>ryan</a:t>
            </a:r>
            <a:r>
              <a:rPr lang="en-US" dirty="0"/>
              <a:t> can</a:t>
            </a:r>
            <a:r>
              <a:rPr lang="en-US" baseline="0" dirty="0"/>
              <a:t> provide details</a:t>
            </a:r>
            <a:endParaRPr lang="en-US" dirty="0"/>
          </a:p>
        </p:txBody>
      </p:sp>
      <p:sp>
        <p:nvSpPr>
          <p:cNvPr id="4" name="Slide Number Placeholder 3"/>
          <p:cNvSpPr>
            <a:spLocks noGrp="1"/>
          </p:cNvSpPr>
          <p:nvPr>
            <p:ph type="sldNum" sz="quarter" idx="10"/>
          </p:nvPr>
        </p:nvSpPr>
        <p:spPr/>
        <p:txBody>
          <a:bodyPr/>
          <a:lstStyle/>
          <a:p>
            <a:fld id="{4E2C1CD4-F10C-E448-89D5-3B685B553CC5}" type="slidenum">
              <a:rPr lang="en-US" smtClean="0"/>
              <a:t>13</a:t>
            </a:fld>
            <a:endParaRPr lang="en-US"/>
          </a:p>
        </p:txBody>
      </p:sp>
    </p:spTree>
    <p:extLst>
      <p:ext uri="{BB962C8B-B14F-4D97-AF65-F5344CB8AC3E}">
        <p14:creationId xmlns:p14="http://schemas.microsoft.com/office/powerpoint/2010/main" val="3170830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Then</a:t>
            </a:r>
            <a:r>
              <a:rPr lang="en-US" sz="1200" kern="1200" baseline="0" dirty="0">
                <a:solidFill>
                  <a:schemeClr val="tx1"/>
                </a:solidFill>
                <a:effectLst/>
                <a:latin typeface="+mn-lt"/>
                <a:ea typeface="+mn-ea"/>
                <a:cs typeface="+mn-cs"/>
              </a:rPr>
              <a:t> used </a:t>
            </a:r>
            <a:r>
              <a:rPr lang="en-US" sz="1200" kern="1200" dirty="0" err="1">
                <a:solidFill>
                  <a:schemeClr val="tx1"/>
                </a:solidFill>
                <a:effectLst/>
                <a:latin typeface="+mn-lt"/>
                <a:ea typeface="+mn-ea"/>
                <a:cs typeface="+mn-cs"/>
              </a:rPr>
              <a:t>paleoclimatic</a:t>
            </a:r>
            <a:r>
              <a:rPr lang="en-US" sz="1200" kern="1200" dirty="0">
                <a:solidFill>
                  <a:schemeClr val="tx1"/>
                </a:solidFill>
                <a:effectLst/>
                <a:latin typeface="+mn-lt"/>
                <a:ea typeface="+mn-ea"/>
                <a:cs typeface="+mn-cs"/>
              </a:rPr>
              <a:t> projections –</a:t>
            </a:r>
            <a:r>
              <a:rPr lang="en-US" sz="1200" kern="1200" dirty="0" err="1">
                <a:solidFill>
                  <a:schemeClr val="tx1"/>
                </a:solidFill>
                <a:effectLst/>
                <a:latin typeface="+mn-lt"/>
                <a:ea typeface="+mn-ea"/>
                <a:cs typeface="+mn-cs"/>
              </a:rPr>
              <a:t>worldclim</a:t>
            </a:r>
            <a:r>
              <a:rPr lang="en-US" sz="1200" kern="1200" dirty="0">
                <a:solidFill>
                  <a:schemeClr val="tx1"/>
                </a:solidFill>
                <a:effectLst/>
                <a:latin typeface="+mn-lt"/>
                <a:ea typeface="+mn-ea"/>
                <a:cs typeface="+mn-cs"/>
              </a:rPr>
              <a:t>—to</a:t>
            </a:r>
            <a:r>
              <a:rPr lang="en-US" sz="1200" kern="1200" baseline="0" dirty="0">
                <a:solidFill>
                  <a:schemeClr val="tx1"/>
                </a:solidFill>
                <a:effectLst/>
                <a:latin typeface="+mn-lt"/>
                <a:ea typeface="+mn-ea"/>
                <a:cs typeface="+mn-cs"/>
              </a:rPr>
              <a:t> assess possible niche overlap through time</a:t>
            </a:r>
            <a:endParaRPr lang="en-US" dirty="0"/>
          </a:p>
        </p:txBody>
      </p:sp>
      <p:sp>
        <p:nvSpPr>
          <p:cNvPr id="4" name="Slide Number Placeholder 3"/>
          <p:cNvSpPr>
            <a:spLocks noGrp="1"/>
          </p:cNvSpPr>
          <p:nvPr>
            <p:ph type="sldNum" sz="quarter" idx="10"/>
          </p:nvPr>
        </p:nvSpPr>
        <p:spPr/>
        <p:txBody>
          <a:bodyPr/>
          <a:lstStyle/>
          <a:p>
            <a:fld id="{4E2C1CD4-F10C-E448-89D5-3B685B553CC5}" type="slidenum">
              <a:rPr lang="en-US" smtClean="0"/>
              <a:t>14</a:t>
            </a:fld>
            <a:endParaRPr lang="en-US"/>
          </a:p>
        </p:txBody>
      </p:sp>
    </p:spTree>
    <p:extLst>
      <p:ext uri="{BB962C8B-B14F-4D97-AF65-F5344CB8AC3E}">
        <p14:creationId xmlns:p14="http://schemas.microsoft.com/office/powerpoint/2010/main" val="2352886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Another workflow of interest involves studies of spatial phylogenetics.  A researcher selects an area of interest- here the Amazonian region but if could be Florida or a watershed in Ohio.  You need a species list - occurrence data for those species. - and you need a tree for just those species. That tree can be obtained by pruning an existing tree to match your species list.   You can then compute phylogenetic diversity (PD)- </a:t>
            </a:r>
          </a:p>
        </p:txBody>
      </p:sp>
      <p:sp>
        <p:nvSpPr>
          <p:cNvPr id="4" name="Slide Number Placeholder 3"/>
          <p:cNvSpPr>
            <a:spLocks noGrp="1"/>
          </p:cNvSpPr>
          <p:nvPr>
            <p:ph type="sldNum" sz="quarter" idx="5"/>
          </p:nvPr>
        </p:nvSpPr>
        <p:spPr/>
        <p:txBody>
          <a:bodyPr/>
          <a:lstStyle/>
          <a:p>
            <a:fld id="{D6DB53E5-64FB-5A4E-BD78-8E4AA19AB6CD}" type="slidenum">
              <a:rPr lang="en-US" smtClean="0"/>
              <a:t>15</a:t>
            </a:fld>
            <a:endParaRPr lang="en-US"/>
          </a:p>
        </p:txBody>
      </p:sp>
    </p:spTree>
    <p:extLst>
      <p:ext uri="{BB962C8B-B14F-4D97-AF65-F5344CB8AC3E}">
        <p14:creationId xmlns:p14="http://schemas.microsoft.com/office/powerpoint/2010/main" val="34181975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Hannah will tell you more about PD next</a:t>
            </a:r>
          </a:p>
        </p:txBody>
      </p:sp>
      <p:sp>
        <p:nvSpPr>
          <p:cNvPr id="4" name="Slide Number Placeholder 3"/>
          <p:cNvSpPr>
            <a:spLocks noGrp="1"/>
          </p:cNvSpPr>
          <p:nvPr>
            <p:ph type="sldNum" sz="quarter" idx="5"/>
          </p:nvPr>
        </p:nvSpPr>
        <p:spPr/>
        <p:txBody>
          <a:bodyPr/>
          <a:lstStyle/>
          <a:p>
            <a:fld id="{D6DB53E5-64FB-5A4E-BD78-8E4AA19AB6CD}" type="slidenum">
              <a:rPr lang="en-US" smtClean="0"/>
              <a:t>16</a:t>
            </a:fld>
            <a:endParaRPr lang="en-US"/>
          </a:p>
        </p:txBody>
      </p:sp>
    </p:spTree>
    <p:extLst>
      <p:ext uri="{BB962C8B-B14F-4D97-AF65-F5344CB8AC3E}">
        <p14:creationId xmlns:p14="http://schemas.microsoft.com/office/powerpoint/2010/main" val="5504293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So for any area, such</a:t>
            </a:r>
            <a:r>
              <a:rPr lang="en-US" baseline="0" dirty="0"/>
              <a:t> as a small region of the Panhandle, we can ask which species are there, and how much of the tree do they represent?</a:t>
            </a:r>
            <a:endParaRPr lang="en-US" dirty="0"/>
          </a:p>
          <a:p>
            <a:endParaRPr lang="en-US" dirty="0"/>
          </a:p>
        </p:txBody>
      </p:sp>
      <p:sp>
        <p:nvSpPr>
          <p:cNvPr id="4" name="Slide Number Placeholder 3"/>
          <p:cNvSpPr>
            <a:spLocks noGrp="1"/>
          </p:cNvSpPr>
          <p:nvPr>
            <p:ph type="sldNum" sz="quarter" idx="10"/>
          </p:nvPr>
        </p:nvSpPr>
        <p:spPr/>
        <p:txBody>
          <a:bodyPr/>
          <a:lstStyle/>
          <a:p>
            <a:fld id="{ED558EDD-AFE9-1F47-B8B6-F885C0B9C2CE}" type="slidenum">
              <a:rPr lang="en-US" smtClean="0"/>
              <a:pPr/>
              <a:t>17</a:t>
            </a:fld>
            <a:endParaRPr lang="en-US"/>
          </a:p>
        </p:txBody>
      </p:sp>
    </p:spTree>
    <p:extLst>
      <p:ext uri="{BB962C8B-B14F-4D97-AF65-F5344CB8AC3E}">
        <p14:creationId xmlns:p14="http://schemas.microsoft.com/office/powerpoint/2010/main" val="1585141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highly correlated with each other, and</a:t>
            </a:r>
            <a:r>
              <a:rPr lang="en-US" baseline="0" dirty="0"/>
              <a:t> with the alpha diversity map too. </a:t>
            </a:r>
            <a:r>
              <a:rPr lang="en-US" baseline="0" dirty="0" err="1"/>
              <a:t>Ultramatric</a:t>
            </a:r>
            <a:r>
              <a:rPr lang="en-US" baseline="0" dirty="0"/>
              <a:t> is generally lower over the landscape. </a:t>
            </a:r>
          </a:p>
          <a:p>
            <a:r>
              <a:rPr lang="en-US" baseline="0" dirty="0"/>
              <a:t>This might be due to a low proportion of short deep branches in the tree. These lengthen the overall </a:t>
            </a:r>
            <a:endParaRPr lang="en-US" dirty="0"/>
          </a:p>
        </p:txBody>
      </p:sp>
      <p:sp>
        <p:nvSpPr>
          <p:cNvPr id="4" name="Slide Number Placeholder 3"/>
          <p:cNvSpPr>
            <a:spLocks noGrp="1"/>
          </p:cNvSpPr>
          <p:nvPr>
            <p:ph type="sldNum" sz="quarter" idx="10"/>
          </p:nvPr>
        </p:nvSpPr>
        <p:spPr/>
        <p:txBody>
          <a:bodyPr/>
          <a:lstStyle/>
          <a:p>
            <a:fld id="{A0891C24-B13E-514B-B656-BF66E5910A86}" type="slidenum">
              <a:rPr lang="en-US" smtClean="0"/>
              <a:t>18</a:t>
            </a:fld>
            <a:endParaRPr lang="en-US"/>
          </a:p>
        </p:txBody>
      </p:sp>
    </p:spTree>
    <p:extLst>
      <p:ext uri="{BB962C8B-B14F-4D97-AF65-F5344CB8AC3E}">
        <p14:creationId xmlns:p14="http://schemas.microsoft.com/office/powerpoint/2010/main" val="35436878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same</a:t>
            </a:r>
            <a:r>
              <a:rPr lang="en-US" baseline="0" dirty="0"/>
              <a:t> approach can be applied to much larger geographic regions.  Here we, with some Chinese collaborators, applied the same methods to China.  And we can see that the regions with the highest PD, in pink and blue </a:t>
            </a:r>
            <a:r>
              <a:rPr lang="mr-IN" baseline="0" dirty="0"/>
              <a:t>–</a:t>
            </a:r>
            <a:r>
              <a:rPr lang="en-US" baseline="0" dirty="0"/>
              <a:t> subtropical forests, in S China, are not the regions that are under greatest conservation </a:t>
            </a:r>
            <a:r>
              <a:rPr lang="mr-IN" baseline="0" dirty="0"/>
              <a:t>–</a:t>
            </a:r>
            <a:r>
              <a:rPr lang="en-US" baseline="0" dirty="0"/>
              <a:t> these large expanses of green in western China that include grasslands.</a:t>
            </a:r>
          </a:p>
          <a:p>
            <a:r>
              <a:rPr lang="en-US" baseline="0" dirty="0"/>
              <a:t>Studies using the tree of life have great potential for conservation.</a:t>
            </a:r>
            <a:endParaRPr lang="en-US" dirty="0"/>
          </a:p>
          <a:p>
            <a:endParaRPr lang="en-US" dirty="0"/>
          </a:p>
        </p:txBody>
      </p:sp>
      <p:sp>
        <p:nvSpPr>
          <p:cNvPr id="4" name="Slide Number Placeholder 3"/>
          <p:cNvSpPr>
            <a:spLocks noGrp="1"/>
          </p:cNvSpPr>
          <p:nvPr>
            <p:ph type="sldNum" sz="quarter" idx="10"/>
          </p:nvPr>
        </p:nvSpPr>
        <p:spPr/>
        <p:txBody>
          <a:bodyPr/>
          <a:lstStyle/>
          <a:p>
            <a:fld id="{ED558EDD-AFE9-1F47-B8B6-F885C0B9C2CE}" type="slidenum">
              <a:rPr lang="en-US" smtClean="0"/>
              <a:pPr/>
              <a:t>21</a:t>
            </a:fld>
            <a:endParaRPr lang="en-US"/>
          </a:p>
        </p:txBody>
      </p:sp>
    </p:spTree>
    <p:extLst>
      <p:ext uri="{BB962C8B-B14F-4D97-AF65-F5344CB8AC3E}">
        <p14:creationId xmlns:p14="http://schemas.microsoft.com/office/powerpoint/2010/main" val="9562648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5E0E1-FE4D-1F72-68B5-43AC34896A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8BF42-62D4-8C47-9150-7FE656203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A5D912-DBD7-6D04-C0EF-428AFCA4EDC5}"/>
              </a:ext>
            </a:extLst>
          </p:cNvPr>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One workflow that has been of great interest is to reconstruct ancestral niche. You have a Clade of interest- we need taxon names (OT) and occurrence data (</a:t>
            </a:r>
            <a:r>
              <a:rPr lang="en-US" sz="1200" b="0" i="0" u="none" strike="noStrike" kern="1200" dirty="0" err="1">
                <a:solidFill>
                  <a:schemeClr val="tx1"/>
                </a:solidFill>
                <a:effectLst/>
                <a:latin typeface="+mn-lt"/>
                <a:ea typeface="+mn-ea"/>
                <a:cs typeface="+mn-cs"/>
              </a:rPr>
              <a:t>iDigBio</a:t>
            </a:r>
            <a:r>
              <a:rPr lang="en-US" sz="1200" b="0" i="0" u="none" strike="noStrike" kern="1200" dirty="0">
                <a:solidFill>
                  <a:schemeClr val="tx1"/>
                </a:solidFill>
                <a:effectLst/>
                <a:latin typeface="+mn-lt"/>
                <a:ea typeface="+mn-ea"/>
                <a:cs typeface="+mn-cs"/>
              </a:rPr>
              <a:t>)— we can use those data to build niche models for all the tip species  We also need a tree (build one or download one) and we can now examine niche shifts across the tree and look at phylogenetic constraints on niche evolution </a:t>
            </a:r>
          </a:p>
          <a:p>
            <a:br>
              <a:rPr lang="en-US" dirty="0"/>
            </a:br>
            <a:endParaRPr lang="en-US" dirty="0"/>
          </a:p>
        </p:txBody>
      </p:sp>
      <p:sp>
        <p:nvSpPr>
          <p:cNvPr id="4" name="Slide Number Placeholder 3">
            <a:extLst>
              <a:ext uri="{FF2B5EF4-FFF2-40B4-BE49-F238E27FC236}">
                <a16:creationId xmlns:a16="http://schemas.microsoft.com/office/drawing/2014/main" id="{64C502CB-D82B-9CB0-1AA3-F318CF421A38}"/>
              </a:ext>
            </a:extLst>
          </p:cNvPr>
          <p:cNvSpPr>
            <a:spLocks noGrp="1"/>
          </p:cNvSpPr>
          <p:nvPr>
            <p:ph type="sldNum" sz="quarter" idx="5"/>
          </p:nvPr>
        </p:nvSpPr>
        <p:spPr/>
        <p:txBody>
          <a:bodyPr/>
          <a:lstStyle/>
          <a:p>
            <a:fld id="{D6DB53E5-64FB-5A4E-BD78-8E4AA19AB6CD}" type="slidenum">
              <a:rPr lang="en-US" smtClean="0"/>
              <a:t>26</a:t>
            </a:fld>
            <a:endParaRPr lang="en-US"/>
          </a:p>
        </p:txBody>
      </p:sp>
    </p:spTree>
    <p:extLst>
      <p:ext uri="{BB962C8B-B14F-4D97-AF65-F5344CB8AC3E}">
        <p14:creationId xmlns:p14="http://schemas.microsoft.com/office/powerpoint/2010/main" val="9881619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green</a:t>
            </a:r>
            <a:r>
              <a:rPr lang="en-US" baseline="0" dirty="0"/>
              <a:t> curve here represents net diversification through time, since the origin of the </a:t>
            </a:r>
            <a:r>
              <a:rPr lang="en-US" baseline="0" dirty="0" err="1"/>
              <a:t>Saxifragales</a:t>
            </a:r>
            <a:r>
              <a:rPr lang="en-US" baseline="0" dirty="0"/>
              <a:t> ~110 </a:t>
            </a:r>
            <a:r>
              <a:rPr lang="en-US" baseline="0" dirty="0" err="1"/>
              <a:t>mya</a:t>
            </a:r>
            <a:r>
              <a:rPr lang="en-US" baseline="0" dirty="0"/>
              <a:t>. The red curve represents niche lability, the blue curve represents trait lability, and the gray curve represents global historical temperature. Immediately, you can see that there is a strong uptick in </a:t>
            </a:r>
            <a:r>
              <a:rPr lang="en-US" baseline="0" dirty="0" err="1"/>
              <a:t>macroevolutionary</a:t>
            </a:r>
            <a:r>
              <a:rPr lang="en-US" baseline="0" dirty="0"/>
              <a:t> rates from about 15 </a:t>
            </a:r>
            <a:r>
              <a:rPr lang="en-US" baseline="0" dirty="0" err="1"/>
              <a:t>mya</a:t>
            </a:r>
            <a:r>
              <a:rPr lang="en-US" baseline="0" dirty="0"/>
              <a:t>. </a:t>
            </a:r>
            <a:endParaRPr lang="en-US" dirty="0"/>
          </a:p>
        </p:txBody>
      </p:sp>
      <p:sp>
        <p:nvSpPr>
          <p:cNvPr id="4" name="Slide Number Placeholder 3"/>
          <p:cNvSpPr>
            <a:spLocks noGrp="1"/>
          </p:cNvSpPr>
          <p:nvPr>
            <p:ph type="sldNum" sz="quarter" idx="10"/>
          </p:nvPr>
        </p:nvSpPr>
        <p:spPr/>
        <p:txBody>
          <a:bodyPr/>
          <a:lstStyle/>
          <a:p>
            <a:fld id="{C7E74977-9059-AC4C-AA33-635D02D4C2EE}" type="slidenum">
              <a:rPr lang="en-US" smtClean="0"/>
              <a:t>28</a:t>
            </a:fld>
            <a:endParaRPr lang="en-US"/>
          </a:p>
        </p:txBody>
      </p:sp>
    </p:spTree>
    <p:extLst>
      <p:ext uri="{BB962C8B-B14F-4D97-AF65-F5344CB8AC3E}">
        <p14:creationId xmlns:p14="http://schemas.microsoft.com/office/powerpoint/2010/main" val="1495929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group contains peony, sweetgum, stone crops; and some of the most cold tolerant plants (upper right).  Temperature shifts are canalizing events; lineages in those states for millions of years…do not switch out</a:t>
            </a:r>
          </a:p>
        </p:txBody>
      </p:sp>
      <p:sp>
        <p:nvSpPr>
          <p:cNvPr id="4" name="Slide Number Placeholder 3"/>
          <p:cNvSpPr>
            <a:spLocks noGrp="1"/>
          </p:cNvSpPr>
          <p:nvPr>
            <p:ph type="sldNum" sz="quarter" idx="10"/>
          </p:nvPr>
        </p:nvSpPr>
        <p:spPr/>
        <p:txBody>
          <a:bodyPr/>
          <a:lstStyle/>
          <a:p>
            <a:fld id="{ED558EDD-AFE9-1F47-B8B6-F885C0B9C2CE}" type="slidenum">
              <a:rPr lang="en-US" smtClean="0"/>
              <a:pPr/>
              <a:t>29</a:t>
            </a:fld>
            <a:endParaRPr lang="en-US"/>
          </a:p>
        </p:txBody>
      </p:sp>
    </p:spTree>
    <p:extLst>
      <p:ext uri="{BB962C8B-B14F-4D97-AF65-F5344CB8AC3E}">
        <p14:creationId xmlns:p14="http://schemas.microsoft.com/office/powerpoint/2010/main" val="518166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3C60A-2690-4C4C-AC49-AA09E06FB8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CDE3704-ED31-E045-A715-74B78FF88F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F1E431D-3E6C-5846-924C-402F51C3E52D}"/>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5" name="Footer Placeholder 4">
            <a:extLst>
              <a:ext uri="{FF2B5EF4-FFF2-40B4-BE49-F238E27FC236}">
                <a16:creationId xmlns:a16="http://schemas.microsoft.com/office/drawing/2014/main" id="{BFDF41D8-8DB9-A246-B880-9023582BDA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066088-735C-1048-B459-0C9A0E4AB853}"/>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2616525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58C0D-585F-884A-BD6E-437D9EE348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BF9461-8DBC-AE4E-B35C-DAEF48A00E9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BF144-09B9-3640-B013-4AF37D25FC1A}"/>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5" name="Footer Placeholder 4">
            <a:extLst>
              <a:ext uri="{FF2B5EF4-FFF2-40B4-BE49-F238E27FC236}">
                <a16:creationId xmlns:a16="http://schemas.microsoft.com/office/drawing/2014/main" id="{D1421C4D-3B9E-5D45-ACD1-0499FA1529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C4A9AF-4BE9-CB45-B99E-6FD357ED411B}"/>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2892710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73045-B99A-354E-B228-8C3AF1803C9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5D628C-2436-9D4A-B44A-3D739A6289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52ACA73-E109-0742-8727-2DAB6C430B50}"/>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5" name="Footer Placeholder 4">
            <a:extLst>
              <a:ext uri="{FF2B5EF4-FFF2-40B4-BE49-F238E27FC236}">
                <a16:creationId xmlns:a16="http://schemas.microsoft.com/office/drawing/2014/main" id="{8845E6A8-2FA0-EE48-8A31-CDCE072A69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BF6EA3-77E7-464E-ACC1-CE393B0FA93E}"/>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1681256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95DE8-E89B-B74E-B4DA-664307272D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A2B351-1028-5B4C-ADF5-21B61A99138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C8AA0C-32E5-1C4A-B2E6-BD05EBF8385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2FEB05-04CA-5F4E-8FAA-69B55420C238}"/>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6" name="Footer Placeholder 5">
            <a:extLst>
              <a:ext uri="{FF2B5EF4-FFF2-40B4-BE49-F238E27FC236}">
                <a16:creationId xmlns:a16="http://schemas.microsoft.com/office/drawing/2014/main" id="{F019BA1E-55AE-C347-B7BF-B084513761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547BD5-D6E2-E745-B3A2-34C252C0DA61}"/>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124672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01B25-8A6B-6B40-A770-DC70D8E9FC7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9C896F7-C988-1A47-A673-8CE81F8232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CBFB504-6602-D14E-AAED-EB36BBE253A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7E2812-A426-474B-9A36-253C14D31A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70387BE-FDAC-4F47-8793-09A0499E12D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B54866-84AF-194D-9CF7-2B4731FDFC13}"/>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8" name="Footer Placeholder 7">
            <a:extLst>
              <a:ext uri="{FF2B5EF4-FFF2-40B4-BE49-F238E27FC236}">
                <a16:creationId xmlns:a16="http://schemas.microsoft.com/office/drawing/2014/main" id="{B8272257-5DB9-8145-BD4A-8963D11867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9FEAFF-0D02-784A-A187-BB4618208BC1}"/>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12069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D344A-5534-6649-BDCC-B664ED346E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B0CA35-9A98-6A47-8C2B-B9AE3C2B12E6}"/>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4" name="Footer Placeholder 3">
            <a:extLst>
              <a:ext uri="{FF2B5EF4-FFF2-40B4-BE49-F238E27FC236}">
                <a16:creationId xmlns:a16="http://schemas.microsoft.com/office/drawing/2014/main" id="{DCA540AC-A7D7-1842-8AD0-606E1B05BDD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3A9C7B-DB55-D342-86C1-C53E6841F505}"/>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2479771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204A7-2290-764F-AD46-20744B2531DF}"/>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3" name="Footer Placeholder 2">
            <a:extLst>
              <a:ext uri="{FF2B5EF4-FFF2-40B4-BE49-F238E27FC236}">
                <a16:creationId xmlns:a16="http://schemas.microsoft.com/office/drawing/2014/main" id="{CF97606A-409E-7344-A008-2B8C7AC2CA3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BC50C0A-AC5E-C746-9A96-EEF056AA4891}"/>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688567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C5EB6-611C-6E44-BDDE-0E575EB7BC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4B9FD9-CA81-EF42-B661-58DCED7976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11BC71-9A87-F44D-B035-A9CC932E99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907F438-8C1D-384B-A46C-6AD6C8BBAE97}"/>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6" name="Footer Placeholder 5">
            <a:extLst>
              <a:ext uri="{FF2B5EF4-FFF2-40B4-BE49-F238E27FC236}">
                <a16:creationId xmlns:a16="http://schemas.microsoft.com/office/drawing/2014/main" id="{8D8DFBC9-56DB-8446-8651-5860FFBAD7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9A994A-89CE-BF44-8B4B-BC8DB957F238}"/>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3285486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779A8-A682-974C-B10F-D5A12BC340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65C3B1-37A5-FA4C-AA10-B254BDA2E9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FFE5E3-DB64-E941-A245-E95B211B03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1CFA005-4829-5F4C-B5C6-CE1C07C12FF3}"/>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6" name="Footer Placeholder 5">
            <a:extLst>
              <a:ext uri="{FF2B5EF4-FFF2-40B4-BE49-F238E27FC236}">
                <a16:creationId xmlns:a16="http://schemas.microsoft.com/office/drawing/2014/main" id="{763F33F3-A0D2-6848-ACDF-AF08969332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F2290-A001-9745-B5E3-2F5B2F76C84D}"/>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1241346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ABA9A-3858-7242-BDF4-9FA44E602B7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113EE2-6D29-2749-8D09-539824A3F1CB}"/>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40AFB6-5B87-D147-AE67-2EF45951073C}"/>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5" name="Footer Placeholder 4">
            <a:extLst>
              <a:ext uri="{FF2B5EF4-FFF2-40B4-BE49-F238E27FC236}">
                <a16:creationId xmlns:a16="http://schemas.microsoft.com/office/drawing/2014/main" id="{1393B8D8-8E24-3A40-A966-B2D93F804A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28CA40-3190-E647-95C2-464F57260052}"/>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304494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76A4B3-86AA-1046-9107-CBD6C4B3269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BB073FA-BC48-2E49-B64D-38BD286E479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C129E1-0159-0546-81E5-D4633590F5C8}"/>
              </a:ext>
            </a:extLst>
          </p:cNvPr>
          <p:cNvSpPr>
            <a:spLocks noGrp="1"/>
          </p:cNvSpPr>
          <p:nvPr>
            <p:ph type="dt" sz="half" idx="10"/>
          </p:nvPr>
        </p:nvSpPr>
        <p:spPr/>
        <p:txBody>
          <a:bodyPr/>
          <a:lstStyle/>
          <a:p>
            <a:fld id="{200370E4-BF31-F64D-8B95-B3FC95E8814C}" type="datetimeFigureOut">
              <a:rPr lang="en-US" smtClean="0"/>
              <a:t>7/15/26</a:t>
            </a:fld>
            <a:endParaRPr lang="en-US"/>
          </a:p>
        </p:txBody>
      </p:sp>
      <p:sp>
        <p:nvSpPr>
          <p:cNvPr id="5" name="Footer Placeholder 4">
            <a:extLst>
              <a:ext uri="{FF2B5EF4-FFF2-40B4-BE49-F238E27FC236}">
                <a16:creationId xmlns:a16="http://schemas.microsoft.com/office/drawing/2014/main" id="{C2429444-FBFA-B449-9D08-904F4B643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392F77-4FD0-9A42-8CAC-49FB3EB48231}"/>
              </a:ext>
            </a:extLst>
          </p:cNvPr>
          <p:cNvSpPr>
            <a:spLocks noGrp="1"/>
          </p:cNvSpPr>
          <p:nvPr>
            <p:ph type="sldNum" sz="quarter" idx="12"/>
          </p:nvPr>
        </p:nvSpPr>
        <p:spPr/>
        <p:txBody>
          <a:bodyPr/>
          <a:lstStyle/>
          <a:p>
            <a:fld id="{4E5D4460-8025-A04E-A984-964FD725702C}" type="slidenum">
              <a:rPr lang="en-US" smtClean="0"/>
              <a:t>‹#›</a:t>
            </a:fld>
            <a:endParaRPr lang="en-US"/>
          </a:p>
        </p:txBody>
      </p:sp>
    </p:spTree>
    <p:extLst>
      <p:ext uri="{BB962C8B-B14F-4D97-AF65-F5344CB8AC3E}">
        <p14:creationId xmlns:p14="http://schemas.microsoft.com/office/powerpoint/2010/main" val="2084994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534C7B-D07B-4946-A163-4B99B5A6A3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F3C547-FAF6-E542-BFC1-65E082A64D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AE19BF-5627-6F42-8E61-BE3BFA624C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0370E4-BF31-F64D-8B95-B3FC95E8814C}" type="datetimeFigureOut">
              <a:rPr lang="en-US" smtClean="0"/>
              <a:t>7/15/26</a:t>
            </a:fld>
            <a:endParaRPr lang="en-US"/>
          </a:p>
        </p:txBody>
      </p:sp>
      <p:sp>
        <p:nvSpPr>
          <p:cNvPr id="5" name="Footer Placeholder 4">
            <a:extLst>
              <a:ext uri="{FF2B5EF4-FFF2-40B4-BE49-F238E27FC236}">
                <a16:creationId xmlns:a16="http://schemas.microsoft.com/office/drawing/2014/main" id="{E06DDF94-0BBE-884D-89B0-3C92764580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86332D-C8C7-6949-8AE2-3FC67E6940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D4460-8025-A04E-A984-964FD725702C}" type="slidenum">
              <a:rPr lang="en-US" smtClean="0"/>
              <a:t>‹#›</a:t>
            </a:fld>
            <a:endParaRPr lang="en-US"/>
          </a:p>
        </p:txBody>
      </p:sp>
    </p:spTree>
    <p:extLst>
      <p:ext uri="{BB962C8B-B14F-4D97-AF65-F5344CB8AC3E}">
        <p14:creationId xmlns:p14="http://schemas.microsoft.com/office/powerpoint/2010/main" val="4140471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tif"/><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tiff"/></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10.jpeg"/><Relationship Id="rId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2.jpe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8" Type="http://schemas.openxmlformats.org/officeDocument/2006/relationships/image" Target="../media/image43.emf"/><Relationship Id="rId13" Type="http://schemas.openxmlformats.org/officeDocument/2006/relationships/image" Target="../media/image48.emf"/><Relationship Id="rId3" Type="http://schemas.openxmlformats.org/officeDocument/2006/relationships/image" Target="../media/image38.jpeg"/><Relationship Id="rId7" Type="http://schemas.openxmlformats.org/officeDocument/2006/relationships/image" Target="../media/image42.emf"/><Relationship Id="rId12" Type="http://schemas.openxmlformats.org/officeDocument/2006/relationships/image" Target="../media/image47.emf"/><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41.emf"/><Relationship Id="rId11" Type="http://schemas.openxmlformats.org/officeDocument/2006/relationships/image" Target="../media/image46.emf"/><Relationship Id="rId5" Type="http://schemas.openxmlformats.org/officeDocument/2006/relationships/image" Target="../media/image40.emf"/><Relationship Id="rId10" Type="http://schemas.openxmlformats.org/officeDocument/2006/relationships/image" Target="../media/image45.emf"/><Relationship Id="rId4" Type="http://schemas.openxmlformats.org/officeDocument/2006/relationships/image" Target="../media/image39.emf"/><Relationship Id="rId9" Type="http://schemas.openxmlformats.org/officeDocument/2006/relationships/image" Target="../media/image44.emf"/></Relationships>
</file>

<file path=ppt/slides/_rels/slide17.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10.jpeg"/><Relationship Id="rId4" Type="http://schemas.openxmlformats.org/officeDocument/2006/relationships/image" Target="../media/image50.emf"/></Relationships>
</file>

<file path=ppt/slides/_rels/slide18.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53.tiff"/><Relationship Id="rId2" Type="http://schemas.openxmlformats.org/officeDocument/2006/relationships/image" Target="../media/image52.tif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4.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5.tif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23.xml.rels><?xml version="1.0" encoding="UTF-8" standalone="yes"?>
<Relationships xmlns="http://schemas.openxmlformats.org/package/2006/relationships"><Relationship Id="rId3" Type="http://schemas.openxmlformats.org/officeDocument/2006/relationships/hyperlink" Target="https://doi.org/10.1111/jse.12590" TargetMode="External"/><Relationship Id="rId2" Type="http://schemas.openxmlformats.org/officeDocument/2006/relationships/image" Target="../media/image59.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2.emf"/><Relationship Id="rId7" Type="http://schemas.openxmlformats.org/officeDocument/2006/relationships/image" Target="../media/image32.jpe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5.jpg"/><Relationship Id="rId5" Type="http://schemas.openxmlformats.org/officeDocument/2006/relationships/image" Target="../media/image64.jpg"/><Relationship Id="rId4" Type="http://schemas.openxmlformats.org/officeDocument/2006/relationships/image" Target="../media/image63.png"/></Relationships>
</file>

<file path=ppt/slides/_rels/slide3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0969" y="2548689"/>
            <a:ext cx="10603523" cy="1084431"/>
          </a:xfrm>
        </p:spPr>
        <p:txBody>
          <a:bodyPr>
            <a:noAutofit/>
          </a:bodyPr>
          <a:lstStyle/>
          <a:p>
            <a:br>
              <a:rPr lang="en-US" b="1" dirty="0">
                <a:solidFill>
                  <a:srgbClr val="0070C0"/>
                </a:solidFill>
              </a:rPr>
            </a:br>
            <a:r>
              <a:rPr lang="en-US" b="1" dirty="0">
                <a:solidFill>
                  <a:srgbClr val="0070C0"/>
                </a:solidFill>
              </a:rPr>
              <a:t> </a:t>
            </a:r>
            <a:br>
              <a:rPr lang="en-US" dirty="0">
                <a:solidFill>
                  <a:srgbClr val="0070C0"/>
                </a:solidFill>
              </a:rPr>
            </a:br>
            <a:endParaRPr lang="en-US" b="1" dirty="0">
              <a:solidFill>
                <a:srgbClr val="0070C0"/>
              </a:solidFill>
            </a:endParaRPr>
          </a:p>
        </p:txBody>
      </p:sp>
      <p:sp>
        <p:nvSpPr>
          <p:cNvPr id="5" name="Subtitle 2"/>
          <p:cNvSpPr txBox="1">
            <a:spLocks/>
          </p:cNvSpPr>
          <p:nvPr/>
        </p:nvSpPr>
        <p:spPr>
          <a:xfrm>
            <a:off x="2209800" y="3886200"/>
            <a:ext cx="7772400" cy="17526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endParaRPr lang="en-US" dirty="0"/>
          </a:p>
        </p:txBody>
      </p:sp>
      <p:pic>
        <p:nvPicPr>
          <p:cNvPr id="7" name="Picture 6" descr="band.jpg"/>
          <p:cNvPicPr>
            <a:picLocks noChangeAspect="1"/>
          </p:cNvPicPr>
          <p:nvPr/>
        </p:nvPicPr>
        <p:blipFill rotWithShape="1">
          <a:blip r:embed="rId3">
            <a:extLst>
              <a:ext uri="{28A0092B-C50C-407E-A947-70E740481C1C}">
                <a14:useLocalDpi xmlns:a14="http://schemas.microsoft.com/office/drawing/2010/main" val="0"/>
              </a:ext>
            </a:extLst>
          </a:blip>
          <a:srcRect t="15229" b="38036"/>
          <a:stretch/>
        </p:blipFill>
        <p:spPr>
          <a:xfrm>
            <a:off x="0" y="0"/>
            <a:ext cx="12192000" cy="1668162"/>
          </a:xfrm>
          <a:prstGeom prst="rect">
            <a:avLst/>
          </a:prstGeom>
        </p:spPr>
      </p:pic>
      <p:pic>
        <p:nvPicPr>
          <p:cNvPr id="8" name="Picture 6" descr="https://www.idigbio.org/wiki/_media/idigbio_logo_rgb.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65169" y="5638800"/>
            <a:ext cx="3299215" cy="1019420"/>
          </a:xfrm>
          <a:prstGeom prst="rect">
            <a:avLst/>
          </a:prstGeom>
          <a:noFill/>
          <a:extLst>
            <a:ext uri="{909E8E84-426E-40dd-AFC4-6F175D3DCCD1}">
              <a14:hiddenFill xmlns:a14="http://schemas.microsoft.com/office/drawing/2010/main" xmlns="">
                <a:solidFill>
                  <a:srgbClr val="FFFFFF"/>
                </a:solidFill>
              </a14:hiddenFill>
            </a:ext>
          </a:extLst>
        </p:spPr>
      </p:pic>
      <p:pic>
        <p:nvPicPr>
          <p:cNvPr id="10" name="Picture 9" descr="head.gif">
            <a:extLst>
              <a:ext uri="{FF2B5EF4-FFF2-40B4-BE49-F238E27FC236}">
                <a16:creationId xmlns:a16="http://schemas.microsoft.com/office/drawing/2014/main" id="{5D498141-9B41-DE4E-A0CC-582A2FDE03F8}"/>
              </a:ext>
            </a:extLst>
          </p:cNvPr>
          <p:cNvPicPr>
            <a:picLocks noChangeAspect="1"/>
          </p:cNvPicPr>
          <p:nvPr/>
        </p:nvPicPr>
        <p:blipFill rotWithShape="1">
          <a:blip r:embed="rId5" cstate="hqprint">
            <a:extLst>
              <a:ext uri="{28A0092B-C50C-407E-A947-70E740481C1C}">
                <a14:useLocalDpi xmlns:a14="http://schemas.microsoft.com/office/drawing/2010/main"/>
              </a:ext>
            </a:extLst>
          </a:blip>
          <a:srcRect l="1570" t="7500" r="81158"/>
          <a:stretch/>
        </p:blipFill>
        <p:spPr bwMode="auto">
          <a:xfrm>
            <a:off x="7177224" y="5500545"/>
            <a:ext cx="1185688" cy="1227584"/>
          </a:xfrm>
          <a:prstGeom prst="rect">
            <a:avLst/>
          </a:prstGeom>
          <a:noFill/>
          <a:ln w="9525">
            <a:noFill/>
            <a:miter lim="800000"/>
            <a:headEnd/>
            <a:tailEnd/>
          </a:ln>
        </p:spPr>
      </p:pic>
      <p:pic>
        <p:nvPicPr>
          <p:cNvPr id="11" name="Picture 10">
            <a:extLst>
              <a:ext uri="{FF2B5EF4-FFF2-40B4-BE49-F238E27FC236}">
                <a16:creationId xmlns:a16="http://schemas.microsoft.com/office/drawing/2014/main" id="{C23EEA9C-9AD6-7D47-9786-A7CB51B2DD28}"/>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8362912" y="4763171"/>
            <a:ext cx="3558381" cy="652954"/>
          </a:xfrm>
          <a:prstGeom prst="rect">
            <a:avLst/>
          </a:prstGeom>
        </p:spPr>
      </p:pic>
      <p:pic>
        <p:nvPicPr>
          <p:cNvPr id="12" name="Picture 11">
            <a:extLst>
              <a:ext uri="{FF2B5EF4-FFF2-40B4-BE49-F238E27FC236}">
                <a16:creationId xmlns:a16="http://schemas.microsoft.com/office/drawing/2014/main" id="{0B215981-E6DB-C840-9AF4-94FB69E865FA}"/>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270707" y="4592911"/>
            <a:ext cx="2483157" cy="817625"/>
          </a:xfrm>
          <a:prstGeom prst="rect">
            <a:avLst/>
          </a:prstGeom>
        </p:spPr>
      </p:pic>
      <p:sp>
        <p:nvSpPr>
          <p:cNvPr id="3" name="Rectangle 2">
            <a:extLst>
              <a:ext uri="{FF2B5EF4-FFF2-40B4-BE49-F238E27FC236}">
                <a16:creationId xmlns:a16="http://schemas.microsoft.com/office/drawing/2014/main" id="{F73B0BEA-3161-D829-A15A-61AD12C4A8EF}"/>
              </a:ext>
            </a:extLst>
          </p:cNvPr>
          <p:cNvSpPr/>
          <p:nvPr/>
        </p:nvSpPr>
        <p:spPr>
          <a:xfrm>
            <a:off x="2209800" y="2093362"/>
            <a:ext cx="7535917" cy="1446550"/>
          </a:xfrm>
          <a:prstGeom prst="rect">
            <a:avLst/>
          </a:prstGeom>
        </p:spPr>
        <p:txBody>
          <a:bodyPr wrap="square">
            <a:spAutoFit/>
          </a:bodyPr>
          <a:lstStyle/>
          <a:p>
            <a:pPr algn="ctr"/>
            <a:r>
              <a:rPr lang="en-US" sz="4400" dirty="0">
                <a:solidFill>
                  <a:srgbClr val="0070C0"/>
                </a:solidFill>
              </a:rPr>
              <a:t>Applications:</a:t>
            </a:r>
          </a:p>
          <a:p>
            <a:pPr algn="ctr"/>
            <a:r>
              <a:rPr lang="en-US" sz="4400" dirty="0">
                <a:solidFill>
                  <a:srgbClr val="0070C0"/>
                </a:solidFill>
              </a:rPr>
              <a:t>An Overview</a:t>
            </a:r>
          </a:p>
        </p:txBody>
      </p:sp>
    </p:spTree>
    <p:extLst>
      <p:ext uri="{BB962C8B-B14F-4D97-AF65-F5344CB8AC3E}">
        <p14:creationId xmlns:p14="http://schemas.microsoft.com/office/powerpoint/2010/main" val="2362936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623B33A-B520-9196-2BF7-F9053A55074F}"/>
              </a:ext>
            </a:extLst>
          </p:cNvPr>
          <p:cNvSpPr/>
          <p:nvPr/>
        </p:nvSpPr>
        <p:spPr>
          <a:xfrm>
            <a:off x="946" y="-11759"/>
            <a:ext cx="12192000" cy="1323439"/>
          </a:xfrm>
          <a:prstGeom prst="rect">
            <a:avLst/>
          </a:prstGeom>
        </p:spPr>
        <p:txBody>
          <a:bodyPr wrap="square">
            <a:spAutoFit/>
          </a:bodyPr>
          <a:lstStyle/>
          <a:p>
            <a:pPr algn="ctr"/>
            <a:r>
              <a:rPr lang="en-US" sz="4000" dirty="0">
                <a:solidFill>
                  <a:srgbClr val="0070C0"/>
                </a:solidFill>
              </a:rPr>
              <a:t>Connecting Specimens, Trees, Niche Models, Tools:</a:t>
            </a:r>
          </a:p>
          <a:p>
            <a:pPr algn="ctr"/>
            <a:r>
              <a:rPr lang="en-US" sz="4000" dirty="0">
                <a:solidFill>
                  <a:srgbClr val="0070C0"/>
                </a:solidFill>
              </a:rPr>
              <a:t>Examples </a:t>
            </a:r>
          </a:p>
        </p:txBody>
      </p:sp>
      <p:grpSp>
        <p:nvGrpSpPr>
          <p:cNvPr id="18" name="Group 17">
            <a:extLst>
              <a:ext uri="{FF2B5EF4-FFF2-40B4-BE49-F238E27FC236}">
                <a16:creationId xmlns:a16="http://schemas.microsoft.com/office/drawing/2014/main" id="{D3EF4B4E-60F3-3BA8-DB78-BAA538DA721B}"/>
              </a:ext>
            </a:extLst>
          </p:cNvPr>
          <p:cNvGrpSpPr/>
          <p:nvPr/>
        </p:nvGrpSpPr>
        <p:grpSpPr>
          <a:xfrm>
            <a:off x="1792224" y="2097998"/>
            <a:ext cx="10058400" cy="3542979"/>
            <a:chOff x="2124744" y="3495631"/>
            <a:chExt cx="9525692" cy="3095348"/>
          </a:xfrm>
        </p:grpSpPr>
        <p:pic>
          <p:nvPicPr>
            <p:cNvPr id="10" name="Picture 9" descr="https://www.idigbio.org/wiki/_media/idigbio_logo_rgb.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71163" y="5579870"/>
              <a:ext cx="2879273" cy="889663"/>
            </a:xfrm>
            <a:prstGeom prst="rect">
              <a:avLst/>
            </a:prstGeom>
            <a:noFill/>
            <a:extLst>
              <a:ext uri="{909E8E84-426E-40dd-AFC4-6F175D3DCCD1}">
                <a14:hiddenFill xmlns="" xmlns:a14="http://schemas.microsoft.com/office/drawing/2010/main">
                  <a:solidFill>
                    <a:srgbClr val="FFFFFF"/>
                  </a:solidFill>
                </a14:hiddenFill>
              </a:ext>
            </a:extLst>
          </p:spPr>
        </p:pic>
        <p:pic>
          <p:nvPicPr>
            <p:cNvPr id="19" name="Picture 18"/>
            <p:cNvPicPr>
              <a:picLocks noChangeAspect="1"/>
            </p:cNvPicPr>
            <p:nvPr/>
          </p:nvPicPr>
          <p:blipFill>
            <a:blip r:embed="rId4"/>
            <a:stretch>
              <a:fillRect/>
            </a:stretch>
          </p:blipFill>
          <p:spPr>
            <a:xfrm>
              <a:off x="8730846" y="3495631"/>
              <a:ext cx="1811102" cy="1522804"/>
            </a:xfrm>
            <a:prstGeom prst="rect">
              <a:avLst/>
            </a:prstGeom>
          </p:spPr>
        </p:pic>
        <p:sp>
          <p:nvSpPr>
            <p:cNvPr id="3" name="Rectangle 2"/>
            <p:cNvSpPr/>
            <p:nvPr/>
          </p:nvSpPr>
          <p:spPr>
            <a:xfrm>
              <a:off x="6847659"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p:cNvGrpSpPr/>
            <p:nvPr/>
          </p:nvGrpSpPr>
          <p:grpSpPr>
            <a:xfrm>
              <a:off x="3645948" y="3657503"/>
              <a:ext cx="5397691" cy="2933476"/>
              <a:chOff x="2135686" y="3641875"/>
              <a:chExt cx="5197211" cy="2933476"/>
            </a:xfrm>
          </p:grpSpPr>
          <p:grpSp>
            <p:nvGrpSpPr>
              <p:cNvPr id="22" name="Group 21"/>
              <p:cNvGrpSpPr/>
              <p:nvPr/>
            </p:nvGrpSpPr>
            <p:grpSpPr>
              <a:xfrm>
                <a:off x="2135686" y="3641875"/>
                <a:ext cx="4790858" cy="2933476"/>
                <a:chOff x="2135686" y="3641875"/>
                <a:chExt cx="4790858" cy="2933476"/>
              </a:xfrm>
            </p:grpSpPr>
            <p:pic>
              <p:nvPicPr>
                <p:cNvPr id="23" name="image03.png" descr="workflows.png"/>
                <p:cNvPicPr/>
                <p:nvPr/>
              </p:nvPicPr>
              <p:blipFill rotWithShape="1">
                <a:blip r:embed="rId5"/>
                <a:srcRect l="58507" b="75542"/>
                <a:stretch/>
              </p:blipFill>
              <p:spPr>
                <a:xfrm>
                  <a:off x="2135686" y="3641875"/>
                  <a:ext cx="4790858" cy="2933476"/>
                </a:xfrm>
                <a:prstGeom prst="rect">
                  <a:avLst/>
                </a:prstGeom>
                <a:ln/>
              </p:spPr>
            </p:pic>
            <p:sp>
              <p:nvSpPr>
                <p:cNvPr id="24" name="Rectangle 23"/>
                <p:cNvSpPr/>
                <p:nvPr/>
              </p:nvSpPr>
              <p:spPr>
                <a:xfrm>
                  <a:off x="5323658"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p:cNvSpPr txBox="1"/>
              <p:nvPr/>
            </p:nvSpPr>
            <p:spPr>
              <a:xfrm>
                <a:off x="5216978" y="4133594"/>
                <a:ext cx="2115919" cy="307777"/>
              </a:xfrm>
              <a:prstGeom prst="rect">
                <a:avLst/>
              </a:prstGeom>
              <a:noFill/>
            </p:spPr>
            <p:txBody>
              <a:bodyPr wrap="square" rtlCol="0">
                <a:spAutoFit/>
              </a:bodyPr>
              <a:lstStyle/>
              <a:p>
                <a:r>
                  <a:rPr lang="en-US" sz="1400" dirty="0">
                    <a:latin typeface="Arial" charset="0"/>
                    <a:ea typeface="Arial" charset="0"/>
                    <a:cs typeface="Arial" charset="0"/>
                  </a:rPr>
                  <a:t>Analytical Tools</a:t>
                </a:r>
              </a:p>
            </p:txBody>
          </p:sp>
        </p:grpSp>
        <p:sp>
          <p:nvSpPr>
            <p:cNvPr id="2" name="Oval 1">
              <a:extLst>
                <a:ext uri="{FF2B5EF4-FFF2-40B4-BE49-F238E27FC236}">
                  <a16:creationId xmlns:a16="http://schemas.microsoft.com/office/drawing/2014/main" id="{F55989AD-FA03-17EE-0D9E-4DE73B74B841}"/>
                </a:ext>
              </a:extLst>
            </p:cNvPr>
            <p:cNvSpPr/>
            <p:nvPr/>
          </p:nvSpPr>
          <p:spPr>
            <a:xfrm>
              <a:off x="3781774" y="4131730"/>
              <a:ext cx="620889" cy="60960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N</a:t>
              </a:r>
            </a:p>
          </p:txBody>
        </p:sp>
        <p:sp>
          <p:nvSpPr>
            <p:cNvPr id="5" name="Rectangle 4">
              <a:extLst>
                <a:ext uri="{FF2B5EF4-FFF2-40B4-BE49-F238E27FC236}">
                  <a16:creationId xmlns:a16="http://schemas.microsoft.com/office/drawing/2014/main" id="{67989E32-9BB6-998F-BC96-6F3D7CEB3C7D}"/>
                </a:ext>
              </a:extLst>
            </p:cNvPr>
            <p:cNvSpPr/>
            <p:nvPr/>
          </p:nvSpPr>
          <p:spPr>
            <a:xfrm>
              <a:off x="4481689" y="4149222"/>
              <a:ext cx="1468551" cy="279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Arial" charset="0"/>
                  <a:ea typeface="Arial" charset="0"/>
                  <a:cs typeface="Arial" charset="0"/>
                </a:rPr>
                <a:t>Analytical Tools</a:t>
              </a:r>
            </a:p>
          </p:txBody>
        </p:sp>
        <p:sp>
          <p:nvSpPr>
            <p:cNvPr id="7" name="TextBox 6">
              <a:extLst>
                <a:ext uri="{FF2B5EF4-FFF2-40B4-BE49-F238E27FC236}">
                  <a16:creationId xmlns:a16="http://schemas.microsoft.com/office/drawing/2014/main" id="{EF08BA55-5D10-ADCF-3FD9-15A2BF407A1E}"/>
                </a:ext>
              </a:extLst>
            </p:cNvPr>
            <p:cNvSpPr txBox="1"/>
            <p:nvPr/>
          </p:nvSpPr>
          <p:spPr>
            <a:xfrm>
              <a:off x="4481689" y="4149222"/>
              <a:ext cx="2197540" cy="307777"/>
            </a:xfrm>
            <a:prstGeom prst="rect">
              <a:avLst/>
            </a:prstGeom>
            <a:noFill/>
          </p:spPr>
          <p:txBody>
            <a:bodyPr wrap="square" rtlCol="0">
              <a:spAutoFit/>
            </a:bodyPr>
            <a:lstStyle/>
            <a:p>
              <a:r>
                <a:rPr lang="en-US" sz="1400" dirty="0">
                  <a:latin typeface="Arial" charset="0"/>
                  <a:ea typeface="Arial" charset="0"/>
                  <a:cs typeface="Arial" charset="0"/>
                </a:rPr>
                <a:t>Niche Models</a:t>
              </a:r>
            </a:p>
          </p:txBody>
        </p:sp>
        <p:sp>
          <p:nvSpPr>
            <p:cNvPr id="8" name="Rectangle 7">
              <a:extLst>
                <a:ext uri="{FF2B5EF4-FFF2-40B4-BE49-F238E27FC236}">
                  <a16:creationId xmlns:a16="http://schemas.microsoft.com/office/drawing/2014/main" id="{95BF1A1F-BEBF-E099-86A7-F82BFEE80006}"/>
                </a:ext>
              </a:extLst>
            </p:cNvPr>
            <p:cNvSpPr/>
            <p:nvPr/>
          </p:nvSpPr>
          <p:spPr>
            <a:xfrm>
              <a:off x="4402663" y="5483423"/>
              <a:ext cx="1693337"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5D23251-F36F-EA74-FC3F-3C389C066D00}"/>
                </a:ext>
              </a:extLst>
            </p:cNvPr>
            <p:cNvSpPr txBox="1"/>
            <p:nvPr/>
          </p:nvSpPr>
          <p:spPr>
            <a:xfrm>
              <a:off x="4481689" y="5483423"/>
              <a:ext cx="2197540" cy="307777"/>
            </a:xfrm>
            <a:prstGeom prst="rect">
              <a:avLst/>
            </a:prstGeom>
            <a:noFill/>
          </p:spPr>
          <p:txBody>
            <a:bodyPr wrap="square" rtlCol="0">
              <a:spAutoFit/>
            </a:bodyPr>
            <a:lstStyle/>
            <a:p>
              <a:r>
                <a:rPr lang="en-US" sz="1400" dirty="0">
                  <a:latin typeface="Arial" charset="0"/>
                  <a:ea typeface="Arial" charset="0"/>
                  <a:cs typeface="Arial" charset="0"/>
                </a:rPr>
                <a:t>Trees</a:t>
              </a:r>
            </a:p>
          </p:txBody>
        </p:sp>
        <p:sp>
          <p:nvSpPr>
            <p:cNvPr id="12" name="Oval 11">
              <a:extLst>
                <a:ext uri="{FF2B5EF4-FFF2-40B4-BE49-F238E27FC236}">
                  <a16:creationId xmlns:a16="http://schemas.microsoft.com/office/drawing/2014/main" id="{B4A3AE0D-B064-F2AF-6DF3-F7D96BD6DDF2}"/>
                </a:ext>
              </a:extLst>
            </p:cNvPr>
            <p:cNvSpPr/>
            <p:nvPr/>
          </p:nvSpPr>
          <p:spPr>
            <a:xfrm>
              <a:off x="3747914" y="5463816"/>
              <a:ext cx="620889" cy="60960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pic>
          <p:nvPicPr>
            <p:cNvPr id="15" name="Picture 14">
              <a:extLst>
                <a:ext uri="{FF2B5EF4-FFF2-40B4-BE49-F238E27FC236}">
                  <a16:creationId xmlns:a16="http://schemas.microsoft.com/office/drawing/2014/main" id="{58C829B7-AB31-8F2B-E023-512EC6624FBF}"/>
                </a:ext>
              </a:extLst>
            </p:cNvPr>
            <p:cNvPicPr>
              <a:picLocks noChangeAspect="1"/>
            </p:cNvPicPr>
            <p:nvPr/>
          </p:nvPicPr>
          <p:blipFill>
            <a:blip r:embed="rId6"/>
            <a:srcRect r="50000" b="50000"/>
            <a:stretch>
              <a:fillRect/>
            </a:stretch>
          </p:blipFill>
          <p:spPr>
            <a:xfrm>
              <a:off x="2272934" y="3936144"/>
              <a:ext cx="1254719" cy="806605"/>
            </a:xfrm>
            <a:prstGeom prst="rect">
              <a:avLst/>
            </a:prstGeom>
          </p:spPr>
        </p:pic>
        <p:pic>
          <p:nvPicPr>
            <p:cNvPr id="17" name="Picture 16">
              <a:extLst>
                <a:ext uri="{FF2B5EF4-FFF2-40B4-BE49-F238E27FC236}">
                  <a16:creationId xmlns:a16="http://schemas.microsoft.com/office/drawing/2014/main" id="{52E0982C-0309-4494-3BD2-D634985B1EF1}"/>
                </a:ext>
              </a:extLst>
            </p:cNvPr>
            <p:cNvPicPr>
              <a:picLocks noChangeAspect="1"/>
            </p:cNvPicPr>
            <p:nvPr/>
          </p:nvPicPr>
          <p:blipFill>
            <a:blip r:embed="rId7"/>
            <a:stretch>
              <a:fillRect/>
            </a:stretch>
          </p:blipFill>
          <p:spPr>
            <a:xfrm>
              <a:off x="2124744" y="5336816"/>
              <a:ext cx="1531865" cy="863602"/>
            </a:xfrm>
            <a:prstGeom prst="rect">
              <a:avLst/>
            </a:prstGeom>
          </p:spPr>
        </p:pic>
      </p:grpSp>
    </p:spTree>
    <p:extLst>
      <p:ext uri="{BB962C8B-B14F-4D97-AF65-F5344CB8AC3E}">
        <p14:creationId xmlns:p14="http://schemas.microsoft.com/office/powerpoint/2010/main" val="2229798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A9FF4-73F9-CDED-7FBF-AEF189E0C55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97E4AF1-30F3-07BA-3D79-377D69A3D0C7}"/>
              </a:ext>
            </a:extLst>
          </p:cNvPr>
          <p:cNvSpPr/>
          <p:nvPr/>
        </p:nvSpPr>
        <p:spPr>
          <a:xfrm>
            <a:off x="946" y="-11759"/>
            <a:ext cx="12192000" cy="1323439"/>
          </a:xfrm>
          <a:prstGeom prst="rect">
            <a:avLst/>
          </a:prstGeom>
        </p:spPr>
        <p:txBody>
          <a:bodyPr wrap="square">
            <a:spAutoFit/>
          </a:bodyPr>
          <a:lstStyle/>
          <a:p>
            <a:pPr algn="ctr"/>
            <a:r>
              <a:rPr lang="en-US" sz="4000" dirty="0">
                <a:solidFill>
                  <a:srgbClr val="0070C0"/>
                </a:solidFill>
              </a:rPr>
              <a:t>Connecting Specimens, Trees, Niche Models, Tools:</a:t>
            </a:r>
          </a:p>
          <a:p>
            <a:pPr algn="ctr"/>
            <a:r>
              <a:rPr lang="en-US" sz="4000" dirty="0">
                <a:solidFill>
                  <a:srgbClr val="0070C0"/>
                </a:solidFill>
              </a:rPr>
              <a:t>Examples </a:t>
            </a:r>
          </a:p>
        </p:txBody>
      </p:sp>
      <p:grpSp>
        <p:nvGrpSpPr>
          <p:cNvPr id="18" name="Group 17">
            <a:extLst>
              <a:ext uri="{FF2B5EF4-FFF2-40B4-BE49-F238E27FC236}">
                <a16:creationId xmlns:a16="http://schemas.microsoft.com/office/drawing/2014/main" id="{0D351A73-AA27-F35D-9120-106F1AD00B46}"/>
              </a:ext>
            </a:extLst>
          </p:cNvPr>
          <p:cNvGrpSpPr/>
          <p:nvPr/>
        </p:nvGrpSpPr>
        <p:grpSpPr>
          <a:xfrm>
            <a:off x="3398499" y="2283279"/>
            <a:ext cx="5621323" cy="3357698"/>
            <a:chOff x="3645948" y="3657503"/>
            <a:chExt cx="5397691" cy="2933476"/>
          </a:xfrm>
        </p:grpSpPr>
        <p:sp>
          <p:nvSpPr>
            <p:cNvPr id="3" name="Rectangle 2">
              <a:extLst>
                <a:ext uri="{FF2B5EF4-FFF2-40B4-BE49-F238E27FC236}">
                  <a16:creationId xmlns:a16="http://schemas.microsoft.com/office/drawing/2014/main" id="{721BEB63-E089-BA4A-67F1-CFA91E25F5FB}"/>
                </a:ext>
              </a:extLst>
            </p:cNvPr>
            <p:cNvSpPr/>
            <p:nvPr/>
          </p:nvSpPr>
          <p:spPr>
            <a:xfrm>
              <a:off x="6847659"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23B7A4C8-C8EA-111B-4BBF-FCF3C88325DC}"/>
                </a:ext>
              </a:extLst>
            </p:cNvPr>
            <p:cNvGrpSpPr/>
            <p:nvPr/>
          </p:nvGrpSpPr>
          <p:grpSpPr>
            <a:xfrm>
              <a:off x="3645948" y="3657503"/>
              <a:ext cx="5397691" cy="2933476"/>
              <a:chOff x="2135686" y="3641875"/>
              <a:chExt cx="5197211" cy="2933476"/>
            </a:xfrm>
          </p:grpSpPr>
          <p:grpSp>
            <p:nvGrpSpPr>
              <p:cNvPr id="22" name="Group 21">
                <a:extLst>
                  <a:ext uri="{FF2B5EF4-FFF2-40B4-BE49-F238E27FC236}">
                    <a16:creationId xmlns:a16="http://schemas.microsoft.com/office/drawing/2014/main" id="{202B4B72-37B1-5C5A-4169-7E6C7A94B515}"/>
                  </a:ext>
                </a:extLst>
              </p:cNvPr>
              <p:cNvGrpSpPr/>
              <p:nvPr/>
            </p:nvGrpSpPr>
            <p:grpSpPr>
              <a:xfrm>
                <a:off x="2135686" y="3641875"/>
                <a:ext cx="4790858" cy="2933476"/>
                <a:chOff x="2135686" y="3641875"/>
                <a:chExt cx="4790858" cy="2933476"/>
              </a:xfrm>
            </p:grpSpPr>
            <p:pic>
              <p:nvPicPr>
                <p:cNvPr id="23" name="image03.png" descr="workflows.png">
                  <a:extLst>
                    <a:ext uri="{FF2B5EF4-FFF2-40B4-BE49-F238E27FC236}">
                      <a16:creationId xmlns:a16="http://schemas.microsoft.com/office/drawing/2014/main" id="{A5E588B7-A558-F6B9-2C3D-F9CF4C2DDFC9}"/>
                    </a:ext>
                  </a:extLst>
                </p:cNvPr>
                <p:cNvPicPr/>
                <p:nvPr/>
              </p:nvPicPr>
              <p:blipFill rotWithShape="1">
                <a:blip r:embed="rId3"/>
                <a:srcRect l="58507" b="75542"/>
                <a:stretch/>
              </p:blipFill>
              <p:spPr>
                <a:xfrm>
                  <a:off x="2135686" y="3641875"/>
                  <a:ext cx="4790858" cy="2933476"/>
                </a:xfrm>
                <a:prstGeom prst="rect">
                  <a:avLst/>
                </a:prstGeom>
                <a:ln/>
              </p:spPr>
            </p:pic>
            <p:sp>
              <p:nvSpPr>
                <p:cNvPr id="24" name="Rectangle 23">
                  <a:extLst>
                    <a:ext uri="{FF2B5EF4-FFF2-40B4-BE49-F238E27FC236}">
                      <a16:creationId xmlns:a16="http://schemas.microsoft.com/office/drawing/2014/main" id="{D198DAAC-1D8E-BB7D-54BF-536E28AF9854}"/>
                    </a:ext>
                  </a:extLst>
                </p:cNvPr>
                <p:cNvSpPr/>
                <p:nvPr/>
              </p:nvSpPr>
              <p:spPr>
                <a:xfrm>
                  <a:off x="5323658"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E8C8C3B7-BD9D-F7D3-B5A3-5C5158F29E22}"/>
                  </a:ext>
                </a:extLst>
              </p:cNvPr>
              <p:cNvSpPr txBox="1"/>
              <p:nvPr/>
            </p:nvSpPr>
            <p:spPr>
              <a:xfrm>
                <a:off x="5216978" y="4133594"/>
                <a:ext cx="2115919" cy="307777"/>
              </a:xfrm>
              <a:prstGeom prst="rect">
                <a:avLst/>
              </a:prstGeom>
              <a:noFill/>
            </p:spPr>
            <p:txBody>
              <a:bodyPr wrap="square" rtlCol="0">
                <a:spAutoFit/>
              </a:bodyPr>
              <a:lstStyle/>
              <a:p>
                <a:r>
                  <a:rPr lang="en-US" sz="1400" dirty="0">
                    <a:latin typeface="Arial" charset="0"/>
                    <a:ea typeface="Arial" charset="0"/>
                    <a:cs typeface="Arial" charset="0"/>
                  </a:rPr>
                  <a:t>Analytical Tools</a:t>
                </a:r>
              </a:p>
            </p:txBody>
          </p:sp>
        </p:grpSp>
        <p:sp>
          <p:nvSpPr>
            <p:cNvPr id="2" name="Oval 1">
              <a:extLst>
                <a:ext uri="{FF2B5EF4-FFF2-40B4-BE49-F238E27FC236}">
                  <a16:creationId xmlns:a16="http://schemas.microsoft.com/office/drawing/2014/main" id="{E674F04E-E700-E480-7F9B-7DF4634601E1}"/>
                </a:ext>
              </a:extLst>
            </p:cNvPr>
            <p:cNvSpPr/>
            <p:nvPr/>
          </p:nvSpPr>
          <p:spPr>
            <a:xfrm>
              <a:off x="3781774" y="4131730"/>
              <a:ext cx="620889" cy="60960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N</a:t>
              </a:r>
            </a:p>
          </p:txBody>
        </p:sp>
        <p:sp>
          <p:nvSpPr>
            <p:cNvPr id="5" name="Rectangle 4">
              <a:extLst>
                <a:ext uri="{FF2B5EF4-FFF2-40B4-BE49-F238E27FC236}">
                  <a16:creationId xmlns:a16="http://schemas.microsoft.com/office/drawing/2014/main" id="{08BD304D-8164-505B-207F-DED9DBD434A2}"/>
                </a:ext>
              </a:extLst>
            </p:cNvPr>
            <p:cNvSpPr/>
            <p:nvPr/>
          </p:nvSpPr>
          <p:spPr>
            <a:xfrm>
              <a:off x="4481689" y="4149222"/>
              <a:ext cx="1468551" cy="279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Arial" charset="0"/>
                  <a:ea typeface="Arial" charset="0"/>
                  <a:cs typeface="Arial" charset="0"/>
                </a:rPr>
                <a:t>Analytical Tools</a:t>
              </a:r>
            </a:p>
          </p:txBody>
        </p:sp>
        <p:sp>
          <p:nvSpPr>
            <p:cNvPr id="7" name="TextBox 6">
              <a:extLst>
                <a:ext uri="{FF2B5EF4-FFF2-40B4-BE49-F238E27FC236}">
                  <a16:creationId xmlns:a16="http://schemas.microsoft.com/office/drawing/2014/main" id="{6E38E35D-6198-A99D-914D-B991CD4FECD5}"/>
                </a:ext>
              </a:extLst>
            </p:cNvPr>
            <p:cNvSpPr txBox="1"/>
            <p:nvPr/>
          </p:nvSpPr>
          <p:spPr>
            <a:xfrm>
              <a:off x="4481689" y="4138571"/>
              <a:ext cx="2197540" cy="307777"/>
            </a:xfrm>
            <a:prstGeom prst="rect">
              <a:avLst/>
            </a:prstGeom>
            <a:noFill/>
          </p:spPr>
          <p:txBody>
            <a:bodyPr wrap="square" rtlCol="0">
              <a:spAutoFit/>
            </a:bodyPr>
            <a:lstStyle/>
            <a:p>
              <a:r>
                <a:rPr lang="en-US" sz="1400" dirty="0">
                  <a:latin typeface="Arial" charset="0"/>
                  <a:ea typeface="Arial" charset="0"/>
                  <a:cs typeface="Arial" charset="0"/>
                </a:rPr>
                <a:t>Niche Models</a:t>
              </a:r>
            </a:p>
          </p:txBody>
        </p:sp>
        <p:sp>
          <p:nvSpPr>
            <p:cNvPr id="8" name="Rectangle 7">
              <a:extLst>
                <a:ext uri="{FF2B5EF4-FFF2-40B4-BE49-F238E27FC236}">
                  <a16:creationId xmlns:a16="http://schemas.microsoft.com/office/drawing/2014/main" id="{9FB35D57-E3D6-6961-226F-E6DCB070466E}"/>
                </a:ext>
              </a:extLst>
            </p:cNvPr>
            <p:cNvSpPr/>
            <p:nvPr/>
          </p:nvSpPr>
          <p:spPr>
            <a:xfrm>
              <a:off x="4402663" y="5483423"/>
              <a:ext cx="1693337"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2BE6EB6D-C9EF-60EC-3C7D-A1CC065451EA}"/>
                </a:ext>
              </a:extLst>
            </p:cNvPr>
            <p:cNvSpPr txBox="1"/>
            <p:nvPr/>
          </p:nvSpPr>
          <p:spPr>
            <a:xfrm>
              <a:off x="4481689" y="5483423"/>
              <a:ext cx="2197540" cy="307777"/>
            </a:xfrm>
            <a:prstGeom prst="rect">
              <a:avLst/>
            </a:prstGeom>
            <a:noFill/>
          </p:spPr>
          <p:txBody>
            <a:bodyPr wrap="square" rtlCol="0">
              <a:spAutoFit/>
            </a:bodyPr>
            <a:lstStyle/>
            <a:p>
              <a:r>
                <a:rPr lang="en-US" sz="1400" dirty="0">
                  <a:latin typeface="Arial" charset="0"/>
                  <a:ea typeface="Arial" charset="0"/>
                  <a:cs typeface="Arial" charset="0"/>
                </a:rPr>
                <a:t>Trees</a:t>
              </a:r>
            </a:p>
          </p:txBody>
        </p:sp>
        <p:sp>
          <p:nvSpPr>
            <p:cNvPr id="12" name="Oval 11">
              <a:extLst>
                <a:ext uri="{FF2B5EF4-FFF2-40B4-BE49-F238E27FC236}">
                  <a16:creationId xmlns:a16="http://schemas.microsoft.com/office/drawing/2014/main" id="{F08AF8E4-746F-DACC-51DA-3C026BD2B821}"/>
                </a:ext>
              </a:extLst>
            </p:cNvPr>
            <p:cNvSpPr/>
            <p:nvPr/>
          </p:nvSpPr>
          <p:spPr>
            <a:xfrm>
              <a:off x="3747914" y="5463816"/>
              <a:ext cx="620889" cy="60960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grpSp>
      <p:sp>
        <p:nvSpPr>
          <p:cNvPr id="4" name="TextBox 3">
            <a:extLst>
              <a:ext uri="{FF2B5EF4-FFF2-40B4-BE49-F238E27FC236}">
                <a16:creationId xmlns:a16="http://schemas.microsoft.com/office/drawing/2014/main" id="{F62AC192-4ED9-7705-1F32-75CF2F872E84}"/>
              </a:ext>
            </a:extLst>
          </p:cNvPr>
          <p:cNvSpPr txBox="1"/>
          <p:nvPr/>
        </p:nvSpPr>
        <p:spPr>
          <a:xfrm>
            <a:off x="3048000" y="6183784"/>
            <a:ext cx="6096000" cy="646331"/>
          </a:xfrm>
          <a:prstGeom prst="rect">
            <a:avLst/>
          </a:prstGeom>
          <a:noFill/>
        </p:spPr>
        <p:txBody>
          <a:bodyPr wrap="square">
            <a:spAutoFit/>
          </a:bodyPr>
          <a:lstStyle/>
          <a:p>
            <a:pPr marL="457200" marR="0" indent="-457200"/>
            <a:r>
              <a:rPr lang="en-US" sz="1800" dirty="0">
                <a:solidFill>
                  <a:srgbClr val="000000"/>
                </a:solidFill>
                <a:effectLst/>
                <a:latin typeface="Helvetica" pitchFamily="2" charset="0"/>
                <a:ea typeface="Times New Roman" panose="02020603050405020304" pitchFamily="18" charset="0"/>
                <a:cs typeface="Arial" panose="020B0604020202020204" pitchFamily="34" charset="0"/>
              </a:rPr>
              <a:t>Allen</a:t>
            </a:r>
            <a:r>
              <a:rPr lang="en-US" dirty="0">
                <a:solidFill>
                  <a:srgbClr val="000000"/>
                </a:solidFill>
                <a:latin typeface="Helvetica" pitchFamily="2" charset="0"/>
                <a:ea typeface="Times New Roman" panose="02020603050405020304" pitchFamily="18" charset="0"/>
                <a:cs typeface="Arial" panose="020B0604020202020204" pitchFamily="34" charset="0"/>
              </a:rPr>
              <a:t> et al.</a:t>
            </a:r>
            <a:r>
              <a:rPr lang="en-US" sz="1800" dirty="0">
                <a:solidFill>
                  <a:srgbClr val="000000"/>
                </a:solidFill>
                <a:effectLst/>
                <a:latin typeface="Helvetica" pitchFamily="2" charset="0"/>
                <a:ea typeface="Times New Roman" panose="02020603050405020304" pitchFamily="18" charset="0"/>
                <a:cs typeface="Arial" panose="020B0604020202020204" pitchFamily="34" charset="0"/>
              </a:rPr>
              <a:t>. 2019. </a:t>
            </a:r>
            <a:r>
              <a:rPr lang="en-US" sz="1800" dirty="0">
                <a:solidFill>
                  <a:srgbClr val="000000"/>
                </a:solidFill>
                <a:effectLst/>
                <a:latin typeface="Helvetica" pitchFamily="2" charset="0"/>
                <a:ea typeface="Times New Roman" panose="02020603050405020304" pitchFamily="18" charset="0"/>
                <a:cs typeface="Cambria" panose="02040503050406030204" pitchFamily="18" charset="0"/>
              </a:rPr>
              <a:t>Biodiversity synthesis across the green branches of the tree of life. </a:t>
            </a:r>
            <a:r>
              <a:rPr lang="en-US" sz="1800" i="1" dirty="0">
                <a:solidFill>
                  <a:srgbClr val="000000"/>
                </a:solidFill>
                <a:effectLst/>
                <a:latin typeface="Helvetica" pitchFamily="2" charset="0"/>
                <a:ea typeface="Times New Roman" panose="02020603050405020304" pitchFamily="18" charset="0"/>
                <a:cs typeface="Cambria" panose="02040503050406030204" pitchFamily="18" charset="0"/>
              </a:rPr>
              <a:t>Nature Plants</a:t>
            </a:r>
            <a:r>
              <a:rPr lang="en-US" sz="1800" dirty="0">
                <a:solidFill>
                  <a:srgbClr val="000000"/>
                </a:solidFill>
                <a:effectLst/>
                <a:latin typeface="Helvetica" pitchFamily="2" charset="0"/>
                <a:ea typeface="Times New Roman" panose="02020603050405020304" pitchFamily="18" charset="0"/>
                <a:cs typeface="Cambria" panose="02040503050406030204" pitchFamily="18" charset="0"/>
              </a:rPr>
              <a:t> 5:11-13.</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910581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p:cNvSpPr>
            <a:spLocks noGrp="1"/>
          </p:cNvSpPr>
          <p:nvPr>
            <p:ph type="title"/>
          </p:nvPr>
        </p:nvSpPr>
        <p:spPr bwMode="auto">
          <a:xfrm>
            <a:off x="3009900" y="233944"/>
            <a:ext cx="6172200" cy="428625"/>
          </a:xfr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68580" tIns="34290" rIns="68580" bIns="34290" numCol="1" rtlCol="0" anchor="t" anchorCtr="0" compatLnSpc="1">
            <a:prstTxWarp prst="textNoShape">
              <a:avLst/>
            </a:prstTxWarp>
            <a:noAutofit/>
          </a:bodyPr>
          <a:lstStyle/>
          <a:p>
            <a:pPr algn="ctr"/>
            <a:r>
              <a:rPr lang="en-US" dirty="0">
                <a:solidFill>
                  <a:srgbClr val="0070C0"/>
                </a:solidFill>
                <a:latin typeface="+mn-lt"/>
                <a:cs typeface="Helvetica" charset="0"/>
              </a:rPr>
              <a:t>Label Data</a:t>
            </a:r>
            <a:br>
              <a:rPr lang="en-US" dirty="0">
                <a:solidFill>
                  <a:srgbClr val="0070C0"/>
                </a:solidFill>
                <a:latin typeface="+mn-lt"/>
                <a:cs typeface="Helvetica" charset="0"/>
              </a:rPr>
            </a:br>
            <a:r>
              <a:rPr lang="en-US" dirty="0">
                <a:solidFill>
                  <a:srgbClr val="0070C0"/>
                </a:solidFill>
                <a:latin typeface="+mn-lt"/>
                <a:cs typeface="Helvetica" charset="0"/>
              </a:rPr>
              <a:t>(Occurrences)</a:t>
            </a:r>
          </a:p>
        </p:txBody>
      </p:sp>
      <p:pic>
        <p:nvPicPr>
          <p:cNvPr id="104450" name="Picture 3" descr="139652a1-sized.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703721" y="363284"/>
            <a:ext cx="4254004" cy="61314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6" name="Content Placeholder 2"/>
          <p:cNvSpPr txBox="1">
            <a:spLocks/>
          </p:cNvSpPr>
          <p:nvPr/>
        </p:nvSpPr>
        <p:spPr>
          <a:xfrm>
            <a:off x="1270595" y="2055018"/>
            <a:ext cx="6172200" cy="3525441"/>
          </a:xfrm>
          <a:prstGeom prst="rect">
            <a:avLst/>
          </a:prstGeom>
        </p:spPr>
        <p:txBody>
          <a:bodyPr>
            <a:noAutofit/>
          </a:bodyPr>
          <a:lstStyle>
            <a:lvl1pPr marL="342900" indent="-342900" algn="l" defTabSz="457200" rtl="0" eaLnBrk="1" latinLnBrk="0" hangingPunct="1">
              <a:spcBef>
                <a:spcPct val="20000"/>
              </a:spcBef>
              <a:buFont typeface="Arial"/>
              <a:buChar char="•"/>
              <a:defRPr sz="3200" kern="1200">
                <a:solidFill>
                  <a:schemeClr val="tx1"/>
                </a:solidFill>
                <a:latin typeface="Helvetica"/>
                <a:ea typeface="+mn-ea"/>
                <a:cs typeface="Helvetica"/>
              </a:defRPr>
            </a:lvl1pPr>
            <a:lvl2pPr marL="742950" indent="-285750" algn="l" defTabSz="457200" rtl="0" eaLnBrk="1" latinLnBrk="0" hangingPunct="1">
              <a:spcBef>
                <a:spcPct val="20000"/>
              </a:spcBef>
              <a:buFont typeface="Arial"/>
              <a:buChar char="–"/>
              <a:defRPr sz="2800" kern="1200">
                <a:solidFill>
                  <a:schemeClr val="tx1"/>
                </a:solidFill>
                <a:latin typeface="Cambria"/>
                <a:ea typeface="+mn-ea"/>
                <a:cs typeface="Cambria"/>
              </a:defRPr>
            </a:lvl2pPr>
            <a:lvl3pPr marL="1143000" indent="-228600" algn="l" defTabSz="457200" rtl="0" eaLnBrk="1" latinLnBrk="0" hangingPunct="1">
              <a:spcBef>
                <a:spcPct val="20000"/>
              </a:spcBef>
              <a:buFont typeface="Arial"/>
              <a:buChar char="•"/>
              <a:defRPr sz="2400" kern="1200">
                <a:solidFill>
                  <a:schemeClr val="tx1"/>
                </a:solidFill>
                <a:latin typeface="Cambria"/>
                <a:ea typeface="+mn-ea"/>
                <a:cs typeface="Cambria"/>
              </a:defRPr>
            </a:lvl3pPr>
            <a:lvl4pPr marL="1600200" indent="-228600" algn="l" defTabSz="457200" rtl="0" eaLnBrk="1" latinLnBrk="0" hangingPunct="1">
              <a:spcBef>
                <a:spcPct val="20000"/>
              </a:spcBef>
              <a:buFont typeface="Arial"/>
              <a:buChar char="–"/>
              <a:defRPr sz="2000" kern="1200">
                <a:solidFill>
                  <a:schemeClr val="tx1"/>
                </a:solidFill>
                <a:latin typeface="Cambria"/>
                <a:ea typeface="+mn-ea"/>
                <a:cs typeface="Cambria"/>
              </a:defRPr>
            </a:lvl4pPr>
            <a:lvl5pPr marL="2057400" indent="-228600" algn="l" defTabSz="457200" rtl="0" eaLnBrk="1" latinLnBrk="0" hangingPunct="1">
              <a:spcBef>
                <a:spcPct val="20000"/>
              </a:spcBef>
              <a:buFont typeface="Arial"/>
              <a:buChar char="»"/>
              <a:defRPr sz="2000" kern="1200">
                <a:solidFill>
                  <a:schemeClr val="tx1"/>
                </a:solidFill>
                <a:latin typeface="Cambria"/>
                <a:ea typeface="+mn-ea"/>
                <a:cs typeface="Cambria"/>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a:pPr>
            <a:r>
              <a:rPr lang="en-US" dirty="0">
                <a:solidFill>
                  <a:prstClr val="black"/>
                </a:solidFill>
                <a:latin typeface="Calibri"/>
              </a:rPr>
              <a:t>Scientific name</a:t>
            </a:r>
          </a:p>
          <a:p>
            <a:pPr>
              <a:defRPr/>
            </a:pPr>
            <a:r>
              <a:rPr lang="en-US" dirty="0">
                <a:solidFill>
                  <a:prstClr val="black"/>
                </a:solidFill>
                <a:latin typeface="Calibri"/>
              </a:rPr>
              <a:t>Date</a:t>
            </a:r>
          </a:p>
          <a:p>
            <a:pPr>
              <a:defRPr/>
            </a:pPr>
            <a:r>
              <a:rPr lang="en-US" dirty="0">
                <a:solidFill>
                  <a:prstClr val="black"/>
                </a:solidFill>
                <a:latin typeface="Calibri"/>
              </a:rPr>
              <a:t>Collector</a:t>
            </a:r>
          </a:p>
          <a:p>
            <a:pPr>
              <a:defRPr/>
            </a:pPr>
            <a:r>
              <a:rPr lang="en-US" dirty="0">
                <a:solidFill>
                  <a:prstClr val="black"/>
                </a:solidFill>
                <a:latin typeface="Calibri"/>
              </a:rPr>
              <a:t>Location – state, county, </a:t>
            </a:r>
          </a:p>
          <a:p>
            <a:pPr marL="0" indent="0">
              <a:buNone/>
              <a:defRPr/>
            </a:pPr>
            <a:r>
              <a:rPr lang="en-US" dirty="0">
                <a:solidFill>
                  <a:prstClr val="black"/>
                </a:solidFill>
                <a:latin typeface="Calibri"/>
              </a:rPr>
              <a:t>	specific site, </a:t>
            </a:r>
          </a:p>
          <a:p>
            <a:pPr marL="0" indent="0">
              <a:buNone/>
              <a:defRPr/>
            </a:pPr>
            <a:r>
              <a:rPr lang="en-US" dirty="0">
                <a:solidFill>
                  <a:prstClr val="black"/>
                </a:solidFill>
                <a:latin typeface="Calibri"/>
              </a:rPr>
              <a:t>	GPS coordinates</a:t>
            </a:r>
          </a:p>
          <a:p>
            <a:pPr>
              <a:defRPr/>
            </a:pPr>
            <a:r>
              <a:rPr lang="en-US" dirty="0">
                <a:solidFill>
                  <a:prstClr val="black"/>
                </a:solidFill>
                <a:latin typeface="Calibri"/>
              </a:rPr>
              <a:t>Associated species</a:t>
            </a:r>
          </a:p>
          <a:p>
            <a:pPr>
              <a:defRPr/>
            </a:pPr>
            <a:endParaRPr lang="en-US" dirty="0">
              <a:solidFill>
                <a:prstClr val="black"/>
              </a:solidFill>
              <a:latin typeface="Calibri"/>
            </a:endParaRPr>
          </a:p>
        </p:txBody>
      </p:sp>
      <p:sp>
        <p:nvSpPr>
          <p:cNvPr id="104452" name="Oval 6"/>
          <p:cNvSpPr>
            <a:spLocks noChangeArrowheads="1"/>
          </p:cNvSpPr>
          <p:nvPr/>
        </p:nvSpPr>
        <p:spPr bwMode="auto">
          <a:xfrm>
            <a:off x="10431979" y="5580459"/>
            <a:ext cx="1296591" cy="1015603"/>
          </a:xfrm>
          <a:prstGeom prst="ellipse">
            <a:avLst/>
          </a:prstGeom>
          <a:noFill/>
          <a:ln w="57150">
            <a:solidFill>
              <a:srgbClr val="FF0000"/>
            </a:solidFill>
            <a:round/>
            <a:headEnd/>
            <a:tailEnd/>
          </a:ln>
          <a:extLst>
            <a:ext uri="{909E8E84-426E-40dd-AFC4-6F175D3DCCD1}">
              <a14:hiddenFill xmlns:a14="http://schemas.microsoft.com/office/drawing/2010/main" xmlns="">
                <a:solidFill>
                  <a:srgbClr val="FFFFFF"/>
                </a:solidFill>
              </a14:hiddenFill>
            </a:ext>
          </a:extLst>
        </p:spPr>
        <p:txBody>
          <a:bodyPr/>
          <a:lstStyle/>
          <a:p>
            <a:pPr eaLnBrk="0" fontAlgn="base" hangingPunct="0">
              <a:spcBef>
                <a:spcPct val="0"/>
              </a:spcBef>
              <a:spcAft>
                <a:spcPct val="0"/>
              </a:spcAft>
            </a:pPr>
            <a:endParaRPr lang="en-US">
              <a:solidFill>
                <a:srgbClr val="000000"/>
              </a:solidFill>
              <a:latin typeface="Arial" charset="0"/>
              <a:ea typeface="ＭＳ Ｐゴシック" charset="0"/>
              <a:cs typeface="ＭＳ Ｐゴシック" charset="0"/>
            </a:endParaRPr>
          </a:p>
        </p:txBody>
      </p:sp>
      <p:cxnSp>
        <p:nvCxnSpPr>
          <p:cNvPr id="7" name="Straight Arrow Connector 6"/>
          <p:cNvCxnSpPr/>
          <p:nvPr/>
        </p:nvCxnSpPr>
        <p:spPr>
          <a:xfrm>
            <a:off x="234275" y="4135455"/>
            <a:ext cx="1036320" cy="0"/>
          </a:xfrm>
          <a:prstGeom prst="straightConnector1">
            <a:avLst/>
          </a:prstGeom>
          <a:ln w="2540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965777"/>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2300" y="465608"/>
            <a:ext cx="8422105" cy="857250"/>
          </a:xfrm>
        </p:spPr>
        <p:txBody>
          <a:bodyPr>
            <a:noAutofit/>
          </a:bodyPr>
          <a:lstStyle/>
          <a:p>
            <a:pPr algn="ctr"/>
            <a:r>
              <a:rPr lang="en-US" dirty="0">
                <a:solidFill>
                  <a:srgbClr val="0070C0"/>
                </a:solidFill>
                <a:latin typeface="+mn-lt"/>
              </a:rPr>
              <a:t>Niche Models</a:t>
            </a:r>
            <a:br>
              <a:rPr lang="en-US" dirty="0">
                <a:solidFill>
                  <a:srgbClr val="0070C0"/>
                </a:solidFill>
                <a:latin typeface="+mn-lt"/>
              </a:rPr>
            </a:br>
            <a:endParaRPr lang="en-US" dirty="0">
              <a:solidFill>
                <a:srgbClr val="0070C0"/>
              </a:solidFill>
              <a:latin typeface="+mn-lt"/>
            </a:endParaRPr>
          </a:p>
        </p:txBody>
      </p:sp>
      <p:sp>
        <p:nvSpPr>
          <p:cNvPr id="19" name="Right Arrow 18"/>
          <p:cNvSpPr/>
          <p:nvPr/>
        </p:nvSpPr>
        <p:spPr>
          <a:xfrm>
            <a:off x="5480987" y="3765322"/>
            <a:ext cx="2182822" cy="505074"/>
          </a:xfrm>
          <a:prstGeom prst="rightArrow">
            <a:avLst>
              <a:gd name="adj1" fmla="val 18611"/>
              <a:gd name="adj2" fmla="val 50000"/>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grpSp>
        <p:nvGrpSpPr>
          <p:cNvPr id="8" name="Group 7"/>
          <p:cNvGrpSpPr/>
          <p:nvPr/>
        </p:nvGrpSpPr>
        <p:grpSpPr>
          <a:xfrm>
            <a:off x="2022300" y="1750741"/>
            <a:ext cx="3561072" cy="4916559"/>
            <a:chOff x="260581" y="1829364"/>
            <a:chExt cx="3368317" cy="4895311"/>
          </a:xfrm>
        </p:grpSpPr>
        <p:pic>
          <p:nvPicPr>
            <p:cNvPr id="14" name="Picture 13" descr="mapwithdotsmall.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81" y="1829364"/>
              <a:ext cx="1511208" cy="797582"/>
            </a:xfrm>
            <a:prstGeom prst="rect">
              <a:avLst/>
            </a:prstGeom>
          </p:spPr>
        </p:pic>
        <p:grpSp>
          <p:nvGrpSpPr>
            <p:cNvPr id="3" name="Group 2"/>
            <p:cNvGrpSpPr/>
            <p:nvPr/>
          </p:nvGrpSpPr>
          <p:grpSpPr>
            <a:xfrm>
              <a:off x="629461" y="1899330"/>
              <a:ext cx="1960400" cy="1562241"/>
              <a:chOff x="529477" y="1128051"/>
              <a:chExt cx="4935675" cy="3933234"/>
            </a:xfrm>
          </p:grpSpPr>
          <p:pic>
            <p:nvPicPr>
              <p:cNvPr id="4" name="Picture 3" descr="lotus.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9477" y="3229376"/>
                <a:ext cx="2145864" cy="1831909"/>
              </a:xfrm>
              <a:prstGeom prst="rect">
                <a:avLst/>
              </a:prstGeom>
            </p:spPr>
          </p:pic>
          <p:pic>
            <p:nvPicPr>
              <p:cNvPr id="5" name="Picture 4" descr="wolf.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53268" y="2186252"/>
                <a:ext cx="2145864" cy="1831909"/>
              </a:xfrm>
              <a:prstGeom prst="rect">
                <a:avLst/>
              </a:prstGeom>
            </p:spPr>
          </p:pic>
          <p:pic>
            <p:nvPicPr>
              <p:cNvPr id="6" name="Picture 5" descr="snake_big.pn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19288" y="1128051"/>
                <a:ext cx="2145864" cy="1831909"/>
              </a:xfrm>
              <a:prstGeom prst="rect">
                <a:avLst/>
              </a:prstGeom>
            </p:spPr>
          </p:pic>
        </p:grpSp>
        <p:pic>
          <p:nvPicPr>
            <p:cNvPr id="9" name="Picture 8" descr="IPCC-Logo.jp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39090" y="4489061"/>
              <a:ext cx="1015943" cy="1423574"/>
            </a:xfrm>
            <a:prstGeom prst="rect">
              <a:avLst/>
            </a:prstGeom>
          </p:spPr>
        </p:pic>
        <p:sp>
          <p:nvSpPr>
            <p:cNvPr id="17" name="Right Arrow 16"/>
            <p:cNvSpPr/>
            <p:nvPr/>
          </p:nvSpPr>
          <p:spPr>
            <a:xfrm rot="2160000">
              <a:off x="2424649" y="3170326"/>
              <a:ext cx="1204249" cy="414318"/>
            </a:xfrm>
            <a:prstGeom prst="rightArrow">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18" name="Right Arrow 17"/>
            <p:cNvSpPr/>
            <p:nvPr/>
          </p:nvSpPr>
          <p:spPr>
            <a:xfrm rot="19080000">
              <a:off x="2275413" y="4738183"/>
              <a:ext cx="1325265" cy="414318"/>
            </a:xfrm>
            <a:prstGeom prst="rightArrow">
              <a:avLst/>
            </a:prstGeom>
            <a:solidFill>
              <a:schemeClr val="bg1">
                <a:lumMod val="8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pic>
          <p:nvPicPr>
            <p:cNvPr id="7" name="Picture 6" descr="climate3.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1341" y="5241032"/>
              <a:ext cx="1980896" cy="1100497"/>
            </a:xfrm>
            <a:prstGeom prst="rect">
              <a:avLst/>
            </a:prstGeom>
          </p:spPr>
        </p:pic>
        <p:pic>
          <p:nvPicPr>
            <p:cNvPr id="16" name="Picture 15" descr="hicks_jars.pn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67572" y="2902535"/>
              <a:ext cx="1122289" cy="1122289"/>
            </a:xfrm>
            <a:prstGeom prst="rect">
              <a:avLst/>
            </a:prstGeom>
          </p:spPr>
        </p:pic>
        <p:sp>
          <p:nvSpPr>
            <p:cNvPr id="25" name="TextBox 24"/>
            <p:cNvSpPr txBox="1"/>
            <p:nvPr/>
          </p:nvSpPr>
          <p:spPr>
            <a:xfrm>
              <a:off x="347343" y="3995737"/>
              <a:ext cx="2613443" cy="398381"/>
            </a:xfrm>
            <a:prstGeom prst="rect">
              <a:avLst/>
            </a:prstGeom>
            <a:noFill/>
          </p:spPr>
          <p:txBody>
            <a:bodyPr wrap="none" rtlCol="0">
              <a:spAutoFit/>
            </a:bodyPr>
            <a:lstStyle/>
            <a:p>
              <a:r>
                <a:rPr lang="en-US" sz="2000" dirty="0"/>
                <a:t>Species Occurrence Data</a:t>
              </a:r>
            </a:p>
          </p:txBody>
        </p:sp>
        <p:sp>
          <p:nvSpPr>
            <p:cNvPr id="26" name="TextBox 25"/>
            <p:cNvSpPr txBox="1"/>
            <p:nvPr/>
          </p:nvSpPr>
          <p:spPr>
            <a:xfrm>
              <a:off x="468592" y="6326294"/>
              <a:ext cx="2122911" cy="398381"/>
            </a:xfrm>
            <a:prstGeom prst="rect">
              <a:avLst/>
            </a:prstGeom>
            <a:noFill/>
          </p:spPr>
          <p:txBody>
            <a:bodyPr wrap="none" rtlCol="0">
              <a:spAutoFit/>
            </a:bodyPr>
            <a:lstStyle/>
            <a:p>
              <a:r>
                <a:rPr lang="en-US" sz="2000" dirty="0"/>
                <a:t>Environmental Data</a:t>
              </a:r>
            </a:p>
          </p:txBody>
        </p:sp>
      </p:grpSp>
      <p:sp>
        <p:nvSpPr>
          <p:cNvPr id="28" name="TextBox 27"/>
          <p:cNvSpPr txBox="1"/>
          <p:nvPr/>
        </p:nvSpPr>
        <p:spPr>
          <a:xfrm>
            <a:off x="8311333" y="4369500"/>
            <a:ext cx="2008435" cy="400110"/>
          </a:xfrm>
          <a:prstGeom prst="rect">
            <a:avLst/>
          </a:prstGeom>
          <a:noFill/>
        </p:spPr>
        <p:txBody>
          <a:bodyPr wrap="none" rtlCol="0">
            <a:spAutoFit/>
          </a:bodyPr>
          <a:lstStyle/>
          <a:p>
            <a:r>
              <a:rPr lang="en-US" sz="2000" dirty="0"/>
              <a:t>Predicted Habitat</a:t>
            </a:r>
          </a:p>
        </p:txBody>
      </p:sp>
      <p:pic>
        <p:nvPicPr>
          <p:cNvPr id="10" name="Picture 9">
            <a:extLst>
              <a:ext uri="{FF2B5EF4-FFF2-40B4-BE49-F238E27FC236}">
                <a16:creationId xmlns:a16="http://schemas.microsoft.com/office/drawing/2014/main" id="{A361BD64-47C0-DC27-8466-984ACDF5835D}"/>
              </a:ext>
            </a:extLst>
          </p:cNvPr>
          <p:cNvPicPr>
            <a:picLocks noChangeAspect="1"/>
          </p:cNvPicPr>
          <p:nvPr/>
        </p:nvPicPr>
        <p:blipFill>
          <a:blip r:embed="rId10"/>
          <a:srcRect r="50000" b="50000"/>
          <a:stretch>
            <a:fillRect/>
          </a:stretch>
        </p:blipFill>
        <p:spPr>
          <a:xfrm>
            <a:off x="8043109" y="2346642"/>
            <a:ext cx="2878098" cy="2005610"/>
          </a:xfrm>
          <a:prstGeom prst="rect">
            <a:avLst/>
          </a:prstGeom>
        </p:spPr>
      </p:pic>
      <p:pic>
        <p:nvPicPr>
          <p:cNvPr id="11" name="Picture 3" descr="139652a1-sized.jpg">
            <a:extLst>
              <a:ext uri="{FF2B5EF4-FFF2-40B4-BE49-F238E27FC236}">
                <a16:creationId xmlns:a16="http://schemas.microsoft.com/office/drawing/2014/main" id="{6FF09E70-BF78-A9E1-0B53-04DB293C0F95}"/>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2009843" y="829980"/>
            <a:ext cx="2502673" cy="31878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85853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05625-061A-A120-0FB3-2A739A05F14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6FC040C-1644-6765-3CC1-E6AD8F6A87AF}"/>
              </a:ext>
            </a:extLst>
          </p:cNvPr>
          <p:cNvSpPr txBox="1">
            <a:spLocks/>
          </p:cNvSpPr>
          <p:nvPr/>
        </p:nvSpPr>
        <p:spPr>
          <a:xfrm>
            <a:off x="0" y="348066"/>
            <a:ext cx="12192000" cy="666427"/>
          </a:xfrm>
          <a:prstGeom prst="rect">
            <a:avLst/>
          </a:prstGeom>
          <a:gradFill flip="none" rotWithShape="1">
            <a:gsLst>
              <a:gs pos="0">
                <a:schemeClr val="bg1"/>
              </a:gs>
              <a:gs pos="54000">
                <a:srgbClr val="92BD3E"/>
              </a:gs>
              <a:gs pos="100000">
                <a:srgbClr val="92BD3E"/>
              </a:gs>
            </a:gsLst>
            <a:lin ang="10800000" scaled="1"/>
            <a:tileRect/>
          </a:gra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FLORIDA UPLAND HARDWOOD FORESTS</a:t>
            </a:r>
            <a:endParaRPr lang="en-US" sz="3200" i="1" dirty="0"/>
          </a:p>
        </p:txBody>
      </p:sp>
      <p:pic>
        <p:nvPicPr>
          <p:cNvPr id="10" name="Picture 9">
            <a:extLst>
              <a:ext uri="{FF2B5EF4-FFF2-40B4-BE49-F238E27FC236}">
                <a16:creationId xmlns:a16="http://schemas.microsoft.com/office/drawing/2014/main" id="{AF587DF1-3054-A21C-545D-96F7D41620C2}"/>
              </a:ext>
            </a:extLst>
          </p:cNvPr>
          <p:cNvPicPr>
            <a:picLocks noChangeAspect="1"/>
          </p:cNvPicPr>
          <p:nvPr/>
        </p:nvPicPr>
        <p:blipFill>
          <a:blip r:embed="rId2"/>
          <a:stretch>
            <a:fillRect/>
          </a:stretch>
        </p:blipFill>
        <p:spPr>
          <a:xfrm>
            <a:off x="294898" y="1380218"/>
            <a:ext cx="7908207" cy="4469110"/>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E4D44D98-EC6D-908D-FE9B-3B3D4A6E0E70}"/>
              </a:ext>
            </a:extLst>
          </p:cNvPr>
          <p:cNvPicPr>
            <a:picLocks noChangeAspect="1"/>
          </p:cNvPicPr>
          <p:nvPr/>
        </p:nvPicPr>
        <p:blipFill>
          <a:blip r:embed="rId3"/>
          <a:stretch>
            <a:fillRect/>
          </a:stretch>
        </p:blipFill>
        <p:spPr>
          <a:xfrm>
            <a:off x="8538108" y="1392070"/>
            <a:ext cx="3116701" cy="2077801"/>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28D4EF-5248-B368-2C68-0D9EF625E865}"/>
              </a:ext>
            </a:extLst>
          </p:cNvPr>
          <p:cNvPicPr>
            <a:picLocks noChangeAspect="1"/>
          </p:cNvPicPr>
          <p:nvPr/>
        </p:nvPicPr>
        <p:blipFill>
          <a:blip r:embed="rId4"/>
          <a:stretch>
            <a:fillRect/>
          </a:stretch>
        </p:blipFill>
        <p:spPr>
          <a:xfrm>
            <a:off x="8538111" y="3783379"/>
            <a:ext cx="3116700" cy="2065949"/>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DBA69771-1C14-53F6-7513-EBAF58A1E7D9}"/>
              </a:ext>
            </a:extLst>
          </p:cNvPr>
          <p:cNvSpPr txBox="1"/>
          <p:nvPr/>
        </p:nvSpPr>
        <p:spPr>
          <a:xfrm>
            <a:off x="2371060" y="6111513"/>
            <a:ext cx="3843745" cy="369332"/>
          </a:xfrm>
          <a:prstGeom prst="rect">
            <a:avLst/>
          </a:prstGeom>
          <a:noFill/>
        </p:spPr>
        <p:txBody>
          <a:bodyPr wrap="none" rtlCol="0">
            <a:spAutoFit/>
          </a:bodyPr>
          <a:lstStyle/>
          <a:p>
            <a:r>
              <a:rPr lang="en-US" dirty="0"/>
              <a:t>McCarty Woods, University of Florida</a:t>
            </a:r>
          </a:p>
        </p:txBody>
      </p:sp>
      <p:sp>
        <p:nvSpPr>
          <p:cNvPr id="3" name="TextBox 2">
            <a:extLst>
              <a:ext uri="{FF2B5EF4-FFF2-40B4-BE49-F238E27FC236}">
                <a16:creationId xmlns:a16="http://schemas.microsoft.com/office/drawing/2014/main" id="{4C363077-FFBA-610A-6639-A4D4A7059195}"/>
              </a:ext>
            </a:extLst>
          </p:cNvPr>
          <p:cNvSpPr txBox="1"/>
          <p:nvPr/>
        </p:nvSpPr>
        <p:spPr>
          <a:xfrm>
            <a:off x="7258616" y="5477782"/>
            <a:ext cx="944489" cy="276999"/>
          </a:xfrm>
          <a:prstGeom prst="rect">
            <a:avLst/>
          </a:prstGeom>
          <a:noFill/>
        </p:spPr>
        <p:txBody>
          <a:bodyPr wrap="none" rtlCol="0">
            <a:spAutoFit/>
          </a:bodyPr>
          <a:lstStyle/>
          <a:p>
            <a:r>
              <a:rPr lang="en-US" sz="1200" dirty="0">
                <a:solidFill>
                  <a:schemeClr val="bg1"/>
                </a:solidFill>
              </a:rPr>
              <a:t>John Rouse</a:t>
            </a:r>
          </a:p>
        </p:txBody>
      </p:sp>
      <p:sp>
        <p:nvSpPr>
          <p:cNvPr id="5" name="TextBox 4">
            <a:extLst>
              <a:ext uri="{FF2B5EF4-FFF2-40B4-BE49-F238E27FC236}">
                <a16:creationId xmlns:a16="http://schemas.microsoft.com/office/drawing/2014/main" id="{F56DDD9C-A919-595A-B99E-C4D21EB42DDD}"/>
              </a:ext>
            </a:extLst>
          </p:cNvPr>
          <p:cNvSpPr txBox="1"/>
          <p:nvPr/>
        </p:nvSpPr>
        <p:spPr>
          <a:xfrm>
            <a:off x="10614267" y="3170860"/>
            <a:ext cx="1014893" cy="276999"/>
          </a:xfrm>
          <a:prstGeom prst="rect">
            <a:avLst/>
          </a:prstGeom>
          <a:noFill/>
        </p:spPr>
        <p:txBody>
          <a:bodyPr wrap="none" rtlCol="0">
            <a:spAutoFit/>
          </a:bodyPr>
          <a:lstStyle/>
          <a:p>
            <a:r>
              <a:rPr lang="en-US" sz="1200" dirty="0">
                <a:solidFill>
                  <a:schemeClr val="bg1"/>
                </a:solidFill>
              </a:rPr>
              <a:t>Andres Leon</a:t>
            </a:r>
          </a:p>
        </p:txBody>
      </p:sp>
      <p:sp>
        <p:nvSpPr>
          <p:cNvPr id="6" name="TextBox 5">
            <a:extLst>
              <a:ext uri="{FF2B5EF4-FFF2-40B4-BE49-F238E27FC236}">
                <a16:creationId xmlns:a16="http://schemas.microsoft.com/office/drawing/2014/main" id="{BA588151-0D5E-3627-1612-612E48BCD965}"/>
              </a:ext>
            </a:extLst>
          </p:cNvPr>
          <p:cNvSpPr txBox="1"/>
          <p:nvPr/>
        </p:nvSpPr>
        <p:spPr>
          <a:xfrm>
            <a:off x="10518216" y="5572329"/>
            <a:ext cx="1206997" cy="276999"/>
          </a:xfrm>
          <a:prstGeom prst="rect">
            <a:avLst/>
          </a:prstGeom>
          <a:noFill/>
        </p:spPr>
        <p:txBody>
          <a:bodyPr wrap="none" rtlCol="0">
            <a:spAutoFit/>
          </a:bodyPr>
          <a:lstStyle/>
          <a:p>
            <a:r>
              <a:rPr lang="en-US" sz="1200" dirty="0">
                <a:solidFill>
                  <a:schemeClr val="bg1"/>
                </a:solidFill>
              </a:rPr>
              <a:t>Mariela Pajuelo</a:t>
            </a:r>
          </a:p>
        </p:txBody>
      </p:sp>
    </p:spTree>
    <p:extLst>
      <p:ext uri="{BB962C8B-B14F-4D97-AF65-F5344CB8AC3E}">
        <p14:creationId xmlns:p14="http://schemas.microsoft.com/office/powerpoint/2010/main" val="4079011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7103F1D-2D5D-5423-0D2E-10978A092787}"/>
              </a:ext>
            </a:extLst>
          </p:cNvPr>
          <p:cNvSpPr txBox="1">
            <a:spLocks/>
          </p:cNvSpPr>
          <p:nvPr/>
        </p:nvSpPr>
        <p:spPr>
          <a:xfrm>
            <a:off x="0" y="348066"/>
            <a:ext cx="12192000" cy="666427"/>
          </a:xfrm>
          <a:prstGeom prst="rect">
            <a:avLst/>
          </a:prstGeom>
          <a:gradFill flip="none" rotWithShape="1">
            <a:gsLst>
              <a:gs pos="0">
                <a:schemeClr val="bg1"/>
              </a:gs>
              <a:gs pos="54000">
                <a:srgbClr val="92BD3E"/>
              </a:gs>
              <a:gs pos="100000">
                <a:srgbClr val="92BD3E"/>
              </a:gs>
            </a:gsLst>
            <a:lin ang="10800000" scaled="1"/>
            <a:tileRect/>
          </a:gra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FLORIDA UPLAND HARDWOOD FORESTS</a:t>
            </a:r>
            <a:endParaRPr lang="en-US" sz="3200" i="1" dirty="0"/>
          </a:p>
        </p:txBody>
      </p:sp>
      <p:pic>
        <p:nvPicPr>
          <p:cNvPr id="8" name="Picture 7">
            <a:extLst>
              <a:ext uri="{FF2B5EF4-FFF2-40B4-BE49-F238E27FC236}">
                <a16:creationId xmlns:a16="http://schemas.microsoft.com/office/drawing/2014/main" id="{DEEED0C8-15A6-930C-93C0-AA4EE454A017}"/>
              </a:ext>
            </a:extLst>
          </p:cNvPr>
          <p:cNvPicPr>
            <a:picLocks noChangeAspect="1"/>
          </p:cNvPicPr>
          <p:nvPr/>
        </p:nvPicPr>
        <p:blipFill>
          <a:blip r:embed="rId2"/>
          <a:srcRect t="10092" r="31342" b="11223"/>
          <a:stretch>
            <a:fillRect/>
          </a:stretch>
        </p:blipFill>
        <p:spPr>
          <a:xfrm>
            <a:off x="0" y="1501422"/>
            <a:ext cx="7769302" cy="5008512"/>
          </a:xfrm>
          <a:prstGeom prst="rect">
            <a:avLst/>
          </a:prstGeom>
        </p:spPr>
      </p:pic>
      <p:pic>
        <p:nvPicPr>
          <p:cNvPr id="17410" name="Picture 2" descr="FNAI Geodata">
            <a:extLst>
              <a:ext uri="{FF2B5EF4-FFF2-40B4-BE49-F238E27FC236}">
                <a16:creationId xmlns:a16="http://schemas.microsoft.com/office/drawing/2014/main" id="{4A0499DD-3A6A-3E92-A78F-5377B74C0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0864" y="87489"/>
            <a:ext cx="2546432" cy="254643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45E3110-3F55-0789-4C4F-C518C927BF0C}"/>
              </a:ext>
            </a:extLst>
          </p:cNvPr>
          <p:cNvSpPr txBox="1"/>
          <p:nvPr/>
        </p:nvSpPr>
        <p:spPr>
          <a:xfrm>
            <a:off x="7774007" y="3593700"/>
            <a:ext cx="4417993" cy="1554272"/>
          </a:xfrm>
          <a:prstGeom prst="rect">
            <a:avLst/>
          </a:prstGeom>
          <a:noFill/>
        </p:spPr>
        <p:txBody>
          <a:bodyPr wrap="square" rtlCol="0">
            <a:spAutoFit/>
          </a:bodyPr>
          <a:lstStyle/>
          <a:p>
            <a:pPr marL="285750" lvl="0" indent="-285750" eaLnBrk="0" fontAlgn="base" hangingPunct="0">
              <a:spcBef>
                <a:spcPts val="600"/>
              </a:spcBef>
              <a:spcAft>
                <a:spcPct val="0"/>
              </a:spcAft>
              <a:buFont typeface="Arial" panose="020B0604020202020204" pitchFamily="34" charset="0"/>
              <a:buChar char="•"/>
            </a:pPr>
            <a:r>
              <a:rPr lang="en-US" altLang="en-US" dirty="0">
                <a:latin typeface="Arial" panose="020B0604020202020204" pitchFamily="34" charset="0"/>
              </a:rPr>
              <a:t>1,248,796 occurrence records for 39 focal species and 32 plant families. </a:t>
            </a:r>
          </a:p>
          <a:p>
            <a:pPr marL="285750" lvl="0" indent="-285750" eaLnBrk="0" fontAlgn="base" hangingPunct="0">
              <a:spcBef>
                <a:spcPts val="600"/>
              </a:spcBef>
              <a:spcAft>
                <a:spcPct val="0"/>
              </a:spcAft>
              <a:buFont typeface="Arial" panose="020B0604020202020204" pitchFamily="34" charset="0"/>
              <a:buChar char="•"/>
            </a:pPr>
            <a:r>
              <a:rPr lang="en-US" altLang="en-US" dirty="0">
                <a:latin typeface="Arial" panose="020B0604020202020204" pitchFamily="34" charset="0"/>
              </a:rPr>
              <a:t>Final cleaned dataset contained 371,253 occurrence records.</a:t>
            </a:r>
          </a:p>
          <a:p>
            <a:endParaRPr lang="en-US" dirty="0"/>
          </a:p>
        </p:txBody>
      </p:sp>
    </p:spTree>
    <p:extLst>
      <p:ext uri="{BB962C8B-B14F-4D97-AF65-F5344CB8AC3E}">
        <p14:creationId xmlns:p14="http://schemas.microsoft.com/office/powerpoint/2010/main" val="1389750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BB787-6586-74E7-A175-FD9A23278ED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D06DD6B-F292-7D01-E0C4-40B420C08728}"/>
              </a:ext>
            </a:extLst>
          </p:cNvPr>
          <p:cNvSpPr txBox="1">
            <a:spLocks/>
          </p:cNvSpPr>
          <p:nvPr/>
        </p:nvSpPr>
        <p:spPr>
          <a:xfrm>
            <a:off x="0" y="348066"/>
            <a:ext cx="12192000" cy="666427"/>
          </a:xfrm>
          <a:prstGeom prst="rect">
            <a:avLst/>
          </a:prstGeom>
          <a:gradFill flip="none" rotWithShape="1">
            <a:gsLst>
              <a:gs pos="0">
                <a:schemeClr val="bg1"/>
              </a:gs>
              <a:gs pos="54000">
                <a:srgbClr val="92BD3E"/>
              </a:gs>
              <a:gs pos="100000">
                <a:srgbClr val="92BD3E"/>
              </a:gs>
            </a:gsLst>
            <a:lin ang="10800000" scaled="1"/>
            <a:tileRect/>
          </a:gra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FLORIDA UPLAND HARDWOOD FORESTS | </a:t>
            </a:r>
            <a:r>
              <a:rPr lang="en-US" sz="3200" i="1" dirty="0"/>
              <a:t>Future Habitat Suitability</a:t>
            </a:r>
          </a:p>
        </p:txBody>
      </p:sp>
      <p:pic>
        <p:nvPicPr>
          <p:cNvPr id="3" name="Picture 2">
            <a:extLst>
              <a:ext uri="{FF2B5EF4-FFF2-40B4-BE49-F238E27FC236}">
                <a16:creationId xmlns:a16="http://schemas.microsoft.com/office/drawing/2014/main" id="{93B4AAAB-1DBD-36ED-8ECC-7C00820B1AC8}"/>
              </a:ext>
            </a:extLst>
          </p:cNvPr>
          <p:cNvPicPr>
            <a:picLocks noChangeAspect="1"/>
          </p:cNvPicPr>
          <p:nvPr/>
        </p:nvPicPr>
        <p:blipFill>
          <a:blip r:embed="rId3"/>
          <a:srcRect t="49411"/>
          <a:stretch>
            <a:fillRect/>
          </a:stretch>
        </p:blipFill>
        <p:spPr>
          <a:xfrm>
            <a:off x="9083" y="3763929"/>
            <a:ext cx="12152568" cy="2732371"/>
          </a:xfrm>
          <a:prstGeom prst="rect">
            <a:avLst/>
          </a:prstGeom>
        </p:spPr>
      </p:pic>
      <p:sp>
        <p:nvSpPr>
          <p:cNvPr id="2" name="Rectangle 1">
            <a:extLst>
              <a:ext uri="{FF2B5EF4-FFF2-40B4-BE49-F238E27FC236}">
                <a16:creationId xmlns:a16="http://schemas.microsoft.com/office/drawing/2014/main" id="{F1A2F198-682B-CA9F-6E8A-49A805CDC231}"/>
              </a:ext>
            </a:extLst>
          </p:cNvPr>
          <p:cNvSpPr/>
          <p:nvPr/>
        </p:nvSpPr>
        <p:spPr>
          <a:xfrm>
            <a:off x="0" y="3753303"/>
            <a:ext cx="244549" cy="2339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A72D624-EE9C-8844-465C-4840D4DB7D0E}"/>
              </a:ext>
            </a:extLst>
          </p:cNvPr>
          <p:cNvSpPr/>
          <p:nvPr/>
        </p:nvSpPr>
        <p:spPr>
          <a:xfrm>
            <a:off x="3023192" y="3721405"/>
            <a:ext cx="244549" cy="2339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F760FE2-3C52-C749-883A-58B3EA67FDA2}"/>
              </a:ext>
            </a:extLst>
          </p:cNvPr>
          <p:cNvSpPr/>
          <p:nvPr/>
        </p:nvSpPr>
        <p:spPr>
          <a:xfrm>
            <a:off x="6046383" y="3753303"/>
            <a:ext cx="244549" cy="2339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E86CFD5-C20E-6A68-E051-B0A82C99DC2D}"/>
              </a:ext>
            </a:extLst>
          </p:cNvPr>
          <p:cNvSpPr/>
          <p:nvPr/>
        </p:nvSpPr>
        <p:spPr>
          <a:xfrm>
            <a:off x="9112103" y="3774562"/>
            <a:ext cx="244549" cy="23390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
            <a:extLst>
              <a:ext uri="{FF2B5EF4-FFF2-40B4-BE49-F238E27FC236}">
                <a16:creationId xmlns:a16="http://schemas.microsoft.com/office/drawing/2014/main" id="{E4CA22E4-6F54-6461-4139-98E27CF54BFD}"/>
              </a:ext>
            </a:extLst>
          </p:cNvPr>
          <p:cNvSpPr>
            <a:spLocks noChangeArrowheads="1"/>
          </p:cNvSpPr>
          <p:nvPr/>
        </p:nvSpPr>
        <p:spPr bwMode="auto">
          <a:xfrm>
            <a:off x="613145" y="1406845"/>
            <a:ext cx="10866475" cy="155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2000" b="0" i="1" u="none" strike="noStrike" cap="none" normalizeH="0" baseline="0" dirty="0">
                <a:ln>
                  <a:noFill/>
                </a:ln>
                <a:solidFill>
                  <a:schemeClr val="tx1"/>
                </a:solidFill>
                <a:effectLst/>
                <a:latin typeface="Arial" panose="020B0604020202020204" pitchFamily="34" charset="0"/>
              </a:rPr>
              <a:t>Tilia americana </a:t>
            </a:r>
            <a:r>
              <a:rPr lang="en-US" altLang="en-US" sz="2000" dirty="0">
                <a:latin typeface="Arial" panose="020B0604020202020204" pitchFamily="34" charset="0"/>
              </a:rPr>
              <a:t>and many focal taxa </a:t>
            </a:r>
            <a:r>
              <a:rPr kumimoji="0" lang="en-US" altLang="en-US" sz="2000" b="0" i="0" u="none" strike="noStrike" cap="none" normalizeH="0" baseline="0" dirty="0">
                <a:ln>
                  <a:noFill/>
                </a:ln>
                <a:solidFill>
                  <a:schemeClr val="tx1"/>
                </a:solidFill>
                <a:effectLst/>
                <a:latin typeface="Arial" panose="020B0604020202020204" pitchFamily="34" charset="0"/>
              </a:rPr>
              <a:t>reach southern edge of distribution in Florida. </a:t>
            </a:r>
          </a:p>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lang="en-US" altLang="en-US" sz="2000" dirty="0">
                <a:latin typeface="Arial" panose="020B0604020202020204" pitchFamily="34" charset="0"/>
              </a:rPr>
              <a:t>P</a:t>
            </a:r>
            <a:r>
              <a:rPr kumimoji="0" lang="en-US" altLang="en-US" sz="2000" b="0" i="0" u="none" strike="noStrike" cap="none" normalizeH="0" baseline="0" dirty="0">
                <a:ln>
                  <a:noFill/>
                </a:ln>
                <a:solidFill>
                  <a:schemeClr val="tx1"/>
                </a:solidFill>
                <a:effectLst/>
                <a:latin typeface="Arial" panose="020B0604020202020204" pitchFamily="34" charset="0"/>
              </a:rPr>
              <a:t>rojected </a:t>
            </a:r>
            <a:r>
              <a:rPr lang="en-US" altLang="en-US" sz="2000" dirty="0">
                <a:latin typeface="Arial" panose="020B0604020202020204" pitchFamily="34" charset="0"/>
              </a:rPr>
              <a:t>to lose habitat suitability in Florida Upland Hardwoods </a:t>
            </a:r>
          </a:p>
          <a:p>
            <a:pPr marL="285750" marR="0" lvl="0" indent="-285750"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Future projections also indicate broad retention of suitable habitat across its core range. </a:t>
            </a:r>
          </a:p>
          <a:p>
            <a:pPr marL="342900" marR="0" lvl="0" indent="-342900"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Results suggest relative climatic stability outside of Florida.</a:t>
            </a:r>
          </a:p>
        </p:txBody>
      </p:sp>
    </p:spTree>
    <p:extLst>
      <p:ext uri="{BB962C8B-B14F-4D97-AF65-F5344CB8AC3E}">
        <p14:creationId xmlns:p14="http://schemas.microsoft.com/office/powerpoint/2010/main" val="37816926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098CFF-9137-717B-2B2F-5148419D3B29}"/>
              </a:ext>
            </a:extLst>
          </p:cNvPr>
          <p:cNvPicPr>
            <a:picLocks noGrp="1" noChangeAspect="1"/>
          </p:cNvPicPr>
          <p:nvPr>
            <p:ph idx="1"/>
          </p:nvPr>
        </p:nvPicPr>
        <p:blipFill>
          <a:blip r:embed="rId2"/>
          <a:stretch>
            <a:fillRect/>
          </a:stretch>
        </p:blipFill>
        <p:spPr>
          <a:xfrm>
            <a:off x="257209" y="1383338"/>
            <a:ext cx="8886790" cy="4847340"/>
          </a:xfrm>
          <a:prstGeom prst="rect">
            <a:avLst/>
          </a:prstGeom>
        </p:spPr>
      </p:pic>
      <p:sp>
        <p:nvSpPr>
          <p:cNvPr id="6" name="Title 1">
            <a:extLst>
              <a:ext uri="{FF2B5EF4-FFF2-40B4-BE49-F238E27FC236}">
                <a16:creationId xmlns:a16="http://schemas.microsoft.com/office/drawing/2014/main" id="{3CB2597D-549F-2302-9492-F7CC29947AAF}"/>
              </a:ext>
            </a:extLst>
          </p:cNvPr>
          <p:cNvSpPr txBox="1">
            <a:spLocks/>
          </p:cNvSpPr>
          <p:nvPr/>
        </p:nvSpPr>
        <p:spPr>
          <a:xfrm>
            <a:off x="0" y="348066"/>
            <a:ext cx="12192000" cy="666427"/>
          </a:xfrm>
          <a:prstGeom prst="rect">
            <a:avLst/>
          </a:prstGeom>
          <a:gradFill flip="none" rotWithShape="1">
            <a:gsLst>
              <a:gs pos="0">
                <a:schemeClr val="bg1"/>
              </a:gs>
              <a:gs pos="54000">
                <a:srgbClr val="92BD3E"/>
              </a:gs>
              <a:gs pos="100000">
                <a:srgbClr val="92BD3E"/>
              </a:gs>
            </a:gsLst>
            <a:lin ang="10800000" scaled="1"/>
            <a:tileRect/>
          </a:gradFill>
          <a:effec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FLORIDA UPLAND HARDWOOD FORESTS  | </a:t>
            </a:r>
            <a:r>
              <a:rPr lang="en-US" sz="3200" i="1" dirty="0"/>
              <a:t>Latitudinal Range Change</a:t>
            </a:r>
          </a:p>
        </p:txBody>
      </p:sp>
      <p:sp>
        <p:nvSpPr>
          <p:cNvPr id="7" name="Rectangle 1">
            <a:extLst>
              <a:ext uri="{FF2B5EF4-FFF2-40B4-BE49-F238E27FC236}">
                <a16:creationId xmlns:a16="http://schemas.microsoft.com/office/drawing/2014/main" id="{4954C8BC-85CA-D432-0B55-314C48979F37}"/>
              </a:ext>
            </a:extLst>
          </p:cNvPr>
          <p:cNvSpPr>
            <a:spLocks noChangeArrowheads="1"/>
          </p:cNvSpPr>
          <p:nvPr/>
        </p:nvSpPr>
        <p:spPr bwMode="auto">
          <a:xfrm>
            <a:off x="9441712" y="1952584"/>
            <a:ext cx="2493079"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Halesia </a:t>
            </a:r>
            <a:r>
              <a:rPr kumimoji="0" lang="en-US" altLang="en-US" sz="1800" b="0" i="1" u="none" strike="noStrike" cap="none" normalizeH="0" baseline="0" dirty="0" err="1">
                <a:ln>
                  <a:noFill/>
                </a:ln>
                <a:solidFill>
                  <a:schemeClr val="tx1"/>
                </a:solidFill>
                <a:effectLst/>
                <a:latin typeface="Arial" panose="020B0604020202020204" pitchFamily="34" charset="0"/>
              </a:rPr>
              <a:t>diptera</a:t>
            </a:r>
            <a:r>
              <a:rPr kumimoji="0" lang="en-US" altLang="en-US" sz="1800" b="0" i="1"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showed a widening latitudinal range over time. </a:t>
            </a: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endParaRPr lang="en-US" altLang="en-US" dirty="0">
              <a:latin typeface="Arial" panose="020B0604020202020204" pitchFamily="34" charset="0"/>
            </a:endParaRP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ts val="600"/>
              </a:spcBef>
              <a:spcAft>
                <a:spcPct val="0"/>
              </a:spcAft>
              <a:buClrTx/>
              <a:buSzTx/>
              <a:buFont typeface="Arial" panose="020B0604020202020204" pitchFamily="34" charset="0"/>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Tilia americana</a:t>
            </a:r>
            <a:r>
              <a:rPr kumimoji="0" lang="en-US" altLang="en-US" sz="1800" b="0" i="0" u="none" strike="noStrike" cap="none" normalizeH="0" baseline="0" dirty="0">
                <a:ln>
                  <a:noFill/>
                </a:ln>
                <a:solidFill>
                  <a:schemeClr val="tx1"/>
                </a:solidFill>
                <a:effectLst/>
                <a:latin typeface="Arial" panose="020B0604020202020204" pitchFamily="34" charset="0"/>
              </a:rPr>
              <a:t> showed a northward retreat of its southern range limit, suggesting trailing-edge contraction.</a:t>
            </a:r>
          </a:p>
        </p:txBody>
      </p:sp>
    </p:spTree>
    <p:extLst>
      <p:ext uri="{BB962C8B-B14F-4D97-AF65-F5344CB8AC3E}">
        <p14:creationId xmlns:p14="http://schemas.microsoft.com/office/powerpoint/2010/main" val="3021065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16197" y="162323"/>
            <a:ext cx="2159605" cy="769441"/>
          </a:xfrm>
          <a:prstGeom prst="rect">
            <a:avLst/>
          </a:prstGeom>
          <a:noFill/>
        </p:spPr>
        <p:txBody>
          <a:bodyPr wrap="square" rtlCol="0">
            <a:spAutoFit/>
          </a:bodyPr>
          <a:lstStyle/>
          <a:p>
            <a:pPr algn="ctr"/>
            <a:r>
              <a:rPr lang="en-US" sz="4400" dirty="0">
                <a:solidFill>
                  <a:srgbClr val="0070C0"/>
                </a:solidFill>
              </a:rPr>
              <a:t>Trees</a:t>
            </a:r>
          </a:p>
        </p:txBody>
      </p:sp>
      <p:pic>
        <p:nvPicPr>
          <p:cNvPr id="3" name="Picture 2">
            <a:extLst>
              <a:ext uri="{FF2B5EF4-FFF2-40B4-BE49-F238E27FC236}">
                <a16:creationId xmlns:a16="http://schemas.microsoft.com/office/drawing/2014/main" id="{9C82F441-1A01-BBFE-9CEA-8DB947B56CAA}"/>
              </a:ext>
            </a:extLst>
          </p:cNvPr>
          <p:cNvPicPr>
            <a:picLocks noChangeAspect="1"/>
          </p:cNvPicPr>
          <p:nvPr/>
        </p:nvPicPr>
        <p:blipFill>
          <a:blip r:embed="rId2"/>
          <a:stretch>
            <a:fillRect/>
          </a:stretch>
        </p:blipFill>
        <p:spPr>
          <a:xfrm>
            <a:off x="1637981" y="681863"/>
            <a:ext cx="3907188" cy="4049267"/>
          </a:xfrm>
          <a:prstGeom prst="rect">
            <a:avLst/>
          </a:prstGeom>
        </p:spPr>
      </p:pic>
      <p:pic>
        <p:nvPicPr>
          <p:cNvPr id="6" name="Picture 5">
            <a:extLst>
              <a:ext uri="{FF2B5EF4-FFF2-40B4-BE49-F238E27FC236}">
                <a16:creationId xmlns:a16="http://schemas.microsoft.com/office/drawing/2014/main" id="{E3EB104B-3B3F-10D3-B009-D67B3589918B}"/>
              </a:ext>
            </a:extLst>
          </p:cNvPr>
          <p:cNvPicPr>
            <a:picLocks noChangeAspect="1"/>
          </p:cNvPicPr>
          <p:nvPr/>
        </p:nvPicPr>
        <p:blipFill>
          <a:blip r:embed="rId3"/>
          <a:stretch>
            <a:fillRect/>
          </a:stretch>
        </p:blipFill>
        <p:spPr>
          <a:xfrm>
            <a:off x="7975760" y="309334"/>
            <a:ext cx="4036395" cy="3342640"/>
          </a:xfrm>
          <a:prstGeom prst="rect">
            <a:avLst/>
          </a:prstGeom>
        </p:spPr>
      </p:pic>
      <p:pic>
        <p:nvPicPr>
          <p:cNvPr id="7" name="Picture 6">
            <a:extLst>
              <a:ext uri="{FF2B5EF4-FFF2-40B4-BE49-F238E27FC236}">
                <a16:creationId xmlns:a16="http://schemas.microsoft.com/office/drawing/2014/main" id="{0ACA8725-586A-D21A-4A8C-4FC5AAB04CBB}"/>
              </a:ext>
            </a:extLst>
          </p:cNvPr>
          <p:cNvPicPr>
            <a:picLocks noChangeAspect="1"/>
          </p:cNvPicPr>
          <p:nvPr/>
        </p:nvPicPr>
        <p:blipFill>
          <a:blip r:embed="rId4"/>
          <a:stretch>
            <a:fillRect/>
          </a:stretch>
        </p:blipFill>
        <p:spPr>
          <a:xfrm>
            <a:off x="5784843" y="4059936"/>
            <a:ext cx="3818191" cy="2798064"/>
          </a:xfrm>
          <a:prstGeom prst="rect">
            <a:avLst/>
          </a:prstGeom>
        </p:spPr>
      </p:pic>
      <p:pic>
        <p:nvPicPr>
          <p:cNvPr id="8" name="Picture 7">
            <a:extLst>
              <a:ext uri="{FF2B5EF4-FFF2-40B4-BE49-F238E27FC236}">
                <a16:creationId xmlns:a16="http://schemas.microsoft.com/office/drawing/2014/main" id="{81EB8078-EFC0-890C-6D7A-AD2A844133BD}"/>
              </a:ext>
            </a:extLst>
          </p:cNvPr>
          <p:cNvPicPr>
            <a:picLocks noChangeAspect="1"/>
          </p:cNvPicPr>
          <p:nvPr/>
        </p:nvPicPr>
        <p:blipFill>
          <a:blip r:embed="rId5"/>
          <a:srcRect r="27282"/>
          <a:stretch>
            <a:fillRect/>
          </a:stretch>
        </p:blipFill>
        <p:spPr>
          <a:xfrm>
            <a:off x="2081784" y="4878994"/>
            <a:ext cx="2014728" cy="1856323"/>
          </a:xfrm>
          <a:prstGeom prst="rect">
            <a:avLst/>
          </a:prstGeom>
        </p:spPr>
      </p:pic>
      <p:pic>
        <p:nvPicPr>
          <p:cNvPr id="9" name="Picture 8">
            <a:extLst>
              <a:ext uri="{FF2B5EF4-FFF2-40B4-BE49-F238E27FC236}">
                <a16:creationId xmlns:a16="http://schemas.microsoft.com/office/drawing/2014/main" id="{7F169393-8850-840B-F023-6CBFCF694630}"/>
              </a:ext>
            </a:extLst>
          </p:cNvPr>
          <p:cNvPicPr>
            <a:picLocks noChangeAspect="1"/>
          </p:cNvPicPr>
          <p:nvPr/>
        </p:nvPicPr>
        <p:blipFill>
          <a:blip r:embed="rId6"/>
          <a:stretch>
            <a:fillRect/>
          </a:stretch>
        </p:blipFill>
        <p:spPr>
          <a:xfrm>
            <a:off x="5473700" y="1421093"/>
            <a:ext cx="2159604" cy="2820708"/>
          </a:xfrm>
          <a:prstGeom prst="rect">
            <a:avLst/>
          </a:prstGeom>
        </p:spPr>
      </p:pic>
    </p:spTree>
    <p:extLst>
      <p:ext uri="{BB962C8B-B14F-4D97-AF65-F5344CB8AC3E}">
        <p14:creationId xmlns:p14="http://schemas.microsoft.com/office/powerpoint/2010/main" val="39819944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23ED4-0E61-E74E-B8CF-143C89B93A3C}"/>
              </a:ext>
            </a:extLst>
          </p:cNvPr>
          <p:cNvSpPr>
            <a:spLocks noGrp="1"/>
          </p:cNvSpPr>
          <p:nvPr>
            <p:ph type="title"/>
          </p:nvPr>
        </p:nvSpPr>
        <p:spPr>
          <a:xfrm>
            <a:off x="146824" y="936822"/>
            <a:ext cx="10515600" cy="895984"/>
          </a:xfrm>
        </p:spPr>
        <p:txBody>
          <a:bodyPr>
            <a:normAutofit/>
          </a:bodyPr>
          <a:lstStyle/>
          <a:p>
            <a:pPr>
              <a:buFont typeface="Times New Roman" charset="0"/>
              <a:buNone/>
              <a:defRPr/>
            </a:pPr>
            <a:r>
              <a:rPr lang="en-US" sz="3600" dirty="0">
                <a:latin typeface="Calibri" panose="020F0502020204030204" pitchFamily="34" charset="0"/>
                <a:cs typeface="Calibri" panose="020F0502020204030204" pitchFamily="34" charset="0"/>
              </a:rPr>
              <a:t>Connecting Trees, Specimens, Tools</a:t>
            </a:r>
          </a:p>
        </p:txBody>
      </p:sp>
      <p:pic>
        <p:nvPicPr>
          <p:cNvPr id="99331" name="image03.png" descr="workflows.png">
            <a:extLst>
              <a:ext uri="{FF2B5EF4-FFF2-40B4-BE49-F238E27FC236}">
                <a16:creationId xmlns:a16="http://schemas.microsoft.com/office/drawing/2014/main" id="{CEA2B5A3-6E09-E045-BE72-6627FD8DA5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12" r="42168" b="60304"/>
          <a:stretch>
            <a:fillRect/>
          </a:stretch>
        </p:blipFill>
        <p:spPr bwMode="auto">
          <a:xfrm>
            <a:off x="4837069" y="1621536"/>
            <a:ext cx="7363852" cy="482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358E5568-C6EA-EA44-9C92-6C4C888EF856}"/>
              </a:ext>
            </a:extLst>
          </p:cNvPr>
          <p:cNvSpPr>
            <a:spLocks noGrp="1"/>
          </p:cNvSpPr>
          <p:nvPr>
            <p:ph type="sldNum" sz="quarter" idx="11"/>
          </p:nvPr>
        </p:nvSpPr>
        <p:spPr>
          <a:xfrm>
            <a:off x="8077200" y="6356351"/>
            <a:ext cx="21336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1pPr>
            <a:lvl2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2pPr>
            <a:lvl3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3pPr>
            <a:lvl4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4pPr>
            <a:lvl5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Times New Roman" pitchFamily="2" charset="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Times New Roman" pitchFamily="2" charset="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Times New Roman" pitchFamily="2" charset="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Times New Roman" pitchFamily="2" charset="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9pPr>
          </a:lstStyle>
          <a:p>
            <a:pPr eaLnBrk="1"/>
            <a:fld id="{DB1D8AA4-0365-F743-93BB-E203B5751E92}" type="slidenum">
              <a:rPr lang="en-US" altLang="en-US" sz="1800">
                <a:solidFill>
                  <a:srgbClr val="262626"/>
                </a:solidFill>
                <a:latin typeface="Calibri" panose="020F0502020204030204" pitchFamily="34" charset="0"/>
              </a:rPr>
              <a:pPr eaLnBrk="1"/>
              <a:t>11</a:t>
            </a:fld>
            <a:endParaRPr lang="en-US" altLang="en-US" sz="1800">
              <a:solidFill>
                <a:srgbClr val="262626"/>
              </a:solidFill>
              <a:latin typeface="Calibri" panose="020F0502020204030204" pitchFamily="34" charset="0"/>
            </a:endParaRPr>
          </a:p>
        </p:txBody>
      </p:sp>
      <p:sp>
        <p:nvSpPr>
          <p:cNvPr id="8" name="Text Box 2">
            <a:extLst>
              <a:ext uri="{FF2B5EF4-FFF2-40B4-BE49-F238E27FC236}">
                <a16:creationId xmlns:a16="http://schemas.microsoft.com/office/drawing/2014/main" id="{2D29235E-C86B-7D4F-9D44-52C9719418E3}"/>
              </a:ext>
            </a:extLst>
          </p:cNvPr>
          <p:cNvSpPr txBox="1">
            <a:spLocks noChangeArrowheads="1"/>
          </p:cNvSpPr>
          <p:nvPr/>
        </p:nvSpPr>
        <p:spPr bwMode="auto">
          <a:xfrm>
            <a:off x="2896235" y="136524"/>
            <a:ext cx="6399530" cy="89598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90000" tIns="66168" rIns="90000" bIns="45000"/>
          <a:lstStyle>
            <a:lvl1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1pPr>
            <a:lvl2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2pPr>
            <a:lvl3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3pPr>
            <a:lvl4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4pPr>
            <a:lvl5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5pPr>
            <a:lvl6pPr marL="2514600" indent="-228600" defTabSz="449263" fontAlgn="base" hangingPunct="0">
              <a:lnSpc>
                <a:spcPct val="93000"/>
              </a:lnSpc>
              <a:spcBef>
                <a:spcPct val="0"/>
              </a:spcBef>
              <a:spcAft>
                <a:spcPct val="0"/>
              </a:spcAft>
              <a:buClr>
                <a:srgbClr val="000000"/>
              </a:buClr>
              <a:buSzPct val="100000"/>
              <a:buFont typeface="Times New Roman" charset="0"/>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6pPr>
            <a:lvl7pPr marL="2971800" indent="-228600" defTabSz="449263" fontAlgn="base" hangingPunct="0">
              <a:lnSpc>
                <a:spcPct val="93000"/>
              </a:lnSpc>
              <a:spcBef>
                <a:spcPct val="0"/>
              </a:spcBef>
              <a:spcAft>
                <a:spcPct val="0"/>
              </a:spcAft>
              <a:buClr>
                <a:srgbClr val="000000"/>
              </a:buClr>
              <a:buSzPct val="100000"/>
              <a:buFont typeface="Times New Roman" charset="0"/>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7pPr>
            <a:lvl8pPr marL="3429000" indent="-228600" defTabSz="449263" fontAlgn="base" hangingPunct="0">
              <a:lnSpc>
                <a:spcPct val="93000"/>
              </a:lnSpc>
              <a:spcBef>
                <a:spcPct val="0"/>
              </a:spcBef>
              <a:spcAft>
                <a:spcPct val="0"/>
              </a:spcAft>
              <a:buClr>
                <a:srgbClr val="000000"/>
              </a:buClr>
              <a:buSzPct val="100000"/>
              <a:buFont typeface="Times New Roman" charset="0"/>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8pPr>
            <a:lvl9pPr marL="3886200" indent="-228600" defTabSz="449263" fontAlgn="base" hangingPunct="0">
              <a:lnSpc>
                <a:spcPct val="93000"/>
              </a:lnSpc>
              <a:spcBef>
                <a:spcPct val="0"/>
              </a:spcBef>
              <a:spcAft>
                <a:spcPct val="0"/>
              </a:spcAft>
              <a:buClr>
                <a:srgbClr val="000000"/>
              </a:buClr>
              <a:buSzPct val="100000"/>
              <a:buFont typeface="Times New Roman" charset="0"/>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9pPr>
          </a:lstStyle>
          <a:p>
            <a:pPr algn="ctr">
              <a:buFont typeface="Times New Roman" charset="0"/>
              <a:buNone/>
              <a:defRPr/>
            </a:pPr>
            <a:r>
              <a:rPr lang="en-US" sz="4800" dirty="0">
                <a:solidFill>
                  <a:srgbClr val="0070C0"/>
                </a:solidFill>
                <a:latin typeface="Calibri" panose="020F0502020204030204" pitchFamily="34" charset="0"/>
                <a:cs typeface="Calibri" panose="020F0502020204030204" pitchFamily="34" charset="0"/>
              </a:rPr>
              <a:t>Ancestral Niche</a:t>
            </a:r>
          </a:p>
        </p:txBody>
      </p:sp>
      <p:sp>
        <p:nvSpPr>
          <p:cNvPr id="6" name="TextBox 5">
            <a:extLst>
              <a:ext uri="{FF2B5EF4-FFF2-40B4-BE49-F238E27FC236}">
                <a16:creationId xmlns:a16="http://schemas.microsoft.com/office/drawing/2014/main" id="{95FD134B-555C-E045-90F5-30CF1D2C756B}"/>
              </a:ext>
            </a:extLst>
          </p:cNvPr>
          <p:cNvSpPr txBox="1"/>
          <p:nvPr/>
        </p:nvSpPr>
        <p:spPr>
          <a:xfrm>
            <a:off x="2397760" y="2702560"/>
            <a:ext cx="590550" cy="792480"/>
          </a:xfrm>
          <a:prstGeom prst="rect">
            <a:avLst/>
          </a:prstGeom>
          <a:solidFill>
            <a:schemeClr val="bg1"/>
          </a:solidFill>
        </p:spPr>
        <p:txBody>
          <a:bodyPr wrap="square" rtlCol="0">
            <a:spAutoFit/>
          </a:bodyPr>
          <a:lstStyle/>
          <a:p>
            <a:endParaRPr lang="en-US" dirty="0"/>
          </a:p>
        </p:txBody>
      </p:sp>
      <p:sp>
        <p:nvSpPr>
          <p:cNvPr id="24" name="Oval 23">
            <a:extLst>
              <a:ext uri="{FF2B5EF4-FFF2-40B4-BE49-F238E27FC236}">
                <a16:creationId xmlns:a16="http://schemas.microsoft.com/office/drawing/2014/main" id="{09E4688C-BD29-881A-0D6D-552346F62458}"/>
              </a:ext>
            </a:extLst>
          </p:cNvPr>
          <p:cNvSpPr/>
          <p:nvPr/>
        </p:nvSpPr>
        <p:spPr>
          <a:xfrm>
            <a:off x="5176051" y="3319272"/>
            <a:ext cx="665871" cy="63103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sp>
        <p:nvSpPr>
          <p:cNvPr id="25" name="Oval 24">
            <a:extLst>
              <a:ext uri="{FF2B5EF4-FFF2-40B4-BE49-F238E27FC236}">
                <a16:creationId xmlns:a16="http://schemas.microsoft.com/office/drawing/2014/main" id="{472D6EC3-C96C-0ABB-53EC-AD652C49AC91}"/>
              </a:ext>
            </a:extLst>
          </p:cNvPr>
          <p:cNvSpPr/>
          <p:nvPr/>
        </p:nvSpPr>
        <p:spPr>
          <a:xfrm>
            <a:off x="7535203" y="5507736"/>
            <a:ext cx="665871" cy="63103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sp>
        <p:nvSpPr>
          <p:cNvPr id="26" name="Oval 25">
            <a:extLst>
              <a:ext uri="{FF2B5EF4-FFF2-40B4-BE49-F238E27FC236}">
                <a16:creationId xmlns:a16="http://schemas.microsoft.com/office/drawing/2014/main" id="{8A6BAFA2-6CA6-4472-A592-2F0E344AA1F4}"/>
              </a:ext>
            </a:extLst>
          </p:cNvPr>
          <p:cNvSpPr/>
          <p:nvPr/>
        </p:nvSpPr>
        <p:spPr>
          <a:xfrm>
            <a:off x="7375768" y="3310839"/>
            <a:ext cx="665871" cy="63103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N</a:t>
            </a:r>
          </a:p>
        </p:txBody>
      </p:sp>
      <p:grpSp>
        <p:nvGrpSpPr>
          <p:cNvPr id="27" name="Group 26">
            <a:extLst>
              <a:ext uri="{FF2B5EF4-FFF2-40B4-BE49-F238E27FC236}">
                <a16:creationId xmlns:a16="http://schemas.microsoft.com/office/drawing/2014/main" id="{265A7427-9CD1-2708-E68C-A437B3175E19}"/>
              </a:ext>
            </a:extLst>
          </p:cNvPr>
          <p:cNvGrpSpPr/>
          <p:nvPr/>
        </p:nvGrpSpPr>
        <p:grpSpPr>
          <a:xfrm>
            <a:off x="126878" y="3681984"/>
            <a:ext cx="5132313" cy="3102865"/>
            <a:chOff x="3645948" y="3657502"/>
            <a:chExt cx="5397691" cy="2933476"/>
          </a:xfrm>
        </p:grpSpPr>
        <p:sp>
          <p:nvSpPr>
            <p:cNvPr id="28" name="Rectangle 27">
              <a:extLst>
                <a:ext uri="{FF2B5EF4-FFF2-40B4-BE49-F238E27FC236}">
                  <a16:creationId xmlns:a16="http://schemas.microsoft.com/office/drawing/2014/main" id="{0023518E-899F-C840-079B-2A962E95D4E9}"/>
                </a:ext>
              </a:extLst>
            </p:cNvPr>
            <p:cNvSpPr/>
            <p:nvPr/>
          </p:nvSpPr>
          <p:spPr>
            <a:xfrm>
              <a:off x="6847659"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90513F56-F24A-8392-7000-CF5750E08862}"/>
                </a:ext>
              </a:extLst>
            </p:cNvPr>
            <p:cNvGrpSpPr/>
            <p:nvPr/>
          </p:nvGrpSpPr>
          <p:grpSpPr>
            <a:xfrm>
              <a:off x="3645948" y="3657502"/>
              <a:ext cx="5397691" cy="2933476"/>
              <a:chOff x="2135686" y="3641874"/>
              <a:chExt cx="5197211" cy="2933476"/>
            </a:xfrm>
          </p:grpSpPr>
          <p:grpSp>
            <p:nvGrpSpPr>
              <p:cNvPr id="36" name="Group 35">
                <a:extLst>
                  <a:ext uri="{FF2B5EF4-FFF2-40B4-BE49-F238E27FC236}">
                    <a16:creationId xmlns:a16="http://schemas.microsoft.com/office/drawing/2014/main" id="{1DAB7F2D-E29C-6F0E-C0C2-EE9F0A023621}"/>
                  </a:ext>
                </a:extLst>
              </p:cNvPr>
              <p:cNvGrpSpPr/>
              <p:nvPr/>
            </p:nvGrpSpPr>
            <p:grpSpPr>
              <a:xfrm>
                <a:off x="2135686" y="3641874"/>
                <a:ext cx="4790858" cy="2933476"/>
                <a:chOff x="2135686" y="3641874"/>
                <a:chExt cx="4790858" cy="2933476"/>
              </a:xfrm>
            </p:grpSpPr>
            <p:pic>
              <p:nvPicPr>
                <p:cNvPr id="38" name="image03.png" descr="workflows.png">
                  <a:extLst>
                    <a:ext uri="{FF2B5EF4-FFF2-40B4-BE49-F238E27FC236}">
                      <a16:creationId xmlns:a16="http://schemas.microsoft.com/office/drawing/2014/main" id="{158201EB-1AB3-8372-3169-66BA04D8BCB1}"/>
                    </a:ext>
                  </a:extLst>
                </p:cNvPr>
                <p:cNvPicPr/>
                <p:nvPr/>
              </p:nvPicPr>
              <p:blipFill rotWithShape="1">
                <a:blip r:embed="rId3"/>
                <a:srcRect l="58507" b="75542"/>
                <a:stretch/>
              </p:blipFill>
              <p:spPr>
                <a:xfrm>
                  <a:off x="2135686" y="3641874"/>
                  <a:ext cx="4790858" cy="2933476"/>
                </a:xfrm>
                <a:prstGeom prst="rect">
                  <a:avLst/>
                </a:prstGeom>
                <a:ln/>
              </p:spPr>
            </p:pic>
            <p:sp>
              <p:nvSpPr>
                <p:cNvPr id="39" name="Rectangle 38">
                  <a:extLst>
                    <a:ext uri="{FF2B5EF4-FFF2-40B4-BE49-F238E27FC236}">
                      <a16:creationId xmlns:a16="http://schemas.microsoft.com/office/drawing/2014/main" id="{16C1E44A-4200-ED08-B7CF-AC809FD7FE97}"/>
                    </a:ext>
                  </a:extLst>
                </p:cNvPr>
                <p:cNvSpPr/>
                <p:nvPr/>
              </p:nvSpPr>
              <p:spPr>
                <a:xfrm>
                  <a:off x="5323658"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7CF3FC52-1811-5CC7-3484-569A059195F6}"/>
                  </a:ext>
                </a:extLst>
              </p:cNvPr>
              <p:cNvSpPr txBox="1"/>
              <p:nvPr/>
            </p:nvSpPr>
            <p:spPr>
              <a:xfrm>
                <a:off x="5216978" y="4133594"/>
                <a:ext cx="2115919" cy="307777"/>
              </a:xfrm>
              <a:prstGeom prst="rect">
                <a:avLst/>
              </a:prstGeom>
              <a:noFill/>
            </p:spPr>
            <p:txBody>
              <a:bodyPr wrap="square" rtlCol="0">
                <a:spAutoFit/>
              </a:bodyPr>
              <a:lstStyle/>
              <a:p>
                <a:r>
                  <a:rPr lang="en-US" sz="1400" dirty="0">
                    <a:latin typeface="Arial" charset="0"/>
                    <a:ea typeface="Arial" charset="0"/>
                    <a:cs typeface="Arial" charset="0"/>
                  </a:rPr>
                  <a:t>Analytical Tools</a:t>
                </a:r>
              </a:p>
            </p:txBody>
          </p:sp>
        </p:grpSp>
        <p:sp>
          <p:nvSpPr>
            <p:cNvPr id="30" name="Oval 29">
              <a:extLst>
                <a:ext uri="{FF2B5EF4-FFF2-40B4-BE49-F238E27FC236}">
                  <a16:creationId xmlns:a16="http://schemas.microsoft.com/office/drawing/2014/main" id="{68E887E1-3E50-2C87-2BE4-AA1F03189E2B}"/>
                </a:ext>
              </a:extLst>
            </p:cNvPr>
            <p:cNvSpPr/>
            <p:nvPr/>
          </p:nvSpPr>
          <p:spPr>
            <a:xfrm>
              <a:off x="3781774" y="4131730"/>
              <a:ext cx="620889" cy="60960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N</a:t>
              </a:r>
            </a:p>
          </p:txBody>
        </p:sp>
        <p:sp>
          <p:nvSpPr>
            <p:cNvPr id="31" name="Rectangle 30">
              <a:extLst>
                <a:ext uri="{FF2B5EF4-FFF2-40B4-BE49-F238E27FC236}">
                  <a16:creationId xmlns:a16="http://schemas.microsoft.com/office/drawing/2014/main" id="{F3E9582C-7838-33DE-AE37-DCD74FCA2696}"/>
                </a:ext>
              </a:extLst>
            </p:cNvPr>
            <p:cNvSpPr/>
            <p:nvPr/>
          </p:nvSpPr>
          <p:spPr>
            <a:xfrm>
              <a:off x="4481689" y="4149222"/>
              <a:ext cx="1468551" cy="279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Arial" charset="0"/>
                  <a:ea typeface="Arial" charset="0"/>
                  <a:cs typeface="Arial" charset="0"/>
                </a:rPr>
                <a:t>Analytical Tools</a:t>
              </a:r>
            </a:p>
          </p:txBody>
        </p:sp>
        <p:sp>
          <p:nvSpPr>
            <p:cNvPr id="32" name="TextBox 31">
              <a:extLst>
                <a:ext uri="{FF2B5EF4-FFF2-40B4-BE49-F238E27FC236}">
                  <a16:creationId xmlns:a16="http://schemas.microsoft.com/office/drawing/2014/main" id="{3869E1FC-3CE0-1741-348B-93DE014379F3}"/>
                </a:ext>
              </a:extLst>
            </p:cNvPr>
            <p:cNvSpPr txBox="1"/>
            <p:nvPr/>
          </p:nvSpPr>
          <p:spPr>
            <a:xfrm>
              <a:off x="4481689" y="4126571"/>
              <a:ext cx="2197541" cy="307777"/>
            </a:xfrm>
            <a:prstGeom prst="rect">
              <a:avLst/>
            </a:prstGeom>
            <a:noFill/>
          </p:spPr>
          <p:txBody>
            <a:bodyPr wrap="square" rtlCol="0">
              <a:spAutoFit/>
            </a:bodyPr>
            <a:lstStyle/>
            <a:p>
              <a:r>
                <a:rPr lang="en-US" sz="1400" dirty="0">
                  <a:latin typeface="Arial" charset="0"/>
                  <a:ea typeface="Arial" charset="0"/>
                  <a:cs typeface="Arial" charset="0"/>
                </a:rPr>
                <a:t>Niche Models</a:t>
              </a:r>
            </a:p>
          </p:txBody>
        </p:sp>
        <p:sp>
          <p:nvSpPr>
            <p:cNvPr id="33" name="Rectangle 32">
              <a:extLst>
                <a:ext uri="{FF2B5EF4-FFF2-40B4-BE49-F238E27FC236}">
                  <a16:creationId xmlns:a16="http://schemas.microsoft.com/office/drawing/2014/main" id="{8C0FC274-B04E-3E10-FC07-7A1CD8826073}"/>
                </a:ext>
              </a:extLst>
            </p:cNvPr>
            <p:cNvSpPr/>
            <p:nvPr/>
          </p:nvSpPr>
          <p:spPr>
            <a:xfrm>
              <a:off x="4402663" y="5483423"/>
              <a:ext cx="1693337"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14CC111-B6E6-1A3F-4C94-A3CA20192577}"/>
                </a:ext>
              </a:extLst>
            </p:cNvPr>
            <p:cNvSpPr txBox="1"/>
            <p:nvPr/>
          </p:nvSpPr>
          <p:spPr>
            <a:xfrm>
              <a:off x="4481689" y="5483423"/>
              <a:ext cx="2197540" cy="307777"/>
            </a:xfrm>
            <a:prstGeom prst="rect">
              <a:avLst/>
            </a:prstGeom>
            <a:noFill/>
          </p:spPr>
          <p:txBody>
            <a:bodyPr wrap="square" rtlCol="0">
              <a:spAutoFit/>
            </a:bodyPr>
            <a:lstStyle/>
            <a:p>
              <a:r>
                <a:rPr lang="en-US" sz="1400" dirty="0">
                  <a:latin typeface="Arial" charset="0"/>
                  <a:ea typeface="Arial" charset="0"/>
                  <a:cs typeface="Arial" charset="0"/>
                </a:rPr>
                <a:t>Trees</a:t>
              </a:r>
            </a:p>
          </p:txBody>
        </p:sp>
        <p:sp>
          <p:nvSpPr>
            <p:cNvPr id="35" name="Oval 34">
              <a:extLst>
                <a:ext uri="{FF2B5EF4-FFF2-40B4-BE49-F238E27FC236}">
                  <a16:creationId xmlns:a16="http://schemas.microsoft.com/office/drawing/2014/main" id="{76C39428-851E-B028-ABF7-2A0FD533636C}"/>
                </a:ext>
              </a:extLst>
            </p:cNvPr>
            <p:cNvSpPr/>
            <p:nvPr/>
          </p:nvSpPr>
          <p:spPr>
            <a:xfrm>
              <a:off x="3747914" y="5463816"/>
              <a:ext cx="620889" cy="60960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grpSp>
    </p:spTree>
    <p:extLst>
      <p:ext uri="{BB962C8B-B14F-4D97-AF65-F5344CB8AC3E}">
        <p14:creationId xmlns:p14="http://schemas.microsoft.com/office/powerpoint/2010/main" val="1890659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68969" y="0"/>
            <a:ext cx="9144000" cy="6858000"/>
          </a:xfrm>
          <a:prstGeom prst="rect">
            <a:avLst/>
          </a:prstGeom>
          <a:ln>
            <a:solidFill>
              <a:schemeClr val="tx1"/>
            </a:solidFill>
            <a:prstDash val="sysDot"/>
          </a:ln>
        </p:spPr>
      </p:pic>
      <p:cxnSp>
        <p:nvCxnSpPr>
          <p:cNvPr id="6" name="Straight Arrow Connector 5"/>
          <p:cNvCxnSpPr/>
          <p:nvPr/>
        </p:nvCxnSpPr>
        <p:spPr>
          <a:xfrm flipH="1" flipV="1">
            <a:off x="3503934" y="3863624"/>
            <a:ext cx="139064" cy="708305"/>
          </a:xfrm>
          <a:prstGeom prst="straightConnector1">
            <a:avLst/>
          </a:prstGeom>
          <a:ln w="254000">
            <a:tailEnd type="triangle"/>
          </a:ln>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05154" y="3412408"/>
            <a:ext cx="2062847" cy="2588342"/>
          </a:xfrm>
          <a:prstGeom prst="rect">
            <a:avLst/>
          </a:prstGeom>
        </p:spPr>
      </p:pic>
      <p:sp>
        <p:nvSpPr>
          <p:cNvPr id="5" name="Title 1"/>
          <p:cNvSpPr>
            <a:spLocks noGrp="1"/>
          </p:cNvSpPr>
          <p:nvPr>
            <p:ph type="title"/>
          </p:nvPr>
        </p:nvSpPr>
        <p:spPr>
          <a:xfrm>
            <a:off x="2609740" y="391913"/>
            <a:ext cx="7387782" cy="261779"/>
          </a:xfrm>
        </p:spPr>
        <p:txBody>
          <a:bodyPr>
            <a:noAutofit/>
          </a:bodyPr>
          <a:lstStyle/>
          <a:p>
            <a:pPr algn="ctr"/>
            <a:r>
              <a:rPr lang="en-US" dirty="0">
                <a:solidFill>
                  <a:schemeClr val="bg1"/>
                </a:solidFill>
              </a:rPr>
              <a:t>Solving a Hybridization Puzzle</a:t>
            </a:r>
          </a:p>
        </p:txBody>
      </p:sp>
      <p:sp>
        <p:nvSpPr>
          <p:cNvPr id="7" name="TextBox 6"/>
          <p:cNvSpPr txBox="1"/>
          <p:nvPr/>
        </p:nvSpPr>
        <p:spPr>
          <a:xfrm>
            <a:off x="8605152" y="5654501"/>
            <a:ext cx="1565685" cy="369332"/>
          </a:xfrm>
          <a:prstGeom prst="rect">
            <a:avLst/>
          </a:prstGeom>
          <a:noFill/>
        </p:spPr>
        <p:txBody>
          <a:bodyPr wrap="square" rtlCol="0">
            <a:spAutoFit/>
          </a:bodyPr>
          <a:lstStyle/>
          <a:p>
            <a:r>
              <a:rPr lang="en-US" i="1">
                <a:solidFill>
                  <a:schemeClr val="bg1"/>
                </a:solidFill>
              </a:rPr>
              <a:t>Heuchera</a:t>
            </a:r>
            <a:endParaRPr lang="en-US" i="1" dirty="0">
              <a:solidFill>
                <a:schemeClr val="bg1"/>
              </a:solidFill>
            </a:endParaRPr>
          </a:p>
        </p:txBody>
      </p:sp>
      <p:sp>
        <p:nvSpPr>
          <p:cNvPr id="8" name="TextBox 7"/>
          <p:cNvSpPr txBox="1"/>
          <p:nvPr/>
        </p:nvSpPr>
        <p:spPr>
          <a:xfrm>
            <a:off x="9636576" y="5654501"/>
            <a:ext cx="1565685" cy="369332"/>
          </a:xfrm>
          <a:prstGeom prst="rect">
            <a:avLst/>
          </a:prstGeom>
          <a:noFill/>
        </p:spPr>
        <p:txBody>
          <a:bodyPr wrap="square" rtlCol="0">
            <a:spAutoFit/>
          </a:bodyPr>
          <a:lstStyle/>
          <a:p>
            <a:r>
              <a:rPr lang="en-US" i="1" dirty="0" err="1">
                <a:solidFill>
                  <a:schemeClr val="bg1"/>
                </a:solidFill>
              </a:rPr>
              <a:t>Mitella</a:t>
            </a:r>
            <a:endParaRPr lang="en-US" i="1" dirty="0">
              <a:solidFill>
                <a:schemeClr val="bg1"/>
              </a:solidFill>
            </a:endParaRPr>
          </a:p>
        </p:txBody>
      </p:sp>
      <p:cxnSp>
        <p:nvCxnSpPr>
          <p:cNvPr id="10" name="Straight Arrow Connector 9"/>
          <p:cNvCxnSpPr/>
          <p:nvPr/>
        </p:nvCxnSpPr>
        <p:spPr>
          <a:xfrm flipV="1">
            <a:off x="3642999" y="3343665"/>
            <a:ext cx="2843157" cy="391929"/>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rot="21143409">
            <a:off x="4278414" y="3034461"/>
            <a:ext cx="2227616" cy="461665"/>
          </a:xfrm>
          <a:prstGeom prst="rect">
            <a:avLst/>
          </a:prstGeom>
          <a:noFill/>
        </p:spPr>
        <p:txBody>
          <a:bodyPr wrap="square" rtlCol="0">
            <a:spAutoFit/>
          </a:bodyPr>
          <a:lstStyle/>
          <a:p>
            <a:r>
              <a:rPr lang="en-US" sz="2400" dirty="0" err="1">
                <a:solidFill>
                  <a:schemeClr val="bg1"/>
                </a:solidFill>
              </a:rPr>
              <a:t>cpDNA</a:t>
            </a:r>
            <a:r>
              <a:rPr lang="en-US" sz="2400" dirty="0">
                <a:solidFill>
                  <a:schemeClr val="bg1"/>
                </a:solidFill>
              </a:rPr>
              <a:t> capture</a:t>
            </a:r>
          </a:p>
        </p:txBody>
      </p: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68970" y="4217775"/>
            <a:ext cx="1359649" cy="1712936"/>
          </a:xfrm>
          <a:prstGeom prst="rect">
            <a:avLst/>
          </a:prstGeom>
        </p:spPr>
      </p:pic>
      <p:sp>
        <p:nvSpPr>
          <p:cNvPr id="13" name="TextBox 12"/>
          <p:cNvSpPr txBox="1"/>
          <p:nvPr/>
        </p:nvSpPr>
        <p:spPr>
          <a:xfrm>
            <a:off x="1826898" y="6048853"/>
            <a:ext cx="1565685" cy="369332"/>
          </a:xfrm>
          <a:prstGeom prst="rect">
            <a:avLst/>
          </a:prstGeom>
          <a:noFill/>
        </p:spPr>
        <p:txBody>
          <a:bodyPr wrap="square" rtlCol="0">
            <a:spAutoFit/>
          </a:bodyPr>
          <a:lstStyle/>
          <a:p>
            <a:r>
              <a:rPr lang="en-US" i="1" dirty="0">
                <a:solidFill>
                  <a:schemeClr val="bg1"/>
                </a:solidFill>
              </a:rPr>
              <a:t>Ryan Folk</a:t>
            </a:r>
          </a:p>
        </p:txBody>
      </p:sp>
    </p:spTree>
    <p:extLst>
      <p:ext uri="{BB962C8B-B14F-4D97-AF65-F5344CB8AC3E}">
        <p14:creationId xmlns:p14="http://schemas.microsoft.com/office/powerpoint/2010/main" val="1480342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24221" y="1927120"/>
            <a:ext cx="2467832" cy="3096494"/>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486401" y="1764649"/>
            <a:ext cx="4901573" cy="4112693"/>
          </a:xfrm>
          <a:prstGeom prst="rect">
            <a:avLst/>
          </a:prstGeom>
        </p:spPr>
      </p:pic>
      <p:sp>
        <p:nvSpPr>
          <p:cNvPr id="4" name="Title 1"/>
          <p:cNvSpPr txBox="1">
            <a:spLocks/>
          </p:cNvSpPr>
          <p:nvPr/>
        </p:nvSpPr>
        <p:spPr>
          <a:xfrm>
            <a:off x="1524000" y="142672"/>
            <a:ext cx="9144000" cy="1190097"/>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US" sz="3600" dirty="0">
                <a:solidFill>
                  <a:srgbClr val="0070C0"/>
                </a:solidFill>
              </a:rPr>
              <a:t>Hybridization &amp; Ancestral Ecological Niche-Space</a:t>
            </a:r>
          </a:p>
        </p:txBody>
      </p:sp>
      <p:sp>
        <p:nvSpPr>
          <p:cNvPr id="5" name="TextBox 4"/>
          <p:cNvSpPr txBox="1"/>
          <p:nvPr/>
        </p:nvSpPr>
        <p:spPr>
          <a:xfrm>
            <a:off x="2124222" y="5142675"/>
            <a:ext cx="1565685" cy="369332"/>
          </a:xfrm>
          <a:prstGeom prst="rect">
            <a:avLst/>
          </a:prstGeom>
          <a:noFill/>
        </p:spPr>
        <p:txBody>
          <a:bodyPr wrap="square" rtlCol="0">
            <a:spAutoFit/>
          </a:bodyPr>
          <a:lstStyle/>
          <a:p>
            <a:r>
              <a:rPr lang="en-US" i="1"/>
              <a:t>Heuchera</a:t>
            </a:r>
            <a:endParaRPr lang="en-US" i="1" dirty="0"/>
          </a:p>
        </p:txBody>
      </p:sp>
      <p:sp>
        <p:nvSpPr>
          <p:cNvPr id="6" name="TextBox 5"/>
          <p:cNvSpPr txBox="1"/>
          <p:nvPr/>
        </p:nvSpPr>
        <p:spPr>
          <a:xfrm>
            <a:off x="3481491" y="5142674"/>
            <a:ext cx="1565685" cy="369332"/>
          </a:xfrm>
          <a:prstGeom prst="rect">
            <a:avLst/>
          </a:prstGeom>
          <a:noFill/>
        </p:spPr>
        <p:txBody>
          <a:bodyPr wrap="square" rtlCol="0">
            <a:spAutoFit/>
          </a:bodyPr>
          <a:lstStyle/>
          <a:p>
            <a:r>
              <a:rPr lang="en-US" i="1" dirty="0" err="1"/>
              <a:t>Mitella</a:t>
            </a:r>
            <a:endParaRPr lang="en-US" i="1" dirty="0"/>
          </a:p>
        </p:txBody>
      </p:sp>
    </p:spTree>
    <p:extLst>
      <p:ext uri="{BB962C8B-B14F-4D97-AF65-F5344CB8AC3E}">
        <p14:creationId xmlns:p14="http://schemas.microsoft.com/office/powerpoint/2010/main" val="3662895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41921" y="3897582"/>
            <a:ext cx="1580600" cy="2067982"/>
          </a:xfrm>
          <a:prstGeom prst="rect">
            <a:avLst/>
          </a:prstGeom>
        </p:spPr>
      </p:pic>
      <p:pic>
        <p:nvPicPr>
          <p:cNvPr id="6" name="Picture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24000" y="2028306"/>
            <a:ext cx="9144000" cy="1832581"/>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681164" y="1470625"/>
            <a:ext cx="8829675" cy="448192"/>
          </a:xfrm>
          <a:prstGeom prst="rect">
            <a:avLst/>
          </a:prstGeom>
        </p:spPr>
      </p:pic>
      <p:cxnSp>
        <p:nvCxnSpPr>
          <p:cNvPr id="8" name="Straight Arrow Connector 7"/>
          <p:cNvCxnSpPr/>
          <p:nvPr/>
        </p:nvCxnSpPr>
        <p:spPr>
          <a:xfrm flipV="1">
            <a:off x="5197102" y="3270611"/>
            <a:ext cx="9626" cy="827180"/>
          </a:xfrm>
          <a:prstGeom prst="straightConnector1">
            <a:avLst/>
          </a:prstGeom>
          <a:ln w="2540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969713" y="5931490"/>
            <a:ext cx="1565685" cy="369332"/>
          </a:xfrm>
          <a:prstGeom prst="rect">
            <a:avLst/>
          </a:prstGeom>
          <a:noFill/>
        </p:spPr>
        <p:txBody>
          <a:bodyPr wrap="square" rtlCol="0">
            <a:spAutoFit/>
          </a:bodyPr>
          <a:lstStyle/>
          <a:p>
            <a:r>
              <a:rPr lang="en-US" i="1" dirty="0" err="1"/>
              <a:t>Mitella</a:t>
            </a:r>
            <a:endParaRPr lang="en-US" i="1" dirty="0"/>
          </a:p>
        </p:txBody>
      </p:sp>
      <p:sp>
        <p:nvSpPr>
          <p:cNvPr id="10" name="TextBox 9"/>
          <p:cNvSpPr txBox="1"/>
          <p:nvPr/>
        </p:nvSpPr>
        <p:spPr>
          <a:xfrm>
            <a:off x="-19620" y="5931490"/>
            <a:ext cx="1565685" cy="369332"/>
          </a:xfrm>
          <a:prstGeom prst="rect">
            <a:avLst/>
          </a:prstGeom>
          <a:noFill/>
        </p:spPr>
        <p:txBody>
          <a:bodyPr wrap="square" rtlCol="0">
            <a:spAutoFit/>
          </a:bodyPr>
          <a:lstStyle/>
          <a:p>
            <a:r>
              <a:rPr lang="en-US" i="1" dirty="0"/>
              <a:t>Heuchera</a:t>
            </a:r>
          </a:p>
        </p:txBody>
      </p:sp>
      <p:sp>
        <p:nvSpPr>
          <p:cNvPr id="11" name="Title 1"/>
          <p:cNvSpPr>
            <a:spLocks noGrp="1"/>
          </p:cNvSpPr>
          <p:nvPr>
            <p:ph type="title"/>
          </p:nvPr>
        </p:nvSpPr>
        <p:spPr>
          <a:xfrm>
            <a:off x="2091836" y="529783"/>
            <a:ext cx="8008329" cy="428625"/>
          </a:xfrm>
        </p:spPr>
        <p:txBody>
          <a:bodyPr>
            <a:noAutofit/>
          </a:bodyPr>
          <a:lstStyle/>
          <a:p>
            <a:pPr algn="ctr"/>
            <a:r>
              <a:rPr lang="en-US" sz="4800" dirty="0">
                <a:solidFill>
                  <a:srgbClr val="0070C0"/>
                </a:solidFill>
              </a:rPr>
              <a:t>Ancestral Niche Reconstruction </a:t>
            </a:r>
            <a:br>
              <a:rPr lang="en-US" sz="4800" dirty="0">
                <a:solidFill>
                  <a:srgbClr val="0070C0"/>
                </a:solidFill>
              </a:rPr>
            </a:br>
            <a:endParaRPr lang="en-US" sz="4800" dirty="0">
              <a:solidFill>
                <a:srgbClr val="0070C0"/>
              </a:solidFill>
            </a:endParaRPr>
          </a:p>
        </p:txBody>
      </p:sp>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413748" y="3454179"/>
            <a:ext cx="1759057" cy="2216124"/>
          </a:xfrm>
          <a:prstGeom prst="rect">
            <a:avLst/>
          </a:prstGeom>
        </p:spPr>
      </p:pic>
      <p:sp>
        <p:nvSpPr>
          <p:cNvPr id="14" name="TextBox 13"/>
          <p:cNvSpPr txBox="1"/>
          <p:nvPr/>
        </p:nvSpPr>
        <p:spPr>
          <a:xfrm>
            <a:off x="8534480" y="4562241"/>
            <a:ext cx="1565685" cy="369332"/>
          </a:xfrm>
          <a:prstGeom prst="rect">
            <a:avLst/>
          </a:prstGeom>
          <a:noFill/>
        </p:spPr>
        <p:txBody>
          <a:bodyPr wrap="square" rtlCol="0">
            <a:spAutoFit/>
          </a:bodyPr>
          <a:lstStyle/>
          <a:p>
            <a:r>
              <a:rPr lang="en-US" i="1" dirty="0"/>
              <a:t>Heuchera</a:t>
            </a:r>
          </a:p>
        </p:txBody>
      </p:sp>
      <p:cxnSp>
        <p:nvCxnSpPr>
          <p:cNvPr id="15" name="Straight Arrow Connector 14"/>
          <p:cNvCxnSpPr/>
          <p:nvPr/>
        </p:nvCxnSpPr>
        <p:spPr>
          <a:xfrm>
            <a:off x="9663943" y="5046982"/>
            <a:ext cx="749805" cy="75911"/>
          </a:xfrm>
          <a:prstGeom prst="straightConnector1">
            <a:avLst/>
          </a:prstGeom>
          <a:ln w="571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10826728" y="5670303"/>
            <a:ext cx="1565685" cy="369332"/>
          </a:xfrm>
          <a:prstGeom prst="rect">
            <a:avLst/>
          </a:prstGeom>
          <a:noFill/>
        </p:spPr>
        <p:txBody>
          <a:bodyPr wrap="square" rtlCol="0">
            <a:spAutoFit/>
          </a:bodyPr>
          <a:lstStyle/>
          <a:p>
            <a:r>
              <a:rPr lang="en-US" i="1" dirty="0"/>
              <a:t>Ryan Folk</a:t>
            </a:r>
          </a:p>
        </p:txBody>
      </p:sp>
      <p:sp>
        <p:nvSpPr>
          <p:cNvPr id="2" name="TextBox 1">
            <a:extLst>
              <a:ext uri="{FF2B5EF4-FFF2-40B4-BE49-F238E27FC236}">
                <a16:creationId xmlns:a16="http://schemas.microsoft.com/office/drawing/2014/main" id="{24656632-4A23-D954-A78E-579216E160A7}"/>
              </a:ext>
            </a:extLst>
          </p:cNvPr>
          <p:cNvSpPr txBox="1"/>
          <p:nvPr/>
        </p:nvSpPr>
        <p:spPr>
          <a:xfrm>
            <a:off x="2212695" y="5934670"/>
            <a:ext cx="8936736" cy="923330"/>
          </a:xfrm>
          <a:prstGeom prst="rect">
            <a:avLst/>
          </a:prstGeom>
          <a:noFill/>
        </p:spPr>
        <p:txBody>
          <a:bodyPr wrap="square">
            <a:spAutoFit/>
          </a:bodyPr>
          <a:lstStyle/>
          <a:p>
            <a:r>
              <a:rPr lang="en-US" sz="1800" dirty="0">
                <a:solidFill>
                  <a:srgbClr val="212121"/>
                </a:solidFill>
                <a:effectLst/>
                <a:latin typeface="Helvetica" pitchFamily="2" charset="0"/>
                <a:ea typeface="Times New Roman" panose="02020603050405020304" pitchFamily="18" charset="0"/>
                <a:cs typeface="Segoe UI" panose="020B0502040204020203" pitchFamily="34" charset="0"/>
              </a:rPr>
              <a:t>Folk </a:t>
            </a:r>
            <a:r>
              <a:rPr lang="en-US" dirty="0">
                <a:solidFill>
                  <a:srgbClr val="212121"/>
                </a:solidFill>
                <a:latin typeface="Helvetica" pitchFamily="2" charset="0"/>
                <a:ea typeface="Times New Roman" panose="02020603050405020304" pitchFamily="18" charset="0"/>
                <a:cs typeface="Segoe UI" panose="020B0502040204020203" pitchFamily="34" charset="0"/>
              </a:rPr>
              <a:t>et al</a:t>
            </a:r>
            <a:r>
              <a:rPr lang="en-US" sz="1800" dirty="0">
                <a:solidFill>
                  <a:srgbClr val="212121"/>
                </a:solidFill>
                <a:effectLst/>
                <a:latin typeface="Helvetica" pitchFamily="2" charset="0"/>
                <a:ea typeface="Times New Roman" panose="02020603050405020304" pitchFamily="18" charset="0"/>
                <a:cs typeface="Segoe UI" panose="020B0502040204020203" pitchFamily="34" charset="0"/>
              </a:rPr>
              <a:t>. 2023. Identifying Climatic Drivers of Hybridization with a New Ancestral Niche Reconstruction Method. </a:t>
            </a:r>
            <a:r>
              <a:rPr lang="en-US" sz="1800" i="1" dirty="0">
                <a:solidFill>
                  <a:srgbClr val="212121"/>
                </a:solidFill>
                <a:effectLst/>
                <a:latin typeface="Helvetica" pitchFamily="2" charset="0"/>
                <a:ea typeface="Times New Roman" panose="02020603050405020304" pitchFamily="18" charset="0"/>
                <a:cs typeface="Segoe UI" panose="020B0502040204020203" pitchFamily="34" charset="0"/>
              </a:rPr>
              <a:t>Syst Biol. </a:t>
            </a:r>
            <a:r>
              <a:rPr lang="en-US" sz="1800" dirty="0">
                <a:solidFill>
                  <a:srgbClr val="212121"/>
                </a:solidFill>
                <a:effectLst/>
                <a:latin typeface="Helvetica" pitchFamily="2" charset="0"/>
                <a:ea typeface="Times New Roman" panose="02020603050405020304" pitchFamily="18" charset="0"/>
                <a:cs typeface="Segoe UI" panose="020B0502040204020203" pitchFamily="34" charset="0"/>
              </a:rPr>
              <a:t>2023;72(4):856-873. </a:t>
            </a:r>
            <a:r>
              <a:rPr lang="en-US" sz="1800" dirty="0" err="1">
                <a:solidFill>
                  <a:srgbClr val="212121"/>
                </a:solidFill>
                <a:effectLst/>
                <a:latin typeface="Helvetica" pitchFamily="2" charset="0"/>
                <a:ea typeface="Times New Roman" panose="02020603050405020304" pitchFamily="18" charset="0"/>
                <a:cs typeface="Segoe UI" panose="020B0502040204020203" pitchFamily="34" charset="0"/>
              </a:rPr>
              <a:t>doi</a:t>
            </a:r>
            <a:r>
              <a:rPr lang="en-US" sz="1800" dirty="0">
                <a:solidFill>
                  <a:srgbClr val="212121"/>
                </a:solidFill>
                <a:effectLst/>
                <a:latin typeface="Helvetica" pitchFamily="2" charset="0"/>
                <a:ea typeface="Times New Roman" panose="02020603050405020304" pitchFamily="18" charset="0"/>
                <a:cs typeface="Segoe UI" panose="020B0502040204020203" pitchFamily="34" charset="0"/>
              </a:rPr>
              <a:t>: 10.1093/</a:t>
            </a:r>
            <a:r>
              <a:rPr lang="en-US" sz="1800" dirty="0" err="1">
                <a:solidFill>
                  <a:srgbClr val="212121"/>
                </a:solidFill>
                <a:effectLst/>
                <a:latin typeface="Helvetica" pitchFamily="2" charset="0"/>
                <a:ea typeface="Times New Roman" panose="02020603050405020304" pitchFamily="18" charset="0"/>
                <a:cs typeface="Segoe UI" panose="020B0502040204020203" pitchFamily="34" charset="0"/>
              </a:rPr>
              <a:t>sysbio</a:t>
            </a:r>
            <a:r>
              <a:rPr lang="en-US" sz="1800" dirty="0">
                <a:solidFill>
                  <a:srgbClr val="212121"/>
                </a:solidFill>
                <a:effectLst/>
                <a:latin typeface="Helvetica" pitchFamily="2" charset="0"/>
                <a:ea typeface="Times New Roman" panose="02020603050405020304" pitchFamily="18" charset="0"/>
                <a:cs typeface="Segoe UI" panose="020B0502040204020203" pitchFamily="34" charset="0"/>
              </a:rPr>
              <a:t>/syad018. PMID: 37073863; PMCID: PMC10405357</a:t>
            </a:r>
            <a:r>
              <a:rPr lang="en-US" dirty="0">
                <a:effectLst/>
              </a:rPr>
              <a:t> </a:t>
            </a:r>
            <a:endParaRPr lang="en-US" dirty="0"/>
          </a:p>
        </p:txBody>
      </p:sp>
    </p:spTree>
    <p:extLst>
      <p:ext uri="{BB962C8B-B14F-4D97-AF65-F5344CB8AC3E}">
        <p14:creationId xmlns:p14="http://schemas.microsoft.com/office/powerpoint/2010/main" val="2237243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70255" y="233617"/>
            <a:ext cx="7886700" cy="994172"/>
          </a:xfrm>
        </p:spPr>
        <p:txBody>
          <a:bodyPr>
            <a:noAutofit/>
          </a:bodyPr>
          <a:lstStyle/>
          <a:p>
            <a:pPr algn="ctr"/>
            <a:r>
              <a:rPr lang="en-US" sz="4800" dirty="0">
                <a:solidFill>
                  <a:srgbClr val="0070C0"/>
                </a:solidFill>
                <a:latin typeface="Calibri" panose="020F0502020204030204" pitchFamily="34" charset="0"/>
                <a:cs typeface="Calibri" panose="020F0502020204030204" pitchFamily="34" charset="0"/>
              </a:rPr>
              <a:t>Spatial </a:t>
            </a:r>
            <a:r>
              <a:rPr lang="en-US" sz="4800" dirty="0" err="1">
                <a:solidFill>
                  <a:srgbClr val="0070C0"/>
                </a:solidFill>
                <a:latin typeface="Calibri" panose="020F0502020204030204" pitchFamily="34" charset="0"/>
                <a:cs typeface="Calibri" panose="020F0502020204030204" pitchFamily="34" charset="0"/>
              </a:rPr>
              <a:t>Phylogenetics</a:t>
            </a:r>
            <a:br>
              <a:rPr lang="en-US" sz="4800" dirty="0"/>
            </a:br>
            <a:endParaRPr lang="en-US" sz="4800" dirty="0"/>
          </a:p>
        </p:txBody>
      </p:sp>
      <p:pic>
        <p:nvPicPr>
          <p:cNvPr id="7" name="image03.png" descr="workflows.png"/>
          <p:cNvPicPr/>
          <p:nvPr/>
        </p:nvPicPr>
        <p:blipFill rotWithShape="1">
          <a:blip r:embed="rId3"/>
          <a:srcRect l="58199" t="26925" b="36779"/>
          <a:stretch/>
        </p:blipFill>
        <p:spPr>
          <a:xfrm>
            <a:off x="4837068" y="1227789"/>
            <a:ext cx="6433247" cy="5630211"/>
          </a:xfrm>
          <a:prstGeom prst="rect">
            <a:avLst/>
          </a:prstGeom>
          <a:ln/>
        </p:spPr>
      </p:pic>
      <p:sp>
        <p:nvSpPr>
          <p:cNvPr id="17" name="Oval 16">
            <a:extLst>
              <a:ext uri="{FF2B5EF4-FFF2-40B4-BE49-F238E27FC236}">
                <a16:creationId xmlns:a16="http://schemas.microsoft.com/office/drawing/2014/main" id="{2E470878-5213-6432-FEB5-FF092CECF884}"/>
              </a:ext>
            </a:extLst>
          </p:cNvPr>
          <p:cNvSpPr/>
          <p:nvPr/>
        </p:nvSpPr>
        <p:spPr>
          <a:xfrm>
            <a:off x="8558784" y="2938272"/>
            <a:ext cx="816863" cy="747880"/>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rPr>
              <a:t>T</a:t>
            </a:r>
          </a:p>
        </p:txBody>
      </p:sp>
      <p:sp>
        <p:nvSpPr>
          <p:cNvPr id="18" name="Oval 17">
            <a:extLst>
              <a:ext uri="{FF2B5EF4-FFF2-40B4-BE49-F238E27FC236}">
                <a16:creationId xmlns:a16="http://schemas.microsoft.com/office/drawing/2014/main" id="{04AFE31A-E214-4B42-C3B9-CF2C11FCBC63}"/>
              </a:ext>
            </a:extLst>
          </p:cNvPr>
          <p:cNvSpPr/>
          <p:nvPr/>
        </p:nvSpPr>
        <p:spPr>
          <a:xfrm>
            <a:off x="5215314" y="2913888"/>
            <a:ext cx="878249" cy="84124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rPr>
              <a:t>N</a:t>
            </a:r>
          </a:p>
        </p:txBody>
      </p:sp>
      <p:sp>
        <p:nvSpPr>
          <p:cNvPr id="19" name="Oval 18">
            <a:extLst>
              <a:ext uri="{FF2B5EF4-FFF2-40B4-BE49-F238E27FC236}">
                <a16:creationId xmlns:a16="http://schemas.microsoft.com/office/drawing/2014/main" id="{3925B780-E417-1E6D-034E-927A724BC8D8}"/>
              </a:ext>
            </a:extLst>
          </p:cNvPr>
          <p:cNvSpPr/>
          <p:nvPr/>
        </p:nvSpPr>
        <p:spPr>
          <a:xfrm>
            <a:off x="10115478" y="2926080"/>
            <a:ext cx="878249" cy="841248"/>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1"/>
                </a:solidFill>
              </a:rPr>
              <a:t>N</a:t>
            </a:r>
          </a:p>
        </p:txBody>
      </p:sp>
      <p:grpSp>
        <p:nvGrpSpPr>
          <p:cNvPr id="20" name="Group 19">
            <a:extLst>
              <a:ext uri="{FF2B5EF4-FFF2-40B4-BE49-F238E27FC236}">
                <a16:creationId xmlns:a16="http://schemas.microsoft.com/office/drawing/2014/main" id="{D01D5835-1893-BB91-6451-7664F7D597C2}"/>
              </a:ext>
            </a:extLst>
          </p:cNvPr>
          <p:cNvGrpSpPr/>
          <p:nvPr/>
        </p:nvGrpSpPr>
        <p:grpSpPr>
          <a:xfrm>
            <a:off x="126878" y="3681984"/>
            <a:ext cx="5132313" cy="3102865"/>
            <a:chOff x="3645948" y="3657502"/>
            <a:chExt cx="5397691" cy="2933476"/>
          </a:xfrm>
        </p:grpSpPr>
        <p:sp>
          <p:nvSpPr>
            <p:cNvPr id="21" name="Rectangle 20">
              <a:extLst>
                <a:ext uri="{FF2B5EF4-FFF2-40B4-BE49-F238E27FC236}">
                  <a16:creationId xmlns:a16="http://schemas.microsoft.com/office/drawing/2014/main" id="{816D9B39-1C51-22F1-DD33-2E1505D67814}"/>
                </a:ext>
              </a:extLst>
            </p:cNvPr>
            <p:cNvSpPr/>
            <p:nvPr/>
          </p:nvSpPr>
          <p:spPr>
            <a:xfrm>
              <a:off x="6847659"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37B37BDD-1DD9-168C-C2DC-363A071CA70F}"/>
                </a:ext>
              </a:extLst>
            </p:cNvPr>
            <p:cNvGrpSpPr/>
            <p:nvPr/>
          </p:nvGrpSpPr>
          <p:grpSpPr>
            <a:xfrm>
              <a:off x="3645948" y="3657502"/>
              <a:ext cx="5397691" cy="2933476"/>
              <a:chOff x="2135686" y="3641874"/>
              <a:chExt cx="5197211" cy="2933476"/>
            </a:xfrm>
          </p:grpSpPr>
          <p:grpSp>
            <p:nvGrpSpPr>
              <p:cNvPr id="29" name="Group 28">
                <a:extLst>
                  <a:ext uri="{FF2B5EF4-FFF2-40B4-BE49-F238E27FC236}">
                    <a16:creationId xmlns:a16="http://schemas.microsoft.com/office/drawing/2014/main" id="{BF82750D-A8D3-D209-F07E-5DE807D66BB8}"/>
                  </a:ext>
                </a:extLst>
              </p:cNvPr>
              <p:cNvGrpSpPr/>
              <p:nvPr/>
            </p:nvGrpSpPr>
            <p:grpSpPr>
              <a:xfrm>
                <a:off x="2135686" y="3641874"/>
                <a:ext cx="4790858" cy="2933476"/>
                <a:chOff x="2135686" y="3641874"/>
                <a:chExt cx="4790858" cy="2933476"/>
              </a:xfrm>
            </p:grpSpPr>
            <p:pic>
              <p:nvPicPr>
                <p:cNvPr id="31" name="image03.png" descr="workflows.png">
                  <a:extLst>
                    <a:ext uri="{FF2B5EF4-FFF2-40B4-BE49-F238E27FC236}">
                      <a16:creationId xmlns:a16="http://schemas.microsoft.com/office/drawing/2014/main" id="{05A0F769-F36B-D622-E96C-2287B6C34743}"/>
                    </a:ext>
                  </a:extLst>
                </p:cNvPr>
                <p:cNvPicPr/>
                <p:nvPr/>
              </p:nvPicPr>
              <p:blipFill rotWithShape="1">
                <a:blip r:embed="rId3"/>
                <a:srcRect l="58507" b="75542"/>
                <a:stretch/>
              </p:blipFill>
              <p:spPr>
                <a:xfrm>
                  <a:off x="2135686" y="3641874"/>
                  <a:ext cx="4790858" cy="2933476"/>
                </a:xfrm>
                <a:prstGeom prst="rect">
                  <a:avLst/>
                </a:prstGeom>
                <a:ln/>
              </p:spPr>
            </p:pic>
            <p:sp>
              <p:nvSpPr>
                <p:cNvPr id="32" name="Rectangle 31">
                  <a:extLst>
                    <a:ext uri="{FF2B5EF4-FFF2-40B4-BE49-F238E27FC236}">
                      <a16:creationId xmlns:a16="http://schemas.microsoft.com/office/drawing/2014/main" id="{44783380-5EFD-143D-3A99-F8D6EB1D57F8}"/>
                    </a:ext>
                  </a:extLst>
                </p:cNvPr>
                <p:cNvSpPr/>
                <p:nvPr/>
              </p:nvSpPr>
              <p:spPr>
                <a:xfrm>
                  <a:off x="5323658"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TextBox 29">
                <a:extLst>
                  <a:ext uri="{FF2B5EF4-FFF2-40B4-BE49-F238E27FC236}">
                    <a16:creationId xmlns:a16="http://schemas.microsoft.com/office/drawing/2014/main" id="{5FDEDEF0-D8C5-6BD6-41D8-21927B619E53}"/>
                  </a:ext>
                </a:extLst>
              </p:cNvPr>
              <p:cNvSpPr txBox="1"/>
              <p:nvPr/>
            </p:nvSpPr>
            <p:spPr>
              <a:xfrm>
                <a:off x="5216978" y="4133594"/>
                <a:ext cx="2115919" cy="307777"/>
              </a:xfrm>
              <a:prstGeom prst="rect">
                <a:avLst/>
              </a:prstGeom>
              <a:noFill/>
            </p:spPr>
            <p:txBody>
              <a:bodyPr wrap="square" rtlCol="0">
                <a:spAutoFit/>
              </a:bodyPr>
              <a:lstStyle/>
              <a:p>
                <a:r>
                  <a:rPr lang="en-US" sz="1400" dirty="0">
                    <a:latin typeface="Arial" charset="0"/>
                    <a:ea typeface="Arial" charset="0"/>
                    <a:cs typeface="Arial" charset="0"/>
                  </a:rPr>
                  <a:t>Analytical Tools</a:t>
                </a:r>
              </a:p>
            </p:txBody>
          </p:sp>
        </p:grpSp>
        <p:sp>
          <p:nvSpPr>
            <p:cNvPr id="23" name="Oval 22">
              <a:extLst>
                <a:ext uri="{FF2B5EF4-FFF2-40B4-BE49-F238E27FC236}">
                  <a16:creationId xmlns:a16="http://schemas.microsoft.com/office/drawing/2014/main" id="{C65E1B66-FE86-A3AE-0DD0-C2F3663E4669}"/>
                </a:ext>
              </a:extLst>
            </p:cNvPr>
            <p:cNvSpPr/>
            <p:nvPr/>
          </p:nvSpPr>
          <p:spPr>
            <a:xfrm>
              <a:off x="3781774" y="4131730"/>
              <a:ext cx="620889" cy="60960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N</a:t>
              </a:r>
            </a:p>
          </p:txBody>
        </p:sp>
        <p:sp>
          <p:nvSpPr>
            <p:cNvPr id="24" name="Rectangle 23">
              <a:extLst>
                <a:ext uri="{FF2B5EF4-FFF2-40B4-BE49-F238E27FC236}">
                  <a16:creationId xmlns:a16="http://schemas.microsoft.com/office/drawing/2014/main" id="{90C4C6DD-7954-5570-1B3B-E77A4D345042}"/>
                </a:ext>
              </a:extLst>
            </p:cNvPr>
            <p:cNvSpPr/>
            <p:nvPr/>
          </p:nvSpPr>
          <p:spPr>
            <a:xfrm>
              <a:off x="4481689" y="4149222"/>
              <a:ext cx="1468551" cy="279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Arial" charset="0"/>
                  <a:ea typeface="Arial" charset="0"/>
                  <a:cs typeface="Arial" charset="0"/>
                </a:rPr>
                <a:t>Analytical Tools</a:t>
              </a:r>
            </a:p>
          </p:txBody>
        </p:sp>
        <p:sp>
          <p:nvSpPr>
            <p:cNvPr id="25" name="TextBox 24">
              <a:extLst>
                <a:ext uri="{FF2B5EF4-FFF2-40B4-BE49-F238E27FC236}">
                  <a16:creationId xmlns:a16="http://schemas.microsoft.com/office/drawing/2014/main" id="{C08ADE11-7974-9EB7-84E0-E939F9A04E0F}"/>
                </a:ext>
              </a:extLst>
            </p:cNvPr>
            <p:cNvSpPr txBox="1"/>
            <p:nvPr/>
          </p:nvSpPr>
          <p:spPr>
            <a:xfrm>
              <a:off x="4481689" y="4126571"/>
              <a:ext cx="2197541" cy="307777"/>
            </a:xfrm>
            <a:prstGeom prst="rect">
              <a:avLst/>
            </a:prstGeom>
            <a:noFill/>
          </p:spPr>
          <p:txBody>
            <a:bodyPr wrap="square" rtlCol="0">
              <a:spAutoFit/>
            </a:bodyPr>
            <a:lstStyle/>
            <a:p>
              <a:r>
                <a:rPr lang="en-US" sz="1400" dirty="0">
                  <a:latin typeface="Arial" charset="0"/>
                  <a:ea typeface="Arial" charset="0"/>
                  <a:cs typeface="Arial" charset="0"/>
                </a:rPr>
                <a:t>Niche Models</a:t>
              </a:r>
            </a:p>
          </p:txBody>
        </p:sp>
        <p:sp>
          <p:nvSpPr>
            <p:cNvPr id="26" name="Rectangle 25">
              <a:extLst>
                <a:ext uri="{FF2B5EF4-FFF2-40B4-BE49-F238E27FC236}">
                  <a16:creationId xmlns:a16="http://schemas.microsoft.com/office/drawing/2014/main" id="{C2DA0632-E849-A8C0-25CB-F4450FB7CCB3}"/>
                </a:ext>
              </a:extLst>
            </p:cNvPr>
            <p:cNvSpPr/>
            <p:nvPr/>
          </p:nvSpPr>
          <p:spPr>
            <a:xfrm>
              <a:off x="4402663" y="5483423"/>
              <a:ext cx="1693337"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DE2220C-11D2-108B-F9F8-6C61B2FA9B8F}"/>
                </a:ext>
              </a:extLst>
            </p:cNvPr>
            <p:cNvSpPr txBox="1"/>
            <p:nvPr/>
          </p:nvSpPr>
          <p:spPr>
            <a:xfrm>
              <a:off x="4481689" y="5483423"/>
              <a:ext cx="2197540" cy="307777"/>
            </a:xfrm>
            <a:prstGeom prst="rect">
              <a:avLst/>
            </a:prstGeom>
            <a:noFill/>
          </p:spPr>
          <p:txBody>
            <a:bodyPr wrap="square" rtlCol="0">
              <a:spAutoFit/>
            </a:bodyPr>
            <a:lstStyle/>
            <a:p>
              <a:r>
                <a:rPr lang="en-US" sz="1400" dirty="0">
                  <a:latin typeface="Arial" charset="0"/>
                  <a:ea typeface="Arial" charset="0"/>
                  <a:cs typeface="Arial" charset="0"/>
                </a:rPr>
                <a:t>Trees</a:t>
              </a:r>
            </a:p>
          </p:txBody>
        </p:sp>
        <p:sp>
          <p:nvSpPr>
            <p:cNvPr id="28" name="Oval 27">
              <a:extLst>
                <a:ext uri="{FF2B5EF4-FFF2-40B4-BE49-F238E27FC236}">
                  <a16:creationId xmlns:a16="http://schemas.microsoft.com/office/drawing/2014/main" id="{8168074B-8536-6B2F-CA12-206A582FE8A3}"/>
                </a:ext>
              </a:extLst>
            </p:cNvPr>
            <p:cNvSpPr/>
            <p:nvPr/>
          </p:nvSpPr>
          <p:spPr>
            <a:xfrm>
              <a:off x="3747914" y="5463816"/>
              <a:ext cx="620889" cy="60960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grpSp>
      <p:pic>
        <p:nvPicPr>
          <p:cNvPr id="33" name="Picture 32">
            <a:extLst>
              <a:ext uri="{FF2B5EF4-FFF2-40B4-BE49-F238E27FC236}">
                <a16:creationId xmlns:a16="http://schemas.microsoft.com/office/drawing/2014/main" id="{171776E2-186C-D82B-9ADA-2D4B8B6F332B}"/>
              </a:ext>
            </a:extLst>
          </p:cNvPr>
          <p:cNvPicPr>
            <a:picLocks noChangeAspect="1"/>
          </p:cNvPicPr>
          <p:nvPr/>
        </p:nvPicPr>
        <p:blipFill>
          <a:blip r:embed="rId4"/>
          <a:stretch>
            <a:fillRect/>
          </a:stretch>
        </p:blipFill>
        <p:spPr>
          <a:xfrm>
            <a:off x="5279155" y="3989831"/>
            <a:ext cx="1902062" cy="1393877"/>
          </a:xfrm>
          <a:prstGeom prst="rect">
            <a:avLst/>
          </a:prstGeom>
        </p:spPr>
      </p:pic>
      <p:pic>
        <p:nvPicPr>
          <p:cNvPr id="35" name="Picture 34">
            <a:extLst>
              <a:ext uri="{FF2B5EF4-FFF2-40B4-BE49-F238E27FC236}">
                <a16:creationId xmlns:a16="http://schemas.microsoft.com/office/drawing/2014/main" id="{A1D049B0-2FFF-5AAD-58D9-1366BA138B1D}"/>
              </a:ext>
            </a:extLst>
          </p:cNvPr>
          <p:cNvPicPr>
            <a:picLocks noChangeAspect="1"/>
          </p:cNvPicPr>
          <p:nvPr/>
        </p:nvPicPr>
        <p:blipFill>
          <a:blip r:embed="rId4"/>
          <a:stretch>
            <a:fillRect/>
          </a:stretch>
        </p:blipFill>
        <p:spPr>
          <a:xfrm>
            <a:off x="8995064" y="4969848"/>
            <a:ext cx="1902062" cy="1393877"/>
          </a:xfrm>
          <a:prstGeom prst="rect">
            <a:avLst/>
          </a:prstGeom>
        </p:spPr>
      </p:pic>
    </p:spTree>
    <p:extLst>
      <p:ext uri="{BB962C8B-B14F-4D97-AF65-F5344CB8AC3E}">
        <p14:creationId xmlns:p14="http://schemas.microsoft.com/office/powerpoint/2010/main" val="4215162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a:spLocks/>
          </p:cNvSpPr>
          <p:nvPr/>
        </p:nvSpPr>
        <p:spPr>
          <a:xfrm>
            <a:off x="1178623" y="96594"/>
            <a:ext cx="9595279" cy="602582"/>
          </a:xfrm>
          <a:prstGeom prst="rect">
            <a:avLst/>
          </a:prstGeom>
        </p:spPr>
        <p:txBody>
          <a:bodyPr/>
          <a:lstStyle>
            <a:lvl1pPr algn="l" defTabSz="457200" rtl="0" eaLnBrk="1" latinLnBrk="0" hangingPunct="1">
              <a:spcBef>
                <a:spcPct val="0"/>
              </a:spcBef>
              <a:buNone/>
              <a:defRPr sz="2800" b="1" i="0" kern="1200">
                <a:solidFill>
                  <a:schemeClr val="tx1"/>
                </a:solidFill>
                <a:latin typeface="Helvetica"/>
                <a:ea typeface="+mj-ea"/>
                <a:cs typeface="Helvetica"/>
              </a:defRPr>
            </a:lvl1pPr>
          </a:lstStyle>
          <a:p>
            <a:r>
              <a:rPr lang="en-US" sz="4400" b="0" dirty="0">
                <a:solidFill>
                  <a:srgbClr val="0070C0"/>
                </a:solidFill>
                <a:latin typeface="+mn-lt"/>
              </a:rPr>
              <a:t>Phylogenetic Diversity (PD): </a:t>
            </a:r>
          </a:p>
          <a:p>
            <a:r>
              <a:rPr lang="en-US" sz="4400" b="0" i="1" dirty="0">
                <a:solidFill>
                  <a:srgbClr val="0070C0"/>
                </a:solidFill>
                <a:latin typeface="+mn-lt"/>
              </a:rPr>
              <a:t>How much of the Tree of Life is present in an area? </a:t>
            </a:r>
          </a:p>
        </p:txBody>
      </p:sp>
      <p:sp>
        <p:nvSpPr>
          <p:cNvPr id="3" name="TextBox 2"/>
          <p:cNvSpPr txBox="1"/>
          <p:nvPr/>
        </p:nvSpPr>
        <p:spPr>
          <a:xfrm>
            <a:off x="2880027" y="2401564"/>
            <a:ext cx="3062712" cy="415498"/>
          </a:xfrm>
          <a:prstGeom prst="rect">
            <a:avLst/>
          </a:prstGeom>
          <a:noFill/>
        </p:spPr>
        <p:txBody>
          <a:bodyPr wrap="square" rtlCol="0">
            <a:spAutoFit/>
          </a:bodyPr>
          <a:lstStyle/>
          <a:p>
            <a:r>
              <a:rPr lang="en-US" sz="2100" dirty="0"/>
              <a:t>Oaks</a:t>
            </a:r>
          </a:p>
        </p:txBody>
      </p:sp>
      <p:pic>
        <p:nvPicPr>
          <p:cNvPr id="11" name="Picture 10"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880028" y="2988642"/>
            <a:ext cx="826871" cy="495810"/>
          </a:xfrm>
          <a:prstGeom prst="rect">
            <a:avLst/>
          </a:prstGeom>
        </p:spPr>
      </p:pic>
      <p:pic>
        <p:nvPicPr>
          <p:cNvPr id="12" name="Picture 11"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618037" y="2988642"/>
            <a:ext cx="826871" cy="495810"/>
          </a:xfrm>
          <a:prstGeom prst="rect">
            <a:avLst/>
          </a:prstGeom>
        </p:spPr>
      </p:pic>
      <p:pic>
        <p:nvPicPr>
          <p:cNvPr id="13" name="Picture 12"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444907" y="2988642"/>
            <a:ext cx="826871" cy="495810"/>
          </a:xfrm>
          <a:prstGeom prst="rect">
            <a:avLst/>
          </a:prstGeom>
        </p:spPr>
      </p:pic>
      <p:pic>
        <p:nvPicPr>
          <p:cNvPr id="14" name="Picture 13"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71778" y="2988642"/>
            <a:ext cx="826871" cy="495810"/>
          </a:xfrm>
          <a:prstGeom prst="rect">
            <a:avLst/>
          </a:prstGeom>
        </p:spPr>
      </p:pic>
      <p:pic>
        <p:nvPicPr>
          <p:cNvPr id="15" name="Picture 14"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098648" y="2988642"/>
            <a:ext cx="826871" cy="495810"/>
          </a:xfrm>
          <a:prstGeom prst="rect">
            <a:avLst/>
          </a:prstGeom>
        </p:spPr>
      </p:pic>
      <p:pic>
        <p:nvPicPr>
          <p:cNvPr id="16" name="Picture 15"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925519" y="2988642"/>
            <a:ext cx="826871" cy="495810"/>
          </a:xfrm>
          <a:prstGeom prst="rect">
            <a:avLst/>
          </a:prstGeom>
        </p:spPr>
      </p:pic>
      <p:pic>
        <p:nvPicPr>
          <p:cNvPr id="17" name="Picture 16"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752389" y="2994992"/>
            <a:ext cx="826871" cy="495810"/>
          </a:xfrm>
          <a:prstGeom prst="rect">
            <a:avLst/>
          </a:prstGeom>
        </p:spPr>
      </p:pic>
      <p:pic>
        <p:nvPicPr>
          <p:cNvPr id="18" name="Picture 17"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579260" y="2994992"/>
            <a:ext cx="826871" cy="495810"/>
          </a:xfrm>
          <a:prstGeom prst="rect">
            <a:avLst/>
          </a:prstGeom>
        </p:spPr>
      </p:pic>
      <p:pic>
        <p:nvPicPr>
          <p:cNvPr id="19" name="Picture 18"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880028" y="3482754"/>
            <a:ext cx="826871" cy="495810"/>
          </a:xfrm>
          <a:prstGeom prst="rect">
            <a:avLst/>
          </a:prstGeom>
        </p:spPr>
      </p:pic>
      <p:pic>
        <p:nvPicPr>
          <p:cNvPr id="20" name="Picture 19"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618037" y="3482754"/>
            <a:ext cx="826871" cy="495810"/>
          </a:xfrm>
          <a:prstGeom prst="rect">
            <a:avLst/>
          </a:prstGeom>
        </p:spPr>
      </p:pic>
      <p:pic>
        <p:nvPicPr>
          <p:cNvPr id="21" name="Picture 20"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4444907" y="3482754"/>
            <a:ext cx="826871" cy="495810"/>
          </a:xfrm>
          <a:prstGeom prst="rect">
            <a:avLst/>
          </a:prstGeom>
        </p:spPr>
      </p:pic>
      <p:pic>
        <p:nvPicPr>
          <p:cNvPr id="22" name="Picture 21"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71778" y="3482754"/>
            <a:ext cx="826871" cy="495810"/>
          </a:xfrm>
          <a:prstGeom prst="rect">
            <a:avLst/>
          </a:prstGeom>
        </p:spPr>
      </p:pic>
      <p:pic>
        <p:nvPicPr>
          <p:cNvPr id="23" name="Picture 22"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098648" y="3482754"/>
            <a:ext cx="826871" cy="495810"/>
          </a:xfrm>
          <a:prstGeom prst="rect">
            <a:avLst/>
          </a:prstGeom>
        </p:spPr>
      </p:pic>
      <p:pic>
        <p:nvPicPr>
          <p:cNvPr id="24" name="Picture 23"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925519" y="3482754"/>
            <a:ext cx="826871" cy="495810"/>
          </a:xfrm>
          <a:prstGeom prst="rect">
            <a:avLst/>
          </a:prstGeom>
        </p:spPr>
      </p:pic>
      <p:pic>
        <p:nvPicPr>
          <p:cNvPr id="25" name="Picture 24"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752389" y="3489104"/>
            <a:ext cx="826871" cy="495810"/>
          </a:xfrm>
          <a:prstGeom prst="rect">
            <a:avLst/>
          </a:prstGeom>
        </p:spPr>
      </p:pic>
      <p:pic>
        <p:nvPicPr>
          <p:cNvPr id="26" name="Picture 25"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579260" y="3489104"/>
            <a:ext cx="826871" cy="495810"/>
          </a:xfrm>
          <a:prstGeom prst="rect">
            <a:avLst/>
          </a:prstGeom>
        </p:spPr>
      </p:pic>
      <p:sp>
        <p:nvSpPr>
          <p:cNvPr id="27" name="TextBox 26"/>
          <p:cNvSpPr txBox="1"/>
          <p:nvPr/>
        </p:nvSpPr>
        <p:spPr>
          <a:xfrm>
            <a:off x="2913551" y="4171950"/>
            <a:ext cx="3062712" cy="415498"/>
          </a:xfrm>
          <a:prstGeom prst="rect">
            <a:avLst/>
          </a:prstGeom>
          <a:noFill/>
        </p:spPr>
        <p:txBody>
          <a:bodyPr wrap="square" rtlCol="0">
            <a:spAutoFit/>
          </a:bodyPr>
          <a:lstStyle/>
          <a:p>
            <a:r>
              <a:rPr lang="en-US" sz="2100" dirty="0"/>
              <a:t>Vs.</a:t>
            </a:r>
          </a:p>
        </p:txBody>
      </p:sp>
      <p:pic>
        <p:nvPicPr>
          <p:cNvPr id="40" name="Picture 39"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265428" y="4574179"/>
            <a:ext cx="826871" cy="495810"/>
          </a:xfrm>
          <a:prstGeom prst="rect">
            <a:avLst/>
          </a:prstGeom>
        </p:spPr>
      </p:pic>
      <p:pic>
        <p:nvPicPr>
          <p:cNvPr id="42" name="Picture 41"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939992" y="4574179"/>
            <a:ext cx="826871" cy="495810"/>
          </a:xfrm>
          <a:prstGeom prst="rect">
            <a:avLst/>
          </a:prstGeom>
        </p:spPr>
      </p:pic>
      <p:pic>
        <p:nvPicPr>
          <p:cNvPr id="44" name="Picture 43"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593733" y="4580529"/>
            <a:ext cx="826871" cy="495810"/>
          </a:xfrm>
          <a:prstGeom prst="rect">
            <a:avLst/>
          </a:prstGeom>
        </p:spPr>
      </p:pic>
      <p:pic>
        <p:nvPicPr>
          <p:cNvPr id="46" name="Picture 45"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632510" y="5068291"/>
            <a:ext cx="826871" cy="495810"/>
          </a:xfrm>
          <a:prstGeom prst="rect">
            <a:avLst/>
          </a:prstGeom>
        </p:spPr>
      </p:pic>
      <p:pic>
        <p:nvPicPr>
          <p:cNvPr id="50" name="Picture 49"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939992" y="5068291"/>
            <a:ext cx="826871" cy="495810"/>
          </a:xfrm>
          <a:prstGeom prst="rect">
            <a:avLst/>
          </a:prstGeom>
        </p:spPr>
      </p:pic>
      <p:pic>
        <p:nvPicPr>
          <p:cNvPr id="2" name="Picture 1"/>
          <p:cNvPicPr>
            <a:picLocks noChangeAspect="1"/>
          </p:cNvPicPr>
          <p:nvPr/>
        </p:nvPicPr>
        <p:blipFill>
          <a:blip r:embed="rId4"/>
          <a:stretch>
            <a:fillRect/>
          </a:stretch>
        </p:blipFill>
        <p:spPr>
          <a:xfrm>
            <a:off x="3804292" y="4219354"/>
            <a:ext cx="752475" cy="914400"/>
          </a:xfrm>
          <a:prstGeom prst="rect">
            <a:avLst/>
          </a:prstGeom>
        </p:spPr>
      </p:pic>
      <p:pic>
        <p:nvPicPr>
          <p:cNvPr id="5" name="Picture 4"/>
          <p:cNvPicPr>
            <a:picLocks noChangeAspect="1"/>
          </p:cNvPicPr>
          <p:nvPr/>
        </p:nvPicPr>
        <p:blipFill>
          <a:blip r:embed="rId5"/>
          <a:stretch>
            <a:fillRect/>
          </a:stretch>
        </p:blipFill>
        <p:spPr>
          <a:xfrm>
            <a:off x="4459380" y="5068291"/>
            <a:ext cx="1085850" cy="914400"/>
          </a:xfrm>
          <a:prstGeom prst="rect">
            <a:avLst/>
          </a:prstGeom>
        </p:spPr>
      </p:pic>
      <p:pic>
        <p:nvPicPr>
          <p:cNvPr id="6" name="Picture 5"/>
          <p:cNvPicPr>
            <a:picLocks noChangeAspect="1"/>
          </p:cNvPicPr>
          <p:nvPr/>
        </p:nvPicPr>
        <p:blipFill>
          <a:blip r:embed="rId6"/>
          <a:stretch>
            <a:fillRect/>
          </a:stretch>
        </p:blipFill>
        <p:spPr>
          <a:xfrm>
            <a:off x="6092298" y="4219355"/>
            <a:ext cx="861183" cy="856985"/>
          </a:xfrm>
          <a:prstGeom prst="rect">
            <a:avLst/>
          </a:prstGeom>
        </p:spPr>
      </p:pic>
      <p:pic>
        <p:nvPicPr>
          <p:cNvPr id="7" name="Picture 6"/>
          <p:cNvPicPr>
            <a:picLocks noChangeAspect="1"/>
          </p:cNvPicPr>
          <p:nvPr/>
        </p:nvPicPr>
        <p:blipFill>
          <a:blip r:embed="rId7"/>
          <a:stretch>
            <a:fillRect/>
          </a:stretch>
        </p:blipFill>
        <p:spPr>
          <a:xfrm>
            <a:off x="7766863" y="4219355"/>
            <a:ext cx="826871" cy="848937"/>
          </a:xfrm>
          <a:prstGeom prst="rect">
            <a:avLst/>
          </a:prstGeom>
        </p:spPr>
      </p:pic>
      <p:pic>
        <p:nvPicPr>
          <p:cNvPr id="8" name="Picture 7"/>
          <p:cNvPicPr>
            <a:picLocks noChangeAspect="1"/>
          </p:cNvPicPr>
          <p:nvPr/>
        </p:nvPicPr>
        <p:blipFill>
          <a:blip r:embed="rId8"/>
          <a:stretch>
            <a:fillRect/>
          </a:stretch>
        </p:blipFill>
        <p:spPr>
          <a:xfrm>
            <a:off x="7762757" y="5068291"/>
            <a:ext cx="857250" cy="914400"/>
          </a:xfrm>
          <a:prstGeom prst="rect">
            <a:avLst/>
          </a:prstGeom>
        </p:spPr>
      </p:pic>
      <p:pic>
        <p:nvPicPr>
          <p:cNvPr id="9" name="Picture 8"/>
          <p:cNvPicPr>
            <a:picLocks noChangeAspect="1"/>
          </p:cNvPicPr>
          <p:nvPr/>
        </p:nvPicPr>
        <p:blipFill>
          <a:blip r:embed="rId9"/>
          <a:stretch>
            <a:fillRect/>
          </a:stretch>
        </p:blipFill>
        <p:spPr>
          <a:xfrm>
            <a:off x="8620007" y="5068291"/>
            <a:ext cx="704850" cy="914400"/>
          </a:xfrm>
          <a:prstGeom prst="rect">
            <a:avLst/>
          </a:prstGeom>
        </p:spPr>
      </p:pic>
      <p:pic>
        <p:nvPicPr>
          <p:cNvPr id="29" name="Picture 28"/>
          <p:cNvPicPr>
            <a:picLocks noChangeAspect="1"/>
          </p:cNvPicPr>
          <p:nvPr/>
        </p:nvPicPr>
        <p:blipFill>
          <a:blip r:embed="rId10"/>
          <a:stretch>
            <a:fillRect/>
          </a:stretch>
        </p:blipFill>
        <p:spPr>
          <a:xfrm>
            <a:off x="6267680" y="5066593"/>
            <a:ext cx="685800" cy="914400"/>
          </a:xfrm>
          <a:prstGeom prst="rect">
            <a:avLst/>
          </a:prstGeom>
        </p:spPr>
      </p:pic>
      <p:pic>
        <p:nvPicPr>
          <p:cNvPr id="53" name="Picture 52"/>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5538970" y="5053894"/>
            <a:ext cx="807541" cy="656127"/>
          </a:xfrm>
          <a:prstGeom prst="rect">
            <a:avLst/>
          </a:prstGeom>
        </p:spPr>
      </p:pic>
      <p:pic>
        <p:nvPicPr>
          <p:cNvPr id="54" name="Picture 53"/>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2977422" y="5066594"/>
            <a:ext cx="664682" cy="664682"/>
          </a:xfrm>
          <a:prstGeom prst="rect">
            <a:avLst/>
          </a:prstGeom>
        </p:spPr>
      </p:pic>
      <p:pic>
        <p:nvPicPr>
          <p:cNvPr id="55" name="Picture 54"/>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4556767" y="4219355"/>
            <a:ext cx="708660" cy="885825"/>
          </a:xfrm>
          <a:prstGeom prst="rect">
            <a:avLst/>
          </a:prstGeom>
        </p:spPr>
      </p:pic>
      <p:pic>
        <p:nvPicPr>
          <p:cNvPr id="56" name="Picture 55" descr="oak-tree.jpg"/>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977421" y="4637944"/>
            <a:ext cx="826871" cy="495810"/>
          </a:xfrm>
          <a:prstGeom prst="rect">
            <a:avLst/>
          </a:prstGeom>
        </p:spPr>
      </p:pic>
    </p:spTree>
    <p:extLst>
      <p:ext uri="{BB962C8B-B14F-4D97-AF65-F5344CB8AC3E}">
        <p14:creationId xmlns:p14="http://schemas.microsoft.com/office/powerpoint/2010/main" val="989636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Picture 36" descr="florida_tree_phylogram.pdf"/>
          <p:cNvPicPr>
            <a:picLocks noChangeAspect="1"/>
          </p:cNvPicPr>
          <p:nvPr/>
        </p:nvPicPr>
        <p:blipFill rotWithShape="1">
          <a:blip r:embed="rId3" cstate="email">
            <a:extLst>
              <a:ext uri="{28A0092B-C50C-407E-A947-70E740481C1C}">
                <a14:useLocalDpi xmlns:a14="http://schemas.microsoft.com/office/drawing/2010/main"/>
              </a:ext>
            </a:extLst>
          </a:blip>
          <a:srcRect l="8176" t="5914" r="8532" b="6610"/>
          <a:stretch/>
        </p:blipFill>
        <p:spPr>
          <a:xfrm rot="20511983">
            <a:off x="7806824" y="2567590"/>
            <a:ext cx="3970848" cy="4170330"/>
          </a:xfrm>
          <a:prstGeom prst="rect">
            <a:avLst/>
          </a:prstGeom>
        </p:spPr>
      </p:pic>
      <p:pic>
        <p:nvPicPr>
          <p:cNvPr id="38" name="Picture 37" descr="PanhandlePointOnAlpha.pdf"/>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683830" y="1810947"/>
            <a:ext cx="3572629" cy="3572629"/>
          </a:xfrm>
          <a:prstGeom prst="rect">
            <a:avLst/>
          </a:prstGeom>
        </p:spPr>
      </p:pic>
      <p:sp>
        <p:nvSpPr>
          <p:cNvPr id="7" name="Title 1">
            <a:extLst>
              <a:ext uri="{FF2B5EF4-FFF2-40B4-BE49-F238E27FC236}">
                <a16:creationId xmlns:a16="http://schemas.microsoft.com/office/drawing/2014/main" id="{20036FDA-5C09-CDDF-F217-1EA91A555B2C}"/>
              </a:ext>
            </a:extLst>
          </p:cNvPr>
          <p:cNvSpPr txBox="1">
            <a:spLocks/>
          </p:cNvSpPr>
          <p:nvPr/>
        </p:nvSpPr>
        <p:spPr>
          <a:xfrm>
            <a:off x="1178623" y="96594"/>
            <a:ext cx="9595279" cy="602582"/>
          </a:xfrm>
          <a:prstGeom prst="rect">
            <a:avLst/>
          </a:prstGeom>
        </p:spPr>
        <p:txBody>
          <a:bodyPr/>
          <a:lstStyle>
            <a:lvl1pPr algn="l" defTabSz="457200" rtl="0" eaLnBrk="1" latinLnBrk="0" hangingPunct="1">
              <a:spcBef>
                <a:spcPct val="0"/>
              </a:spcBef>
              <a:buNone/>
              <a:defRPr sz="2800" b="1" i="0" kern="1200">
                <a:solidFill>
                  <a:schemeClr val="tx1"/>
                </a:solidFill>
                <a:latin typeface="Helvetica"/>
                <a:ea typeface="+mj-ea"/>
                <a:cs typeface="Helvetica"/>
              </a:defRPr>
            </a:lvl1pPr>
          </a:lstStyle>
          <a:p>
            <a:r>
              <a:rPr lang="en-US" sz="4400" b="0" dirty="0">
                <a:solidFill>
                  <a:srgbClr val="0070C0"/>
                </a:solidFill>
                <a:latin typeface="+mn-lt"/>
              </a:rPr>
              <a:t>Phylogenetic Diversity (PD): </a:t>
            </a:r>
          </a:p>
          <a:p>
            <a:r>
              <a:rPr lang="en-US" sz="4400" b="0" i="1" dirty="0">
                <a:solidFill>
                  <a:srgbClr val="0070C0"/>
                </a:solidFill>
                <a:latin typeface="+mn-lt"/>
              </a:rPr>
              <a:t>How much of the Tree of Life is present across Florida? </a:t>
            </a:r>
          </a:p>
        </p:txBody>
      </p:sp>
      <p:pic>
        <p:nvPicPr>
          <p:cNvPr id="8" name="Picture 3" descr="139652a1-sized.jpg">
            <a:extLst>
              <a:ext uri="{FF2B5EF4-FFF2-40B4-BE49-F238E27FC236}">
                <a16:creationId xmlns:a16="http://schemas.microsoft.com/office/drawing/2014/main" id="{BDB8A5A8-2922-07D6-F6C3-FD6E8727129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930388" y="3506676"/>
            <a:ext cx="2138565" cy="30823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83081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llPlants.Additive.PD.absolute.pdf"/>
          <p:cNvPicPr>
            <a:picLocks noChangeAspect="1"/>
          </p:cNvPicPr>
          <p:nvPr/>
        </p:nvPicPr>
        <p:blipFill rotWithShape="1">
          <a:blip r:embed="rId3" cstate="email">
            <a:extLst>
              <a:ext uri="{28A0092B-C50C-407E-A947-70E740481C1C}">
                <a14:useLocalDpi xmlns:a14="http://schemas.microsoft.com/office/drawing/2010/main"/>
              </a:ext>
            </a:extLst>
          </a:blip>
          <a:srcRect t="16675" b="10074"/>
          <a:stretch/>
        </p:blipFill>
        <p:spPr>
          <a:xfrm>
            <a:off x="2427431" y="1481771"/>
            <a:ext cx="7040657" cy="5157332"/>
          </a:xfrm>
          <a:prstGeom prst="rect">
            <a:avLst/>
          </a:prstGeom>
        </p:spPr>
      </p:pic>
      <p:sp>
        <p:nvSpPr>
          <p:cNvPr id="16" name="Title 1"/>
          <p:cNvSpPr>
            <a:spLocks noGrp="1"/>
          </p:cNvSpPr>
          <p:nvPr>
            <p:ph type="title"/>
          </p:nvPr>
        </p:nvSpPr>
        <p:spPr>
          <a:xfrm>
            <a:off x="1593724" y="156512"/>
            <a:ext cx="8229600" cy="803443"/>
          </a:xfrm>
        </p:spPr>
        <p:txBody>
          <a:bodyPr>
            <a:normAutofit/>
          </a:bodyPr>
          <a:lstStyle/>
          <a:p>
            <a:pPr algn="ctr"/>
            <a:r>
              <a:rPr lang="en-US" dirty="0">
                <a:solidFill>
                  <a:srgbClr val="0070C0"/>
                </a:solidFill>
              </a:rPr>
              <a:t>Phylogenetic Diversity</a:t>
            </a:r>
          </a:p>
        </p:txBody>
      </p:sp>
      <p:sp>
        <p:nvSpPr>
          <p:cNvPr id="2" name="TextBox 1"/>
          <p:cNvSpPr txBox="1"/>
          <p:nvPr/>
        </p:nvSpPr>
        <p:spPr>
          <a:xfrm>
            <a:off x="6294693" y="1250938"/>
            <a:ext cx="4921690" cy="461665"/>
          </a:xfrm>
          <a:prstGeom prst="rect">
            <a:avLst/>
          </a:prstGeom>
          <a:noFill/>
        </p:spPr>
        <p:txBody>
          <a:bodyPr wrap="none" rtlCol="0">
            <a:spAutoFit/>
          </a:bodyPr>
          <a:lstStyle/>
          <a:p>
            <a:r>
              <a:rPr lang="en-US" sz="2400" dirty="0"/>
              <a:t>PD = proportion of tree present in cell</a:t>
            </a:r>
          </a:p>
        </p:txBody>
      </p:sp>
      <p:sp>
        <p:nvSpPr>
          <p:cNvPr id="6" name="TextBox 5">
            <a:extLst>
              <a:ext uri="{FF2B5EF4-FFF2-40B4-BE49-F238E27FC236}">
                <a16:creationId xmlns:a16="http://schemas.microsoft.com/office/drawing/2014/main" id="{DF302B91-822D-A745-7FC2-BB70ED7DA3D6}"/>
              </a:ext>
            </a:extLst>
          </p:cNvPr>
          <p:cNvSpPr txBox="1"/>
          <p:nvPr/>
        </p:nvSpPr>
        <p:spPr>
          <a:xfrm>
            <a:off x="-12192" y="5778158"/>
            <a:ext cx="7040657" cy="923330"/>
          </a:xfrm>
          <a:prstGeom prst="rect">
            <a:avLst/>
          </a:prstGeom>
          <a:noFill/>
        </p:spPr>
        <p:txBody>
          <a:bodyPr wrap="square">
            <a:spAutoFit/>
          </a:bodyPr>
          <a:lstStyle/>
          <a:p>
            <a:pPr marL="457200" marR="0" indent="-457200"/>
            <a:r>
              <a:rPr lang="en-US" sz="1800" dirty="0">
                <a:effectLst/>
                <a:latin typeface="Helvetica" pitchFamily="2" charset="0"/>
                <a:ea typeface="Times New Roman" panose="02020603050405020304" pitchFamily="18" charset="0"/>
                <a:cs typeface="Arial" panose="020B0604020202020204" pitchFamily="34" charset="0"/>
              </a:rPr>
              <a:t>Allen</a:t>
            </a:r>
            <a:r>
              <a:rPr lang="en-US" dirty="0">
                <a:latin typeface="Helvetica" pitchFamily="2" charset="0"/>
                <a:ea typeface="Times New Roman" panose="02020603050405020304" pitchFamily="18" charset="0"/>
                <a:cs typeface="Arial" panose="020B0604020202020204" pitchFamily="34" charset="0"/>
              </a:rPr>
              <a:t> et al.</a:t>
            </a:r>
            <a:r>
              <a:rPr lang="en-US" sz="1800" baseline="30000" dirty="0">
                <a:effectLst/>
                <a:latin typeface="Helvetica" pitchFamily="2" charset="0"/>
                <a:ea typeface="Times New Roman" panose="02020603050405020304" pitchFamily="18" charset="0"/>
                <a:cs typeface="Arial" panose="020B0604020202020204" pitchFamily="34" charset="0"/>
              </a:rPr>
              <a:t>. </a:t>
            </a:r>
            <a:r>
              <a:rPr lang="en-US" sz="1800" dirty="0">
                <a:effectLst/>
                <a:latin typeface="Helvetica" pitchFamily="2" charset="0"/>
                <a:ea typeface="Times New Roman" panose="02020603050405020304" pitchFamily="18" charset="0"/>
                <a:cs typeface="Arial" panose="020B0604020202020204" pitchFamily="34" charset="0"/>
              </a:rPr>
              <a:t>2019. Spatial phylogenetics of Florida vascular plants:  The effects of tree uncertainty and ultrametricity. </a:t>
            </a:r>
            <a:r>
              <a:rPr lang="en-US" sz="1800" i="1" dirty="0">
                <a:effectLst/>
                <a:latin typeface="Helvetica" pitchFamily="2" charset="0"/>
                <a:ea typeface="Times New Roman" panose="02020603050405020304" pitchFamily="18" charset="0"/>
                <a:cs typeface="Arial" panose="020B0604020202020204" pitchFamily="34" charset="0"/>
              </a:rPr>
              <a:t>iScience</a:t>
            </a:r>
            <a:r>
              <a:rPr lang="en-US" sz="1800" dirty="0">
                <a:effectLst/>
                <a:latin typeface="Helvetica" pitchFamily="2" charset="0"/>
                <a:ea typeface="Times New Roman" panose="02020603050405020304" pitchFamily="18" charset="0"/>
                <a:cs typeface="Arial" panose="020B0604020202020204" pitchFamily="34" charset="0"/>
              </a:rPr>
              <a:t>11: 57–70 https://</a:t>
            </a:r>
            <a:r>
              <a:rPr lang="en-US" sz="1800" dirty="0" err="1">
                <a:effectLst/>
                <a:latin typeface="Helvetica" pitchFamily="2" charset="0"/>
                <a:ea typeface="Times New Roman" panose="02020603050405020304" pitchFamily="18" charset="0"/>
                <a:cs typeface="Arial" panose="020B0604020202020204" pitchFamily="34" charset="0"/>
              </a:rPr>
              <a:t>doi.org</a:t>
            </a:r>
            <a:r>
              <a:rPr lang="en-US" sz="1800" dirty="0">
                <a:effectLst/>
                <a:latin typeface="Helvetica" pitchFamily="2" charset="0"/>
                <a:ea typeface="Times New Roman" panose="02020603050405020304" pitchFamily="18" charset="0"/>
                <a:cs typeface="Arial" panose="020B0604020202020204" pitchFamily="34" charset="0"/>
              </a:rPr>
              <a:t>/10.1016/ j.isci.2018.12.002</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73279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E08C-566D-F243-A155-2CDC4C3E65EF}"/>
              </a:ext>
            </a:extLst>
          </p:cNvPr>
          <p:cNvSpPr>
            <a:spLocks noGrp="1"/>
          </p:cNvSpPr>
          <p:nvPr>
            <p:ph type="title"/>
          </p:nvPr>
        </p:nvSpPr>
        <p:spPr>
          <a:xfrm>
            <a:off x="838200" y="126586"/>
            <a:ext cx="10515600" cy="1325563"/>
          </a:xfrm>
        </p:spPr>
        <p:txBody>
          <a:bodyPr>
            <a:noAutofit/>
          </a:bodyPr>
          <a:lstStyle/>
          <a:p>
            <a:pPr algn="ctr"/>
            <a:r>
              <a:rPr lang="en-US" sz="3200" dirty="0"/>
              <a:t>Evolutionary History of the Angiosperm </a:t>
            </a:r>
            <a:br>
              <a:rPr lang="en-US" sz="3200" dirty="0"/>
            </a:br>
            <a:r>
              <a:rPr lang="en-US" sz="3200" dirty="0"/>
              <a:t>Flora of China</a:t>
            </a:r>
            <a:br>
              <a:rPr lang="en-US" sz="3200" dirty="0"/>
            </a:br>
            <a:endParaRPr lang="en-US" sz="3200" dirty="0"/>
          </a:p>
        </p:txBody>
      </p:sp>
      <p:pic>
        <p:nvPicPr>
          <p:cNvPr id="4" name="Picture 3">
            <a:extLst>
              <a:ext uri="{FF2B5EF4-FFF2-40B4-BE49-F238E27FC236}">
                <a16:creationId xmlns:a16="http://schemas.microsoft.com/office/drawing/2014/main" id="{83DEF509-386C-5948-ABA5-BB849BFED8F9}"/>
              </a:ext>
            </a:extLst>
          </p:cNvPr>
          <p:cNvPicPr>
            <a:picLocks noChangeAspect="1"/>
          </p:cNvPicPr>
          <p:nvPr/>
        </p:nvPicPr>
        <p:blipFill>
          <a:blip r:embed="rId2"/>
          <a:stretch>
            <a:fillRect/>
          </a:stretch>
        </p:blipFill>
        <p:spPr>
          <a:xfrm>
            <a:off x="4203701" y="1065925"/>
            <a:ext cx="5737514" cy="5432452"/>
          </a:xfrm>
          <a:prstGeom prst="rect">
            <a:avLst/>
          </a:prstGeom>
        </p:spPr>
      </p:pic>
      <p:sp>
        <p:nvSpPr>
          <p:cNvPr id="5" name="TextBox 4">
            <a:extLst>
              <a:ext uri="{FF2B5EF4-FFF2-40B4-BE49-F238E27FC236}">
                <a16:creationId xmlns:a16="http://schemas.microsoft.com/office/drawing/2014/main" id="{870FEA73-8E00-D842-8484-DE98EEE0D025}"/>
              </a:ext>
            </a:extLst>
          </p:cNvPr>
          <p:cNvSpPr txBox="1"/>
          <p:nvPr/>
        </p:nvSpPr>
        <p:spPr>
          <a:xfrm>
            <a:off x="530086" y="6126164"/>
            <a:ext cx="3225050" cy="461665"/>
          </a:xfrm>
          <a:prstGeom prst="rect">
            <a:avLst/>
          </a:prstGeom>
          <a:noFill/>
        </p:spPr>
        <p:txBody>
          <a:bodyPr wrap="square" rtlCol="0">
            <a:spAutoFit/>
          </a:bodyPr>
          <a:lstStyle/>
          <a:p>
            <a:r>
              <a:rPr lang="en-US" sz="2400" dirty="0"/>
              <a:t>Lu et al. </a:t>
            </a:r>
            <a:r>
              <a:rPr lang="en-US" sz="2400" i="1" dirty="0"/>
              <a:t>Nature</a:t>
            </a:r>
            <a:r>
              <a:rPr lang="en-US" sz="2400" dirty="0"/>
              <a:t>, 2018</a:t>
            </a:r>
          </a:p>
        </p:txBody>
      </p:sp>
      <p:pic>
        <p:nvPicPr>
          <p:cNvPr id="3" name="Picture 2">
            <a:extLst>
              <a:ext uri="{FF2B5EF4-FFF2-40B4-BE49-F238E27FC236}">
                <a16:creationId xmlns:a16="http://schemas.microsoft.com/office/drawing/2014/main" id="{DF2BBC39-6025-FF42-AF5D-916E9482F715}"/>
              </a:ext>
            </a:extLst>
          </p:cNvPr>
          <p:cNvPicPr>
            <a:picLocks noChangeAspect="1"/>
          </p:cNvPicPr>
          <p:nvPr/>
        </p:nvPicPr>
        <p:blipFill>
          <a:blip r:embed="rId3"/>
          <a:stretch>
            <a:fillRect/>
          </a:stretch>
        </p:blipFill>
        <p:spPr>
          <a:xfrm>
            <a:off x="7988300" y="5711045"/>
            <a:ext cx="4203700" cy="1041400"/>
          </a:xfrm>
          <a:prstGeom prst="rect">
            <a:avLst/>
          </a:prstGeom>
        </p:spPr>
      </p:pic>
      <p:sp>
        <p:nvSpPr>
          <p:cNvPr id="6" name="TextBox 5">
            <a:extLst>
              <a:ext uri="{FF2B5EF4-FFF2-40B4-BE49-F238E27FC236}">
                <a16:creationId xmlns:a16="http://schemas.microsoft.com/office/drawing/2014/main" id="{F864DD9F-7E6E-7540-9AEF-86382C3FDCAB}"/>
              </a:ext>
            </a:extLst>
          </p:cNvPr>
          <p:cNvSpPr txBox="1"/>
          <p:nvPr/>
        </p:nvSpPr>
        <p:spPr>
          <a:xfrm>
            <a:off x="268828" y="2258157"/>
            <a:ext cx="3728406" cy="1323439"/>
          </a:xfrm>
          <a:prstGeom prst="rect">
            <a:avLst/>
          </a:prstGeom>
          <a:noFill/>
        </p:spPr>
        <p:txBody>
          <a:bodyPr wrap="square" rtlCol="0">
            <a:spAutoFit/>
          </a:bodyPr>
          <a:lstStyle/>
          <a:p>
            <a:pPr marL="285750" indent="-285750">
              <a:buFont typeface="Arial" panose="020B0604020202020204" pitchFamily="34" charset="0"/>
              <a:buChar char="•"/>
            </a:pPr>
            <a:r>
              <a:rPr lang="en-US" sz="2000" dirty="0"/>
              <a:t>30,000 species vascular plants</a:t>
            </a:r>
          </a:p>
          <a:p>
            <a:pPr marL="285750" indent="-285750">
              <a:buFont typeface="Arial" panose="020B0604020202020204" pitchFamily="34" charset="0"/>
              <a:buChar char="•"/>
            </a:pPr>
            <a:r>
              <a:rPr lang="en-US" sz="2000" dirty="0"/>
              <a:t>3176 genera</a:t>
            </a:r>
          </a:p>
          <a:p>
            <a:pPr marL="285750" indent="-285750">
              <a:buFont typeface="Arial" panose="020B0604020202020204" pitchFamily="34" charset="0"/>
              <a:buChar char="•"/>
            </a:pPr>
            <a:r>
              <a:rPr lang="en-US" sz="2000" dirty="0"/>
              <a:t>92% of genera sampled</a:t>
            </a:r>
          </a:p>
          <a:p>
            <a:pPr marL="285750" indent="-285750">
              <a:buFont typeface="Arial" panose="020B0604020202020204" pitchFamily="34" charset="0"/>
              <a:buChar char="•"/>
            </a:pPr>
            <a:r>
              <a:rPr lang="en-US" sz="2000" dirty="0"/>
              <a:t>26,978 species tree</a:t>
            </a:r>
          </a:p>
        </p:txBody>
      </p:sp>
    </p:spTree>
    <p:extLst>
      <p:ext uri="{BB962C8B-B14F-4D97-AF65-F5344CB8AC3E}">
        <p14:creationId xmlns:p14="http://schemas.microsoft.com/office/powerpoint/2010/main" val="9572133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29CAC-F9EC-E340-9C0B-0E7A26FEA305}"/>
              </a:ext>
            </a:extLst>
          </p:cNvPr>
          <p:cNvSpPr>
            <a:spLocks noGrp="1"/>
          </p:cNvSpPr>
          <p:nvPr>
            <p:ph type="title"/>
          </p:nvPr>
        </p:nvSpPr>
        <p:spPr>
          <a:xfrm>
            <a:off x="3009900" y="151759"/>
            <a:ext cx="6172200" cy="857250"/>
          </a:xfrm>
        </p:spPr>
        <p:txBody>
          <a:bodyPr>
            <a:normAutofit fontScale="90000"/>
          </a:bodyPr>
          <a:lstStyle/>
          <a:p>
            <a:r>
              <a:rPr lang="en-US" dirty="0">
                <a:solidFill>
                  <a:srgbClr val="0070C0"/>
                </a:solidFill>
              </a:rPr>
              <a:t>Phylogenetic Diversity: China</a:t>
            </a:r>
          </a:p>
        </p:txBody>
      </p:sp>
      <p:pic>
        <p:nvPicPr>
          <p:cNvPr id="4" name="Picture 3">
            <a:extLst>
              <a:ext uri="{FF2B5EF4-FFF2-40B4-BE49-F238E27FC236}">
                <a16:creationId xmlns:a16="http://schemas.microsoft.com/office/drawing/2014/main" id="{8DC15AB3-B45B-EA4A-8B99-EAF21593D0D5}"/>
              </a:ext>
            </a:extLst>
          </p:cNvPr>
          <p:cNvPicPr>
            <a:picLocks noChangeAspect="1"/>
          </p:cNvPicPr>
          <p:nvPr/>
        </p:nvPicPr>
        <p:blipFill>
          <a:blip r:embed="rId2"/>
          <a:stretch>
            <a:fillRect/>
          </a:stretch>
        </p:blipFill>
        <p:spPr>
          <a:xfrm>
            <a:off x="2747320" y="1009009"/>
            <a:ext cx="7636476" cy="5520967"/>
          </a:xfrm>
          <a:prstGeom prst="rect">
            <a:avLst/>
          </a:prstGeom>
        </p:spPr>
      </p:pic>
      <p:sp>
        <p:nvSpPr>
          <p:cNvPr id="5" name="TextBox 4">
            <a:extLst>
              <a:ext uri="{FF2B5EF4-FFF2-40B4-BE49-F238E27FC236}">
                <a16:creationId xmlns:a16="http://schemas.microsoft.com/office/drawing/2014/main" id="{26117B97-190D-CF44-AE30-3FD68D48BDC2}"/>
              </a:ext>
            </a:extLst>
          </p:cNvPr>
          <p:cNvSpPr txBox="1"/>
          <p:nvPr/>
        </p:nvSpPr>
        <p:spPr>
          <a:xfrm>
            <a:off x="7512132" y="5628039"/>
            <a:ext cx="2101934" cy="646331"/>
          </a:xfrm>
          <a:prstGeom prst="rect">
            <a:avLst/>
          </a:prstGeom>
          <a:noFill/>
        </p:spPr>
        <p:txBody>
          <a:bodyPr wrap="square" rtlCol="0">
            <a:spAutoFit/>
          </a:bodyPr>
          <a:lstStyle/>
          <a:p>
            <a:r>
              <a:rPr lang="en-US" dirty="0"/>
              <a:t>Lu et al. 2018 </a:t>
            </a:r>
            <a:r>
              <a:rPr lang="en-US" i="1" dirty="0"/>
              <a:t>Nature</a:t>
            </a:r>
          </a:p>
        </p:txBody>
      </p:sp>
      <p:sp>
        <p:nvSpPr>
          <p:cNvPr id="3" name="Round Single Corner Rectangle 2">
            <a:extLst>
              <a:ext uri="{FF2B5EF4-FFF2-40B4-BE49-F238E27FC236}">
                <a16:creationId xmlns:a16="http://schemas.microsoft.com/office/drawing/2014/main" id="{5410C127-E36C-CE42-B49E-82E78BD5AC78}"/>
              </a:ext>
            </a:extLst>
          </p:cNvPr>
          <p:cNvSpPr/>
          <p:nvPr/>
        </p:nvSpPr>
        <p:spPr>
          <a:xfrm>
            <a:off x="1993556" y="4110165"/>
            <a:ext cx="315097" cy="278024"/>
          </a:xfrm>
          <a:prstGeom prst="round1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p>
        </p:txBody>
      </p:sp>
      <p:sp>
        <p:nvSpPr>
          <p:cNvPr id="7" name="Round Single Corner Rectangle 6">
            <a:extLst>
              <a:ext uri="{FF2B5EF4-FFF2-40B4-BE49-F238E27FC236}">
                <a16:creationId xmlns:a16="http://schemas.microsoft.com/office/drawing/2014/main" id="{B5A73509-EC24-BD4B-880D-0D8ED8B77FF7}"/>
              </a:ext>
            </a:extLst>
          </p:cNvPr>
          <p:cNvSpPr/>
          <p:nvPr/>
        </p:nvSpPr>
        <p:spPr>
          <a:xfrm>
            <a:off x="2015176" y="4548832"/>
            <a:ext cx="315097" cy="278024"/>
          </a:xfrm>
          <a:prstGeom prst="round1Rect">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a:solidFill>
                <a:srgbClr val="FF0000"/>
              </a:solidFill>
            </a:endParaRPr>
          </a:p>
        </p:txBody>
      </p:sp>
      <p:sp>
        <p:nvSpPr>
          <p:cNvPr id="8" name="TextBox 7">
            <a:extLst>
              <a:ext uri="{FF2B5EF4-FFF2-40B4-BE49-F238E27FC236}">
                <a16:creationId xmlns:a16="http://schemas.microsoft.com/office/drawing/2014/main" id="{B24E7081-C650-6146-99BD-8DC7ECD9CD46}"/>
              </a:ext>
            </a:extLst>
          </p:cNvPr>
          <p:cNvSpPr txBox="1"/>
          <p:nvPr/>
        </p:nvSpPr>
        <p:spPr>
          <a:xfrm>
            <a:off x="2325283" y="4111189"/>
            <a:ext cx="806279" cy="300082"/>
          </a:xfrm>
          <a:prstGeom prst="rect">
            <a:avLst/>
          </a:prstGeom>
          <a:noFill/>
        </p:spPr>
        <p:txBody>
          <a:bodyPr wrap="square" rtlCol="0">
            <a:spAutoFit/>
          </a:bodyPr>
          <a:lstStyle/>
          <a:p>
            <a:r>
              <a:rPr lang="en-US" sz="1350" dirty="0"/>
              <a:t>Low PD</a:t>
            </a:r>
          </a:p>
        </p:txBody>
      </p:sp>
      <p:sp>
        <p:nvSpPr>
          <p:cNvPr id="9" name="TextBox 8">
            <a:extLst>
              <a:ext uri="{FF2B5EF4-FFF2-40B4-BE49-F238E27FC236}">
                <a16:creationId xmlns:a16="http://schemas.microsoft.com/office/drawing/2014/main" id="{923D63C1-DDF7-5341-AF7F-90CA8A1963F4}"/>
              </a:ext>
            </a:extLst>
          </p:cNvPr>
          <p:cNvSpPr txBox="1"/>
          <p:nvPr/>
        </p:nvSpPr>
        <p:spPr>
          <a:xfrm>
            <a:off x="2374707" y="4525141"/>
            <a:ext cx="806279" cy="300082"/>
          </a:xfrm>
          <a:prstGeom prst="rect">
            <a:avLst/>
          </a:prstGeom>
          <a:noFill/>
        </p:spPr>
        <p:txBody>
          <a:bodyPr wrap="square" rtlCol="0">
            <a:spAutoFit/>
          </a:bodyPr>
          <a:lstStyle/>
          <a:p>
            <a:r>
              <a:rPr lang="en-US" sz="1350" dirty="0"/>
              <a:t>High PD</a:t>
            </a:r>
          </a:p>
        </p:txBody>
      </p:sp>
    </p:spTree>
    <p:extLst>
      <p:ext uri="{BB962C8B-B14F-4D97-AF65-F5344CB8AC3E}">
        <p14:creationId xmlns:p14="http://schemas.microsoft.com/office/powerpoint/2010/main" val="37439676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E21066-03A7-684E-99AB-E37E3A044E1A}"/>
              </a:ext>
            </a:extLst>
          </p:cNvPr>
          <p:cNvPicPr>
            <a:picLocks noChangeAspect="1"/>
          </p:cNvPicPr>
          <p:nvPr/>
        </p:nvPicPr>
        <p:blipFill rotWithShape="1">
          <a:blip r:embed="rId3"/>
          <a:srcRect t="7304"/>
          <a:stretch/>
        </p:blipFill>
        <p:spPr>
          <a:xfrm>
            <a:off x="2348345" y="748150"/>
            <a:ext cx="7495309" cy="6096574"/>
          </a:xfrm>
          <a:prstGeom prst="rect">
            <a:avLst/>
          </a:prstGeom>
        </p:spPr>
      </p:pic>
      <p:sp>
        <p:nvSpPr>
          <p:cNvPr id="6" name="Title 1">
            <a:extLst>
              <a:ext uri="{FF2B5EF4-FFF2-40B4-BE49-F238E27FC236}">
                <a16:creationId xmlns:a16="http://schemas.microsoft.com/office/drawing/2014/main" id="{630F9380-5D22-034C-985B-1E03F99DB720}"/>
              </a:ext>
            </a:extLst>
          </p:cNvPr>
          <p:cNvSpPr txBox="1">
            <a:spLocks/>
          </p:cNvSpPr>
          <p:nvPr/>
        </p:nvSpPr>
        <p:spPr>
          <a:xfrm>
            <a:off x="590309" y="-89043"/>
            <a:ext cx="11320040" cy="1143000"/>
          </a:xfrm>
          <a:prstGeom prst="rect">
            <a:avLst/>
          </a:prstGeom>
        </p:spPr>
        <p:txBody>
          <a:bodyPr vert="horz" lIns="91440" tIns="45720" rIns="91440" bIns="45720" rtlCol="0" anchor="ctr">
            <a:normAutofit fontScale="925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0070C0"/>
                </a:solidFill>
              </a:rPr>
              <a:t>Conservation: Protected Areas vs. High PD in China</a:t>
            </a:r>
          </a:p>
        </p:txBody>
      </p:sp>
      <p:sp>
        <p:nvSpPr>
          <p:cNvPr id="5" name="TextBox 4">
            <a:extLst>
              <a:ext uri="{FF2B5EF4-FFF2-40B4-BE49-F238E27FC236}">
                <a16:creationId xmlns:a16="http://schemas.microsoft.com/office/drawing/2014/main" id="{870FEA73-8E00-D842-8484-DE98EEE0D025}"/>
              </a:ext>
            </a:extLst>
          </p:cNvPr>
          <p:cNvSpPr txBox="1"/>
          <p:nvPr/>
        </p:nvSpPr>
        <p:spPr>
          <a:xfrm>
            <a:off x="1524000" y="6126164"/>
            <a:ext cx="2105891" cy="461665"/>
          </a:xfrm>
          <a:prstGeom prst="rect">
            <a:avLst/>
          </a:prstGeom>
          <a:noFill/>
        </p:spPr>
        <p:txBody>
          <a:bodyPr wrap="square" rtlCol="0">
            <a:spAutoFit/>
          </a:bodyPr>
          <a:lstStyle/>
          <a:p>
            <a:r>
              <a:rPr lang="en-US" sz="2400" dirty="0"/>
              <a:t>Lu et al. 2018</a:t>
            </a:r>
          </a:p>
        </p:txBody>
      </p:sp>
      <p:sp>
        <p:nvSpPr>
          <p:cNvPr id="2" name="TextBox 1">
            <a:extLst>
              <a:ext uri="{FF2B5EF4-FFF2-40B4-BE49-F238E27FC236}">
                <a16:creationId xmlns:a16="http://schemas.microsoft.com/office/drawing/2014/main" id="{B88EAA3F-D0D9-4640-959D-6840843FD56E}"/>
              </a:ext>
            </a:extLst>
          </p:cNvPr>
          <p:cNvSpPr txBox="1"/>
          <p:nvPr/>
        </p:nvSpPr>
        <p:spPr>
          <a:xfrm>
            <a:off x="8786948" y="5799909"/>
            <a:ext cx="2551611" cy="646331"/>
          </a:xfrm>
          <a:prstGeom prst="rect">
            <a:avLst/>
          </a:prstGeom>
          <a:noFill/>
        </p:spPr>
        <p:txBody>
          <a:bodyPr wrap="square" rtlCol="0">
            <a:spAutoFit/>
          </a:bodyPr>
          <a:lstStyle/>
          <a:p>
            <a:r>
              <a:rPr lang="en-US" dirty="0"/>
              <a:t>Blue and Pink = conservation areas</a:t>
            </a:r>
          </a:p>
        </p:txBody>
      </p:sp>
    </p:spTree>
    <p:extLst>
      <p:ext uri="{BB962C8B-B14F-4D97-AF65-F5344CB8AC3E}">
        <p14:creationId xmlns:p14="http://schemas.microsoft.com/office/powerpoint/2010/main" val="3334601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792FB6-EC83-CCF5-98FA-96640AD7A68B}"/>
              </a:ext>
            </a:extLst>
          </p:cNvPr>
          <p:cNvSpPr txBox="1"/>
          <p:nvPr/>
        </p:nvSpPr>
        <p:spPr>
          <a:xfrm>
            <a:off x="158496" y="4529969"/>
            <a:ext cx="6096000" cy="923330"/>
          </a:xfrm>
          <a:prstGeom prst="rect">
            <a:avLst/>
          </a:prstGeom>
          <a:noFill/>
        </p:spPr>
        <p:txBody>
          <a:bodyPr wrap="square">
            <a:spAutoFit/>
          </a:bodyPr>
          <a:lstStyle/>
          <a:p>
            <a:r>
              <a:rPr lang="en-US" b="0" i="0" dirty="0">
                <a:solidFill>
                  <a:srgbClr val="333333"/>
                </a:solidFill>
                <a:effectLst/>
                <a:latin typeface="-apple-system"/>
              </a:rPr>
              <a:t>Thornhill </a:t>
            </a:r>
            <a:r>
              <a:rPr lang="en-US" b="0" i="1" dirty="0">
                <a:solidFill>
                  <a:srgbClr val="333333"/>
                </a:solidFill>
                <a:effectLst/>
                <a:latin typeface="-apple-system"/>
              </a:rPr>
              <a:t>et al.</a:t>
            </a:r>
            <a:r>
              <a:rPr lang="en-US" b="0" i="0" dirty="0">
                <a:solidFill>
                  <a:srgbClr val="333333"/>
                </a:solidFill>
                <a:effectLst/>
                <a:latin typeface="-apple-system"/>
              </a:rPr>
              <a:t> Spatial phylogenetics of the native California flora. </a:t>
            </a:r>
            <a:r>
              <a:rPr lang="en-US" b="0" i="1" dirty="0">
                <a:solidFill>
                  <a:srgbClr val="333333"/>
                </a:solidFill>
                <a:effectLst/>
                <a:latin typeface="-apple-system"/>
              </a:rPr>
              <a:t>BMC Biol</a:t>
            </a:r>
            <a:r>
              <a:rPr lang="en-US" b="0" i="0" dirty="0">
                <a:solidFill>
                  <a:srgbClr val="333333"/>
                </a:solidFill>
                <a:effectLst/>
                <a:latin typeface="-apple-system"/>
              </a:rPr>
              <a:t> </a:t>
            </a:r>
            <a:r>
              <a:rPr lang="en-US" b="1" i="0" dirty="0">
                <a:solidFill>
                  <a:srgbClr val="333333"/>
                </a:solidFill>
                <a:effectLst/>
                <a:latin typeface="-apple-system"/>
              </a:rPr>
              <a:t>15</a:t>
            </a:r>
            <a:r>
              <a:rPr lang="en-US" b="0" i="0" dirty="0">
                <a:solidFill>
                  <a:srgbClr val="333333"/>
                </a:solidFill>
                <a:effectLst/>
                <a:latin typeface="-apple-system"/>
              </a:rPr>
              <a:t>, 96 (2017). https://</a:t>
            </a:r>
            <a:r>
              <a:rPr lang="en-US" b="0" i="0" dirty="0" err="1">
                <a:solidFill>
                  <a:srgbClr val="333333"/>
                </a:solidFill>
                <a:effectLst/>
                <a:latin typeface="-apple-system"/>
              </a:rPr>
              <a:t>doi.org</a:t>
            </a:r>
            <a:r>
              <a:rPr lang="en-US" b="0" i="0" dirty="0">
                <a:solidFill>
                  <a:srgbClr val="333333"/>
                </a:solidFill>
                <a:effectLst/>
                <a:latin typeface="-apple-system"/>
              </a:rPr>
              <a:t>/10.1186/s12915-017-0435-x</a:t>
            </a:r>
            <a:endParaRPr lang="en-US" dirty="0"/>
          </a:p>
        </p:txBody>
      </p:sp>
      <p:pic>
        <p:nvPicPr>
          <p:cNvPr id="5" name="Picture 4">
            <a:extLst>
              <a:ext uri="{FF2B5EF4-FFF2-40B4-BE49-F238E27FC236}">
                <a16:creationId xmlns:a16="http://schemas.microsoft.com/office/drawing/2014/main" id="{6B6656C3-70F2-527D-6A23-E1560C9B602C}"/>
              </a:ext>
            </a:extLst>
          </p:cNvPr>
          <p:cNvPicPr>
            <a:picLocks noChangeAspect="1"/>
          </p:cNvPicPr>
          <p:nvPr/>
        </p:nvPicPr>
        <p:blipFill>
          <a:blip r:embed="rId2"/>
          <a:stretch>
            <a:fillRect/>
          </a:stretch>
        </p:blipFill>
        <p:spPr>
          <a:xfrm>
            <a:off x="308863" y="1404701"/>
            <a:ext cx="4940300" cy="2946400"/>
          </a:xfrm>
          <a:prstGeom prst="rect">
            <a:avLst/>
          </a:prstGeom>
        </p:spPr>
      </p:pic>
      <p:pic>
        <p:nvPicPr>
          <p:cNvPr id="6" name="Picture 5">
            <a:extLst>
              <a:ext uri="{FF2B5EF4-FFF2-40B4-BE49-F238E27FC236}">
                <a16:creationId xmlns:a16="http://schemas.microsoft.com/office/drawing/2014/main" id="{381D031D-E91C-F90C-9E01-84B1C7FCAA74}"/>
              </a:ext>
            </a:extLst>
          </p:cNvPr>
          <p:cNvPicPr>
            <a:picLocks noChangeAspect="1"/>
          </p:cNvPicPr>
          <p:nvPr/>
        </p:nvPicPr>
        <p:blipFill>
          <a:blip r:embed="rId3"/>
          <a:stretch>
            <a:fillRect/>
          </a:stretch>
        </p:blipFill>
        <p:spPr>
          <a:xfrm>
            <a:off x="6631686" y="1121664"/>
            <a:ext cx="4805704" cy="2051558"/>
          </a:xfrm>
          <a:prstGeom prst="rect">
            <a:avLst/>
          </a:prstGeom>
        </p:spPr>
      </p:pic>
      <p:sp>
        <p:nvSpPr>
          <p:cNvPr id="7" name="TextBox 6">
            <a:extLst>
              <a:ext uri="{FF2B5EF4-FFF2-40B4-BE49-F238E27FC236}">
                <a16:creationId xmlns:a16="http://schemas.microsoft.com/office/drawing/2014/main" id="{86357D17-2767-2AF7-BDFF-6E99FF15C696}"/>
              </a:ext>
            </a:extLst>
          </p:cNvPr>
          <p:cNvSpPr txBox="1"/>
          <p:nvPr/>
        </p:nvSpPr>
        <p:spPr>
          <a:xfrm>
            <a:off x="6905500" y="3392715"/>
            <a:ext cx="4805704" cy="1200329"/>
          </a:xfrm>
          <a:prstGeom prst="rect">
            <a:avLst/>
          </a:prstGeom>
          <a:noFill/>
        </p:spPr>
        <p:txBody>
          <a:bodyPr wrap="square" rtlCol="0">
            <a:spAutoFit/>
          </a:bodyPr>
          <a:lstStyle/>
          <a:p>
            <a:r>
              <a:rPr lang="en-US" dirty="0" err="1"/>
              <a:t>Spalink</a:t>
            </a:r>
            <a:r>
              <a:rPr lang="en-US" dirty="0"/>
              <a:t>, D. et al. 2018. Spatial phylogenetics reveals evolutionary constraints on the assembly of a large regional flora. </a:t>
            </a:r>
            <a:r>
              <a:rPr lang="en-US" i="1" dirty="0"/>
              <a:t>American Journal of Botany</a:t>
            </a:r>
            <a:r>
              <a:rPr lang="en-US" dirty="0"/>
              <a:t> 105(11): 1938–1950.</a:t>
            </a:r>
          </a:p>
        </p:txBody>
      </p:sp>
      <p:sp>
        <p:nvSpPr>
          <p:cNvPr id="9" name="TextBox 8">
            <a:extLst>
              <a:ext uri="{FF2B5EF4-FFF2-40B4-BE49-F238E27FC236}">
                <a16:creationId xmlns:a16="http://schemas.microsoft.com/office/drawing/2014/main" id="{83EE4B56-59B6-5E91-8BC6-9D5D653D70B3}"/>
              </a:ext>
            </a:extLst>
          </p:cNvPr>
          <p:cNvSpPr txBox="1"/>
          <p:nvPr/>
        </p:nvSpPr>
        <p:spPr>
          <a:xfrm>
            <a:off x="3583686" y="5913735"/>
            <a:ext cx="6096000" cy="923330"/>
          </a:xfrm>
          <a:prstGeom prst="rect">
            <a:avLst/>
          </a:prstGeom>
          <a:noFill/>
        </p:spPr>
        <p:txBody>
          <a:bodyPr wrap="square">
            <a:spAutoFit/>
          </a:bodyPr>
          <a:lstStyle/>
          <a:p>
            <a:r>
              <a:rPr lang="en-US" b="0" i="0" dirty="0">
                <a:solidFill>
                  <a:srgbClr val="222222"/>
                </a:solidFill>
                <a:effectLst/>
                <a:latin typeface="-apple-system"/>
              </a:rPr>
              <a:t>Mishler</a:t>
            </a:r>
            <a:r>
              <a:rPr lang="en-US" dirty="0">
                <a:solidFill>
                  <a:srgbClr val="222222"/>
                </a:solidFill>
                <a:latin typeface="-apple-system"/>
              </a:rPr>
              <a:t> </a:t>
            </a:r>
            <a:r>
              <a:rPr lang="en-US" b="0" i="1" dirty="0">
                <a:solidFill>
                  <a:srgbClr val="222222"/>
                </a:solidFill>
                <a:effectLst/>
                <a:latin typeface="-apple-system"/>
              </a:rPr>
              <a:t>et al.</a:t>
            </a:r>
            <a:r>
              <a:rPr lang="en-US" b="0" i="0" dirty="0">
                <a:solidFill>
                  <a:srgbClr val="222222"/>
                </a:solidFill>
                <a:effectLst/>
                <a:latin typeface="-apple-system"/>
              </a:rPr>
              <a:t> Phylogenetic measures of biodiversity and neo- and paleo-endemism in Australian </a:t>
            </a:r>
            <a:r>
              <a:rPr lang="en-US" b="0" i="1" dirty="0">
                <a:solidFill>
                  <a:srgbClr val="222222"/>
                </a:solidFill>
                <a:effectLst/>
                <a:latin typeface="-apple-system"/>
              </a:rPr>
              <a:t>Acacia</a:t>
            </a:r>
            <a:r>
              <a:rPr lang="en-US" b="0" i="0" dirty="0">
                <a:solidFill>
                  <a:srgbClr val="222222"/>
                </a:solidFill>
                <a:effectLst/>
                <a:latin typeface="-apple-system"/>
              </a:rPr>
              <a:t>. </a:t>
            </a:r>
            <a:r>
              <a:rPr lang="en-US" b="0" i="1" dirty="0">
                <a:solidFill>
                  <a:srgbClr val="222222"/>
                </a:solidFill>
                <a:effectLst/>
                <a:latin typeface="-apple-system"/>
              </a:rPr>
              <a:t>Nat Commun</a:t>
            </a:r>
            <a:r>
              <a:rPr lang="en-US" b="0" i="0" dirty="0">
                <a:solidFill>
                  <a:srgbClr val="222222"/>
                </a:solidFill>
                <a:effectLst/>
                <a:latin typeface="-apple-system"/>
              </a:rPr>
              <a:t> </a:t>
            </a:r>
            <a:r>
              <a:rPr lang="en-US" b="1" i="0" dirty="0">
                <a:solidFill>
                  <a:srgbClr val="222222"/>
                </a:solidFill>
                <a:effectLst/>
                <a:latin typeface="-apple-system"/>
              </a:rPr>
              <a:t>5</a:t>
            </a:r>
            <a:r>
              <a:rPr lang="en-US" b="0" i="0" dirty="0">
                <a:solidFill>
                  <a:srgbClr val="222222"/>
                </a:solidFill>
                <a:effectLst/>
                <a:latin typeface="-apple-system"/>
              </a:rPr>
              <a:t>, 4473 (2014). https://</a:t>
            </a:r>
            <a:r>
              <a:rPr lang="en-US" b="0" i="0" dirty="0" err="1">
                <a:solidFill>
                  <a:srgbClr val="222222"/>
                </a:solidFill>
                <a:effectLst/>
                <a:latin typeface="-apple-system"/>
              </a:rPr>
              <a:t>doi.org</a:t>
            </a:r>
            <a:r>
              <a:rPr lang="en-US" b="0" i="0" dirty="0">
                <a:solidFill>
                  <a:srgbClr val="222222"/>
                </a:solidFill>
                <a:effectLst/>
                <a:latin typeface="-apple-system"/>
              </a:rPr>
              <a:t>/10.1038/ncomms5473</a:t>
            </a:r>
            <a:endParaRPr lang="en-US" dirty="0"/>
          </a:p>
        </p:txBody>
      </p:sp>
      <p:pic>
        <p:nvPicPr>
          <p:cNvPr id="10" name="Picture 9">
            <a:extLst>
              <a:ext uri="{FF2B5EF4-FFF2-40B4-BE49-F238E27FC236}">
                <a16:creationId xmlns:a16="http://schemas.microsoft.com/office/drawing/2014/main" id="{B59462B4-C55E-E4F4-605F-D357292CF014}"/>
              </a:ext>
            </a:extLst>
          </p:cNvPr>
          <p:cNvPicPr>
            <a:picLocks noChangeAspect="1"/>
          </p:cNvPicPr>
          <p:nvPr/>
        </p:nvPicPr>
        <p:blipFill>
          <a:blip r:embed="rId4"/>
          <a:stretch>
            <a:fillRect/>
          </a:stretch>
        </p:blipFill>
        <p:spPr>
          <a:xfrm>
            <a:off x="9342160" y="4316225"/>
            <a:ext cx="2369044" cy="2555716"/>
          </a:xfrm>
          <a:prstGeom prst="rect">
            <a:avLst/>
          </a:prstGeom>
        </p:spPr>
      </p:pic>
      <p:sp>
        <p:nvSpPr>
          <p:cNvPr id="11" name="Title 1">
            <a:extLst>
              <a:ext uri="{FF2B5EF4-FFF2-40B4-BE49-F238E27FC236}">
                <a16:creationId xmlns:a16="http://schemas.microsoft.com/office/drawing/2014/main" id="{8E8BDF97-3354-D60F-D2B4-CB562F3224C5}"/>
              </a:ext>
            </a:extLst>
          </p:cNvPr>
          <p:cNvSpPr txBox="1">
            <a:spLocks/>
          </p:cNvSpPr>
          <p:nvPr/>
        </p:nvSpPr>
        <p:spPr>
          <a:xfrm>
            <a:off x="3009900" y="151759"/>
            <a:ext cx="6172200" cy="857250"/>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0070C0"/>
                </a:solidFill>
              </a:rPr>
              <a:t>Phylogenetic Diversity</a:t>
            </a:r>
          </a:p>
        </p:txBody>
      </p:sp>
    </p:spTree>
    <p:extLst>
      <p:ext uri="{BB962C8B-B14F-4D97-AF65-F5344CB8AC3E}">
        <p14:creationId xmlns:p14="http://schemas.microsoft.com/office/powerpoint/2010/main" val="1439148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9F4E8-E526-DE48-A38B-451FD99041A7}"/>
              </a:ext>
            </a:extLst>
          </p:cNvPr>
          <p:cNvSpPr>
            <a:spLocks noGrp="1"/>
          </p:cNvSpPr>
          <p:nvPr>
            <p:ph type="title"/>
          </p:nvPr>
        </p:nvSpPr>
        <p:spPr>
          <a:xfrm>
            <a:off x="168965" y="136525"/>
            <a:ext cx="11353800" cy="1325563"/>
          </a:xfrm>
        </p:spPr>
        <p:txBody>
          <a:bodyPr/>
          <a:lstStyle/>
          <a:p>
            <a:r>
              <a:rPr lang="en-US" dirty="0">
                <a:solidFill>
                  <a:srgbClr val="0070C0"/>
                </a:solidFill>
              </a:rPr>
              <a:t>Spatial Phylogenetics of the North American Flora</a:t>
            </a:r>
          </a:p>
        </p:txBody>
      </p:sp>
      <p:sp>
        <p:nvSpPr>
          <p:cNvPr id="3" name="Content Placeholder 2">
            <a:extLst>
              <a:ext uri="{FF2B5EF4-FFF2-40B4-BE49-F238E27FC236}">
                <a16:creationId xmlns:a16="http://schemas.microsoft.com/office/drawing/2014/main" id="{32C3ED60-6084-954F-B9F2-2B89EA249998}"/>
              </a:ext>
            </a:extLst>
          </p:cNvPr>
          <p:cNvSpPr>
            <a:spLocks noGrp="1"/>
          </p:cNvSpPr>
          <p:nvPr>
            <p:ph idx="1"/>
          </p:nvPr>
        </p:nvSpPr>
        <p:spPr>
          <a:xfrm>
            <a:off x="669235" y="1253067"/>
            <a:ext cx="10684565" cy="4560359"/>
          </a:xfrm>
        </p:spPr>
        <p:txBody>
          <a:bodyPr/>
          <a:lstStyle/>
          <a:p>
            <a:endParaRPr lang="en-US" dirty="0"/>
          </a:p>
        </p:txBody>
      </p:sp>
      <p:pic>
        <p:nvPicPr>
          <p:cNvPr id="4" name="Picture 3">
            <a:extLst>
              <a:ext uri="{FF2B5EF4-FFF2-40B4-BE49-F238E27FC236}">
                <a16:creationId xmlns:a16="http://schemas.microsoft.com/office/drawing/2014/main" id="{F0F9667E-010D-954F-BBA3-2E0331B0EE53}"/>
              </a:ext>
            </a:extLst>
          </p:cNvPr>
          <p:cNvPicPr>
            <a:picLocks noChangeAspect="1"/>
          </p:cNvPicPr>
          <p:nvPr/>
        </p:nvPicPr>
        <p:blipFill>
          <a:blip r:embed="rId2"/>
          <a:stretch>
            <a:fillRect/>
          </a:stretch>
        </p:blipFill>
        <p:spPr>
          <a:xfrm>
            <a:off x="1650654" y="1462089"/>
            <a:ext cx="8185016" cy="4590360"/>
          </a:xfrm>
          <a:prstGeom prst="rect">
            <a:avLst/>
          </a:prstGeom>
        </p:spPr>
      </p:pic>
      <p:sp>
        <p:nvSpPr>
          <p:cNvPr id="5" name="TextBox 4">
            <a:extLst>
              <a:ext uri="{FF2B5EF4-FFF2-40B4-BE49-F238E27FC236}">
                <a16:creationId xmlns:a16="http://schemas.microsoft.com/office/drawing/2014/main" id="{D3E277A0-C1F6-204C-AA7F-44BCAC146806}"/>
              </a:ext>
            </a:extLst>
          </p:cNvPr>
          <p:cNvSpPr txBox="1"/>
          <p:nvPr/>
        </p:nvSpPr>
        <p:spPr>
          <a:xfrm>
            <a:off x="3824672" y="5990464"/>
            <a:ext cx="6072809" cy="923330"/>
          </a:xfrm>
          <a:prstGeom prst="rect">
            <a:avLst/>
          </a:prstGeom>
          <a:noFill/>
        </p:spPr>
        <p:txBody>
          <a:bodyPr wrap="square" rtlCol="0">
            <a:spAutoFit/>
          </a:bodyPr>
          <a:lstStyle/>
          <a:p>
            <a:r>
              <a:rPr lang="en-US" dirty="0"/>
              <a:t>Mishler et al. 2020. J. Syst. </a:t>
            </a:r>
            <a:r>
              <a:rPr lang="en-US" dirty="0" err="1"/>
              <a:t>Evol</a:t>
            </a:r>
            <a:r>
              <a:rPr lang="en-US" dirty="0"/>
              <a:t>., 58: 393-405. </a:t>
            </a:r>
            <a:r>
              <a:rPr lang="en-US" dirty="0">
                <a:hlinkClick r:id="rId3"/>
              </a:rPr>
              <a:t>https://doi.org/10.1111/jse.12590</a:t>
            </a:r>
            <a:endParaRPr lang="en-US" dirty="0"/>
          </a:p>
          <a:p>
            <a:endParaRPr lang="en-US" dirty="0"/>
          </a:p>
        </p:txBody>
      </p:sp>
      <p:sp>
        <p:nvSpPr>
          <p:cNvPr id="6" name="TextBox 5">
            <a:extLst>
              <a:ext uri="{FF2B5EF4-FFF2-40B4-BE49-F238E27FC236}">
                <a16:creationId xmlns:a16="http://schemas.microsoft.com/office/drawing/2014/main" id="{C9BE256A-19A7-0C49-9705-BCA3DD9F83AF}"/>
              </a:ext>
            </a:extLst>
          </p:cNvPr>
          <p:cNvSpPr txBox="1"/>
          <p:nvPr/>
        </p:nvSpPr>
        <p:spPr>
          <a:xfrm>
            <a:off x="8643446" y="2921182"/>
            <a:ext cx="2647406" cy="1169551"/>
          </a:xfrm>
          <a:prstGeom prst="rect">
            <a:avLst/>
          </a:prstGeom>
          <a:noFill/>
        </p:spPr>
        <p:txBody>
          <a:bodyPr wrap="square" rtlCol="0">
            <a:spAutoFit/>
          </a:bodyPr>
          <a:lstStyle/>
          <a:p>
            <a:r>
              <a:rPr lang="en-US" sz="1400" dirty="0"/>
              <a:t>Red = significant concentration of short branches</a:t>
            </a:r>
          </a:p>
          <a:p>
            <a:endParaRPr lang="en-US" sz="1400" dirty="0"/>
          </a:p>
          <a:p>
            <a:r>
              <a:rPr lang="en-US" sz="1400" dirty="0"/>
              <a:t>Blue = significant concentration of long branches</a:t>
            </a:r>
          </a:p>
        </p:txBody>
      </p:sp>
      <p:sp>
        <p:nvSpPr>
          <p:cNvPr id="7" name="TextBox 6">
            <a:extLst>
              <a:ext uri="{FF2B5EF4-FFF2-40B4-BE49-F238E27FC236}">
                <a16:creationId xmlns:a16="http://schemas.microsoft.com/office/drawing/2014/main" id="{02EA0D96-5649-904E-999E-DD7690BA6C11}"/>
              </a:ext>
            </a:extLst>
          </p:cNvPr>
          <p:cNvSpPr txBox="1"/>
          <p:nvPr/>
        </p:nvSpPr>
        <p:spPr>
          <a:xfrm>
            <a:off x="168965" y="3167390"/>
            <a:ext cx="3343855" cy="738664"/>
          </a:xfrm>
          <a:prstGeom prst="rect">
            <a:avLst/>
          </a:prstGeom>
          <a:noFill/>
        </p:spPr>
        <p:txBody>
          <a:bodyPr wrap="square" rtlCol="0">
            <a:spAutoFit/>
          </a:bodyPr>
          <a:lstStyle/>
          <a:p>
            <a:r>
              <a:rPr lang="en-US" sz="1400" dirty="0"/>
              <a:t>Red = significantly less PD than expected</a:t>
            </a:r>
          </a:p>
          <a:p>
            <a:endParaRPr lang="en-US" sz="1400" dirty="0"/>
          </a:p>
          <a:p>
            <a:r>
              <a:rPr lang="en-US" sz="1400" dirty="0"/>
              <a:t>Blue = significantly more PD than expected</a:t>
            </a:r>
          </a:p>
        </p:txBody>
      </p:sp>
    </p:spTree>
    <p:extLst>
      <p:ext uri="{BB962C8B-B14F-4D97-AF65-F5344CB8AC3E}">
        <p14:creationId xmlns:p14="http://schemas.microsoft.com/office/powerpoint/2010/main" val="32219541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9970" y="4926785"/>
            <a:ext cx="8064422" cy="1428654"/>
            <a:chOff x="-1592421" y="1394253"/>
            <a:chExt cx="8064422" cy="1428654"/>
          </a:xfrm>
        </p:grpSpPr>
        <p:sp>
          <p:nvSpPr>
            <p:cNvPr id="4" name="Rectangle 3"/>
            <p:cNvSpPr/>
            <p:nvPr/>
          </p:nvSpPr>
          <p:spPr>
            <a:xfrm>
              <a:off x="0" y="1394253"/>
              <a:ext cx="5006566" cy="1428654"/>
            </a:xfrm>
            <a:prstGeom prst="rect">
              <a:avLst/>
            </a:prstGeom>
            <a:solidFill>
              <a:srgbClr val="DEEBF7"/>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0" y="1443141"/>
              <a:ext cx="4316840" cy="400108"/>
            </a:xfrm>
            <a:prstGeom prst="rect">
              <a:avLst/>
            </a:prstGeom>
          </p:spPr>
          <p:txBody>
            <a:bodyPr wrap="none" lIns="91438" tIns="45719" rIns="91438" bIns="45719">
              <a:spAutoFit/>
            </a:bodyPr>
            <a:lstStyle/>
            <a:p>
              <a:pPr marL="0" lvl="2" algn="ctr">
                <a:spcBef>
                  <a:spcPct val="0"/>
                </a:spcBef>
              </a:pPr>
              <a:r>
                <a:rPr lang="en-US" altLang="en-US" sz="2000" b="1" dirty="0">
                  <a:solidFill>
                    <a:srgbClr val="000000"/>
                  </a:solidFill>
                </a:rPr>
                <a:t>RPE </a:t>
              </a:r>
              <a:r>
                <a:rPr lang="en-US" altLang="en-US" sz="2000" dirty="0">
                  <a:solidFill>
                    <a:srgbClr val="000000"/>
                  </a:solidFill>
                </a:rPr>
                <a:t>- </a:t>
              </a:r>
              <a:r>
                <a:rPr lang="en-US" altLang="en-US" sz="2000" i="1" dirty="0">
                  <a:solidFill>
                    <a:srgbClr val="000000"/>
                  </a:solidFill>
                </a:rPr>
                <a:t>relative phylogenetic endemism = </a:t>
              </a:r>
              <a:endParaRPr lang="en-US" altLang="en-US" sz="2000" dirty="0">
                <a:solidFill>
                  <a:srgbClr val="000000"/>
                </a:solidFill>
              </a:endParaRPr>
            </a:p>
          </p:txBody>
        </p:sp>
        <p:sp>
          <p:nvSpPr>
            <p:cNvPr id="6" name="Rectangle 5"/>
            <p:cNvSpPr/>
            <p:nvPr/>
          </p:nvSpPr>
          <p:spPr>
            <a:xfrm>
              <a:off x="-1592421" y="1807246"/>
              <a:ext cx="8064422" cy="1015661"/>
            </a:xfrm>
            <a:prstGeom prst="rect">
              <a:avLst/>
            </a:prstGeom>
          </p:spPr>
          <p:txBody>
            <a:bodyPr wrap="square" lIns="91438" tIns="45719" rIns="91438" bIns="45719">
              <a:spAutoFit/>
            </a:bodyPr>
            <a:lstStyle/>
            <a:p>
              <a:pPr marL="0" lvl="2" algn="ctr">
                <a:spcBef>
                  <a:spcPct val="0"/>
                </a:spcBef>
              </a:pPr>
              <a:r>
                <a:rPr lang="en-US" altLang="en-US" sz="2000" dirty="0">
                  <a:solidFill>
                    <a:srgbClr val="000000"/>
                  </a:solidFill>
                </a:rPr>
                <a:t>PD on the range-weighted original tree</a:t>
              </a:r>
            </a:p>
            <a:p>
              <a:pPr marL="0" lvl="2" algn="ctr">
                <a:spcBef>
                  <a:spcPct val="0"/>
                </a:spcBef>
              </a:pPr>
              <a:r>
                <a:rPr lang="en-US" altLang="en-US" sz="2000" dirty="0">
                  <a:solidFill>
                    <a:srgbClr val="000000"/>
                  </a:solidFill>
                </a:rPr>
                <a:t>PD on a range-weighted comparison tree with </a:t>
              </a:r>
            </a:p>
            <a:p>
              <a:pPr marL="0" lvl="2" algn="ctr">
                <a:spcBef>
                  <a:spcPct val="0"/>
                </a:spcBef>
              </a:pPr>
              <a:r>
                <a:rPr lang="en-US" altLang="en-US" sz="2000" dirty="0">
                  <a:solidFill>
                    <a:srgbClr val="000000"/>
                  </a:solidFill>
                </a:rPr>
                <a:t>all branch lengths equal</a:t>
              </a:r>
            </a:p>
          </p:txBody>
        </p:sp>
        <p:cxnSp>
          <p:nvCxnSpPr>
            <p:cNvPr id="7" name="Straight Connector 2"/>
            <p:cNvCxnSpPr>
              <a:cxnSpLocks noChangeShapeType="1"/>
            </p:cNvCxnSpPr>
            <p:nvPr/>
          </p:nvCxnSpPr>
          <p:spPr bwMode="auto">
            <a:xfrm>
              <a:off x="65343" y="2168122"/>
              <a:ext cx="4743853" cy="21128"/>
            </a:xfrm>
            <a:prstGeom prst="line">
              <a:avLst/>
            </a:prstGeom>
            <a:noFill/>
            <a:ln w="31750" algn="ctr">
              <a:solidFill>
                <a:schemeClr val="tx1"/>
              </a:solidFill>
              <a:round/>
              <a:headEnd/>
              <a:tailEnd/>
            </a:ln>
            <a:extLst>
              <a:ext uri="{909E8E84-426E-40dd-AFC4-6F175D3DCCD1}">
                <a14:hiddenFill xmlns:a14="http://schemas.microsoft.com/office/drawing/2010/main" xmlns="">
                  <a:noFill/>
                </a14:hiddenFill>
              </a:ext>
            </a:extLst>
          </p:spPr>
        </p:cxnSp>
      </p:grpSp>
      <p:sp>
        <p:nvSpPr>
          <p:cNvPr id="8" name="TextBox 56"/>
          <p:cNvSpPr txBox="1">
            <a:spLocks noChangeArrowheads="1"/>
          </p:cNvSpPr>
          <p:nvPr/>
        </p:nvSpPr>
        <p:spPr bwMode="auto">
          <a:xfrm>
            <a:off x="2392635" y="4298158"/>
            <a:ext cx="3630994" cy="523220"/>
          </a:xfrm>
          <a:prstGeom prst="rect">
            <a:avLst/>
          </a:prstGeom>
          <a:solidFill>
            <a:schemeClr val="bg1"/>
          </a:solidFill>
          <a:ln>
            <a:noFill/>
          </a:ln>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eaLnBrk="0" fontAlgn="base" hangingPunct="0">
              <a:spcBef>
                <a:spcPct val="0"/>
              </a:spcBef>
              <a:spcAft>
                <a:spcPct val="0"/>
              </a:spcAft>
            </a:pPr>
            <a:r>
              <a:rPr lang="en-US" sz="2800" dirty="0">
                <a:solidFill>
                  <a:prstClr val="black"/>
                </a:solidFill>
                <a:latin typeface="Calibri" charset="0"/>
              </a:rPr>
              <a:t>RPE is ratio of B/D:</a:t>
            </a:r>
          </a:p>
        </p:txBody>
      </p:sp>
      <p:grpSp>
        <p:nvGrpSpPr>
          <p:cNvPr id="9" name="Group 8"/>
          <p:cNvGrpSpPr/>
          <p:nvPr/>
        </p:nvGrpSpPr>
        <p:grpSpPr>
          <a:xfrm>
            <a:off x="1602391" y="1441936"/>
            <a:ext cx="8064422" cy="1428654"/>
            <a:chOff x="-1592421" y="1394253"/>
            <a:chExt cx="8064422" cy="1428654"/>
          </a:xfrm>
        </p:grpSpPr>
        <p:sp>
          <p:nvSpPr>
            <p:cNvPr id="10" name="Rectangle 9"/>
            <p:cNvSpPr/>
            <p:nvPr/>
          </p:nvSpPr>
          <p:spPr>
            <a:xfrm>
              <a:off x="0" y="1394253"/>
              <a:ext cx="5006566" cy="1428654"/>
            </a:xfrm>
            <a:prstGeom prst="rect">
              <a:avLst/>
            </a:prstGeom>
            <a:solidFill>
              <a:schemeClr val="accent1">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09895" y="1443141"/>
              <a:ext cx="4097054" cy="400108"/>
            </a:xfrm>
            <a:prstGeom prst="rect">
              <a:avLst/>
            </a:prstGeom>
          </p:spPr>
          <p:txBody>
            <a:bodyPr wrap="none" lIns="91438" tIns="45719" rIns="91438" bIns="45719">
              <a:spAutoFit/>
            </a:bodyPr>
            <a:lstStyle/>
            <a:p>
              <a:pPr marL="0" lvl="2" algn="ctr">
                <a:spcBef>
                  <a:spcPct val="0"/>
                </a:spcBef>
              </a:pPr>
              <a:r>
                <a:rPr lang="en-US" altLang="en-US" sz="2000" b="1" dirty="0">
                  <a:solidFill>
                    <a:srgbClr val="000000"/>
                  </a:solidFill>
                </a:rPr>
                <a:t>RPD </a:t>
              </a:r>
              <a:r>
                <a:rPr lang="en-US" altLang="en-US" sz="2000" dirty="0">
                  <a:solidFill>
                    <a:srgbClr val="000000"/>
                  </a:solidFill>
                </a:rPr>
                <a:t>- </a:t>
              </a:r>
              <a:r>
                <a:rPr lang="en-US" altLang="en-US" sz="2000" i="1" dirty="0">
                  <a:solidFill>
                    <a:srgbClr val="000000"/>
                  </a:solidFill>
                </a:rPr>
                <a:t>relative phylogenetic diversity= </a:t>
              </a:r>
              <a:endParaRPr lang="en-US" altLang="en-US" sz="2000" dirty="0">
                <a:solidFill>
                  <a:srgbClr val="000000"/>
                </a:solidFill>
              </a:endParaRPr>
            </a:p>
          </p:txBody>
        </p:sp>
        <p:sp>
          <p:nvSpPr>
            <p:cNvPr id="12" name="Rectangle 11"/>
            <p:cNvSpPr/>
            <p:nvPr/>
          </p:nvSpPr>
          <p:spPr>
            <a:xfrm>
              <a:off x="-1592421" y="1807246"/>
              <a:ext cx="8064422" cy="1015661"/>
            </a:xfrm>
            <a:prstGeom prst="rect">
              <a:avLst/>
            </a:prstGeom>
          </p:spPr>
          <p:txBody>
            <a:bodyPr wrap="square" lIns="91438" tIns="45719" rIns="91438" bIns="45719">
              <a:spAutoFit/>
            </a:bodyPr>
            <a:lstStyle/>
            <a:p>
              <a:pPr marL="0" lvl="2" algn="ctr">
                <a:spcBef>
                  <a:spcPct val="0"/>
                </a:spcBef>
              </a:pPr>
              <a:r>
                <a:rPr lang="en-US" altLang="en-US" sz="2000" dirty="0">
                  <a:solidFill>
                    <a:srgbClr val="000000"/>
                  </a:solidFill>
                </a:rPr>
                <a:t>PD on the original tree</a:t>
              </a:r>
            </a:p>
            <a:p>
              <a:pPr marL="0" lvl="2" algn="ctr">
                <a:spcBef>
                  <a:spcPct val="0"/>
                </a:spcBef>
              </a:pPr>
              <a:r>
                <a:rPr lang="en-US" altLang="en-US" sz="2000" dirty="0">
                  <a:solidFill>
                    <a:srgbClr val="000000"/>
                  </a:solidFill>
                </a:rPr>
                <a:t>PD on a comparison tree with </a:t>
              </a:r>
            </a:p>
            <a:p>
              <a:pPr marL="0" lvl="2" algn="ctr">
                <a:spcBef>
                  <a:spcPct val="0"/>
                </a:spcBef>
              </a:pPr>
              <a:r>
                <a:rPr lang="en-US" altLang="en-US" sz="2000" dirty="0">
                  <a:solidFill>
                    <a:srgbClr val="000000"/>
                  </a:solidFill>
                </a:rPr>
                <a:t>all branch lengths equal</a:t>
              </a:r>
            </a:p>
          </p:txBody>
        </p:sp>
        <p:cxnSp>
          <p:nvCxnSpPr>
            <p:cNvPr id="13" name="Straight Connector 2"/>
            <p:cNvCxnSpPr>
              <a:cxnSpLocks noChangeShapeType="1"/>
            </p:cNvCxnSpPr>
            <p:nvPr/>
          </p:nvCxnSpPr>
          <p:spPr bwMode="auto">
            <a:xfrm>
              <a:off x="65343" y="2168122"/>
              <a:ext cx="4743853" cy="21128"/>
            </a:xfrm>
            <a:prstGeom prst="line">
              <a:avLst/>
            </a:prstGeom>
            <a:noFill/>
            <a:ln w="31750" algn="ctr">
              <a:solidFill>
                <a:schemeClr val="tx1"/>
              </a:solidFill>
              <a:round/>
              <a:headEnd/>
              <a:tailEnd/>
            </a:ln>
            <a:extLst>
              <a:ext uri="{909E8E84-426E-40dd-AFC4-6F175D3DCCD1}">
                <a14:hiddenFill xmlns:a14="http://schemas.microsoft.com/office/drawing/2010/main" xmlns="">
                  <a:noFill/>
                </a14:hiddenFill>
              </a:ext>
            </a:extLst>
          </p:spPr>
        </p:cxnSp>
      </p:grpSp>
      <p:sp>
        <p:nvSpPr>
          <p:cNvPr id="15" name="TextBox 56"/>
          <p:cNvSpPr txBox="1">
            <a:spLocks noChangeArrowheads="1"/>
          </p:cNvSpPr>
          <p:nvPr/>
        </p:nvSpPr>
        <p:spPr bwMode="auto">
          <a:xfrm>
            <a:off x="3705201" y="14269"/>
            <a:ext cx="5761016" cy="584775"/>
          </a:xfrm>
          <a:prstGeom prst="rect">
            <a:avLst/>
          </a:prstGeom>
          <a:solidFill>
            <a:schemeClr val="bg1"/>
          </a:solidFill>
          <a:ln>
            <a:noFill/>
          </a:ln>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eaLnBrk="0" fontAlgn="base" hangingPunct="0">
              <a:spcBef>
                <a:spcPct val="0"/>
              </a:spcBef>
              <a:spcAft>
                <a:spcPct val="0"/>
              </a:spcAft>
            </a:pPr>
            <a:r>
              <a:rPr lang="en-US" sz="3200" dirty="0">
                <a:solidFill>
                  <a:prstClr val="black"/>
                </a:solidFill>
                <a:latin typeface="Calibri" charset="0"/>
              </a:rPr>
              <a:t>Relative Phylogenetic Diversity</a:t>
            </a:r>
          </a:p>
        </p:txBody>
      </p:sp>
      <p:sp>
        <p:nvSpPr>
          <p:cNvPr id="16" name="Rectangle 15"/>
          <p:cNvSpPr/>
          <p:nvPr/>
        </p:nvSpPr>
        <p:spPr>
          <a:xfrm>
            <a:off x="2430466" y="6474399"/>
            <a:ext cx="2130962" cy="369332"/>
          </a:xfrm>
          <a:prstGeom prst="rect">
            <a:avLst/>
          </a:prstGeom>
        </p:spPr>
        <p:txBody>
          <a:bodyPr wrap="none">
            <a:spAutoFit/>
          </a:bodyPr>
          <a:lstStyle/>
          <a:p>
            <a:pPr algn="ctr" eaLnBrk="0" fontAlgn="base" hangingPunct="0">
              <a:spcBef>
                <a:spcPct val="0"/>
              </a:spcBef>
              <a:spcAft>
                <a:spcPct val="0"/>
              </a:spcAft>
            </a:pPr>
            <a:r>
              <a:rPr lang="en-US" dirty="0">
                <a:solidFill>
                  <a:prstClr val="black"/>
                </a:solidFill>
                <a:latin typeface="Calibri" charset="0"/>
                <a:ea typeface="ＭＳ Ｐゴシック" charset="0"/>
                <a:cs typeface="ＭＳ Ｐゴシック" charset="0"/>
              </a:rPr>
              <a:t>Mishler et al., (2014)</a:t>
            </a:r>
          </a:p>
        </p:txBody>
      </p:sp>
      <p:sp>
        <p:nvSpPr>
          <p:cNvPr id="17" name="TextBox 16">
            <a:extLst>
              <a:ext uri="{FF2B5EF4-FFF2-40B4-BE49-F238E27FC236}">
                <a16:creationId xmlns:a16="http://schemas.microsoft.com/office/drawing/2014/main" id="{4CE61E09-2025-C74D-BAFF-E1ED6123EB60}"/>
              </a:ext>
            </a:extLst>
          </p:cNvPr>
          <p:cNvSpPr txBox="1"/>
          <p:nvPr/>
        </p:nvSpPr>
        <p:spPr>
          <a:xfrm>
            <a:off x="21259" y="3391977"/>
            <a:ext cx="12057530" cy="3647685"/>
          </a:xfrm>
          <a:prstGeom prst="rect">
            <a:avLst/>
          </a:prstGeom>
          <a:solidFill>
            <a:schemeClr val="bg1"/>
          </a:solidFill>
        </p:spPr>
        <p:txBody>
          <a:bodyPr wrap="square" rtlCol="0">
            <a:spAutoFit/>
          </a:bodyPr>
          <a:lstStyle/>
          <a:p>
            <a:endParaRPr lang="en-US" dirty="0"/>
          </a:p>
        </p:txBody>
      </p:sp>
      <p:sp>
        <p:nvSpPr>
          <p:cNvPr id="18" name="TextBox 17">
            <a:extLst>
              <a:ext uri="{FF2B5EF4-FFF2-40B4-BE49-F238E27FC236}">
                <a16:creationId xmlns:a16="http://schemas.microsoft.com/office/drawing/2014/main" id="{B7D5178D-BF6E-B24F-A22B-BBAA207004E0}"/>
              </a:ext>
            </a:extLst>
          </p:cNvPr>
          <p:cNvSpPr txBox="1"/>
          <p:nvPr/>
        </p:nvSpPr>
        <p:spPr>
          <a:xfrm>
            <a:off x="3983548" y="3146817"/>
            <a:ext cx="4224903" cy="2677656"/>
          </a:xfrm>
          <a:prstGeom prst="rect">
            <a:avLst/>
          </a:prstGeom>
          <a:noFill/>
        </p:spPr>
        <p:txBody>
          <a:bodyPr wrap="square" rtlCol="0">
            <a:spAutoFit/>
          </a:bodyPr>
          <a:lstStyle/>
          <a:p>
            <a:r>
              <a:rPr lang="en-US" sz="2400" dirty="0"/>
              <a:t>significant concentration of short branches</a:t>
            </a:r>
          </a:p>
          <a:p>
            <a:endParaRPr lang="en-US" sz="2400" dirty="0"/>
          </a:p>
          <a:p>
            <a:r>
              <a:rPr lang="en-US" sz="2400" dirty="0"/>
              <a:t>VS</a:t>
            </a:r>
          </a:p>
          <a:p>
            <a:endParaRPr lang="en-US" sz="2400" dirty="0"/>
          </a:p>
          <a:p>
            <a:r>
              <a:rPr lang="en-US" sz="2400" dirty="0"/>
              <a:t>significant concentration of long branches</a:t>
            </a:r>
          </a:p>
        </p:txBody>
      </p:sp>
      <p:sp>
        <p:nvSpPr>
          <p:cNvPr id="19" name="TextBox 18">
            <a:extLst>
              <a:ext uri="{FF2B5EF4-FFF2-40B4-BE49-F238E27FC236}">
                <a16:creationId xmlns:a16="http://schemas.microsoft.com/office/drawing/2014/main" id="{3DCF70A1-BB6E-1E45-BAC3-75C96230CF95}"/>
              </a:ext>
            </a:extLst>
          </p:cNvPr>
          <p:cNvSpPr txBox="1"/>
          <p:nvPr/>
        </p:nvSpPr>
        <p:spPr>
          <a:xfrm>
            <a:off x="125967" y="5142013"/>
            <a:ext cx="3752874" cy="1754326"/>
          </a:xfrm>
          <a:prstGeom prst="rect">
            <a:avLst/>
          </a:prstGeom>
          <a:noFill/>
        </p:spPr>
        <p:txBody>
          <a:bodyPr wrap="square" rtlCol="0">
            <a:spAutoFit/>
          </a:bodyPr>
          <a:lstStyle/>
          <a:p>
            <a:r>
              <a:rPr lang="en-US" dirty="0"/>
              <a:t>RPD: identify and distinguish areas of phylogenetic overdispersion and</a:t>
            </a:r>
          </a:p>
          <a:p>
            <a:r>
              <a:rPr lang="en-US" dirty="0"/>
              <a:t>clumping that reflect signals of biogeographic history and</a:t>
            </a:r>
          </a:p>
          <a:p>
            <a:r>
              <a:rPr lang="en-US" dirty="0"/>
              <a:t>ecological processes</a:t>
            </a:r>
          </a:p>
          <a:p>
            <a:endParaRPr lang="en-US" dirty="0"/>
          </a:p>
        </p:txBody>
      </p:sp>
    </p:spTree>
    <p:extLst>
      <p:ext uri="{BB962C8B-B14F-4D97-AF65-F5344CB8AC3E}">
        <p14:creationId xmlns:p14="http://schemas.microsoft.com/office/powerpoint/2010/main" val="4250359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F9EA8-54D3-994D-B51F-FCF2C31C40F5}"/>
              </a:ext>
            </a:extLst>
          </p:cNvPr>
          <p:cNvSpPr>
            <a:spLocks noGrp="1"/>
          </p:cNvSpPr>
          <p:nvPr>
            <p:ph type="title"/>
          </p:nvPr>
        </p:nvSpPr>
        <p:spPr>
          <a:xfrm>
            <a:off x="709108" y="114300"/>
            <a:ext cx="10515600" cy="1325563"/>
          </a:xfrm>
        </p:spPr>
        <p:txBody>
          <a:bodyPr/>
          <a:lstStyle/>
          <a:p>
            <a:pPr algn="ctr"/>
            <a:r>
              <a:rPr lang="en-US" dirty="0">
                <a:solidFill>
                  <a:srgbClr val="0070C0"/>
                </a:solidFill>
                <a:latin typeface="+mn-lt"/>
              </a:rPr>
              <a:t>Trait Evolution</a:t>
            </a:r>
          </a:p>
        </p:txBody>
      </p:sp>
      <p:pic>
        <p:nvPicPr>
          <p:cNvPr id="4" name="image03.png" descr="workflows.png">
            <a:extLst>
              <a:ext uri="{FF2B5EF4-FFF2-40B4-BE49-F238E27FC236}">
                <a16:creationId xmlns:a16="http://schemas.microsoft.com/office/drawing/2014/main" id="{7BA2F96B-2BE0-B84B-A0D8-1A4B53DC15DE}"/>
              </a:ext>
            </a:extLst>
          </p:cNvPr>
          <p:cNvPicPr/>
          <p:nvPr/>
        </p:nvPicPr>
        <p:blipFill rotWithShape="1">
          <a:blip r:embed="rId2"/>
          <a:srcRect l="-1154" t="39489" r="42404" b="19543"/>
          <a:stretch/>
        </p:blipFill>
        <p:spPr>
          <a:xfrm>
            <a:off x="5010912" y="1243584"/>
            <a:ext cx="7181088" cy="5500116"/>
          </a:xfrm>
          <a:prstGeom prst="rect">
            <a:avLst/>
          </a:prstGeom>
          <a:ln/>
        </p:spPr>
      </p:pic>
      <p:grpSp>
        <p:nvGrpSpPr>
          <p:cNvPr id="3" name="Group 2">
            <a:extLst>
              <a:ext uri="{FF2B5EF4-FFF2-40B4-BE49-F238E27FC236}">
                <a16:creationId xmlns:a16="http://schemas.microsoft.com/office/drawing/2014/main" id="{659A2077-C0A0-AC84-C2F0-5A80BBF658BA}"/>
              </a:ext>
            </a:extLst>
          </p:cNvPr>
          <p:cNvGrpSpPr/>
          <p:nvPr/>
        </p:nvGrpSpPr>
        <p:grpSpPr>
          <a:xfrm>
            <a:off x="293854" y="3595115"/>
            <a:ext cx="5132313" cy="3102865"/>
            <a:chOff x="3645948" y="3657502"/>
            <a:chExt cx="5397691" cy="2933476"/>
          </a:xfrm>
        </p:grpSpPr>
        <p:sp>
          <p:nvSpPr>
            <p:cNvPr id="5" name="Rectangle 4">
              <a:extLst>
                <a:ext uri="{FF2B5EF4-FFF2-40B4-BE49-F238E27FC236}">
                  <a16:creationId xmlns:a16="http://schemas.microsoft.com/office/drawing/2014/main" id="{2FB03376-8A3F-DCCA-30F7-4EE3448E47C2}"/>
                </a:ext>
              </a:extLst>
            </p:cNvPr>
            <p:cNvSpPr/>
            <p:nvPr/>
          </p:nvSpPr>
          <p:spPr>
            <a:xfrm>
              <a:off x="6847659"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5D6C2981-B0E3-6148-EBE2-1A60B7288843}"/>
                </a:ext>
              </a:extLst>
            </p:cNvPr>
            <p:cNvGrpSpPr/>
            <p:nvPr/>
          </p:nvGrpSpPr>
          <p:grpSpPr>
            <a:xfrm>
              <a:off x="3645948" y="3657502"/>
              <a:ext cx="5397691" cy="2933476"/>
              <a:chOff x="2135686" y="3641874"/>
              <a:chExt cx="5197211" cy="2933476"/>
            </a:xfrm>
          </p:grpSpPr>
          <p:grpSp>
            <p:nvGrpSpPr>
              <p:cNvPr id="13" name="Group 12">
                <a:extLst>
                  <a:ext uri="{FF2B5EF4-FFF2-40B4-BE49-F238E27FC236}">
                    <a16:creationId xmlns:a16="http://schemas.microsoft.com/office/drawing/2014/main" id="{94948244-87F3-5D54-B9E0-90202E4BA56D}"/>
                  </a:ext>
                </a:extLst>
              </p:cNvPr>
              <p:cNvGrpSpPr/>
              <p:nvPr/>
            </p:nvGrpSpPr>
            <p:grpSpPr>
              <a:xfrm>
                <a:off x="2135686" y="3641874"/>
                <a:ext cx="4790858" cy="2933476"/>
                <a:chOff x="2135686" y="3641874"/>
                <a:chExt cx="4790858" cy="2933476"/>
              </a:xfrm>
            </p:grpSpPr>
            <p:pic>
              <p:nvPicPr>
                <p:cNvPr id="15" name="image03.png" descr="workflows.png">
                  <a:extLst>
                    <a:ext uri="{FF2B5EF4-FFF2-40B4-BE49-F238E27FC236}">
                      <a16:creationId xmlns:a16="http://schemas.microsoft.com/office/drawing/2014/main" id="{550DE43B-D084-4595-A0EC-01A8EC0575CA}"/>
                    </a:ext>
                  </a:extLst>
                </p:cNvPr>
                <p:cNvPicPr/>
                <p:nvPr/>
              </p:nvPicPr>
              <p:blipFill rotWithShape="1">
                <a:blip r:embed="rId2"/>
                <a:srcRect l="58507" b="75542"/>
                <a:stretch/>
              </p:blipFill>
              <p:spPr>
                <a:xfrm>
                  <a:off x="2135686" y="3641874"/>
                  <a:ext cx="4790858" cy="2933476"/>
                </a:xfrm>
                <a:prstGeom prst="rect">
                  <a:avLst/>
                </a:prstGeom>
                <a:ln/>
              </p:spPr>
            </p:pic>
            <p:sp>
              <p:nvSpPr>
                <p:cNvPr id="16" name="Rectangle 15">
                  <a:extLst>
                    <a:ext uri="{FF2B5EF4-FFF2-40B4-BE49-F238E27FC236}">
                      <a16:creationId xmlns:a16="http://schemas.microsoft.com/office/drawing/2014/main" id="{464AB0C6-0AA8-0CB8-EC57-7204826DBC5E}"/>
                    </a:ext>
                  </a:extLst>
                </p:cNvPr>
                <p:cNvSpPr/>
                <p:nvPr/>
              </p:nvSpPr>
              <p:spPr>
                <a:xfrm>
                  <a:off x="5323658"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TextBox 13">
                <a:extLst>
                  <a:ext uri="{FF2B5EF4-FFF2-40B4-BE49-F238E27FC236}">
                    <a16:creationId xmlns:a16="http://schemas.microsoft.com/office/drawing/2014/main" id="{A568E4CD-3F26-4846-095E-AE3CD3839455}"/>
                  </a:ext>
                </a:extLst>
              </p:cNvPr>
              <p:cNvSpPr txBox="1"/>
              <p:nvPr/>
            </p:nvSpPr>
            <p:spPr>
              <a:xfrm>
                <a:off x="5216978" y="4133594"/>
                <a:ext cx="2115919" cy="307777"/>
              </a:xfrm>
              <a:prstGeom prst="rect">
                <a:avLst/>
              </a:prstGeom>
              <a:noFill/>
            </p:spPr>
            <p:txBody>
              <a:bodyPr wrap="square" rtlCol="0">
                <a:spAutoFit/>
              </a:bodyPr>
              <a:lstStyle/>
              <a:p>
                <a:r>
                  <a:rPr lang="en-US" sz="1400" dirty="0">
                    <a:latin typeface="Arial" charset="0"/>
                    <a:ea typeface="Arial" charset="0"/>
                    <a:cs typeface="Arial" charset="0"/>
                  </a:rPr>
                  <a:t>Analytical Tools</a:t>
                </a:r>
              </a:p>
            </p:txBody>
          </p:sp>
        </p:grpSp>
        <p:sp>
          <p:nvSpPr>
            <p:cNvPr id="7" name="Oval 6">
              <a:extLst>
                <a:ext uri="{FF2B5EF4-FFF2-40B4-BE49-F238E27FC236}">
                  <a16:creationId xmlns:a16="http://schemas.microsoft.com/office/drawing/2014/main" id="{7BB4E6F5-89FD-D6C1-E36F-2A6A100EC7D9}"/>
                </a:ext>
              </a:extLst>
            </p:cNvPr>
            <p:cNvSpPr/>
            <p:nvPr/>
          </p:nvSpPr>
          <p:spPr>
            <a:xfrm>
              <a:off x="3781774" y="4131730"/>
              <a:ext cx="620889" cy="60960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N</a:t>
              </a:r>
            </a:p>
          </p:txBody>
        </p:sp>
        <p:sp>
          <p:nvSpPr>
            <p:cNvPr id="8" name="Rectangle 7">
              <a:extLst>
                <a:ext uri="{FF2B5EF4-FFF2-40B4-BE49-F238E27FC236}">
                  <a16:creationId xmlns:a16="http://schemas.microsoft.com/office/drawing/2014/main" id="{8382EA1E-13DB-B2E0-3F4D-E397B5BAB57E}"/>
                </a:ext>
              </a:extLst>
            </p:cNvPr>
            <p:cNvSpPr/>
            <p:nvPr/>
          </p:nvSpPr>
          <p:spPr>
            <a:xfrm>
              <a:off x="4481689" y="4149222"/>
              <a:ext cx="1468551" cy="279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Arial" charset="0"/>
                  <a:ea typeface="Arial" charset="0"/>
                  <a:cs typeface="Arial" charset="0"/>
                </a:rPr>
                <a:t>Analytical Tools</a:t>
              </a:r>
            </a:p>
          </p:txBody>
        </p:sp>
        <p:sp>
          <p:nvSpPr>
            <p:cNvPr id="9" name="TextBox 8">
              <a:extLst>
                <a:ext uri="{FF2B5EF4-FFF2-40B4-BE49-F238E27FC236}">
                  <a16:creationId xmlns:a16="http://schemas.microsoft.com/office/drawing/2014/main" id="{177AB0A3-C1B9-BCB9-526A-52C80BDFB24B}"/>
                </a:ext>
              </a:extLst>
            </p:cNvPr>
            <p:cNvSpPr txBox="1"/>
            <p:nvPr/>
          </p:nvSpPr>
          <p:spPr>
            <a:xfrm>
              <a:off x="4481689" y="4126571"/>
              <a:ext cx="2197541" cy="307777"/>
            </a:xfrm>
            <a:prstGeom prst="rect">
              <a:avLst/>
            </a:prstGeom>
            <a:noFill/>
          </p:spPr>
          <p:txBody>
            <a:bodyPr wrap="square" rtlCol="0">
              <a:spAutoFit/>
            </a:bodyPr>
            <a:lstStyle/>
            <a:p>
              <a:r>
                <a:rPr lang="en-US" sz="1400" dirty="0">
                  <a:latin typeface="Arial" charset="0"/>
                  <a:ea typeface="Arial" charset="0"/>
                  <a:cs typeface="Arial" charset="0"/>
                </a:rPr>
                <a:t>Niche Models</a:t>
              </a:r>
            </a:p>
          </p:txBody>
        </p:sp>
        <p:sp>
          <p:nvSpPr>
            <p:cNvPr id="10" name="Rectangle 9">
              <a:extLst>
                <a:ext uri="{FF2B5EF4-FFF2-40B4-BE49-F238E27FC236}">
                  <a16:creationId xmlns:a16="http://schemas.microsoft.com/office/drawing/2014/main" id="{09312471-4376-08D2-27AB-52D018860CC9}"/>
                </a:ext>
              </a:extLst>
            </p:cNvPr>
            <p:cNvSpPr/>
            <p:nvPr/>
          </p:nvSpPr>
          <p:spPr>
            <a:xfrm>
              <a:off x="4402663" y="5483423"/>
              <a:ext cx="1693337"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0544D97-6A50-E99C-9E96-F623EBCAC83D}"/>
                </a:ext>
              </a:extLst>
            </p:cNvPr>
            <p:cNvSpPr txBox="1"/>
            <p:nvPr/>
          </p:nvSpPr>
          <p:spPr>
            <a:xfrm>
              <a:off x="4481689" y="5483423"/>
              <a:ext cx="2197540" cy="307777"/>
            </a:xfrm>
            <a:prstGeom prst="rect">
              <a:avLst/>
            </a:prstGeom>
            <a:noFill/>
          </p:spPr>
          <p:txBody>
            <a:bodyPr wrap="square" rtlCol="0">
              <a:spAutoFit/>
            </a:bodyPr>
            <a:lstStyle/>
            <a:p>
              <a:r>
                <a:rPr lang="en-US" sz="1400" dirty="0">
                  <a:latin typeface="Arial" charset="0"/>
                  <a:ea typeface="Arial" charset="0"/>
                  <a:cs typeface="Arial" charset="0"/>
                </a:rPr>
                <a:t>Trees</a:t>
              </a:r>
            </a:p>
          </p:txBody>
        </p:sp>
        <p:sp>
          <p:nvSpPr>
            <p:cNvPr id="12" name="Oval 11">
              <a:extLst>
                <a:ext uri="{FF2B5EF4-FFF2-40B4-BE49-F238E27FC236}">
                  <a16:creationId xmlns:a16="http://schemas.microsoft.com/office/drawing/2014/main" id="{217320D0-07CD-A5FF-F09B-6BF1DEA8471B}"/>
                </a:ext>
              </a:extLst>
            </p:cNvPr>
            <p:cNvSpPr/>
            <p:nvPr/>
          </p:nvSpPr>
          <p:spPr>
            <a:xfrm>
              <a:off x="3747914" y="5463816"/>
              <a:ext cx="620889" cy="60960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grpSp>
      <p:sp>
        <p:nvSpPr>
          <p:cNvPr id="17" name="Oval 16">
            <a:extLst>
              <a:ext uri="{FF2B5EF4-FFF2-40B4-BE49-F238E27FC236}">
                <a16:creationId xmlns:a16="http://schemas.microsoft.com/office/drawing/2014/main" id="{76F312B8-A930-ED59-526A-62D95F94C400}"/>
              </a:ext>
            </a:extLst>
          </p:cNvPr>
          <p:cNvSpPr/>
          <p:nvPr/>
        </p:nvSpPr>
        <p:spPr>
          <a:xfrm>
            <a:off x="6986760" y="2992297"/>
            <a:ext cx="682008" cy="644804"/>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sp>
        <p:nvSpPr>
          <p:cNvPr id="18" name="Oval 17">
            <a:extLst>
              <a:ext uri="{FF2B5EF4-FFF2-40B4-BE49-F238E27FC236}">
                <a16:creationId xmlns:a16="http://schemas.microsoft.com/office/drawing/2014/main" id="{7F0FEF4A-5C43-CF59-E775-E9BA380E4A0B}"/>
              </a:ext>
            </a:extLst>
          </p:cNvPr>
          <p:cNvSpPr/>
          <p:nvPr/>
        </p:nvSpPr>
        <p:spPr>
          <a:xfrm>
            <a:off x="11224708" y="1609343"/>
            <a:ext cx="706392" cy="732727"/>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spTree>
    <p:extLst>
      <p:ext uri="{BB962C8B-B14F-4D97-AF65-F5344CB8AC3E}">
        <p14:creationId xmlns:p14="http://schemas.microsoft.com/office/powerpoint/2010/main" val="3651106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EC73A-F4E6-F82D-6B1F-73AFAFB9B7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2C044-E7CA-4962-2119-8E89209149CA}"/>
              </a:ext>
            </a:extLst>
          </p:cNvPr>
          <p:cNvSpPr>
            <a:spLocks noGrp="1"/>
          </p:cNvSpPr>
          <p:nvPr>
            <p:ph type="title"/>
          </p:nvPr>
        </p:nvSpPr>
        <p:spPr>
          <a:xfrm>
            <a:off x="146824" y="936822"/>
            <a:ext cx="10515600" cy="895984"/>
          </a:xfrm>
        </p:spPr>
        <p:txBody>
          <a:bodyPr>
            <a:normAutofit/>
          </a:bodyPr>
          <a:lstStyle/>
          <a:p>
            <a:pPr>
              <a:buFont typeface="Times New Roman" charset="0"/>
              <a:buNone/>
              <a:defRPr/>
            </a:pPr>
            <a:r>
              <a:rPr lang="en-US" sz="3600" dirty="0">
                <a:latin typeface="Calibri" panose="020F0502020204030204" pitchFamily="34" charset="0"/>
                <a:cs typeface="Calibri" panose="020F0502020204030204" pitchFamily="34" charset="0"/>
              </a:rPr>
              <a:t>Connecting Trees, Specimens, Tools</a:t>
            </a:r>
          </a:p>
        </p:txBody>
      </p:sp>
      <p:pic>
        <p:nvPicPr>
          <p:cNvPr id="99331" name="image03.png" descr="workflows.png">
            <a:extLst>
              <a:ext uri="{FF2B5EF4-FFF2-40B4-BE49-F238E27FC236}">
                <a16:creationId xmlns:a16="http://schemas.microsoft.com/office/drawing/2014/main" id="{AC96C42A-1275-FCC5-366B-EF38E2FABE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312" r="42168" b="60304"/>
          <a:stretch>
            <a:fillRect/>
          </a:stretch>
        </p:blipFill>
        <p:spPr bwMode="auto">
          <a:xfrm>
            <a:off x="4837069" y="1621536"/>
            <a:ext cx="7363852" cy="482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a:extLst>
              <a:ext uri="{FF2B5EF4-FFF2-40B4-BE49-F238E27FC236}">
                <a16:creationId xmlns:a16="http://schemas.microsoft.com/office/drawing/2014/main" id="{FAD164A4-885B-3954-AC58-30152EA5636D}"/>
              </a:ext>
            </a:extLst>
          </p:cNvPr>
          <p:cNvSpPr>
            <a:spLocks noGrp="1"/>
          </p:cNvSpPr>
          <p:nvPr>
            <p:ph type="sldNum" sz="quarter" idx="11"/>
          </p:nvPr>
        </p:nvSpPr>
        <p:spPr>
          <a:xfrm>
            <a:off x="8077200" y="6356351"/>
            <a:ext cx="2133600" cy="365125"/>
          </a:xfrm>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808080"/>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a:lstStyle>
            <a:lvl1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1pPr>
            <a:lvl2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2pPr>
            <a:lvl3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3pPr>
            <a:lvl4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4pPr>
            <a:lvl5pPr eaLnBrk="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5pPr>
            <a:lvl6pPr marL="2514600" indent="-228600" defTabSz="449263" eaLnBrk="0" fontAlgn="base" hangingPunct="0">
              <a:lnSpc>
                <a:spcPct val="93000"/>
              </a:lnSpc>
              <a:spcBef>
                <a:spcPct val="0"/>
              </a:spcBef>
              <a:spcAft>
                <a:spcPct val="0"/>
              </a:spcAft>
              <a:buClr>
                <a:srgbClr val="000000"/>
              </a:buClr>
              <a:buSzPct val="100000"/>
              <a:buFont typeface="Times New Roman" pitchFamily="2" charset="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6pPr>
            <a:lvl7pPr marL="2971800" indent="-228600" defTabSz="449263" eaLnBrk="0" fontAlgn="base" hangingPunct="0">
              <a:lnSpc>
                <a:spcPct val="93000"/>
              </a:lnSpc>
              <a:spcBef>
                <a:spcPct val="0"/>
              </a:spcBef>
              <a:spcAft>
                <a:spcPct val="0"/>
              </a:spcAft>
              <a:buClr>
                <a:srgbClr val="000000"/>
              </a:buClr>
              <a:buSzPct val="100000"/>
              <a:buFont typeface="Times New Roman" pitchFamily="2" charset="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7pPr>
            <a:lvl8pPr marL="3429000" indent="-228600" defTabSz="449263" eaLnBrk="0" fontAlgn="base" hangingPunct="0">
              <a:lnSpc>
                <a:spcPct val="93000"/>
              </a:lnSpc>
              <a:spcBef>
                <a:spcPct val="0"/>
              </a:spcBef>
              <a:spcAft>
                <a:spcPct val="0"/>
              </a:spcAft>
              <a:buClr>
                <a:srgbClr val="000000"/>
              </a:buClr>
              <a:buSzPct val="100000"/>
              <a:buFont typeface="Times New Roman" pitchFamily="2" charset="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8pPr>
            <a:lvl9pPr marL="3886200" indent="-228600" defTabSz="449263" eaLnBrk="0" fontAlgn="base" hangingPunct="0">
              <a:lnSpc>
                <a:spcPct val="93000"/>
              </a:lnSpc>
              <a:spcBef>
                <a:spcPct val="0"/>
              </a:spcBef>
              <a:spcAft>
                <a:spcPct val="0"/>
              </a:spcAft>
              <a:buClr>
                <a:srgbClr val="000000"/>
              </a:buClr>
              <a:buSzPct val="100000"/>
              <a:buFont typeface="Times New Roman" pitchFamily="2" charset="0"/>
              <a:tabLst>
                <a:tab pos="449263" algn="l"/>
                <a:tab pos="898525" algn="l"/>
                <a:tab pos="1347788" algn="l"/>
                <a:tab pos="1797050" algn="l"/>
              </a:tabLst>
              <a:defRPr sz="2400">
                <a:solidFill>
                  <a:schemeClr val="tx1"/>
                </a:solidFill>
                <a:latin typeface="Arial" panose="020B0604020202020204" pitchFamily="34" charset="0"/>
                <a:ea typeface="ＭＳ Ｐゴシック" panose="020B0600070205080204" pitchFamily="34" charset="-128"/>
              </a:defRPr>
            </a:lvl9pPr>
          </a:lstStyle>
          <a:p>
            <a:pPr eaLnBrk="1"/>
            <a:fld id="{DB1D8AA4-0365-F743-93BB-E203B5751E92}" type="slidenum">
              <a:rPr lang="en-US" altLang="en-US" sz="1800">
                <a:solidFill>
                  <a:srgbClr val="262626"/>
                </a:solidFill>
                <a:latin typeface="Calibri" panose="020F0502020204030204" pitchFamily="34" charset="0"/>
              </a:rPr>
              <a:pPr eaLnBrk="1"/>
              <a:t>26</a:t>
            </a:fld>
            <a:endParaRPr lang="en-US" altLang="en-US" sz="1800">
              <a:solidFill>
                <a:srgbClr val="262626"/>
              </a:solidFill>
              <a:latin typeface="Calibri" panose="020F0502020204030204" pitchFamily="34" charset="0"/>
            </a:endParaRPr>
          </a:p>
        </p:txBody>
      </p:sp>
      <p:sp>
        <p:nvSpPr>
          <p:cNvPr id="8" name="Text Box 2">
            <a:extLst>
              <a:ext uri="{FF2B5EF4-FFF2-40B4-BE49-F238E27FC236}">
                <a16:creationId xmlns:a16="http://schemas.microsoft.com/office/drawing/2014/main" id="{E8F3867B-44E3-2109-D484-24A1B3C1EF15}"/>
              </a:ext>
            </a:extLst>
          </p:cNvPr>
          <p:cNvSpPr txBox="1">
            <a:spLocks noChangeArrowheads="1"/>
          </p:cNvSpPr>
          <p:nvPr/>
        </p:nvSpPr>
        <p:spPr bwMode="auto">
          <a:xfrm>
            <a:off x="2896235" y="136524"/>
            <a:ext cx="6399530" cy="895984"/>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flat">
                <a:solidFill>
                  <a:srgbClr val="000000"/>
                </a:solidFill>
                <a:round/>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lIns="90000" tIns="66168" rIns="90000" bIns="45000"/>
          <a:lstStyle>
            <a:lvl1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1pPr>
            <a:lvl2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2pPr>
            <a:lvl3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3pPr>
            <a:lvl4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4pPr>
            <a:lvl5pPr>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5pPr>
            <a:lvl6pPr marL="2514600" indent="-228600" defTabSz="449263" fontAlgn="base" hangingPunct="0">
              <a:lnSpc>
                <a:spcPct val="93000"/>
              </a:lnSpc>
              <a:spcBef>
                <a:spcPct val="0"/>
              </a:spcBef>
              <a:spcAft>
                <a:spcPct val="0"/>
              </a:spcAft>
              <a:buClr>
                <a:srgbClr val="000000"/>
              </a:buClr>
              <a:buSzPct val="100000"/>
              <a:buFont typeface="Times New Roman" charset="0"/>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6pPr>
            <a:lvl7pPr marL="2971800" indent="-228600" defTabSz="449263" fontAlgn="base" hangingPunct="0">
              <a:lnSpc>
                <a:spcPct val="93000"/>
              </a:lnSpc>
              <a:spcBef>
                <a:spcPct val="0"/>
              </a:spcBef>
              <a:spcAft>
                <a:spcPct val="0"/>
              </a:spcAft>
              <a:buClr>
                <a:srgbClr val="000000"/>
              </a:buClr>
              <a:buSzPct val="100000"/>
              <a:buFont typeface="Times New Roman" charset="0"/>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7pPr>
            <a:lvl8pPr marL="3429000" indent="-228600" defTabSz="449263" fontAlgn="base" hangingPunct="0">
              <a:lnSpc>
                <a:spcPct val="93000"/>
              </a:lnSpc>
              <a:spcBef>
                <a:spcPct val="0"/>
              </a:spcBef>
              <a:spcAft>
                <a:spcPct val="0"/>
              </a:spcAft>
              <a:buClr>
                <a:srgbClr val="000000"/>
              </a:buClr>
              <a:buSzPct val="100000"/>
              <a:buFont typeface="Times New Roman" charset="0"/>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8pPr>
            <a:lvl9pPr marL="3886200" indent="-228600" defTabSz="449263" fontAlgn="base" hangingPunct="0">
              <a:lnSpc>
                <a:spcPct val="93000"/>
              </a:lnSpc>
              <a:spcBef>
                <a:spcPct val="0"/>
              </a:spcBef>
              <a:spcAft>
                <a:spcPct val="0"/>
              </a:spcAft>
              <a:buClr>
                <a:srgbClr val="000000"/>
              </a:buClr>
              <a:buSzPct val="100000"/>
              <a:buFont typeface="Times New Roman" charset="0"/>
              <a:tabLst>
                <a:tab pos="358775" algn="l"/>
                <a:tab pos="719138" algn="l"/>
                <a:tab pos="1079500" algn="l"/>
                <a:tab pos="1438275" algn="l"/>
                <a:tab pos="1798638" algn="l"/>
                <a:tab pos="2159000" algn="l"/>
                <a:tab pos="2519363" algn="l"/>
                <a:tab pos="2878138" algn="l"/>
                <a:tab pos="3238500" algn="l"/>
                <a:tab pos="3598863" algn="l"/>
                <a:tab pos="3959225" algn="l"/>
                <a:tab pos="4319588" algn="l"/>
                <a:tab pos="4492625" algn="l"/>
                <a:tab pos="4941888" algn="l"/>
                <a:tab pos="5391150" algn="l"/>
                <a:tab pos="5840413" algn="l"/>
                <a:tab pos="6289675" algn="l"/>
              </a:tabLst>
              <a:defRPr>
                <a:solidFill>
                  <a:srgbClr val="000000"/>
                </a:solidFill>
                <a:latin typeface="Arial" charset="0"/>
                <a:ea typeface="ＭＳ Ｐゴシック" charset="0"/>
                <a:cs typeface="Arial Unicode MS" charset="0"/>
              </a:defRPr>
            </a:lvl9pPr>
          </a:lstStyle>
          <a:p>
            <a:pPr algn="ctr">
              <a:buFont typeface="Times New Roman" charset="0"/>
              <a:buNone/>
              <a:defRPr/>
            </a:pPr>
            <a:r>
              <a:rPr lang="en-US" sz="4800" dirty="0">
                <a:solidFill>
                  <a:srgbClr val="0070C0"/>
                </a:solidFill>
                <a:latin typeface="Calibri" panose="020F0502020204030204" pitchFamily="34" charset="0"/>
                <a:cs typeface="Calibri" panose="020F0502020204030204" pitchFamily="34" charset="0"/>
              </a:rPr>
              <a:t>Ancestral Niche</a:t>
            </a:r>
          </a:p>
        </p:txBody>
      </p:sp>
      <p:sp>
        <p:nvSpPr>
          <p:cNvPr id="6" name="TextBox 5">
            <a:extLst>
              <a:ext uri="{FF2B5EF4-FFF2-40B4-BE49-F238E27FC236}">
                <a16:creationId xmlns:a16="http://schemas.microsoft.com/office/drawing/2014/main" id="{7454A7CF-7096-E026-062F-D4BE26F5F25F}"/>
              </a:ext>
            </a:extLst>
          </p:cNvPr>
          <p:cNvSpPr txBox="1"/>
          <p:nvPr/>
        </p:nvSpPr>
        <p:spPr>
          <a:xfrm>
            <a:off x="2397760" y="2702560"/>
            <a:ext cx="590550" cy="792480"/>
          </a:xfrm>
          <a:prstGeom prst="rect">
            <a:avLst/>
          </a:prstGeom>
          <a:solidFill>
            <a:schemeClr val="bg1"/>
          </a:solidFill>
        </p:spPr>
        <p:txBody>
          <a:bodyPr wrap="square" rtlCol="0">
            <a:spAutoFit/>
          </a:bodyPr>
          <a:lstStyle/>
          <a:p>
            <a:endParaRPr lang="en-US" dirty="0"/>
          </a:p>
        </p:txBody>
      </p:sp>
      <p:sp>
        <p:nvSpPr>
          <p:cNvPr id="24" name="Oval 23">
            <a:extLst>
              <a:ext uri="{FF2B5EF4-FFF2-40B4-BE49-F238E27FC236}">
                <a16:creationId xmlns:a16="http://schemas.microsoft.com/office/drawing/2014/main" id="{6C7485FE-E0D3-687D-0243-2C9AED04CB1F}"/>
              </a:ext>
            </a:extLst>
          </p:cNvPr>
          <p:cNvSpPr/>
          <p:nvPr/>
        </p:nvSpPr>
        <p:spPr>
          <a:xfrm>
            <a:off x="5176051" y="3319272"/>
            <a:ext cx="665871" cy="63103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sp>
        <p:nvSpPr>
          <p:cNvPr id="25" name="Oval 24">
            <a:extLst>
              <a:ext uri="{FF2B5EF4-FFF2-40B4-BE49-F238E27FC236}">
                <a16:creationId xmlns:a16="http://schemas.microsoft.com/office/drawing/2014/main" id="{672EE0A5-D877-FE3F-3915-44E80C8CED53}"/>
              </a:ext>
            </a:extLst>
          </p:cNvPr>
          <p:cNvSpPr/>
          <p:nvPr/>
        </p:nvSpPr>
        <p:spPr>
          <a:xfrm>
            <a:off x="7535203" y="5507736"/>
            <a:ext cx="665871" cy="63103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sp>
        <p:nvSpPr>
          <p:cNvPr id="26" name="Oval 25">
            <a:extLst>
              <a:ext uri="{FF2B5EF4-FFF2-40B4-BE49-F238E27FC236}">
                <a16:creationId xmlns:a16="http://schemas.microsoft.com/office/drawing/2014/main" id="{C4D992BC-2722-79EE-1D58-04787FE6E4DB}"/>
              </a:ext>
            </a:extLst>
          </p:cNvPr>
          <p:cNvSpPr/>
          <p:nvPr/>
        </p:nvSpPr>
        <p:spPr>
          <a:xfrm>
            <a:off x="7375768" y="3310839"/>
            <a:ext cx="665871" cy="63103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N</a:t>
            </a:r>
          </a:p>
        </p:txBody>
      </p:sp>
      <p:grpSp>
        <p:nvGrpSpPr>
          <p:cNvPr id="27" name="Group 26">
            <a:extLst>
              <a:ext uri="{FF2B5EF4-FFF2-40B4-BE49-F238E27FC236}">
                <a16:creationId xmlns:a16="http://schemas.microsoft.com/office/drawing/2014/main" id="{4CF9C43C-57D7-62B0-9604-C1812EEA1A4B}"/>
              </a:ext>
            </a:extLst>
          </p:cNvPr>
          <p:cNvGrpSpPr/>
          <p:nvPr/>
        </p:nvGrpSpPr>
        <p:grpSpPr>
          <a:xfrm>
            <a:off x="126878" y="3681984"/>
            <a:ext cx="5132313" cy="3102865"/>
            <a:chOff x="3645948" y="3657502"/>
            <a:chExt cx="5397691" cy="2933476"/>
          </a:xfrm>
        </p:grpSpPr>
        <p:sp>
          <p:nvSpPr>
            <p:cNvPr id="28" name="Rectangle 27">
              <a:extLst>
                <a:ext uri="{FF2B5EF4-FFF2-40B4-BE49-F238E27FC236}">
                  <a16:creationId xmlns:a16="http://schemas.microsoft.com/office/drawing/2014/main" id="{1DADF04C-C120-F6D1-74E8-63882412E24D}"/>
                </a:ext>
              </a:extLst>
            </p:cNvPr>
            <p:cNvSpPr/>
            <p:nvPr/>
          </p:nvSpPr>
          <p:spPr>
            <a:xfrm>
              <a:off x="6847659"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83C86093-DA44-967F-4E7F-08FF47CF80A8}"/>
                </a:ext>
              </a:extLst>
            </p:cNvPr>
            <p:cNvGrpSpPr/>
            <p:nvPr/>
          </p:nvGrpSpPr>
          <p:grpSpPr>
            <a:xfrm>
              <a:off x="3645948" y="3657502"/>
              <a:ext cx="5397691" cy="2933476"/>
              <a:chOff x="2135686" y="3641874"/>
              <a:chExt cx="5197211" cy="2933476"/>
            </a:xfrm>
          </p:grpSpPr>
          <p:grpSp>
            <p:nvGrpSpPr>
              <p:cNvPr id="36" name="Group 35">
                <a:extLst>
                  <a:ext uri="{FF2B5EF4-FFF2-40B4-BE49-F238E27FC236}">
                    <a16:creationId xmlns:a16="http://schemas.microsoft.com/office/drawing/2014/main" id="{BF405B2B-E2A7-5209-1564-AE56B03F2F10}"/>
                  </a:ext>
                </a:extLst>
              </p:cNvPr>
              <p:cNvGrpSpPr/>
              <p:nvPr/>
            </p:nvGrpSpPr>
            <p:grpSpPr>
              <a:xfrm>
                <a:off x="2135686" y="3641874"/>
                <a:ext cx="4790858" cy="2933476"/>
                <a:chOff x="2135686" y="3641874"/>
                <a:chExt cx="4790858" cy="2933476"/>
              </a:xfrm>
            </p:grpSpPr>
            <p:pic>
              <p:nvPicPr>
                <p:cNvPr id="38" name="image03.png" descr="workflows.png">
                  <a:extLst>
                    <a:ext uri="{FF2B5EF4-FFF2-40B4-BE49-F238E27FC236}">
                      <a16:creationId xmlns:a16="http://schemas.microsoft.com/office/drawing/2014/main" id="{31A41548-F76C-8ECD-8D60-97E2F60FFDF3}"/>
                    </a:ext>
                  </a:extLst>
                </p:cNvPr>
                <p:cNvPicPr/>
                <p:nvPr/>
              </p:nvPicPr>
              <p:blipFill rotWithShape="1">
                <a:blip r:embed="rId3"/>
                <a:srcRect l="58507" b="75542"/>
                <a:stretch/>
              </p:blipFill>
              <p:spPr>
                <a:xfrm>
                  <a:off x="2135686" y="3641874"/>
                  <a:ext cx="4790858" cy="2933476"/>
                </a:xfrm>
                <a:prstGeom prst="rect">
                  <a:avLst/>
                </a:prstGeom>
                <a:ln/>
              </p:spPr>
            </p:pic>
            <p:sp>
              <p:nvSpPr>
                <p:cNvPr id="39" name="Rectangle 38">
                  <a:extLst>
                    <a:ext uri="{FF2B5EF4-FFF2-40B4-BE49-F238E27FC236}">
                      <a16:creationId xmlns:a16="http://schemas.microsoft.com/office/drawing/2014/main" id="{52BB8822-E4BD-A962-A3ED-8E631403D9D9}"/>
                    </a:ext>
                  </a:extLst>
                </p:cNvPr>
                <p:cNvSpPr/>
                <p:nvPr/>
              </p:nvSpPr>
              <p:spPr>
                <a:xfrm>
                  <a:off x="5323658" y="4125222"/>
                  <a:ext cx="633621" cy="303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 name="TextBox 36">
                <a:extLst>
                  <a:ext uri="{FF2B5EF4-FFF2-40B4-BE49-F238E27FC236}">
                    <a16:creationId xmlns:a16="http://schemas.microsoft.com/office/drawing/2014/main" id="{D6E23DB3-E431-E26B-C54B-B3E4A96F5A7C}"/>
                  </a:ext>
                </a:extLst>
              </p:cNvPr>
              <p:cNvSpPr txBox="1"/>
              <p:nvPr/>
            </p:nvSpPr>
            <p:spPr>
              <a:xfrm>
                <a:off x="5216978" y="4133594"/>
                <a:ext cx="2115919" cy="307777"/>
              </a:xfrm>
              <a:prstGeom prst="rect">
                <a:avLst/>
              </a:prstGeom>
              <a:noFill/>
            </p:spPr>
            <p:txBody>
              <a:bodyPr wrap="square" rtlCol="0">
                <a:spAutoFit/>
              </a:bodyPr>
              <a:lstStyle/>
              <a:p>
                <a:r>
                  <a:rPr lang="en-US" sz="1400" dirty="0">
                    <a:latin typeface="Arial" charset="0"/>
                    <a:ea typeface="Arial" charset="0"/>
                    <a:cs typeface="Arial" charset="0"/>
                  </a:rPr>
                  <a:t>Analytical Tools</a:t>
                </a:r>
              </a:p>
            </p:txBody>
          </p:sp>
        </p:grpSp>
        <p:sp>
          <p:nvSpPr>
            <p:cNvPr id="30" name="Oval 29">
              <a:extLst>
                <a:ext uri="{FF2B5EF4-FFF2-40B4-BE49-F238E27FC236}">
                  <a16:creationId xmlns:a16="http://schemas.microsoft.com/office/drawing/2014/main" id="{9D1AD635-9806-BBDA-05F9-78DB90357C98}"/>
                </a:ext>
              </a:extLst>
            </p:cNvPr>
            <p:cNvSpPr/>
            <p:nvPr/>
          </p:nvSpPr>
          <p:spPr>
            <a:xfrm>
              <a:off x="3781774" y="4131730"/>
              <a:ext cx="620889" cy="609603"/>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N</a:t>
              </a:r>
            </a:p>
          </p:txBody>
        </p:sp>
        <p:sp>
          <p:nvSpPr>
            <p:cNvPr id="31" name="Rectangle 30">
              <a:extLst>
                <a:ext uri="{FF2B5EF4-FFF2-40B4-BE49-F238E27FC236}">
                  <a16:creationId xmlns:a16="http://schemas.microsoft.com/office/drawing/2014/main" id="{E2A5F451-A24C-FCF6-3755-1C856F1CE6B8}"/>
                </a:ext>
              </a:extLst>
            </p:cNvPr>
            <p:cNvSpPr/>
            <p:nvPr/>
          </p:nvSpPr>
          <p:spPr>
            <a:xfrm>
              <a:off x="4481689" y="4149222"/>
              <a:ext cx="1468551" cy="2798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latin typeface="Arial" charset="0"/>
                  <a:ea typeface="Arial" charset="0"/>
                  <a:cs typeface="Arial" charset="0"/>
                </a:rPr>
                <a:t>Analytical Tools</a:t>
              </a:r>
            </a:p>
          </p:txBody>
        </p:sp>
        <p:sp>
          <p:nvSpPr>
            <p:cNvPr id="32" name="TextBox 31">
              <a:extLst>
                <a:ext uri="{FF2B5EF4-FFF2-40B4-BE49-F238E27FC236}">
                  <a16:creationId xmlns:a16="http://schemas.microsoft.com/office/drawing/2014/main" id="{D5DD264F-1CF3-ED0B-2DA6-AE7490A0E22C}"/>
                </a:ext>
              </a:extLst>
            </p:cNvPr>
            <p:cNvSpPr txBox="1"/>
            <p:nvPr/>
          </p:nvSpPr>
          <p:spPr>
            <a:xfrm>
              <a:off x="4481689" y="4126571"/>
              <a:ext cx="2197541" cy="307777"/>
            </a:xfrm>
            <a:prstGeom prst="rect">
              <a:avLst/>
            </a:prstGeom>
            <a:noFill/>
          </p:spPr>
          <p:txBody>
            <a:bodyPr wrap="square" rtlCol="0">
              <a:spAutoFit/>
            </a:bodyPr>
            <a:lstStyle/>
            <a:p>
              <a:r>
                <a:rPr lang="en-US" sz="1400" dirty="0">
                  <a:latin typeface="Arial" charset="0"/>
                  <a:ea typeface="Arial" charset="0"/>
                  <a:cs typeface="Arial" charset="0"/>
                </a:rPr>
                <a:t>Niche Models</a:t>
              </a:r>
            </a:p>
          </p:txBody>
        </p:sp>
        <p:sp>
          <p:nvSpPr>
            <p:cNvPr id="33" name="Rectangle 32">
              <a:extLst>
                <a:ext uri="{FF2B5EF4-FFF2-40B4-BE49-F238E27FC236}">
                  <a16:creationId xmlns:a16="http://schemas.microsoft.com/office/drawing/2014/main" id="{918F5BD4-B5B4-17BD-8EEE-E0515658EC63}"/>
                </a:ext>
              </a:extLst>
            </p:cNvPr>
            <p:cNvSpPr/>
            <p:nvPr/>
          </p:nvSpPr>
          <p:spPr>
            <a:xfrm>
              <a:off x="4402663" y="5483423"/>
              <a:ext cx="1693337" cy="3077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81D79029-0549-A696-EA66-0FE4137002CD}"/>
                </a:ext>
              </a:extLst>
            </p:cNvPr>
            <p:cNvSpPr txBox="1"/>
            <p:nvPr/>
          </p:nvSpPr>
          <p:spPr>
            <a:xfrm>
              <a:off x="4481689" y="5483423"/>
              <a:ext cx="2197540" cy="307777"/>
            </a:xfrm>
            <a:prstGeom prst="rect">
              <a:avLst/>
            </a:prstGeom>
            <a:noFill/>
          </p:spPr>
          <p:txBody>
            <a:bodyPr wrap="square" rtlCol="0">
              <a:spAutoFit/>
            </a:bodyPr>
            <a:lstStyle/>
            <a:p>
              <a:r>
                <a:rPr lang="en-US" sz="1400" dirty="0">
                  <a:latin typeface="Arial" charset="0"/>
                  <a:ea typeface="Arial" charset="0"/>
                  <a:cs typeface="Arial" charset="0"/>
                </a:rPr>
                <a:t>Trees</a:t>
              </a:r>
            </a:p>
          </p:txBody>
        </p:sp>
        <p:sp>
          <p:nvSpPr>
            <p:cNvPr id="35" name="Oval 34">
              <a:extLst>
                <a:ext uri="{FF2B5EF4-FFF2-40B4-BE49-F238E27FC236}">
                  <a16:creationId xmlns:a16="http://schemas.microsoft.com/office/drawing/2014/main" id="{E9536EAE-2FE5-E959-3B1A-BEA6CE21972B}"/>
                </a:ext>
              </a:extLst>
            </p:cNvPr>
            <p:cNvSpPr/>
            <p:nvPr/>
          </p:nvSpPr>
          <p:spPr>
            <a:xfrm>
              <a:off x="3747914" y="5463816"/>
              <a:ext cx="620889" cy="609603"/>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bg1"/>
                  </a:solidFill>
                </a:rPr>
                <a:t>T</a:t>
              </a:r>
            </a:p>
          </p:txBody>
        </p:sp>
      </p:grpSp>
    </p:spTree>
    <p:extLst>
      <p:ext uri="{BB962C8B-B14F-4D97-AF65-F5344CB8AC3E}">
        <p14:creationId xmlns:p14="http://schemas.microsoft.com/office/powerpoint/2010/main" val="2937623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DB21E-5178-E240-8A8D-6281174B11E7}"/>
              </a:ext>
            </a:extLst>
          </p:cNvPr>
          <p:cNvSpPr>
            <a:spLocks noGrp="1"/>
          </p:cNvSpPr>
          <p:nvPr>
            <p:ph type="ctrTitle"/>
          </p:nvPr>
        </p:nvSpPr>
        <p:spPr/>
        <p:txBody>
          <a:bodyPr/>
          <a:lstStyle/>
          <a:p>
            <a:pPr>
              <a:buFont typeface="Times New Roman" charset="0"/>
              <a:buNone/>
              <a:defRPr/>
            </a:pPr>
            <a:endParaRPr lang="en-US"/>
          </a:p>
        </p:txBody>
      </p:sp>
      <p:sp>
        <p:nvSpPr>
          <p:cNvPr id="3" name="Subtitle 2">
            <a:extLst>
              <a:ext uri="{FF2B5EF4-FFF2-40B4-BE49-F238E27FC236}">
                <a16:creationId xmlns:a16="http://schemas.microsoft.com/office/drawing/2014/main" id="{CD7155F9-072C-904C-95A0-F078712963D1}"/>
              </a:ext>
            </a:extLst>
          </p:cNvPr>
          <p:cNvSpPr>
            <a:spLocks noGrp="1"/>
          </p:cNvSpPr>
          <p:nvPr>
            <p:ph type="subTitle" idx="1"/>
          </p:nvPr>
        </p:nvSpPr>
        <p:spPr/>
        <p:txBody>
          <a:bodyPr/>
          <a:lstStyle/>
          <a:p>
            <a:pPr>
              <a:buFont typeface="Times New Roman" charset="0"/>
              <a:buNone/>
              <a:defRPr/>
            </a:pPr>
            <a:endParaRPr lang="en-US"/>
          </a:p>
        </p:txBody>
      </p:sp>
      <p:pic>
        <p:nvPicPr>
          <p:cNvPr id="93187" name="image04.png" descr="Saxifragaceae_Habitats_new.png">
            <a:extLst>
              <a:ext uri="{FF2B5EF4-FFF2-40B4-BE49-F238E27FC236}">
                <a16:creationId xmlns:a16="http://schemas.microsoft.com/office/drawing/2014/main" id="{815D17DD-680C-2C4D-BF99-5CD350FF2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3113" y="690448"/>
            <a:ext cx="8105774" cy="6167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B1A928F5-319B-EB45-B51B-90B99D17F387}"/>
              </a:ext>
            </a:extLst>
          </p:cNvPr>
          <p:cNvSpPr txBox="1">
            <a:spLocks/>
          </p:cNvSpPr>
          <p:nvPr/>
        </p:nvSpPr>
        <p:spPr>
          <a:xfrm>
            <a:off x="1919287" y="-257325"/>
            <a:ext cx="8229600" cy="11433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err="1">
                <a:solidFill>
                  <a:srgbClr val="0070C0"/>
                </a:solidFill>
              </a:rPr>
              <a:t>Saxifragales</a:t>
            </a:r>
            <a:r>
              <a:rPr lang="en-US" dirty="0">
                <a:solidFill>
                  <a:srgbClr val="0070C0"/>
                </a:solidFill>
              </a:rPr>
              <a:t>: Hyper-diverse</a:t>
            </a:r>
          </a:p>
        </p:txBody>
      </p:sp>
    </p:spTree>
    <p:extLst>
      <p:ext uri="{BB962C8B-B14F-4D97-AF65-F5344CB8AC3E}">
        <p14:creationId xmlns:p14="http://schemas.microsoft.com/office/powerpoint/2010/main" val="29147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8972" y="913120"/>
            <a:ext cx="6381338" cy="5031760"/>
          </a:xfrm>
          <a:prstGeom prst="rect">
            <a:avLst/>
          </a:prstGeom>
        </p:spPr>
      </p:pic>
      <p:sp>
        <p:nvSpPr>
          <p:cNvPr id="5" name="Rectangle 4"/>
          <p:cNvSpPr/>
          <p:nvPr/>
        </p:nvSpPr>
        <p:spPr>
          <a:xfrm>
            <a:off x="7984178" y="2196935"/>
            <a:ext cx="786317" cy="26957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 name="Rectangle 5"/>
          <p:cNvSpPr/>
          <p:nvPr/>
        </p:nvSpPr>
        <p:spPr>
          <a:xfrm>
            <a:off x="8158837" y="2992151"/>
            <a:ext cx="461388" cy="40964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 name="Rectangle 6"/>
          <p:cNvSpPr/>
          <p:nvPr/>
        </p:nvSpPr>
        <p:spPr>
          <a:xfrm>
            <a:off x="8168777" y="2286473"/>
            <a:ext cx="461388" cy="40964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8" name="Rectangle 7"/>
          <p:cNvSpPr/>
          <p:nvPr/>
        </p:nvSpPr>
        <p:spPr>
          <a:xfrm>
            <a:off x="8153869" y="3712738"/>
            <a:ext cx="461388" cy="4096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9" name="Title 1"/>
          <p:cNvSpPr>
            <a:spLocks noGrp="1"/>
          </p:cNvSpPr>
          <p:nvPr>
            <p:ph type="title"/>
          </p:nvPr>
        </p:nvSpPr>
        <p:spPr>
          <a:xfrm>
            <a:off x="8655477" y="2268221"/>
            <a:ext cx="1987485" cy="547026"/>
          </a:xfrm>
        </p:spPr>
        <p:txBody>
          <a:bodyPr>
            <a:noAutofit/>
          </a:bodyPr>
          <a:lstStyle/>
          <a:p>
            <a:r>
              <a:rPr lang="en-US" sz="2000" b="1" dirty="0">
                <a:latin typeface="Calibri" charset="0"/>
                <a:ea typeface="Calibri" charset="0"/>
                <a:cs typeface="Calibri" charset="0"/>
              </a:rPr>
              <a:t>Diversification</a:t>
            </a:r>
          </a:p>
        </p:txBody>
      </p:sp>
      <p:sp>
        <p:nvSpPr>
          <p:cNvPr id="10" name="Title 1"/>
          <p:cNvSpPr txBox="1">
            <a:spLocks/>
          </p:cNvSpPr>
          <p:nvPr/>
        </p:nvSpPr>
        <p:spPr>
          <a:xfrm>
            <a:off x="8753724" y="2937238"/>
            <a:ext cx="1894206" cy="54702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Calibri" charset="0"/>
                <a:ea typeface="Calibri" charset="0"/>
                <a:cs typeface="Calibri" charset="0"/>
              </a:rPr>
              <a:t>Niche</a:t>
            </a:r>
          </a:p>
        </p:txBody>
      </p:sp>
      <p:sp>
        <p:nvSpPr>
          <p:cNvPr id="11" name="Title 1"/>
          <p:cNvSpPr txBox="1">
            <a:spLocks/>
          </p:cNvSpPr>
          <p:nvPr/>
        </p:nvSpPr>
        <p:spPr>
          <a:xfrm>
            <a:off x="8748756" y="3677702"/>
            <a:ext cx="1894206" cy="54702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Calibri" charset="0"/>
                <a:ea typeface="Calibri" charset="0"/>
                <a:cs typeface="Calibri" charset="0"/>
              </a:rPr>
              <a:t>Traits</a:t>
            </a:r>
          </a:p>
        </p:txBody>
      </p:sp>
      <p:sp>
        <p:nvSpPr>
          <p:cNvPr id="12" name="Rectangle 11"/>
          <p:cNvSpPr/>
          <p:nvPr/>
        </p:nvSpPr>
        <p:spPr>
          <a:xfrm>
            <a:off x="8163809" y="4408478"/>
            <a:ext cx="461388" cy="40964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3" name="Title 1"/>
          <p:cNvSpPr txBox="1">
            <a:spLocks/>
          </p:cNvSpPr>
          <p:nvPr/>
        </p:nvSpPr>
        <p:spPr>
          <a:xfrm>
            <a:off x="8758696" y="4373443"/>
            <a:ext cx="1894206" cy="547026"/>
          </a:xfrm>
          <a:prstGeom prst="rect">
            <a:avLst/>
          </a:prstGeom>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latin typeface="Calibri" charset="0"/>
                <a:ea typeface="Calibri" charset="0"/>
                <a:cs typeface="Calibri" charset="0"/>
              </a:rPr>
              <a:t>Global temperature</a:t>
            </a:r>
          </a:p>
        </p:txBody>
      </p:sp>
      <p:sp>
        <p:nvSpPr>
          <p:cNvPr id="14" name="Title 1">
            <a:extLst>
              <a:ext uri="{FF2B5EF4-FFF2-40B4-BE49-F238E27FC236}">
                <a16:creationId xmlns:a16="http://schemas.microsoft.com/office/drawing/2014/main" id="{92F8232B-938A-1C48-973D-C02F31CA11E8}"/>
              </a:ext>
            </a:extLst>
          </p:cNvPr>
          <p:cNvSpPr txBox="1">
            <a:spLocks/>
          </p:cNvSpPr>
          <p:nvPr/>
        </p:nvSpPr>
        <p:spPr>
          <a:xfrm>
            <a:off x="1648972" y="197454"/>
            <a:ext cx="8229600" cy="1143300"/>
          </a:xfrm>
          <a:prstGeom prst="rect">
            <a:avLst/>
          </a:prstGeom>
        </p:spPr>
        <p:txBody>
          <a:bodyPr vert="horz" lIns="91440" tIns="45720" rIns="91440" bIns="45720" rtlCol="0" anchor="ctr">
            <a:normAutofit fontScale="92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solidFill>
                  <a:srgbClr val="0070C0"/>
                </a:solidFill>
              </a:rPr>
              <a:t>A Temperate Radiation:</a:t>
            </a:r>
          </a:p>
          <a:p>
            <a:r>
              <a:rPr lang="en-US" dirty="0">
                <a:solidFill>
                  <a:srgbClr val="0070C0"/>
                </a:solidFill>
              </a:rPr>
              <a:t>Mid-Miocene Cooling</a:t>
            </a:r>
          </a:p>
        </p:txBody>
      </p:sp>
      <p:sp>
        <p:nvSpPr>
          <p:cNvPr id="2" name="TextBox 1">
            <a:extLst>
              <a:ext uri="{FF2B5EF4-FFF2-40B4-BE49-F238E27FC236}">
                <a16:creationId xmlns:a16="http://schemas.microsoft.com/office/drawing/2014/main" id="{E555C9CC-EC8C-964A-A8DD-F902824A4998}"/>
              </a:ext>
            </a:extLst>
          </p:cNvPr>
          <p:cNvSpPr txBox="1"/>
          <p:nvPr/>
        </p:nvSpPr>
        <p:spPr>
          <a:xfrm>
            <a:off x="3792187" y="5808304"/>
            <a:ext cx="4607626" cy="1200329"/>
          </a:xfrm>
          <a:prstGeom prst="rect">
            <a:avLst/>
          </a:prstGeom>
          <a:noFill/>
        </p:spPr>
        <p:txBody>
          <a:bodyPr wrap="square" rtlCol="0">
            <a:spAutoFit/>
          </a:bodyPr>
          <a:lstStyle/>
          <a:p>
            <a:r>
              <a:rPr lang="en-US" dirty="0"/>
              <a:t>Folk et al. 2019. Uncoupled diversification, ecological niche and phenotype in a temperate radiation</a:t>
            </a:r>
            <a:r>
              <a:rPr lang="en-US" cap="small" dirty="0"/>
              <a:t>.  </a:t>
            </a:r>
            <a:r>
              <a:rPr lang="en-US" i="1" cap="small" dirty="0"/>
              <a:t>PNAS</a:t>
            </a:r>
            <a:r>
              <a:rPr lang="en-US" cap="small" dirty="0"/>
              <a:t> </a:t>
            </a:r>
            <a:r>
              <a:rPr lang="en-US" dirty="0"/>
              <a:t>116: 10874-10882.</a:t>
            </a:r>
          </a:p>
          <a:p>
            <a:endParaRPr lang="en-US" dirty="0"/>
          </a:p>
        </p:txBody>
      </p:sp>
    </p:spTree>
    <p:extLst>
      <p:ext uri="{BB962C8B-B14F-4D97-AF65-F5344CB8AC3E}">
        <p14:creationId xmlns:p14="http://schemas.microsoft.com/office/powerpoint/2010/main" val="1866012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p:bldP spid="11" grpId="0"/>
      <p:bldP spid="12" grpId="0" animBg="1"/>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3876" y="1832372"/>
            <a:ext cx="4673258" cy="4359085"/>
          </a:xfrm>
          <a:prstGeom prst="rect">
            <a:avLst/>
          </a:prstGeom>
        </p:spPr>
      </p:pic>
      <p:sp>
        <p:nvSpPr>
          <p:cNvPr id="6" name="Content Placeholder 2"/>
          <p:cNvSpPr>
            <a:spLocks noGrp="1"/>
          </p:cNvSpPr>
          <p:nvPr>
            <p:ph idx="1"/>
          </p:nvPr>
        </p:nvSpPr>
        <p:spPr>
          <a:xfrm>
            <a:off x="1524000" y="1183857"/>
            <a:ext cx="3752824" cy="2143582"/>
          </a:xfrm>
        </p:spPr>
        <p:txBody>
          <a:bodyPr>
            <a:normAutofit/>
          </a:bodyPr>
          <a:lstStyle/>
          <a:p>
            <a:r>
              <a:rPr lang="en-US" b="1" dirty="0"/>
              <a:t>Mean annual temperature</a:t>
            </a:r>
            <a:endParaRPr lang="en-US" dirty="0"/>
          </a:p>
          <a:p>
            <a:r>
              <a:rPr lang="en-US" dirty="0"/>
              <a:t>Shifts are rare</a:t>
            </a: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V="1">
            <a:off x="5375633" y="4051192"/>
            <a:ext cx="237908" cy="1625480"/>
          </a:xfrm>
          <a:prstGeom prst="rect">
            <a:avLst/>
          </a:prstGeom>
        </p:spPr>
      </p:pic>
      <p:sp>
        <p:nvSpPr>
          <p:cNvPr id="8" name="TextBox 7"/>
          <p:cNvSpPr txBox="1"/>
          <p:nvPr/>
        </p:nvSpPr>
        <p:spPr>
          <a:xfrm>
            <a:off x="5237411" y="3659831"/>
            <a:ext cx="525534" cy="352084"/>
          </a:xfrm>
          <a:prstGeom prst="rect">
            <a:avLst/>
          </a:prstGeom>
          <a:noFill/>
        </p:spPr>
        <p:txBody>
          <a:bodyPr wrap="square" rtlCol="0">
            <a:spAutoFit/>
          </a:bodyPr>
          <a:lstStyle/>
          <a:p>
            <a:pPr algn="r"/>
            <a:r>
              <a:rPr lang="en-US" sz="1688" b="1" dirty="0"/>
              <a:t>Hot</a:t>
            </a:r>
          </a:p>
        </p:txBody>
      </p:sp>
      <p:sp>
        <p:nvSpPr>
          <p:cNvPr id="9" name="TextBox 8"/>
          <p:cNvSpPr txBox="1"/>
          <p:nvPr/>
        </p:nvSpPr>
        <p:spPr>
          <a:xfrm>
            <a:off x="4709041" y="5754878"/>
            <a:ext cx="1056740" cy="352084"/>
          </a:xfrm>
          <a:prstGeom prst="rect">
            <a:avLst/>
          </a:prstGeom>
          <a:noFill/>
        </p:spPr>
        <p:txBody>
          <a:bodyPr wrap="square" rtlCol="0">
            <a:spAutoFit/>
          </a:bodyPr>
          <a:lstStyle/>
          <a:p>
            <a:pPr algn="r"/>
            <a:r>
              <a:rPr lang="en-US" sz="1688" b="1" dirty="0"/>
              <a:t>Cold</a:t>
            </a:r>
          </a:p>
        </p:txBody>
      </p:sp>
      <p:sp>
        <p:nvSpPr>
          <p:cNvPr id="10" name="Text Box 3"/>
          <p:cNvSpPr txBox="1">
            <a:spLocks noChangeArrowheads="1"/>
          </p:cNvSpPr>
          <p:nvPr/>
        </p:nvSpPr>
        <p:spPr bwMode="auto">
          <a:xfrm>
            <a:off x="2720401" y="-58573"/>
            <a:ext cx="7008777" cy="144655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txBody>
          <a:bodyPr wrap="square">
            <a:spAutoFit/>
          </a:bodyPr>
          <a:lstStyle>
            <a:lvl1pPr>
              <a:defRPr sz="2400">
                <a:solidFill>
                  <a:schemeClr val="tx1"/>
                </a:solidFill>
                <a:latin typeface="Arial" charset="0"/>
                <a:ea typeface="ヒラギノ角ゴ Pro W3" charset="0"/>
                <a:cs typeface="ヒラギノ角ゴ Pro W3" charset="0"/>
              </a:defRPr>
            </a:lvl1pPr>
            <a:lvl2pPr marL="742950" indent="-285750">
              <a:defRPr sz="2400">
                <a:solidFill>
                  <a:schemeClr val="tx1"/>
                </a:solidFill>
                <a:latin typeface="Arial" charset="0"/>
                <a:ea typeface="ヒラギノ角ゴ Pro W3" charset="0"/>
                <a:cs typeface="ヒラギノ角ゴ Pro W3" charset="0"/>
              </a:defRPr>
            </a:lvl2pPr>
            <a:lvl3pPr marL="1143000" indent="-228600">
              <a:defRPr sz="2400">
                <a:solidFill>
                  <a:schemeClr val="tx1"/>
                </a:solidFill>
                <a:latin typeface="Arial" charset="0"/>
                <a:ea typeface="ヒラギノ角ゴ Pro W3" charset="0"/>
                <a:cs typeface="ヒラギノ角ゴ Pro W3" charset="0"/>
              </a:defRPr>
            </a:lvl3pPr>
            <a:lvl4pPr marL="1600200" indent="-228600">
              <a:defRPr sz="2400">
                <a:solidFill>
                  <a:schemeClr val="tx1"/>
                </a:solidFill>
                <a:latin typeface="Arial" charset="0"/>
                <a:ea typeface="ヒラギノ角ゴ Pro W3" charset="0"/>
                <a:cs typeface="ヒラギノ角ゴ Pro W3" charset="0"/>
              </a:defRPr>
            </a:lvl4pPr>
            <a:lvl5pPr marL="2057400" indent="-228600">
              <a:defRPr sz="2400">
                <a:solidFill>
                  <a:schemeClr val="tx1"/>
                </a:solidFill>
                <a:latin typeface="Arial" charset="0"/>
                <a:ea typeface="ヒラギノ角ゴ Pro W3" charset="0"/>
                <a:cs typeface="ヒラギノ角ゴ Pro W3" charset="0"/>
              </a:defRPr>
            </a:lvl5pPr>
            <a:lvl6pPr marL="25146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6pPr>
            <a:lvl7pPr marL="29718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7pPr>
            <a:lvl8pPr marL="34290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8pPr>
            <a:lvl9pPr marL="3886200" indent="-228600" eaLnBrk="0" fontAlgn="base" hangingPunct="0">
              <a:spcBef>
                <a:spcPct val="0"/>
              </a:spcBef>
              <a:spcAft>
                <a:spcPct val="0"/>
              </a:spcAft>
              <a:defRPr sz="2400">
                <a:solidFill>
                  <a:schemeClr val="tx1"/>
                </a:solidFill>
                <a:latin typeface="Arial" charset="0"/>
                <a:ea typeface="ヒラギノ角ゴ Pro W3" charset="0"/>
                <a:cs typeface="ヒラギノ角ゴ Pro W3" charset="0"/>
              </a:defRPr>
            </a:lvl9pPr>
          </a:lstStyle>
          <a:p>
            <a:pPr algn="ctr"/>
            <a:r>
              <a:rPr lang="en-US" sz="4400" dirty="0">
                <a:solidFill>
                  <a:srgbClr val="0070C0"/>
                </a:solidFill>
                <a:latin typeface="+mj-lt"/>
              </a:rPr>
              <a:t>Response of </a:t>
            </a:r>
            <a:r>
              <a:rPr lang="en-US" sz="4400" dirty="0" err="1">
                <a:solidFill>
                  <a:srgbClr val="0070C0"/>
                </a:solidFill>
                <a:latin typeface="+mj-lt"/>
              </a:rPr>
              <a:t>Saxifragales</a:t>
            </a:r>
            <a:r>
              <a:rPr lang="en-US" sz="4400" dirty="0">
                <a:solidFill>
                  <a:srgbClr val="0070C0"/>
                </a:solidFill>
                <a:latin typeface="+mj-lt"/>
              </a:rPr>
              <a:t> to Climate Change</a:t>
            </a:r>
          </a:p>
        </p:txBody>
      </p:sp>
      <p:cxnSp>
        <p:nvCxnSpPr>
          <p:cNvPr id="3" name="Straight Connector 2">
            <a:extLst>
              <a:ext uri="{FF2B5EF4-FFF2-40B4-BE49-F238E27FC236}">
                <a16:creationId xmlns:a16="http://schemas.microsoft.com/office/drawing/2014/main" id="{519442CF-2F5A-EF43-B9AF-A128F1A11E56}"/>
              </a:ext>
            </a:extLst>
          </p:cNvPr>
          <p:cNvCxnSpPr>
            <a:cxnSpLocks/>
          </p:cNvCxnSpPr>
          <p:nvPr/>
        </p:nvCxnSpPr>
        <p:spPr>
          <a:xfrm flipV="1">
            <a:off x="5918234" y="6281984"/>
            <a:ext cx="4156030" cy="31722"/>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7D77E008-3A9C-654A-BBAB-B726F7BEED01}"/>
              </a:ext>
            </a:extLst>
          </p:cNvPr>
          <p:cNvSpPr txBox="1"/>
          <p:nvPr/>
        </p:nvSpPr>
        <p:spPr>
          <a:xfrm>
            <a:off x="5353332" y="6488668"/>
            <a:ext cx="3675588" cy="369332"/>
          </a:xfrm>
          <a:prstGeom prst="rect">
            <a:avLst/>
          </a:prstGeom>
          <a:noFill/>
        </p:spPr>
        <p:txBody>
          <a:bodyPr wrap="square" rtlCol="0">
            <a:spAutoFit/>
          </a:bodyPr>
          <a:lstStyle/>
          <a:p>
            <a:pPr algn="ctr"/>
            <a:r>
              <a:rPr lang="en-US" dirty="0"/>
              <a:t>100 million years</a:t>
            </a:r>
          </a:p>
        </p:txBody>
      </p:sp>
      <p:pic>
        <p:nvPicPr>
          <p:cNvPr id="13" name="Picture 12">
            <a:extLst>
              <a:ext uri="{FF2B5EF4-FFF2-40B4-BE49-F238E27FC236}">
                <a16:creationId xmlns:a16="http://schemas.microsoft.com/office/drawing/2014/main" id="{82A179B4-2160-2841-885F-2A8899A94D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04866" y="2874112"/>
            <a:ext cx="2841409" cy="2038428"/>
          </a:xfrm>
          <a:prstGeom prst="rect">
            <a:avLst/>
          </a:prstGeom>
        </p:spPr>
      </p:pic>
      <p:pic>
        <p:nvPicPr>
          <p:cNvPr id="18" name="Picture 17">
            <a:extLst>
              <a:ext uri="{FF2B5EF4-FFF2-40B4-BE49-F238E27FC236}">
                <a16:creationId xmlns:a16="http://schemas.microsoft.com/office/drawing/2014/main" id="{64822E9D-984F-064F-B090-A9982D486774}"/>
              </a:ext>
            </a:extLst>
          </p:cNvPr>
          <p:cNvPicPr>
            <a:picLocks noChangeAspect="1"/>
          </p:cNvPicPr>
          <p:nvPr/>
        </p:nvPicPr>
        <p:blipFill>
          <a:blip r:embed="rId6"/>
          <a:stretch>
            <a:fillRect/>
          </a:stretch>
        </p:blipFill>
        <p:spPr>
          <a:xfrm>
            <a:off x="1604866" y="4970640"/>
            <a:ext cx="2841409" cy="1887360"/>
          </a:xfrm>
          <a:prstGeom prst="rect">
            <a:avLst/>
          </a:prstGeom>
        </p:spPr>
      </p:pic>
      <p:pic>
        <p:nvPicPr>
          <p:cNvPr id="2" name="Picture 1">
            <a:extLst>
              <a:ext uri="{FF2B5EF4-FFF2-40B4-BE49-F238E27FC236}">
                <a16:creationId xmlns:a16="http://schemas.microsoft.com/office/drawing/2014/main" id="{BBF80A5C-F682-5B25-EC0E-B91ADAC112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691303" y="4376358"/>
            <a:ext cx="1233939" cy="1554562"/>
          </a:xfrm>
          <a:prstGeom prst="rect">
            <a:avLst/>
          </a:prstGeom>
        </p:spPr>
      </p:pic>
      <p:sp>
        <p:nvSpPr>
          <p:cNvPr id="11" name="TextBox 10">
            <a:extLst>
              <a:ext uri="{FF2B5EF4-FFF2-40B4-BE49-F238E27FC236}">
                <a16:creationId xmlns:a16="http://schemas.microsoft.com/office/drawing/2014/main" id="{6FDBECDF-B36D-5551-A83E-B4EE235AC1C3}"/>
              </a:ext>
            </a:extLst>
          </p:cNvPr>
          <p:cNvSpPr txBox="1"/>
          <p:nvPr/>
        </p:nvSpPr>
        <p:spPr>
          <a:xfrm>
            <a:off x="10763380" y="6006791"/>
            <a:ext cx="1565685" cy="369332"/>
          </a:xfrm>
          <a:prstGeom prst="rect">
            <a:avLst/>
          </a:prstGeom>
          <a:noFill/>
        </p:spPr>
        <p:txBody>
          <a:bodyPr wrap="square" rtlCol="0">
            <a:spAutoFit/>
          </a:bodyPr>
          <a:lstStyle/>
          <a:p>
            <a:r>
              <a:rPr lang="en-US" i="1" dirty="0"/>
              <a:t>Ryan Folk</a:t>
            </a:r>
          </a:p>
        </p:txBody>
      </p:sp>
    </p:spTree>
    <p:extLst>
      <p:ext uri="{BB962C8B-B14F-4D97-AF65-F5344CB8AC3E}">
        <p14:creationId xmlns:p14="http://schemas.microsoft.com/office/powerpoint/2010/main" val="39362472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9970" y="4926785"/>
            <a:ext cx="8064422" cy="1428654"/>
            <a:chOff x="-1592421" y="1394253"/>
            <a:chExt cx="8064422" cy="1428654"/>
          </a:xfrm>
        </p:grpSpPr>
        <p:sp>
          <p:nvSpPr>
            <p:cNvPr id="4" name="Rectangle 3"/>
            <p:cNvSpPr/>
            <p:nvPr/>
          </p:nvSpPr>
          <p:spPr>
            <a:xfrm>
              <a:off x="0" y="1394253"/>
              <a:ext cx="5006566" cy="1428654"/>
            </a:xfrm>
            <a:prstGeom prst="rect">
              <a:avLst/>
            </a:prstGeom>
            <a:solidFill>
              <a:srgbClr val="DEEBF7"/>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p:cNvSpPr/>
            <p:nvPr/>
          </p:nvSpPr>
          <p:spPr>
            <a:xfrm>
              <a:off x="0" y="1443141"/>
              <a:ext cx="4316840" cy="400108"/>
            </a:xfrm>
            <a:prstGeom prst="rect">
              <a:avLst/>
            </a:prstGeom>
          </p:spPr>
          <p:txBody>
            <a:bodyPr wrap="none" lIns="91438" tIns="45719" rIns="91438" bIns="45719">
              <a:spAutoFit/>
            </a:bodyPr>
            <a:lstStyle/>
            <a:p>
              <a:pPr marL="0" lvl="2" algn="ctr">
                <a:spcBef>
                  <a:spcPct val="0"/>
                </a:spcBef>
              </a:pPr>
              <a:r>
                <a:rPr lang="en-US" altLang="en-US" sz="2000" b="1" dirty="0">
                  <a:solidFill>
                    <a:srgbClr val="000000"/>
                  </a:solidFill>
                </a:rPr>
                <a:t>RPE </a:t>
              </a:r>
              <a:r>
                <a:rPr lang="en-US" altLang="en-US" sz="2000" dirty="0">
                  <a:solidFill>
                    <a:srgbClr val="000000"/>
                  </a:solidFill>
                </a:rPr>
                <a:t>- </a:t>
              </a:r>
              <a:r>
                <a:rPr lang="en-US" altLang="en-US" sz="2000" i="1" dirty="0">
                  <a:solidFill>
                    <a:srgbClr val="000000"/>
                  </a:solidFill>
                </a:rPr>
                <a:t>relative phylogenetic endemism = </a:t>
              </a:r>
              <a:endParaRPr lang="en-US" altLang="en-US" sz="2000" dirty="0">
                <a:solidFill>
                  <a:srgbClr val="000000"/>
                </a:solidFill>
              </a:endParaRPr>
            </a:p>
          </p:txBody>
        </p:sp>
        <p:sp>
          <p:nvSpPr>
            <p:cNvPr id="6" name="Rectangle 5"/>
            <p:cNvSpPr/>
            <p:nvPr/>
          </p:nvSpPr>
          <p:spPr>
            <a:xfrm>
              <a:off x="-1592421" y="1807246"/>
              <a:ext cx="8064422" cy="1015661"/>
            </a:xfrm>
            <a:prstGeom prst="rect">
              <a:avLst/>
            </a:prstGeom>
          </p:spPr>
          <p:txBody>
            <a:bodyPr wrap="square" lIns="91438" tIns="45719" rIns="91438" bIns="45719">
              <a:spAutoFit/>
            </a:bodyPr>
            <a:lstStyle/>
            <a:p>
              <a:pPr marL="0" lvl="2" algn="ctr">
                <a:spcBef>
                  <a:spcPct val="0"/>
                </a:spcBef>
              </a:pPr>
              <a:r>
                <a:rPr lang="en-US" altLang="en-US" sz="2000" dirty="0">
                  <a:solidFill>
                    <a:srgbClr val="000000"/>
                  </a:solidFill>
                </a:rPr>
                <a:t>PD on the range-weighted original tree</a:t>
              </a:r>
            </a:p>
            <a:p>
              <a:pPr marL="0" lvl="2" algn="ctr">
                <a:spcBef>
                  <a:spcPct val="0"/>
                </a:spcBef>
              </a:pPr>
              <a:r>
                <a:rPr lang="en-US" altLang="en-US" sz="2000" dirty="0">
                  <a:solidFill>
                    <a:srgbClr val="000000"/>
                  </a:solidFill>
                </a:rPr>
                <a:t>PD on a range-weighted comparison tree with </a:t>
              </a:r>
            </a:p>
            <a:p>
              <a:pPr marL="0" lvl="2" algn="ctr">
                <a:spcBef>
                  <a:spcPct val="0"/>
                </a:spcBef>
              </a:pPr>
              <a:r>
                <a:rPr lang="en-US" altLang="en-US" sz="2000" dirty="0">
                  <a:solidFill>
                    <a:srgbClr val="000000"/>
                  </a:solidFill>
                </a:rPr>
                <a:t>all branch lengths equal</a:t>
              </a:r>
            </a:p>
          </p:txBody>
        </p:sp>
        <p:cxnSp>
          <p:nvCxnSpPr>
            <p:cNvPr id="7" name="Straight Connector 2"/>
            <p:cNvCxnSpPr>
              <a:cxnSpLocks noChangeShapeType="1"/>
            </p:cNvCxnSpPr>
            <p:nvPr/>
          </p:nvCxnSpPr>
          <p:spPr bwMode="auto">
            <a:xfrm>
              <a:off x="65343" y="2168122"/>
              <a:ext cx="4743853" cy="21128"/>
            </a:xfrm>
            <a:prstGeom prst="line">
              <a:avLst/>
            </a:prstGeom>
            <a:noFill/>
            <a:ln w="31750" algn="ctr">
              <a:solidFill>
                <a:schemeClr val="tx1"/>
              </a:solidFill>
              <a:round/>
              <a:headEnd/>
              <a:tailEnd/>
            </a:ln>
            <a:extLst>
              <a:ext uri="{909E8E84-426E-40dd-AFC4-6F175D3DCCD1}">
                <a14:hiddenFill xmlns:a14="http://schemas.microsoft.com/office/drawing/2010/main" xmlns="">
                  <a:noFill/>
                </a14:hiddenFill>
              </a:ext>
            </a:extLst>
          </p:spPr>
        </p:cxnSp>
      </p:grpSp>
      <p:sp>
        <p:nvSpPr>
          <p:cNvPr id="8" name="TextBox 56"/>
          <p:cNvSpPr txBox="1">
            <a:spLocks noChangeArrowheads="1"/>
          </p:cNvSpPr>
          <p:nvPr/>
        </p:nvSpPr>
        <p:spPr bwMode="auto">
          <a:xfrm>
            <a:off x="2392635" y="4298158"/>
            <a:ext cx="3630994" cy="523220"/>
          </a:xfrm>
          <a:prstGeom prst="rect">
            <a:avLst/>
          </a:prstGeom>
          <a:solidFill>
            <a:schemeClr val="bg1"/>
          </a:solidFill>
          <a:ln>
            <a:noFill/>
          </a:ln>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eaLnBrk="0" fontAlgn="base" hangingPunct="0">
              <a:spcBef>
                <a:spcPct val="0"/>
              </a:spcBef>
              <a:spcAft>
                <a:spcPct val="0"/>
              </a:spcAft>
            </a:pPr>
            <a:r>
              <a:rPr lang="en-US" sz="2800" dirty="0">
                <a:solidFill>
                  <a:prstClr val="black"/>
                </a:solidFill>
                <a:latin typeface="Calibri" charset="0"/>
              </a:rPr>
              <a:t>RPE is ratio of B/D:</a:t>
            </a:r>
          </a:p>
        </p:txBody>
      </p:sp>
      <p:grpSp>
        <p:nvGrpSpPr>
          <p:cNvPr id="9" name="Group 8"/>
          <p:cNvGrpSpPr/>
          <p:nvPr/>
        </p:nvGrpSpPr>
        <p:grpSpPr>
          <a:xfrm>
            <a:off x="21259" y="1539967"/>
            <a:ext cx="8064422" cy="1428654"/>
            <a:chOff x="-1592421" y="1394253"/>
            <a:chExt cx="8064422" cy="1428654"/>
          </a:xfrm>
        </p:grpSpPr>
        <p:sp>
          <p:nvSpPr>
            <p:cNvPr id="10" name="Rectangle 9"/>
            <p:cNvSpPr/>
            <p:nvPr/>
          </p:nvSpPr>
          <p:spPr>
            <a:xfrm>
              <a:off x="0" y="1394253"/>
              <a:ext cx="5006566" cy="1428654"/>
            </a:xfrm>
            <a:prstGeom prst="rect">
              <a:avLst/>
            </a:prstGeom>
            <a:solidFill>
              <a:schemeClr val="accent1">
                <a:lumMod val="20000"/>
                <a:lumOff val="80000"/>
              </a:schemeClr>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p:nvSpPr>
          <p:spPr>
            <a:xfrm>
              <a:off x="109895" y="1443141"/>
              <a:ext cx="4097054" cy="400108"/>
            </a:xfrm>
            <a:prstGeom prst="rect">
              <a:avLst/>
            </a:prstGeom>
          </p:spPr>
          <p:txBody>
            <a:bodyPr wrap="none" lIns="91438" tIns="45719" rIns="91438" bIns="45719">
              <a:spAutoFit/>
            </a:bodyPr>
            <a:lstStyle/>
            <a:p>
              <a:pPr marL="0" lvl="2" algn="ctr">
                <a:spcBef>
                  <a:spcPct val="0"/>
                </a:spcBef>
              </a:pPr>
              <a:r>
                <a:rPr lang="en-US" altLang="en-US" sz="2000" b="1" dirty="0">
                  <a:solidFill>
                    <a:srgbClr val="000000"/>
                  </a:solidFill>
                </a:rPr>
                <a:t>RPD </a:t>
              </a:r>
              <a:r>
                <a:rPr lang="en-US" altLang="en-US" sz="2000" dirty="0">
                  <a:solidFill>
                    <a:srgbClr val="000000"/>
                  </a:solidFill>
                </a:rPr>
                <a:t>- </a:t>
              </a:r>
              <a:r>
                <a:rPr lang="en-US" altLang="en-US" sz="2000" i="1" dirty="0">
                  <a:solidFill>
                    <a:srgbClr val="000000"/>
                  </a:solidFill>
                </a:rPr>
                <a:t>relative phylogenetic diversity= </a:t>
              </a:r>
              <a:endParaRPr lang="en-US" altLang="en-US" sz="2000" dirty="0">
                <a:solidFill>
                  <a:srgbClr val="000000"/>
                </a:solidFill>
              </a:endParaRPr>
            </a:p>
          </p:txBody>
        </p:sp>
        <p:sp>
          <p:nvSpPr>
            <p:cNvPr id="12" name="Rectangle 11"/>
            <p:cNvSpPr/>
            <p:nvPr/>
          </p:nvSpPr>
          <p:spPr>
            <a:xfrm>
              <a:off x="-1592421" y="1807246"/>
              <a:ext cx="8064422" cy="1015661"/>
            </a:xfrm>
            <a:prstGeom prst="rect">
              <a:avLst/>
            </a:prstGeom>
          </p:spPr>
          <p:txBody>
            <a:bodyPr wrap="square" lIns="91438" tIns="45719" rIns="91438" bIns="45719">
              <a:spAutoFit/>
            </a:bodyPr>
            <a:lstStyle/>
            <a:p>
              <a:pPr marL="0" lvl="2" algn="ctr">
                <a:spcBef>
                  <a:spcPct val="0"/>
                </a:spcBef>
              </a:pPr>
              <a:r>
                <a:rPr lang="en-US" altLang="en-US" sz="2000" dirty="0">
                  <a:solidFill>
                    <a:srgbClr val="000000"/>
                  </a:solidFill>
                </a:rPr>
                <a:t>PD on the original tree</a:t>
              </a:r>
            </a:p>
            <a:p>
              <a:pPr marL="0" lvl="2" algn="ctr">
                <a:spcBef>
                  <a:spcPct val="0"/>
                </a:spcBef>
              </a:pPr>
              <a:r>
                <a:rPr lang="en-US" altLang="en-US" sz="2000" dirty="0">
                  <a:solidFill>
                    <a:srgbClr val="000000"/>
                  </a:solidFill>
                </a:rPr>
                <a:t>PD on a comparison tree with </a:t>
              </a:r>
            </a:p>
            <a:p>
              <a:pPr marL="0" lvl="2" algn="ctr">
                <a:spcBef>
                  <a:spcPct val="0"/>
                </a:spcBef>
              </a:pPr>
              <a:r>
                <a:rPr lang="en-US" altLang="en-US" sz="2000" dirty="0">
                  <a:solidFill>
                    <a:srgbClr val="000000"/>
                  </a:solidFill>
                </a:rPr>
                <a:t>all branch lengths equal</a:t>
              </a:r>
            </a:p>
          </p:txBody>
        </p:sp>
        <p:cxnSp>
          <p:nvCxnSpPr>
            <p:cNvPr id="13" name="Straight Connector 2"/>
            <p:cNvCxnSpPr>
              <a:cxnSpLocks noChangeShapeType="1"/>
            </p:cNvCxnSpPr>
            <p:nvPr/>
          </p:nvCxnSpPr>
          <p:spPr bwMode="auto">
            <a:xfrm>
              <a:off x="65343" y="2168122"/>
              <a:ext cx="4743853" cy="21128"/>
            </a:xfrm>
            <a:prstGeom prst="line">
              <a:avLst/>
            </a:prstGeom>
            <a:noFill/>
            <a:ln w="31750" algn="ctr">
              <a:solidFill>
                <a:schemeClr val="tx1"/>
              </a:solidFill>
              <a:round/>
              <a:headEnd/>
              <a:tailEnd/>
            </a:ln>
            <a:extLst>
              <a:ext uri="{909E8E84-426E-40dd-AFC4-6F175D3DCCD1}">
                <a14:hiddenFill xmlns:a14="http://schemas.microsoft.com/office/drawing/2010/main" xmlns="">
                  <a:noFill/>
                </a14:hiddenFill>
              </a:ext>
            </a:extLst>
          </p:spPr>
        </p:cxnSp>
      </p:grpSp>
      <p:sp>
        <p:nvSpPr>
          <p:cNvPr id="14" name="TextBox 56"/>
          <p:cNvSpPr txBox="1">
            <a:spLocks noChangeArrowheads="1"/>
          </p:cNvSpPr>
          <p:nvPr/>
        </p:nvSpPr>
        <p:spPr bwMode="auto">
          <a:xfrm>
            <a:off x="2462412" y="971521"/>
            <a:ext cx="3630994" cy="523220"/>
          </a:xfrm>
          <a:prstGeom prst="rect">
            <a:avLst/>
          </a:prstGeom>
          <a:solidFill>
            <a:schemeClr val="bg1"/>
          </a:solidFill>
          <a:ln>
            <a:noFill/>
          </a:ln>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eaLnBrk="0" fontAlgn="base" hangingPunct="0">
              <a:spcBef>
                <a:spcPct val="0"/>
              </a:spcBef>
              <a:spcAft>
                <a:spcPct val="0"/>
              </a:spcAft>
            </a:pPr>
            <a:r>
              <a:rPr lang="en-US" sz="2800" dirty="0">
                <a:solidFill>
                  <a:prstClr val="black"/>
                </a:solidFill>
                <a:latin typeface="Calibri" charset="0"/>
              </a:rPr>
              <a:t>RPD is ratio of A/C:</a:t>
            </a:r>
          </a:p>
        </p:txBody>
      </p:sp>
      <p:sp>
        <p:nvSpPr>
          <p:cNvPr id="15" name="TextBox 56"/>
          <p:cNvSpPr txBox="1">
            <a:spLocks noChangeArrowheads="1"/>
          </p:cNvSpPr>
          <p:nvPr/>
        </p:nvSpPr>
        <p:spPr bwMode="auto">
          <a:xfrm>
            <a:off x="1763034" y="1"/>
            <a:ext cx="4902591" cy="830997"/>
          </a:xfrm>
          <a:prstGeom prst="rect">
            <a:avLst/>
          </a:prstGeom>
          <a:solidFill>
            <a:schemeClr val="bg1"/>
          </a:solidFill>
          <a:ln>
            <a:noFill/>
          </a:ln>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pPr eaLnBrk="0" fontAlgn="base" hangingPunct="0">
              <a:spcBef>
                <a:spcPct val="0"/>
              </a:spcBef>
              <a:spcAft>
                <a:spcPct val="0"/>
              </a:spcAft>
            </a:pPr>
            <a:r>
              <a:rPr lang="en-US" dirty="0">
                <a:solidFill>
                  <a:prstClr val="black"/>
                </a:solidFill>
                <a:latin typeface="Calibri" charset="0"/>
              </a:rPr>
              <a:t>Relative Phylogenetic Diversity and Relative Phylogenetic Endemism</a:t>
            </a:r>
          </a:p>
        </p:txBody>
      </p:sp>
      <p:sp>
        <p:nvSpPr>
          <p:cNvPr id="16" name="Rectangle 15"/>
          <p:cNvSpPr/>
          <p:nvPr/>
        </p:nvSpPr>
        <p:spPr>
          <a:xfrm>
            <a:off x="2430466" y="6474399"/>
            <a:ext cx="2130962" cy="369332"/>
          </a:xfrm>
          <a:prstGeom prst="rect">
            <a:avLst/>
          </a:prstGeom>
        </p:spPr>
        <p:txBody>
          <a:bodyPr wrap="none">
            <a:spAutoFit/>
          </a:bodyPr>
          <a:lstStyle/>
          <a:p>
            <a:pPr algn="ctr" eaLnBrk="0" fontAlgn="base" hangingPunct="0">
              <a:spcBef>
                <a:spcPct val="0"/>
              </a:spcBef>
              <a:spcAft>
                <a:spcPct val="0"/>
              </a:spcAft>
            </a:pPr>
            <a:r>
              <a:rPr lang="en-US" dirty="0">
                <a:solidFill>
                  <a:prstClr val="black"/>
                </a:solidFill>
                <a:latin typeface="Calibri" charset="0"/>
                <a:ea typeface="ＭＳ Ｐゴシック" charset="0"/>
                <a:cs typeface="ＭＳ Ｐゴシック" charset="0"/>
              </a:rPr>
              <a:t>Mishler et al., (2014)</a:t>
            </a:r>
          </a:p>
        </p:txBody>
      </p:sp>
      <p:pic>
        <p:nvPicPr>
          <p:cNvPr id="2" name="Picture 1"/>
          <p:cNvPicPr>
            <a:picLocks noChangeAspect="1"/>
          </p:cNvPicPr>
          <p:nvPr/>
        </p:nvPicPr>
        <p:blipFill rotWithShape="1">
          <a:blip r:embed="rId2"/>
          <a:srcRect r="7358"/>
          <a:stretch/>
        </p:blipFill>
        <p:spPr>
          <a:xfrm>
            <a:off x="6665624" y="196537"/>
            <a:ext cx="3996191" cy="6661463"/>
          </a:xfrm>
          <a:prstGeom prst="rect">
            <a:avLst/>
          </a:prstGeom>
        </p:spPr>
      </p:pic>
      <p:sp>
        <p:nvSpPr>
          <p:cNvPr id="17" name="Oval 16">
            <a:extLst>
              <a:ext uri="{FF2B5EF4-FFF2-40B4-BE49-F238E27FC236}">
                <a16:creationId xmlns:a16="http://schemas.microsoft.com/office/drawing/2014/main" id="{18A74F25-3B2C-4C4F-9BDD-5369C468FE6F}"/>
              </a:ext>
            </a:extLst>
          </p:cNvPr>
          <p:cNvSpPr/>
          <p:nvPr/>
        </p:nvSpPr>
        <p:spPr>
          <a:xfrm>
            <a:off x="505097" y="879887"/>
            <a:ext cx="6339840" cy="257301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1FA0A60D-B51C-4E4B-BBFF-B1FFB3D324C8}"/>
              </a:ext>
            </a:extLst>
          </p:cNvPr>
          <p:cNvSpPr/>
          <p:nvPr/>
        </p:nvSpPr>
        <p:spPr>
          <a:xfrm>
            <a:off x="623983" y="0"/>
            <a:ext cx="978408"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32728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A967-366F-6C37-61F3-EF54A252A497}"/>
              </a:ext>
            </a:extLst>
          </p:cNvPr>
          <p:cNvSpPr>
            <a:spLocks noGrp="1"/>
          </p:cNvSpPr>
          <p:nvPr>
            <p:ph type="title"/>
          </p:nvPr>
        </p:nvSpPr>
        <p:spPr/>
        <p:txBody>
          <a:bodyPr/>
          <a:lstStyle/>
          <a:p>
            <a:pPr algn="ctr"/>
            <a:r>
              <a:rPr lang="en-US" dirty="0">
                <a:solidFill>
                  <a:srgbClr val="0070C0"/>
                </a:solidFill>
              </a:rPr>
              <a:t>Thanks</a:t>
            </a:r>
          </a:p>
        </p:txBody>
      </p:sp>
      <p:sp>
        <p:nvSpPr>
          <p:cNvPr id="3" name="Content Placeholder 2">
            <a:extLst>
              <a:ext uri="{FF2B5EF4-FFF2-40B4-BE49-F238E27FC236}">
                <a16:creationId xmlns:a16="http://schemas.microsoft.com/office/drawing/2014/main" id="{A57C6FE5-F3ED-0E0D-8415-E7E5F6B38A29}"/>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CAE3CE0C-8E13-FA4F-5B0C-4AB016F4D3D2}"/>
              </a:ext>
            </a:extLst>
          </p:cNvPr>
          <p:cNvPicPr>
            <a:picLocks noChangeAspect="1"/>
          </p:cNvPicPr>
          <p:nvPr/>
        </p:nvPicPr>
        <p:blipFill>
          <a:blip r:embed="rId2"/>
          <a:stretch>
            <a:fillRect/>
          </a:stretch>
        </p:blipFill>
        <p:spPr>
          <a:xfrm>
            <a:off x="3714750" y="1885950"/>
            <a:ext cx="4762500" cy="3086100"/>
          </a:xfrm>
          <a:prstGeom prst="rect">
            <a:avLst/>
          </a:prstGeom>
        </p:spPr>
      </p:pic>
    </p:spTree>
    <p:extLst>
      <p:ext uri="{BB962C8B-B14F-4D97-AF65-F5344CB8AC3E}">
        <p14:creationId xmlns:p14="http://schemas.microsoft.com/office/powerpoint/2010/main" val="18320829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3569</TotalTime>
  <Words>1654</Words>
  <Application>Microsoft Macintosh PowerPoint</Application>
  <PresentationFormat>Widescreen</PresentationFormat>
  <Paragraphs>226</Paragraphs>
  <Slides>31</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-apple-system</vt:lpstr>
      <vt:lpstr>Arial</vt:lpstr>
      <vt:lpstr>Calibri</vt:lpstr>
      <vt:lpstr>Calibri Light</vt:lpstr>
      <vt:lpstr>Helvetica</vt:lpstr>
      <vt:lpstr>Times New Roman</vt:lpstr>
      <vt:lpstr>Office Theme</vt:lpstr>
      <vt:lpstr>   </vt:lpstr>
      <vt:lpstr>PowerPoint Presentation</vt:lpstr>
      <vt:lpstr>PowerPoint Presentation</vt:lpstr>
      <vt:lpstr>Label Data (Occurrences)</vt:lpstr>
      <vt:lpstr>Niche Models </vt:lpstr>
      <vt:lpstr>PowerPoint Presentation</vt:lpstr>
      <vt:lpstr>PowerPoint Presentation</vt:lpstr>
      <vt:lpstr>PowerPoint Presentation</vt:lpstr>
      <vt:lpstr>PowerPoint Presentation</vt:lpstr>
      <vt:lpstr>PowerPoint Presentation</vt:lpstr>
      <vt:lpstr>Connecting Trees, Specimens, Tools</vt:lpstr>
      <vt:lpstr>Solving a Hybridization Puzzle</vt:lpstr>
      <vt:lpstr>PowerPoint Presentation</vt:lpstr>
      <vt:lpstr>Ancestral Niche Reconstruction  </vt:lpstr>
      <vt:lpstr>Spatial Phylogenetics </vt:lpstr>
      <vt:lpstr>PowerPoint Presentation</vt:lpstr>
      <vt:lpstr>PowerPoint Presentation</vt:lpstr>
      <vt:lpstr>Phylogenetic Diversity</vt:lpstr>
      <vt:lpstr>Evolutionary History of the Angiosperm  Flora of China </vt:lpstr>
      <vt:lpstr>Phylogenetic Diversity: China</vt:lpstr>
      <vt:lpstr>PowerPoint Presentation</vt:lpstr>
      <vt:lpstr>PowerPoint Presentation</vt:lpstr>
      <vt:lpstr>Spatial Phylogenetics of the North American Flora</vt:lpstr>
      <vt:lpstr>PowerPoint Presentation</vt:lpstr>
      <vt:lpstr>Trait Evolution</vt:lpstr>
      <vt:lpstr>Connecting Trees, Specimens, Tools</vt:lpstr>
      <vt:lpstr>PowerPoint Presentation</vt:lpstr>
      <vt:lpstr>Diversification</vt:lpstr>
      <vt:lpstr>PowerPoint Presentation</vt:lpstr>
      <vt:lpstr>PowerPoint Presentation</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BiotaPhy:  Connect Trees, Specimens, Distribution Modeling, Tools</dc:title>
  <dc:creator>Microsoft Office User</dc:creator>
  <cp:lastModifiedBy>Soltis,Douglas Edward</cp:lastModifiedBy>
  <cp:revision>93</cp:revision>
  <dcterms:created xsi:type="dcterms:W3CDTF">2020-01-03T18:53:59Z</dcterms:created>
  <dcterms:modified xsi:type="dcterms:W3CDTF">2026-07-15T20:20:03Z</dcterms:modified>
</cp:coreProperties>
</file>